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load-bearing slide of both days, and it is the first one. Everything the course teaches — outbox, sagas, idempotence, choreography, compensation — exists because the third bullet is true. Say that explicitly: it gives delegates a spine to hang the rest on. Keep it to five minutes; it is a premise, not an argument, and the room does not need persuading that processes have boundaries. Do not argue for microservices — the boundary is the subject, and whether you got it from services, from a modular monolith with a queue between two components, or from talking to another company is not this course's business. §Coupling picks it up immediately: the boundary has already taken the two tightest coupling modes off the table, and What's Left Is in the Message is the bill for the rest.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load-bearing slide of both days, and it is the first one. Everything the course teaches — outbox, sagas, idempotence, choreography, compensation — exists because the third bullet is true. Say that explicitly: it gives delegates a spine to hang the rest on. Keep it to five minutes; it is a premise, not an argument, and the room does not need persuading that processes have boundaries. Do not argue for microservices — the boundary is the subject, and whether you got it from services, from a modular monolith with a queue between two components, or from talking to another company is not this course's business. §Coupling picks it up immediately: the boundary has already taken the two tightest coupling modes off the table, and What's Left Is in the Message is the bill for the rest.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 Guaranteed Delivery is the spine of the afternoon, and this slide is the inoculation — it exists so nobody in the room can file the course under "not for us, we're a monolith". Say the callout and move on; the mechanism is two hours away and they will recognise it when it arrives. Do not say "the second property" — the two-properties framing now lives on Day 2, and this slide has to stand alone.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the section cold, so give it one sentence of framing before the scale: coupling decides whether we can deploy independently, and how far a change spreads — it is a delivery and availability concern, not code tidiness. Then the good news: this is the first thing delegates get back from drawing a boundary. Say plainly that content coupling barely translates across a network boundary rather than pretending the scale ports over unchanged; the honest version is more persuasive. The scale is Myers' structured-design scale, adapted to services — say 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the section cold, so give it one sentence of framing before the scale: coupling decides whether we can deploy independently, and how far a change spreads — it is a delivery and availability concern, not code tidiness. Then the good news: this is the first thing delegates get back from drawing a boundary. Say plainly that content coupling barely translates across a network boundary rather than pretending the scale ports over unchanged; the honest version is more persuasive. The scale is Myers' structured-design scale, adapted to services — say so.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rest of the course keeps coming back to. Stamp coupling recurs everywhere: it is the argument for skinny messages (§6.1 Fat and Skinny, at the end of today) and for tolerant readers (the Managing Asynchronous APIs handout). Flag it now so both call-backs land. The second callout is the one to write on the board — it is why §6 Designing Messages exists at all, and it is why Messaging wins the comparison when §Integration Styles closes on Why Messaging.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arithmetic on the board — 0.999⁴ = 0.996 — then be honest about the trade: the messaging version does not make the downstream outage vanish, it buys an availability loss back as latency variance. That is usually a trade you can accept, and it is the argument the whole course rests on. Redundancy within a service raises availability; chaining temporally-coupled calls throws the gain away. This is where robust stops being a slogan and gets a number, and breaking this axis is what guaranteed delivery buys you. Note the asymmetry with the previous slide: the "about" axis you choose per message; this one you choose per style of integration, which is the next section.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next section pays off — Integration Styles plots File Transfer, Shared Database, RPC and Messaging onto exactly this grid. It also explains why RPC's verdict needs two words ("control and temporal") where the others need one. Note that the shared-database example sits in the prevented half of the previous slide: you can only get there by choosing to, which is the point the next section makes about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next section pays off — Integration Styles plots File Transfer, Shared Database, RPC and Messaging onto exactly this grid. It also explains why RPC's verdict needs two words ("control and temporal") where the others need one. Note that the shared-database example sits in the prevented half of the previous slide: you can only get there by choosing to, which is the point the next section makes about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 this, and collect it on Why Messaging. File Transfer and Messaging land in the same cell of the grid — asynchronous, and data coupled if the format stays elementary — so coupling alone will not separate them. What the file does not give you is ordering, locking and competing consumers, delivery guarantees, and any granularity finer than a batch. Do not list those here; the room should meet the gap when the grid makes it a question.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 this, and collect it on Why Messaging. File Transfer and Messaging land in the same cell of the grid — asynchronous, and data coupled if the format stays elementary — so coupling alone will not separate them. What the file does not give you is ordering, locking and competing consumers, delivery guarantees, and any granularity finer than a batch. Do not list those here; the room should meet the gap when the grid makes it a question.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sharpest verdict in the section. Be blunt: a shared database is not a shortcut past the boundary, it is a decision to un-draw it. Note it is not temporally coupled — its problem is the shared mutable schema, not availability. That is exactly why one axis was never enough.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sharpest verdict in the section. Be blunt: a shared database is not a shortcut past the boundary, it is a decision to un-draw it. Note it is not temporally coupled — its problem is the shared mutable schema, not availability. That is exactly why one axis was never enough.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telling the other party what to do — control coupling — and waiting while it does it, which is where §Coupling's arithmetic bites: 0.999⁴ = 0.996. Be fair to it: RPC is the right answer when you genuinely need the reply before you can continue, and Day 1 §5 Conversations has a whole slide on Blocking In-Out. It is the default that is wrong, not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telling the other party what to do — control coupling — and waiting while it does it, which is where §Coupling's arithmetic bites: 0.999⁴ = 0.996. Be fair to it: RPC is the right answer when you genuinely need the reply before you can continue, and Day 1 §5 Conversations has a whole slide on Blocking In-Out. It is the default that is wrong, not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verdict cell used to read "data coupling", which was wrong and contradicted §Coupling's own examples — that section plots a command message as control coupled and a whole-entity event as stamp coupled. Fixing it is what makes the argument: the other three styles fix your position on the "about" axis; messaging leaves it open. That is not a hedge, it is the reason the rest of the course exists — §5 Conversations is the temporal decision and §6 Designing Messages is the "about" decision, and you only get to make either one 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verdict cell used to read "data coupling", which was wrong and contradicted §Coupling's own examples — that section plots a command message as control coupled and a whole-entity event as stamp coupled. Fixing it is what makes the argument: the other three styles fix your position on the "about" axis; messaging leaves it open. That is not a hedge, it is the reason the rest of the course exists — §5 Conversations is the temporal decision and §6 Designing Messages is the "about" decision, and you only get to make either one here.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section's goal slide: it has to end on why messaging. Do not leave the question — "if File Transfer and Messaging are equally loosely coupled, why build the whole course on messaging?" — hanging for later. Answer it here: file transfer is just messaging, without the support for locks, ordering and the rest; everything the broker does for you is something you would otherwise write. And the last callout is the whole argument of the day in one line. Do not name Reactive — Day 2 needs it fresh.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section's goal slide: it has to end on why messaging. Do not leave the question — "if File Transfer and Messaging are equally loosely coupled, why build the whole course on messaging?" — hanging for later. Answer it here: file transfer is just messaging, without the support for locks, ordering and the rest; everything the broker does for you is something you would otherwise write. And the last callout is the whole argument of the day in one line. Do not name Reactive — Day 2 needs it fresh.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processes communicating copy data — usually a byte stream — that we break into discrete units so we can tell where a message begins and ends (needed for competing consumers and pub-sub). A message = header (how to process) + body (content). Related concepts: Request-Reply (RPC over messaging, using Return Address + Correlation Identifier); Message Sequence (sequence id, position id, size/end indicator); Message Expiry / Dead Letter for slow messages; Canonical Data Format; and Format Indicator strategies — Version Number, Foreign Key, or embedded Format Document.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fork in every design decision that follows, and §Conversations turns it into a choice of exchange pattern — intent gives you In-Only and In-Out, a fact gives you Out-Only. If you are expressing intent you are addressing someone: you know who should act, and that is behavioural coupling. If you are reporting a fact you are addressing nobody, the subscriber list is not your concern, and that is the loosest coupling available.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 that pays off later is position. A discrete event stands alone, so anyone can handle it and order does not matter; a series event only means anything in sequence, which is why the stream in Streams Contain Facts keeps an offset, and why partitioning by key is the only way to scale one. Point back at this table when you draw the partition in §4.3.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RPC's advantage is synchrony (immediate, caller blocks) — but that's also its weakness: if the network is down or the remote process isn't listening, the call fails. Asynchronous command messages keep trying until the procedure is invoked. The command's state (parameters) is stored in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 is the whole of a queue, and everything in §4.3 and §4.4 rests on it — competing consumers, requeue with delay, dead-lettering, the retry count. Say it here so it is not a surprise later: a queue can hold a message back and hand it to someone else, and a stream cannot.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drawing carries the offset story — walk it, do not read it. The offset store under each consumer, the bookmark on restart, and facts as an inverse database are all lettered onto the picture. The one thing that is not on it: navigate the offsets and you can compute a point-in-time position, which is the property that makes a stream a source of truth rather than a transport. This is the series row of the previous table with a picture on it — stateful, PULL, context and offset. There is no lock here and there is nothing to ack, which is why the whole of §4.4 has to be taught twice: once for a broker that can hold a message back, once for one that cannot.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channel is a logical view, not physical — the virtual pipe down which messages flow, addressed by a topic or routing key. Middleware may implement channels differently (in-memory, on sender/receiver, or a distributed DB) but that's hidden from producer/consumer. Channels are one-way because we do not consume our own messages. Point-to-Point (one-to-one) or Publish-Subscribe (one-to-many). Not a bucket: a receiver knows what it wants and the sender knows what it is sending.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channel locks a message until the consumer acks/nacks or times out. On ack it is deleted; while locked, other consumers read past it. This lets us scale out with multiple consumers while only one gets each message. If timed-out messages return to the channel, consumers must tolerate duplicates. (EIP reference.)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output channel behaves like a point-to-point channel — a consumer receives a message once, and with multiple listeners the middleware uses locking + read-past. Pub-sub allows eavesdropping — a firehose of all channels can act like a message store. Both a channel-based and a router-based approach are often shorthanded as "publish-subscribe". (EIP reference.)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consumer know how to deserialize a message? Knowing the channel tells it the type. Otherwise the consumer must inspect header/body to determine type and look up how to deserialize — unneeded complexity if a separate channel works. The reason not to use one: messages that must be processed in sequence but have different, non-unifiable schemas. (EIP reference.)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separate messaging concerns from domain concerns — a developer shouldn't need to know middleware, formats, or channels. Application code just knows it has data to send or expects data. The Message Endpoint takes that data, makes a message, and sends it on a channel; on receipt it extracts contents and gives them to the application meaningfully. Endpoint code is custom to the middleware's client API. (EIP reference.)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Gateway vs. Endpoint: the endpoint contains the gateway but may also run a message pump, map messages to domain types, and call application code — which is what the picture shows. The gateway only abstracts middleware interaction. An endpoint may support multiple middleware offerings, the gateway abstracting each so application code can switch middleware without changing. (EIP reference.)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takes a message, translates the body into a type the application understands, looks up the handlers registered for that type, and dispatches. Control passes from the endpoint to application code. Walk the four risers on the picture and say what each one costs. A failure to dispatch means the application is misconfigured: log it, do not ack, and shut down, because acking would lose the message and carrying on would lose the next one too. An unrecoverable application error is the opposite — ack to remove it, because replaying it would fail the same way, and log it; processing continues. A transient error is requeued, usually with a delay, up to a limit, and past the limit it is treated as unrecoverable. That limit is the poison-pill guard.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endpoint registers mappers per channel, which is what a datatype channel is for. The mapper is the seam the exercises are checked against: if a handler's signature has a broker type in it, the mapper has not finished its job.</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the separation, not the testability: the gateway owns everything about messaging, and the handler is independent of it. Being able to invoke application code from callers other than the pump — developer tests, for one — follows from that, and lands better as evidence for the separation than as the headline. The sentence to say out loud is that the gateway handles all messaging details so the service does not know it is invoked via messaging at all.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the separation, not the testability: the gateway owns everything about messaging, and the handler is independent of it. Being able to invoke application code from callers other than the pump — developer tests, for one — follows from that, and lands better as evidence for the separation than as the headline. The sentence to say out loud is that the gateway handles all messaging details so the service does not know it is invoked via messaging at all.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the arithmetic said out loud: RoC is one over the time to handle a message and ack or nack it, per consumer. If RoA exceeds RoC and it is not a burst, you never catch up — adding consumers is the only lever, because the other two are someone else's code. Ask whether they also have a deadline: a channel that drains eventually can still be useless. Competing Consumers on a Queue and on a Stream are the same answer on the two brokers, and the difference between them is the whole reason §4.1 made you choose one. (EIP reference.)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the arithmetic said out loud: RoC is one over the time to handle a message and ack or nack it, per consumer. If RoA exceeds RoC and it is not a burst, you never catch up — adding consumers is the only lever, because the other two are someone else's code. Ask whether they also have a deadline: a channel that drains eventually can still be useless. Competing Consumers on a Queue and on a Stream are the same answer on the two brokers, and the difference between them is the whole reason §4.1 made you choose one. (EIP reference.)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Read-past buys you throughput. It spends your ordering to do it — say that line, it is the one the room should leave with. This is the lock from §4.1 doing the work it exists for. Push on the ordering cost, because rooms consistently under-rate it: two consumers, two messages for the same customer, and nothing in the system decides which lands first. If they need ordering they do not need a bigger queue, they need Competing Consumers on a Stream.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queue you spend ordering to buy throughput. On a stream you spend the read-past instead — that is the pair of slides in one sentence; say it here, with both pictures still fresh. Choose the key deliberately: it has to be the thing whose order matters — the entity id, not the message type — and it has to spread, or one partition takes all the traffic and you have scaled nothing. Say what happens when a record will not process: on a queue someone else reads past it, on a stream the partition stops. That is the same trade the room will meet again on the error slides in §4.4, and it is why they are taught twice there.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opener kept the want — Robust — Guaranteed Delivery — and this is the mechanism, which belongs here, where the parts have names. Everything that slide gestured at vaguely in the first ten minutes is now vocabulary the room owns: channel, pump, competing consumers. Call the callback out loud — this is the promise from the first ten minutes, and now they can read how it is kept.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opener kept the want — Robust — Guaranteed Delivery — and this is the mechanism, which belongs here, where the parts have names. Everything that slide gestured at vaguely in the first ten minutes is now vocabulary the room owns: channel, pump, competing consumers. Call the callback out loud — this is the promise from the first ten minutes, and now they can read how it is kept.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who has returned a 202 in anger — usually a handful of hands. This is one of the most immediately usable things in the course: guaranteed delivery with no new infrastructure and no reorganisation, expressed in a protocol everyone in the room already ships. The callout is the set-up for §4.4 — the web server has promised not to lose the work, and the very next sub-topic is the fact that nothing so far actually guarantees it. The exercise slot now sits between the two, so land the promise before they go to the keyboard and pick it up again when they come back: they will have built the pump that is about to be shown to be unreliable.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who has returned a 202 in anger — usually a handful of hands. This is one of the most immediately usable things in the course: guaranteed delivery with no new infrastructure and no reorganisation, expressed in a protocol everyone in the room already ships. The callout is the set-up for §4.4 — the web server has promised not to lose the work, and the very next sub-topic is the fact that nothing so far actually guarantees it. The exercise slot now sits between the two, so land the promise before they go to the keyboard and pick it up again when they come back: they will have built the pump that is about to be shown to be unreliable.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RMQ up before they need it — the compose file is in the pack and the pull is slow on venue wifi, so say this before the break, not after it. The Quick Start covers exchanges, bindings and queues, which is §4.2's channel material in AMQP's own vocabulary; it is precursor reading, not an exercise. The exercise itself is this sub-topic made real, and the piece to watch for is the last one: a handler that takes a domain type and returns, with the messaging kept on the other side of the mapper. If their handler has a broker type in its signature, the mapper is not finished.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expectation that these are broker capabilities before they are framework features — What Your Broker Actually Gives You, at the end of this sub-section, comes back to what is native versus what your framework is quietly reimplementing for you. Delegates who have only used HTTP tend to assume the library is telling them the truth.</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straight back to the opener — Messages In, Private Data, No Shared Transaction said this would happen; this is the first place it actually bites. There is no clever ordering that fixes it; one of the two writes is always unprotected.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where the duplicate comes from, because it is no longer on the slide. We can fail after the send and before marking it Sent; the sweeper then finds it Pending and sends it again. That is the whole of at-least-once, and it is what the callout means. Do not let this land as a footnote — it is the question the Inbox exists to answer, and Inbox (Idempotency) answers it, on the consumer side. Leave the duplicate hanging deliberately: ask the room what they would do about it, take answers, and tell them you will come back to it when we are on the consumer side, because that is where it gets fixed. People from an HTTP background often assume the framework has already solved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if the broker is down the log tail blocks — the naive version has a liveness problem as well as a coupling one. Walk the four steps against the picture — read the transaction log; run the mapper, which translates the row change into a message in your published language; write that message to the Outbox; sweep the Outbox exactly as before. Step two is the whole of it. This is the discussion that always happens in the room and never makes it onto the slide — put it on the slide. CDC tooling makes step-one-straight-to-broker so easy that teams adopt it with no thought about coupling at all. Tie it back to §Coupling explicitly: publishing your table schema is common coupling wearing a message's clothes — you have rebuilt Shared Database, only now it is asynchronous and you cannot see the consumers. The mapper plus the Outbox write is what buys you back the data coupling you wanted.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underestimate this conversation. Run it as a discussion before showing anything: ask what their consumer does today when the handler throws. The usual answers are "it logs and moves on" — silent data loss — or "it retries forever" — the poison pill. Both are the thing the rest of this sub-section exists to prevent, so take the answers before you offer any. This is the natural place to define poison message.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what turns the next three from a list of patterns into two answers. Requeue is "not now"; reject is "not ever, not by me". The limit on a requeue and the destination of a reject are both configuration, and teams routinely ship neither — which is how a poison message ends up retried until someone notices the lag. Ask which of the two their broker does by default; most rooms find out they have been requeueing forever.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what turns the next three from a list of patterns into two answers. Requeue is "not now"; reject is "not ever, not by me". The limit on a requeue and the destination of a reject are both configuration, and teams routinely ship neither — which is how a poison message ends up retried until someone notices the lag. Ask which of the two their broker does by default; most rooms find out they have been requeueing forever.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Retrying a message that cannot be read keeps failing — it becomes a "poison pill", blocking one consumer or being choked on by many. But silently discarding it risks data loss: a misconfigured producer may have put a perfectly good message on the wrong channel. So route it aside rather than dropping it. Some middleware conflates the two terms — RabbitMQ calls rejected messages "dead letter", which matters because the Failing Well exercise uses RMQ's own dead-letter exchange.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Implementations vary (point-to-point or pub-sub). This is the terminal state — the place a message goes when Requeue with Delay has run out of attempts, which is why it now follows rather than precedes it. The line that separates it from the Invalid Message Channel is on that slide; this is the one to point at when someone asks which of the two RabbitMQ means. (EIP reference.)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What Your Broker Actually Gives You land, and it is the setup for the Kafka exercise: none of §4.4 is native here. Ask what their framework does — most will find it retries in place by default, which means one bad record stops a partition and the lag graph is the only symptom. The three alternatives are a choice about which guarantee you are willing to lose: the record, the throughput, or the ordering.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What Your Broker Actually Gives You land, and it is the setup for the Kafka exercise: none of §4.4 is native here. Ask what their framework does — most will find it retries in place by default, which means one bad record stops a partition and the lag graph is the only symptom. The three alternatives are a choice about which guarantee you are willing to lose: the record, the throughput, or the ordering.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Inbox is consumer-side machinery answering a producer-side consequence — it is part of the pump, but it only matters once we have the Outbox, which is why it sits here rather than alongside it. Keep that callback. Exactly-once delivery does not exist; exactly-once processing is what the Outbox/Inbox pair gives you. It is the last item on this sub-section's list, and the only one that is not about failure.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honest answer to "why does my library make this look so easy?" — it puts a price on the queue-versus-stream distinction §4.1 drew, and it explains why the same reliability pattern costs very different amounts on different infrastructure. Ask the room which broker they are on and what they assumed was native. The second exercise slot follows this slide, so this is the last thing they hear before making their own pump fail — which is the right note to send them out 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callout is the whole exercise. A body that will not map is never going to map, so retrying it is a poison pill — it goes straight to the invalid message channel. A handler that failed may simply have been unlucky, so it is requeued with delay and only dead-lettered when the count runs out. That distinction is §4.3's failure to understand versus failure to process, and it is the one thing to check they have got. Have them watch the management console while it happens — the unacked count, the retry count, and the x-death header on what lands in the DLQ.</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with producer/consumer is that either one can be the side exposing operations — the consumer receives a command, or the producer sends a notification — so the words tell you nothing about who is offering the API. Say what the one-way channel costs: if you want an answer you have to open a second channel, and that is a decision with consequences, not a detail.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met the intent/fact split in §4.1; what is new here is the third column of consequences, so do not re-teach the definition. Tie it back to Integration Styles instead — the same trade, one level down: the loosest coupling on offer is the one where you do not know who is listening, and you buy it by giving up any way to hear back. The figure makes the point physically: the arrow turns round, and In-Out needs two of them because a channel only goes one way.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met the intent/fact split in §4.1; what is new here is the third column of consequences, so do not re-teach the definition. Tie it back to Integration Styles instead — the same trade, one level down: the loosest coupling on offer is the one where you do not know who is listening, and you buy it by giving up any way to hear back. The figure makes the point physically: the arrow turns round, and In-Out needs two of them because a channel only goes one way.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pattern that shows the four are a basis, not a catalogue — real conversations are compositions. It is also the honest version of "pub-sub is loosely coupled": the subscription itself is coupled; the notifications are not.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correlation id is the cheapest thing on the slide and the most consequential. The moment you need one you have a conversation with state in it — and something has to own that state across a process restart.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being explicit that the pattern catalogue does not distinguish these, and that is correct — as an exchange they are identical. It is the intent, back to Messaging or Eventing, that changes the design. Retry safety is the practical tell.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back to Guaranteed Delivery — this is the Inbox pattern earning its keep. Retry is why de-duplication is not optional: at-least-once delivery and requestor-side retry are two independent sources of duplicates.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callback slide for the whole day. Distributed Systems said availabilities multiply; Coupling named the axis; Integration Styles put messaging on the loose end of it; Guaranteed Delivery turned an outage into a delay. Blocking In-Out undoes all of it in one line of code. Delegates will reach for this because it looks like the code they already write — say so, and give them the legitimate case, so the answer is "when", not "never".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fault story falls out of the coupling you already chose — which is the payoff of putting a coupling verdict on every pattern slide. Teach it top-down, loosest first, so the room sees the fault path appear as the coupling tightens. There is an example for each row, and they are yours to tell, not the room's to read. Search cannot add a store after changedstore() and makes no attempt to tell Store Information — repair is Search's problem. The cashier sends place order(); if order placement fails it raises fault(), because the cashier may need to issue a refund. The Pricer sends take payment(); the payment provider signals payment error() — and the fault must say why (provider issue, invalid card, insufficient funds), because the requestor has to choose between an alternate payment method and cancelling the order. The decision rule is the load-bearing line — teams reach for fault channels reflexively, and if there is no action the requestor would take, a fault message is noise and a log line is the right answer. No Fault is "good enough" far more often than people admit; say so. Repair on the Out-Only row happens subscriber-side — retries, DLQs and the reconciliation they met in §4.4.</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appearance of the grid — §2 introduced it, §3 plotted the integration styles on it, and now the exchange patterns land on it too. The repetition is deliberate: it is the one picture that carries the argument of the day, and delegates should be able to draw it from memory by the end.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appearance of the grid — §2 introduced it, §3 plotted the integration styles on it, and now the exchange patterns land on it too. The repetition is deliberate: it is the one picture that carries the argument of the day, and delegates should be able to draw it from memory by the end.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Delegates already have this mental model from database design — they have just never applied it to messages. Normalise by default; denormalise deliberately for the lookups that hurt; and own the staleness you have created. That is the whole section in three sentences.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motivates the rule two slides later. The message did not just get bigger — it acquired two more reasons to change, and both are owned by other teams. Walk the picture by owner, not by field. Count the fields aloud — three ours, three the Customer's, two the Restaurant's — and then ask who has to be consulted before the message's schema can change. The answer is three teams, for one message.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motivates the rule two slides later. The message did not just get bigger — it acquired two more reasons to change, and both are owned by other teams. Walk the picture by owner, not by field. Count the fields aloud — three ours, three the Customer's, two the Restaurant's — and then ask who has to be consulted before the message's schema can change. The answer is three teams, for one message.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like a Db, we allow optimisation by inlining some common lookups — so "it depends", and be pragmatic, on top of the rule. The rule stops the choice being arbitrary; the pragmatism stops it being dogma. Ask which lookups in their own systems would justify it.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Day 1 argument arriving inside message design. The lookup is a synchronous call in the middle of a message flow, so availabilities multiply again — and only on the unlucky path, which is exactly what makes it hard to catch in testing.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Day 1 argument arriving inside message design. The lookup is a synchronous call in the middle of a message flow, so availabilities multiply again — and only on the unlucky path, which is exactly what makes it hard to catch in testing.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argument as Get It On Demand, with the lookup moved one hop. Make the callout the point: teams reach for an enricher believing it decouples them, when all it has done is put a third party in the chain — A now depends on the enricher and B. Same arithmetic, one hop further away, and now it fails somewhere nobody owns.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argument as Get It On Demand, with the lookup moved one hop. Make the callout the point: teams reach for an enricher believing it decouples them, when all it has done is put a third party in the chain — A now depends on the enricher and B. Same arithmetic, one hop further away, and now it fails somewhere nobody owns.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this as the recommendation, not a warning. Land the mechanism first and let the room notice what is missing from it: there is no miss path at all, so there is no synchronous call anywhere in the flow. The two slides that follow are the why and the cost — do not pre-empt them here.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this as the recommendation, not a warning. Land the mechanism first and let the room notice what is missing from it: there is no miss path at all, so there is no synchronous call anywhere in the flow. The two slides that follow are the why and the cost — do not pre-empt them here.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practice ECST is reliable, latency rarely causes an actual problem, and versioning the reference data closes the gap that remains. Do not hedge it with "replicas go stale, go wrong, and need rebuilding" — that over-states the risk. Reference data is the case where the numbers are on our side, and each bullet is one of the three reasons why.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sharpest line in the room is the one about which way the trade runs — delegates arrive believing the synchronous lookup is the "correct" option and the cache is the shortcut, and it is the other way round. Ask what their p99 is on a cache miss when the upstream is degraded; nobody knows,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proof of the previous one's claim — it is what "particularly if you version the reference data" actually looks like. Without the version you cannot tell "I have not seen this yet" from "I have it", so staleness is invisible and you have to guess; with it, the replica knows what it does not know. Backpressure here is the same idea they meet again on Day 2 in the reactive material.</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join between the two halves of the section. ECST works because of the snapshot event — it is what makes If Later, Stream and If Later, Queue possible at all, and it is the reason the previous sub-topic could recommend ECST without hedging. The rule: publish complete new versions rather than deltas.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complete new versions rather than deltas, then apply "write if later" — with v0, we can write v2 even without seeing v1, because v2 is later and either overwrites or includes v1's changes; we can then safely discard v1.</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complete new versions rather than deltas, then apply "write if later" — with v0, we can write v2 even without seeing v1, because v2 is later and either overwrites or includes v1's changes; we can then safely discard v1.</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both event shapes coexist — deltas inside a domain, where ordering is cheap and the consumers are yours; snapshots across the boundary, where neither is true. It is the same public/private split as an Open Host Service.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readings walk the day in the order it was taught — the boundary, then coupling and the styles, then the pattern catalogue, then queues and streams. Say that, because it turns a bibliography into a map of what they just did. This one is the cheapest to act on: it is a paper, it is free, and it is the argument §The Process Boundary makes without naming its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6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6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7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7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7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7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8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2139696"/>
            <a:ext cx="77724" cy="570992"/>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56696"/>
            <a:ext cx="10545775" cy="644144"/>
          </a:xfrm>
          <a:prstGeom prst="rect">
            <a:avLst/>
          </a:prstGeom>
          <a:noFill/>
        </p:spPr>
        <p:txBody>
          <a:bodyPr wrap="square" lIns="0" rIns="0" tIns="0" bIns="0">
            <a:spAutoFit/>
          </a:bodyPr>
          <a:lstStyle/>
          <a:p>
            <a:pPr>
              <a:lnSpc>
                <a:spcPts val="4928"/>
              </a:lnSpc>
            </a:pPr>
            <a:r>
              <a:rPr sz="4400" b="0" i="0">
                <a:solidFill>
                  <a:srgbClr val="181B1F"/>
                </a:solidFill>
                <a:latin typeface="IBM Plex Serif SemiBold"/>
              </a:rPr>
              <a:t>Practical Messaging — Day One</a:t>
            </a:r>
          </a:p>
        </p:txBody>
      </p:sp>
      <p:sp>
        <p:nvSpPr>
          <p:cNvPr id="5" name="TextBox 4"/>
          <p:cNvSpPr txBox="1"/>
          <p:nvPr/>
        </p:nvSpPr>
        <p:spPr>
          <a:xfrm>
            <a:off x="1005840" y="389129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A 101 guide to messaging. Ian Cooper. (X, BlueSky and Hachyderm: ICooper)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The Process Boundary</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What sending messages between processes commits you to. Two slides, and then straight into coupling.</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PROCESS BOUNDARY</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Messages In, Private Data, No Shared Transaction</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We are going to spend two days sending messages between processes. Before anything else, </a:t>
            </a:r>
            <a:r>
              <a:rPr sz="1800" b="1" i="0">
                <a:solidFill>
                  <a:srgbClr val="181B1F"/>
                </a:solidFill>
                <a:latin typeface="IBM Plex Sans"/>
              </a:rPr>
              <a:t>what does drawing that boundary decide for you?</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only way to get work done in another process is to send it a message.</a:t>
            </a:r>
            <a:r>
              <a:rPr sz="1800" b="0" i="0">
                <a:solidFill>
                  <a:srgbClr val="181B1F"/>
                </a:solidFill>
                <a:latin typeface="IBM Plex Sans"/>
              </a:rPr>
              <a:t> Each service has its own accepted message types, and its own data requirements for partners submitting work.</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data behind the boundary is private.</a:t>
            </a:r>
            <a:r>
              <a:rPr sz="1800" b="0" i="0">
                <a:solidFill>
                  <a:srgbClr val="181B1F"/>
                </a:solidFill>
                <a:latin typeface="IBM Plex Sans"/>
              </a:rPr>
              <a:t> A request does not describe the shape of the data inside; it describes the work. Nobody reads your tables.</a:t>
            </a:r>
          </a:p>
        </p:txBody>
      </p:sp>
      <p:sp>
        <p:nvSpPr>
          <p:cNvPr id="10" name="TextBox 9"/>
          <p:cNvSpPr txBox="1"/>
          <p:nvPr/>
        </p:nvSpPr>
        <p:spPr>
          <a:xfrm>
            <a:off x="713232" y="33276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287033"/>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No transaction spans two services.</a:t>
            </a:r>
            <a:r>
              <a:rPr sz="1800" b="0" i="0">
                <a:solidFill>
                  <a:srgbClr val="181B1F"/>
                </a:solidFill>
                <a:latin typeface="IBM Plex Sans"/>
              </a:rPr>
              <a:t> Transactions — 2PC included — happen </a:t>
            </a:r>
            <a:r>
              <a:rPr sz="1800" b="0" i="1">
                <a:solidFill>
                  <a:srgbClr val="181B1F"/>
                </a:solidFill>
                <a:latin typeface="IBM Plex Sans"/>
              </a:rPr>
              <a:t>within</a:t>
            </a:r>
            <a:r>
              <a:rPr sz="1800" b="0" i="0">
                <a:solidFill>
                  <a:srgbClr val="181B1F"/>
                </a:solidFill>
                <a:latin typeface="IBM Plex Sans"/>
              </a:rPr>
              <a:t> a boundary, never across one. You do not exchange transactions with your business partners, because their mistake would lock your database. Without transactions you communicate through </a:t>
            </a:r>
            <a:r>
              <a:rPr sz="1800" b="1" i="0">
                <a:solidFill>
                  <a:srgbClr val="181B1F"/>
                </a:solidFill>
                <a:latin typeface="IBM Plex Sans"/>
              </a:rPr>
              <a:t>multiple messages over time</a:t>
            </a:r>
            <a:r>
              <a:rPr sz="1800" b="0" i="0">
                <a:solidFill>
                  <a:srgbClr val="181B1F"/>
                </a:solidFill>
                <a:latin typeface="IBM Plex Sans"/>
              </a:rPr>
              <a:t>.</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PROCESS BOUNDARY</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Messages In, Private Data, No Shared Transaction</a:t>
            </a:r>
          </a:p>
        </p:txBody>
      </p:sp>
      <p:sp>
        <p:nvSpPr>
          <p:cNvPr id="5" name="Rectangle 4"/>
          <p:cNvSpPr/>
          <p:nvPr/>
        </p:nvSpPr>
        <p:spPr>
          <a:xfrm>
            <a:off x="713232" y="1438402"/>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No transaction spans two services. Consistency stops being something you declare and becomes something you design.</a:t>
            </a:r>
          </a:p>
        </p:txBody>
      </p:sp>
      <p:pic>
        <p:nvPicPr>
          <p:cNvPr id="7" name="Picture 6" descr="boundary-what-crosses.png"/>
          <p:cNvPicPr>
            <a:picLocks noChangeAspect="1"/>
          </p:cNvPicPr>
          <p:nvPr/>
        </p:nvPicPr>
        <p:blipFill>
          <a:blip r:embed="rId2"/>
          <a:stretch>
            <a:fillRect/>
          </a:stretch>
        </p:blipFill>
        <p:spPr>
          <a:xfrm>
            <a:off x="733975" y="2260346"/>
            <a:ext cx="10870048" cy="4177029"/>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PROCESS BOUNDARY</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Robust — Guaranteed Delivery</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boundary costs you transactions. It buys you this — and this one is cheap.</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We want the work </a:t>
            </a:r>
            <a:r>
              <a:rPr sz="1800" b="1" i="0">
                <a:solidFill>
                  <a:srgbClr val="181B1F"/>
                </a:solidFill>
                <a:latin typeface="IBM Plex Sans"/>
              </a:rPr>
              <a:t>not to be lost</a:t>
            </a:r>
            <a:r>
              <a:rPr sz="1800" b="0" i="0">
                <a:solidFill>
                  <a:srgbClr val="181B1F"/>
                </a:solidFill>
                <a:latin typeface="IBM Plex Sans"/>
              </a:rPr>
              <a:t> when something we depend on is slow, overwhelmed, or down.</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Store and forward.</a:t>
            </a:r>
            <a:r>
              <a:rPr sz="1800" b="0" i="0">
                <a:solidFill>
                  <a:srgbClr val="181B1F"/>
                </a:solidFill>
                <a:latin typeface="IBM Plex Sans"/>
              </a:rPr>
              <a:t> The work waits somewhere durable until whoever does it is ready. </a:t>
            </a:r>
            <a:r>
              <a:rPr sz="1800" b="1" i="0">
                <a:solidFill>
                  <a:srgbClr val="181B1F"/>
                </a:solidFill>
                <a:latin typeface="IBM Plex Sans"/>
              </a:rPr>
              <a:t>The outage becomes a delay.</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You do not need to reorganise anything to get this.</a:t>
            </a:r>
            <a:r>
              <a:rPr sz="1800" b="0" i="0">
                <a:solidFill>
                  <a:srgbClr val="181B1F"/>
                </a:solidFill>
                <a:latin typeface="IBM Plex Sans"/>
              </a:rPr>
              <a:t> A single team with a single web application can have it on Monday.</a:t>
            </a:r>
          </a:p>
        </p:txBody>
      </p:sp>
      <p:sp>
        <p:nvSpPr>
          <p:cNvPr id="12" name="Rectangle 11"/>
          <p:cNvSpPr/>
          <p:nvPr/>
        </p:nvSpPr>
        <p:spPr>
          <a:xfrm>
            <a:off x="713232" y="3520186"/>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90431"/>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One team, one service, one queue. Robustness without reorganising the company.</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Coupling</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What the process boundary bought you, and what you can still give back.</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COUPLING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What the Process Boundary Already Bought You</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classic coupling scale runs Content → Common → Control → Stamp → Data, tightest first. </a:t>
            </a:r>
            <a:r>
              <a:rPr sz="1800" b="1" i="0">
                <a:solidFill>
                  <a:srgbClr val="181B1F"/>
                </a:solidFill>
                <a:latin typeface="IBM Plex Sans"/>
              </a:rPr>
              <a:t>Drawing a process boundary takes the top two off the table.</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Content</a:t>
            </a:r>
            <a:r>
              <a:rPr sz="1800" b="0" i="0">
                <a:solidFill>
                  <a:srgbClr val="181B1F"/>
                </a:solidFill>
                <a:latin typeface="IBM Plex Sans"/>
              </a:rPr>
              <a:t> — one party reaches into the other's internals. Across a network this can only survive as a degenerate form: depending on undocumented behaviour, a private endpoint, someone else's table. There is no pointer into another process's memory.</a:t>
            </a:r>
          </a:p>
        </p:txBody>
      </p:sp>
      <p:sp>
        <p:nvSpPr>
          <p:cNvPr id="8" name="TextBox 7"/>
          <p:cNvSpPr txBox="1"/>
          <p:nvPr/>
        </p:nvSpPr>
        <p:spPr>
          <a:xfrm>
            <a:off x="713232" y="29552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914669"/>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Common</a:t>
            </a:r>
            <a:r>
              <a:rPr sz="1800" b="0" i="0">
                <a:solidFill>
                  <a:srgbClr val="181B1F"/>
                </a:solidFill>
                <a:latin typeface="IBM Plex Sans"/>
              </a:rPr>
              <a:t> — both parties share the same mutable store. Uncontrolled propagation of change; nobody owns the schema. Separate processes with </a:t>
            </a:r>
            <a:r>
              <a:rPr sz="1800" b="1" i="0">
                <a:solidFill>
                  <a:srgbClr val="181B1F"/>
                </a:solidFill>
                <a:latin typeface="IBM Plex Sans"/>
              </a:rPr>
              <a:t>private data</a:t>
            </a:r>
            <a:r>
              <a:rPr sz="1800" b="0" i="0">
                <a:solidFill>
                  <a:srgbClr val="181B1F"/>
                </a:solidFill>
                <a:latin typeface="IBM Plex Sans"/>
              </a:rPr>
              <a:t> do not have one.</a:t>
            </a:r>
          </a:p>
        </p:txBody>
      </p:sp>
      <p:sp>
        <p:nvSpPr>
          <p:cNvPr id="10" name="TextBox 9"/>
          <p:cNvSpPr txBox="1"/>
          <p:nvPr/>
        </p:nvSpPr>
        <p:spPr>
          <a:xfrm>
            <a:off x="713232" y="3595897"/>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This is what </a:t>
            </a:r>
            <a:r>
              <a:rPr sz="1800" b="0" i="1">
                <a:solidFill>
                  <a:srgbClr val="181B1F"/>
                </a:solidFill>
                <a:latin typeface="IBM Plex Sans"/>
              </a:rPr>
              <a:t>Messages In, Private Data, No Shared Transaction</a:t>
            </a:r>
            <a:r>
              <a:rPr sz="1800" b="0" i="0">
                <a:solidFill>
                  <a:srgbClr val="181B1F"/>
                </a:solidFill>
                <a:latin typeface="IBM Plex Sans"/>
              </a:rPr>
              <a:t> buys you: the two tightest forms of coupling are not available across a process boundary.</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COUPLING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What the Process Boundary Already Bought You</a:t>
            </a:r>
          </a:p>
        </p:txBody>
      </p:sp>
      <p:pic>
        <p:nvPicPr>
          <p:cNvPr id="5" name="Picture 4" descr="coupling-scale-boundary.png"/>
          <p:cNvPicPr>
            <a:picLocks noChangeAspect="1"/>
          </p:cNvPicPr>
          <p:nvPr/>
        </p:nvPicPr>
        <p:blipFill>
          <a:blip r:embed="rId2"/>
          <a:stretch>
            <a:fillRect/>
          </a:stretch>
        </p:blipFill>
        <p:spPr>
          <a:xfrm>
            <a:off x="1656875" y="1245870"/>
            <a:ext cx="9024247"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COUPLING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What's Left Is in the Message</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cannot avoid the other three. Every message you send picks one, whether or not you meant to.</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Control</a:t>
            </a:r>
            <a:r>
              <a:rPr sz="1800" b="0" i="0">
                <a:solidFill>
                  <a:srgbClr val="181B1F"/>
                </a:solidFill>
                <a:latin typeface="IBM Plex Sans"/>
              </a:rPr>
              <a:t> — you tell the other party </a:t>
            </a:r>
            <a:r>
              <a:rPr sz="1800" b="0" i="1">
                <a:solidFill>
                  <a:srgbClr val="181B1F"/>
                </a:solidFill>
                <a:latin typeface="IBM Plex Sans"/>
              </a:rPr>
              <a:t>what to do</a:t>
            </a:r>
            <a:r>
              <a:rPr sz="1800" b="0" i="0">
                <a:solidFill>
                  <a:srgbClr val="181B1F"/>
                </a:solidFill>
                <a:latin typeface="IBM Plex Sans"/>
              </a:rPr>
              <a:t> rather than </a:t>
            </a:r>
            <a:r>
              <a:rPr sz="1800" b="0" i="1">
                <a:solidFill>
                  <a:srgbClr val="181B1F"/>
                </a:solidFill>
                <a:latin typeface="IBM Plex Sans"/>
              </a:rPr>
              <a:t>what happened</a:t>
            </a:r>
            <a:r>
              <a:rPr sz="1800" b="0" i="0">
                <a:solidFill>
                  <a:srgbClr val="181B1F"/>
                </a:solidFill>
                <a:latin typeface="IBM Plex Sans"/>
              </a:rPr>
              <a:t>. A what-to-do flag in the payload. The receiver's behaviour is now your business.</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Stamp</a:t>
            </a:r>
            <a:r>
              <a:rPr sz="1800" b="0" i="0">
                <a:solidFill>
                  <a:srgbClr val="181B1F"/>
                </a:solidFill>
                <a:latin typeface="IBM Plex Sans"/>
              </a:rPr>
              <a:t> — you share a composite structure and each of you uses only part of it. A change to a field you never read can still break you.</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Data</a:t>
            </a:r>
            <a:r>
              <a:rPr sz="1800" b="0" i="0">
                <a:solidFill>
                  <a:srgbClr val="181B1F"/>
                </a:solidFill>
                <a:latin typeface="IBM Plex Sans"/>
              </a:rPr>
              <a:t> — you share only the elementary values you each actually need.</a:t>
            </a:r>
          </a:p>
        </p:txBody>
      </p:sp>
      <p:sp>
        <p:nvSpPr>
          <p:cNvPr id="12" name="Rectangle 11"/>
          <p:cNvSpPr/>
          <p:nvPr/>
        </p:nvSpPr>
        <p:spPr>
          <a:xfrm>
            <a:off x="713232" y="3520186"/>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90431"/>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Stamp coupling is the one you will meet every day.</a:t>
            </a:r>
          </a:p>
        </p:txBody>
      </p:sp>
      <p:sp>
        <p:nvSpPr>
          <p:cNvPr id="14" name="Rectangle 13"/>
          <p:cNvSpPr/>
          <p:nvPr/>
        </p:nvSpPr>
        <p:spPr>
          <a:xfrm>
            <a:off x="713232" y="4120134"/>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090379"/>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The boundary chose the first two for you. The message is where you choose the third.</a:t>
            </a:r>
          </a:p>
        </p:txBody>
      </p:sp>
      <p:sp>
        <p:nvSpPr>
          <p:cNvPr id="16" name="TextBox 1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COUPLING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Must We Both Be Up?</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second axis is </a:t>
            </a:r>
            <a:r>
              <a:rPr sz="1800" b="1" i="0">
                <a:solidFill>
                  <a:srgbClr val="181B1F"/>
                </a:solidFill>
                <a:latin typeface="IBM Plex Sans"/>
              </a:rPr>
              <a:t>time</a:t>
            </a:r>
            <a:r>
              <a:rPr sz="1800" b="0" i="0">
                <a:solidFill>
                  <a:srgbClr val="181B1F"/>
                </a:solidFill>
                <a:latin typeface="IBM Plex Sans"/>
              </a:rPr>
              <a:t>. If both parties must be present for the communication to succeed, they are </a:t>
            </a:r>
            <a:r>
              <a:rPr sz="1800" b="1" i="0">
                <a:solidFill>
                  <a:srgbClr val="181B1F"/>
                </a:solidFill>
                <a:latin typeface="IBM Plex Sans"/>
              </a:rPr>
              <a:t>temporally coupled</a:t>
            </a:r>
            <a:r>
              <a:rPr sz="1800" b="0" i="0">
                <a:solidFill>
                  <a:srgbClr val="181B1F"/>
                </a:solidFill>
                <a:latin typeface="IBM Plex Sans"/>
              </a:rPr>
              <a:t>: the availability of one becomes the availability of the other.</a:t>
            </a:r>
          </a:p>
        </p:txBody>
      </p:sp>
      <p:graphicFrame>
        <p:nvGraphicFramePr>
          <p:cNvPr id="6" name="Table 5"/>
          <p:cNvGraphicFramePr>
            <a:graphicFrameLocks noGrp="1"/>
          </p:cNvGraphicFramePr>
          <p:nvPr/>
        </p:nvGraphicFramePr>
        <p:xfrm>
          <a:off x="713232" y="2036826"/>
          <a:ext cx="10911534" cy="1946905"/>
        </p:xfrm>
        <a:graphic>
          <a:graphicData uri="http://schemas.openxmlformats.org/drawingml/2006/table">
            <a:tbl>
              <a:tblPr firstRow="1">
                <a:tableStyleId>{5C22544A-7EE6-4342-B048-85BDC9FD1C3A}</a:tableStyleId>
              </a:tblPr>
              <a:tblGrid>
                <a:gridCol w="2773605"/>
                <a:gridCol w="3981755"/>
                <a:gridCol w="4156174"/>
              </a:tblGrid>
              <a:tr h="389381">
                <a:tc>
                  <a:txBody>
                    <a:bodyPr/>
                    <a:lstStyle/>
                    <a:p>
                      <a:pPr>
                        <a:lnSpc>
                          <a:spcPct val="118000"/>
                        </a:lnSpc>
                      </a:pP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Synchronous conversation</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Asynchronous conversation</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Shape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Request → Reply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Store and forward</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Both present?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Yes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 — pick it up later</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Analogy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phone call</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Snail mail</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Temporal coupling</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Introduces it</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Avoids it</a:t>
                      </a:r>
                    </a:p>
                  </a:txBody>
                  <a:tcPr marL="82296" marR="82296" marT="27432" marB="27432">
                    <a:solidFill>
                      <a:srgbClr val="FDFCFA"/>
                    </a:solidFill>
                  </a:tcPr>
                </a:tc>
              </a:tr>
            </a:tbl>
          </a:graphicData>
        </a:graphic>
      </p:graphicFrame>
      <p:sp>
        <p:nvSpPr>
          <p:cNvPr id="7" name="TextBox 6"/>
          <p:cNvSpPr txBox="1"/>
          <p:nvPr/>
        </p:nvSpPr>
        <p:spPr>
          <a:xfrm>
            <a:off x="713232" y="421894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4178319"/>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It is the axis that multiplies your outages.</a:t>
            </a:r>
            <a:r>
              <a:rPr sz="1800" b="0" i="0">
                <a:solidFill>
                  <a:srgbClr val="181B1F"/>
                </a:solidFill>
                <a:latin typeface="IBM Plex Sans"/>
              </a:rPr>
              <a:t> Call a service and wait, and your availabilities multiply: four services at 99.9% leaves you at </a:t>
            </a:r>
            <a:r>
              <a:rPr sz="1800" b="1" i="0">
                <a:solidFill>
                  <a:srgbClr val="181B1F"/>
                </a:solidFill>
                <a:latin typeface="IBM Plex Sans"/>
              </a:rPr>
              <a:t>99.6%</a:t>
            </a:r>
            <a:r>
              <a:rPr sz="1800" b="0" i="0">
                <a:solidFill>
                  <a:srgbClr val="181B1F"/>
                </a:solidFill>
                <a:latin typeface="IBM Plex Sans"/>
              </a:rPr>
              <a:t>, before anything has actually failed.</a:t>
            </a:r>
          </a:p>
        </p:txBody>
      </p:sp>
      <p:sp>
        <p:nvSpPr>
          <p:cNvPr id="9" name="TextBox 8"/>
          <p:cNvSpPr txBox="1"/>
          <p:nvPr/>
        </p:nvSpPr>
        <p:spPr>
          <a:xfrm>
            <a:off x="713232" y="487476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4834147"/>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Send a message and don't wait, and they don't.</a:t>
            </a:r>
            <a:r>
              <a:rPr sz="1800" b="0" i="0">
                <a:solidFill>
                  <a:srgbClr val="181B1F"/>
                </a:solidFill>
                <a:latin typeface="IBM Plex Sans"/>
              </a:rPr>
              <a:t> Guaranteed delivery means the message outlives their outage and is processed when they come back.</a:t>
            </a:r>
          </a:p>
        </p:txBody>
      </p:sp>
      <p:sp>
        <p:nvSpPr>
          <p:cNvPr id="11" name="Rectangle 10"/>
          <p:cNvSpPr/>
          <p:nvPr/>
        </p:nvSpPr>
        <p:spPr>
          <a:xfrm>
            <a:off x="713232" y="5634228"/>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5604473"/>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If my availability depends on yours, I have bought your outages.</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COUPLING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Two Axes, Not One Scale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"Loose coupling" is not a single dial. What we are coupled </a:t>
            </a:r>
            <a:r>
              <a:rPr sz="1800" b="0" i="1">
                <a:solidFill>
                  <a:srgbClr val="181B1F"/>
                </a:solidFill>
                <a:latin typeface="IBM Plex Sans"/>
              </a:rPr>
              <a:t>about</a:t>
            </a:r>
            <a:r>
              <a:rPr sz="1800" b="0" i="0">
                <a:solidFill>
                  <a:srgbClr val="181B1F"/>
                </a:solidFill>
                <a:latin typeface="IBM Plex Sans"/>
              </a:rPr>
              <a:t> and whether we must both be </a:t>
            </a:r>
            <a:r>
              <a:rPr sz="1800" b="0" i="1">
                <a:solidFill>
                  <a:srgbClr val="181B1F"/>
                </a:solidFill>
                <a:latin typeface="IBM Plex Sans"/>
              </a:rPr>
              <a:t>up</a:t>
            </a:r>
            <a:r>
              <a:rPr sz="1800" b="0" i="0">
                <a:solidFill>
                  <a:srgbClr val="181B1F"/>
                </a:solidFill>
                <a:latin typeface="IBM Plex Sans"/>
              </a:rPr>
              <a:t> move independently:</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gRPC with a flat DTO</a:t>
            </a:r>
            <a:r>
              <a:rPr sz="1800" b="0" i="0">
                <a:solidFill>
                  <a:srgbClr val="181B1F"/>
                </a:solidFill>
                <a:latin typeface="IBM Plex Sans"/>
              </a:rPr>
              <a:t> — data coupled, but temporally coupled.</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 command message with a what-to-do flag</a:t>
            </a:r>
            <a:r>
              <a:rPr sz="1800" b="0" i="0">
                <a:solidFill>
                  <a:srgbClr val="181B1F"/>
                </a:solidFill>
                <a:latin typeface="IBM Plex Sans"/>
              </a:rPr>
              <a:t> — control coupled, but temporally decoupled.</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 shared database</a:t>
            </a:r>
            <a:r>
              <a:rPr sz="1800" b="0" i="0">
                <a:solidFill>
                  <a:srgbClr val="181B1F"/>
                </a:solidFill>
                <a:latin typeface="IBM Plex Sans"/>
              </a:rPr>
              <a:t> — common coupled, and temporally decoupled.</a:t>
            </a:r>
          </a:p>
        </p:txBody>
      </p:sp>
      <p:sp>
        <p:nvSpPr>
          <p:cNvPr id="12" name="TextBox 11"/>
          <p:cNvSpPr txBox="1"/>
          <p:nvPr/>
        </p:nvSpPr>
        <p:spPr>
          <a:xfrm>
            <a:off x="713232" y="31330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09246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An event carrying a whole entity</a:t>
            </a:r>
            <a:r>
              <a:rPr sz="1800" b="0" i="0">
                <a:solidFill>
                  <a:srgbClr val="181B1F"/>
                </a:solidFill>
                <a:latin typeface="IBM Plex Sans"/>
              </a:rPr>
              <a:t> — stamp coupled, temporally decoupled.</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COUPLING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Two Axes, Not One Scale</a:t>
            </a:r>
          </a:p>
        </p:txBody>
      </p:sp>
      <p:pic>
        <p:nvPicPr>
          <p:cNvPr id="5" name="Picture 4" descr="grid-coupling.png"/>
          <p:cNvPicPr>
            <a:picLocks noChangeAspect="1"/>
          </p:cNvPicPr>
          <p:nvPr/>
        </p:nvPicPr>
        <p:blipFill>
          <a:blip r:embed="rId2"/>
          <a:stretch>
            <a:fillRect/>
          </a:stretch>
        </p:blipFill>
        <p:spPr>
          <a:xfrm>
            <a:off x="2150389" y="1245870"/>
            <a:ext cx="8037220"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Integration Styles</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Four ways to communicate between processes — and what each one gives back.</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File Transfer</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application writes a file; another reads it later. </a:t>
            </a:r>
            <a:r>
              <a:rPr sz="1800" b="1" i="0">
                <a:solidFill>
                  <a:srgbClr val="181B1F"/>
                </a:solidFill>
                <a:latin typeface="IBM Plex Sans"/>
              </a:rPr>
              <a:t>The file is the contract.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Asynchronous conversation</a:t>
            </a:r>
            <a:r>
              <a:rPr sz="1800" b="0" i="0">
                <a:solidFill>
                  <a:srgbClr val="181B1F"/>
                </a:solidFill>
                <a:latin typeface="IBM Plex Sans"/>
              </a:rPr>
              <a:t> — nobody has to be up at the same time.</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Data coupling</a:t>
            </a:r>
            <a:r>
              <a:rPr sz="1800" b="0" i="0">
                <a:solidFill>
                  <a:srgbClr val="181B1F"/>
                </a:solidFill>
                <a:latin typeface="IBM Plex Sans"/>
              </a:rPr>
              <a:t> — if you keep the file format elementary.</a:t>
            </a:r>
          </a:p>
        </p:txBody>
      </p:sp>
      <p:sp>
        <p:nvSpPr>
          <p:cNvPr id="10" name="TextBox 9"/>
          <p:cNvSpPr txBox="1"/>
          <p:nvPr/>
        </p:nvSpPr>
        <p:spPr>
          <a:xfrm>
            <a:off x="713232" y="2462041"/>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And the file is a message.</a:t>
            </a:r>
            <a:r>
              <a:rPr sz="1800" b="0" i="0">
                <a:solidFill>
                  <a:srgbClr val="181B1F"/>
                </a:solidFill>
                <a:latin typeface="IBM Plex Sans"/>
              </a:rPr>
              <a:t> A batch of them, in a channel that happens to be a filesystem.</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14</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File Transfer</a:t>
            </a:r>
          </a:p>
        </p:txBody>
      </p:sp>
      <p:pic>
        <p:nvPicPr>
          <p:cNvPr id="5" name="Picture 4" descr="style-file-transfer.png"/>
          <p:cNvPicPr>
            <a:picLocks noChangeAspect="1"/>
          </p:cNvPicPr>
          <p:nvPr/>
        </p:nvPicPr>
        <p:blipFill>
          <a:blip r:embed="rId2"/>
          <a:stretch>
            <a:fillRect/>
          </a:stretch>
        </p:blipFill>
        <p:spPr>
          <a:xfrm>
            <a:off x="1964520" y="1245870"/>
            <a:ext cx="8408957"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Shared Database</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Both applications read and write the same schema, typically through an ORM.</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Asynchronous conversation</a:t>
            </a:r>
            <a:r>
              <a:rPr sz="1800" b="0" i="0">
                <a:solidFill>
                  <a:srgbClr val="181B1F"/>
                </a:solidFill>
                <a:latin typeface="IBM Plex Sans"/>
              </a:rPr>
              <a:t> — the writer and the reader need never be present at the same time.</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Common coupling</a:t>
            </a:r>
            <a:r>
              <a:rPr sz="1800" b="0" i="0">
                <a:solidFill>
                  <a:srgbClr val="181B1F"/>
                </a:solidFill>
                <a:latin typeface="IBM Plex Sans"/>
              </a:rPr>
              <a:t> — and that is the problem.</a:t>
            </a:r>
          </a:p>
        </p:txBody>
      </p:sp>
      <p:sp>
        <p:nvSpPr>
          <p:cNvPr id="10" name="TextBox 9"/>
          <p:cNvSpPr txBox="1"/>
          <p:nvPr/>
        </p:nvSpPr>
        <p:spPr>
          <a:xfrm>
            <a:off x="713232" y="2462041"/>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Nobody owns the schema.</a:t>
            </a:r>
            <a:r>
              <a:rPr sz="1800" b="0" i="0">
                <a:solidFill>
                  <a:srgbClr val="181B1F"/>
                </a:solidFill>
                <a:latin typeface="IBM Plex Sans"/>
              </a:rPr>
              <a:t> A change propagates to every reader whether they wanted it or not, and you are back to agreeing release dates across teams — which is exactly what the boundary was for.</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16</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Shared Database</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This is the one style that hands back what the boundary bought you.</a:t>
            </a:r>
          </a:p>
        </p:txBody>
      </p:sp>
      <p:pic>
        <p:nvPicPr>
          <p:cNvPr id="7" name="Picture 6" descr="style-shared-database.png"/>
          <p:cNvPicPr>
            <a:picLocks noChangeAspect="1"/>
          </p:cNvPicPr>
          <p:nvPr/>
        </p:nvPicPr>
        <p:blipFill>
          <a:blip r:embed="rId2"/>
          <a:stretch>
            <a:fillRect/>
          </a:stretch>
        </p:blipFill>
        <p:spPr>
          <a:xfrm>
            <a:off x="1885553" y="1937258"/>
            <a:ext cx="8566891"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17</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Remote Procedure Call</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application invokes an operation on another and waits for the result.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Synchronous conversation</a:t>
            </a:r>
            <a:r>
              <a:rPr sz="1800" b="0" i="0">
                <a:solidFill>
                  <a:srgbClr val="181B1F"/>
                </a:solidFill>
                <a:latin typeface="IBM Plex Sans"/>
              </a:rPr>
              <a:t> — both parties must be up.</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Control coupling</a:t>
            </a:r>
            <a:r>
              <a:rPr sz="1800" b="0" i="0">
                <a:solidFill>
                  <a:srgbClr val="181B1F"/>
                </a:solidFill>
                <a:latin typeface="IBM Plex Sans"/>
              </a:rPr>
              <a:t> </a:t>
            </a:r>
            <a:r>
              <a:rPr sz="1800" b="0" i="1">
                <a:solidFill>
                  <a:srgbClr val="181B1F"/>
                </a:solidFill>
                <a:latin typeface="IBM Plex Sans"/>
              </a:rPr>
              <a:t>and</a:t>
            </a:r>
            <a:r>
              <a:rPr sz="1800" b="0" i="0">
                <a:solidFill>
                  <a:srgbClr val="181B1F"/>
                </a:solidFill>
                <a:latin typeface="IBM Plex Sans"/>
              </a:rPr>
              <a:t> </a:t>
            </a:r>
            <a:r>
              <a:rPr sz="1800" b="1" i="0">
                <a:solidFill>
                  <a:srgbClr val="181B1F"/>
                </a:solidFill>
                <a:latin typeface="IBM Plex Sans"/>
              </a:rPr>
              <a:t>temporal coupling</a:t>
            </a:r>
            <a:r>
              <a:rPr sz="1800" b="0" i="0">
                <a:solidFill>
                  <a:srgbClr val="181B1F"/>
                </a:solidFill>
                <a:latin typeface="IBM Plex Sans"/>
              </a:rPr>
              <a:t>.</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18</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Remote Procedure Call</a:t>
            </a:r>
          </a:p>
        </p:txBody>
      </p:sp>
      <p:pic>
        <p:nvPicPr>
          <p:cNvPr id="5" name="Picture 4" descr="style-rpc.png"/>
          <p:cNvPicPr>
            <a:picLocks noChangeAspect="1"/>
          </p:cNvPicPr>
          <p:nvPr/>
        </p:nvPicPr>
        <p:blipFill>
          <a:blip r:embed="rId2"/>
          <a:stretch>
            <a:fillRect/>
          </a:stretch>
        </p:blipFill>
        <p:spPr>
          <a:xfrm>
            <a:off x="1182590" y="1245870"/>
            <a:ext cx="9972818"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Messaging</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application writes a message to a channel; another consumes it.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Asynchronous conversation</a:t>
            </a:r>
            <a:r>
              <a:rPr sz="1800" b="0" i="0">
                <a:solidFill>
                  <a:srgbClr val="181B1F"/>
                </a:solidFill>
                <a:latin typeface="IBM Plex Sans"/>
              </a:rPr>
              <a:t> — store and forward; the outage becomes a delay.</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Coupled about… whatever you put in the message.</a:t>
            </a:r>
            <a:r>
              <a:rPr sz="1800" b="0" i="0">
                <a:solidFill>
                  <a:srgbClr val="181B1F"/>
                </a:solidFill>
                <a:latin typeface="IBM Plex Sans"/>
              </a:rPr>
              <a:t> A command is control coupled. A whole-entity event is stamp coupled. A message carrying only what the receiver needs is data coupled.</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20</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Messaging</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Messaging is the only style where the coupling is a decision, not a property of the style.</a:t>
            </a:r>
          </a:p>
        </p:txBody>
      </p:sp>
      <p:pic>
        <p:nvPicPr>
          <p:cNvPr id="7" name="Picture 6" descr="style-messaging.png"/>
          <p:cNvPicPr>
            <a:picLocks noChangeAspect="1"/>
          </p:cNvPicPr>
          <p:nvPr/>
        </p:nvPicPr>
        <p:blipFill>
          <a:blip r:embed="rId2"/>
          <a:stretch>
            <a:fillRect/>
          </a:stretch>
        </p:blipFill>
        <p:spPr>
          <a:xfrm>
            <a:off x="1902221" y="1937258"/>
            <a:ext cx="8533557"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21</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Why Messaging</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four styles on the grid from §Coupling:</a:t>
            </a:r>
          </a:p>
        </p:txBody>
      </p:sp>
      <p:graphicFrame>
        <p:nvGraphicFramePr>
          <p:cNvPr id="6" name="Table 5"/>
          <p:cNvGraphicFramePr>
            <a:graphicFrameLocks noGrp="1"/>
          </p:cNvGraphicFramePr>
          <p:nvPr/>
        </p:nvGraphicFramePr>
        <p:xfrm>
          <a:off x="713232" y="1753362"/>
          <a:ext cx="10911533" cy="1946905"/>
        </p:xfrm>
        <a:graphic>
          <a:graphicData uri="http://schemas.openxmlformats.org/drawingml/2006/table">
            <a:tbl>
              <a:tblPr firstRow="1">
                <a:tableStyleId>{5C22544A-7EE6-4342-B048-85BDC9FD1C3A}</a:tableStyleId>
              </a:tblPr>
              <a:tblGrid>
                <a:gridCol w="2632029"/>
                <a:gridCol w="1778075"/>
                <a:gridCol w="2445769"/>
                <a:gridCol w="4055660"/>
              </a:tblGrid>
              <a:tr h="389381">
                <a:tc>
                  <a:txBody>
                    <a:bodyPr/>
                    <a:lstStyle/>
                    <a:p>
                      <a:pPr>
                        <a:lnSpc>
                          <a:spcPct val="118000"/>
                        </a:lnSpc>
                      </a:pPr>
                      <a:r>
                        <a:rPr sz="1500" b="1" i="0">
                          <a:solidFill>
                            <a:srgbClr val="181B1F"/>
                          </a:solidFill>
                          <a:latin typeface="IBM Plex Sans"/>
                        </a:rPr>
                        <a:t>Style</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Coupled </a:t>
                      </a:r>
                      <a:r>
                        <a:rPr sz="1500" b="1" i="1">
                          <a:solidFill>
                            <a:srgbClr val="181B1F"/>
                          </a:solidFill>
                          <a:latin typeface="IBM Plex Sans"/>
                        </a:rPr>
                        <a:t>about</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Must we both be </a:t>
                      </a:r>
                      <a:r>
                        <a:rPr sz="1500" b="1" i="1">
                          <a:solidFill>
                            <a:srgbClr val="181B1F"/>
                          </a:solidFill>
                          <a:latin typeface="IBM Plex Sans"/>
                        </a:rPr>
                        <a:t>up</a:t>
                      </a:r>
                      <a:r>
                        <a:rPr sz="1500" b="1" i="0">
                          <a:solidFill>
                            <a:srgbClr val="181B1F"/>
                          </a:solidFill>
                          <a:latin typeface="IBM Plex Sans"/>
                        </a:rPr>
                        <a:t>?</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What it hands back</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File Transfer</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Data</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Nothing — but you get nothing either</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Shared Database</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Common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boundary itself</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Remote Procedure Call</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Control</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Yes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Independent availability</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Messaging</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Your choice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Nothing</a:t>
                      </a:r>
                    </a:p>
                  </a:txBody>
                  <a:tcPr marL="82296" marR="82296" marT="27432" marB="27432">
                    <a:solidFill>
                      <a:srgbClr val="FDFCFA"/>
                    </a:solidFill>
                  </a:tcPr>
                </a:tc>
              </a:tr>
            </a:tbl>
          </a:graphicData>
        </a:graphic>
      </p:graphicFrame>
      <p:sp>
        <p:nvSpPr>
          <p:cNvPr id="7" name="TextBox 6"/>
          <p:cNvSpPr txBox="1"/>
          <p:nvPr/>
        </p:nvSpPr>
        <p:spPr>
          <a:xfrm>
            <a:off x="713232" y="3920255"/>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File Transfer and Messaging land in the same cell.</a:t>
            </a:r>
            <a:r>
              <a:rPr sz="1800" b="0" i="0">
                <a:solidFill>
                  <a:srgbClr val="181B1F"/>
                </a:solidFill>
                <a:latin typeface="IBM Plex Sans"/>
              </a:rPr>
              <a:t> Coupling does not separate them — so what does?</a:t>
            </a:r>
          </a:p>
        </p:txBody>
      </p:sp>
      <p:sp>
        <p:nvSpPr>
          <p:cNvPr id="8" name="TextBox 7"/>
          <p:cNvSpPr txBox="1"/>
          <p:nvPr/>
        </p:nvSpPr>
        <p:spPr>
          <a:xfrm>
            <a:off x="713232" y="433324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429261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Ordering</a:t>
            </a:r>
            <a:r>
              <a:rPr sz="1800" b="0" i="0">
                <a:solidFill>
                  <a:srgbClr val="181B1F"/>
                </a:solidFill>
                <a:latin typeface="IBM Plex Sans"/>
              </a:rPr>
              <a:t> — a directory has none. You write it yourself, or you get whatever the filesystem lists.</a:t>
            </a:r>
          </a:p>
        </p:txBody>
      </p:sp>
      <p:sp>
        <p:nvSpPr>
          <p:cNvPr id="10" name="TextBox 9"/>
          <p:cNvSpPr txBox="1"/>
          <p:nvPr/>
        </p:nvSpPr>
        <p:spPr>
          <a:xfrm>
            <a:off x="713232" y="470560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4664983"/>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Locking and competing consumers</a:t>
            </a:r>
            <a:r>
              <a:rPr sz="1800" b="0" i="0">
                <a:solidFill>
                  <a:srgbClr val="181B1F"/>
                </a:solidFill>
                <a:latin typeface="IBM Plex Sans"/>
              </a:rPr>
              <a:t> — two readers on one directory will fight. A broker makes that a configuration option.</a:t>
            </a:r>
          </a:p>
        </p:txBody>
      </p:sp>
      <p:sp>
        <p:nvSpPr>
          <p:cNvPr id="12" name="TextBox 11"/>
          <p:cNvSpPr txBox="1"/>
          <p:nvPr/>
        </p:nvSpPr>
        <p:spPr>
          <a:xfrm>
            <a:off x="713232" y="536143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532081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Delivery guarantees</a:t>
            </a:r>
            <a:r>
              <a:rPr sz="1800" b="0" i="0">
                <a:solidFill>
                  <a:srgbClr val="181B1F"/>
                </a:solidFill>
                <a:latin typeface="IBM Plex Sans"/>
              </a:rPr>
              <a:t> — did the reader finish? Did it crash halfway? Nothing in the file says.</a:t>
            </a:r>
          </a:p>
        </p:txBody>
      </p:sp>
      <p:sp>
        <p:nvSpPr>
          <p:cNvPr id="14" name="TextBox 13"/>
          <p:cNvSpPr txBox="1"/>
          <p:nvPr/>
        </p:nvSpPr>
        <p:spPr>
          <a:xfrm>
            <a:off x="713232" y="573379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5" name="TextBox 14"/>
          <p:cNvSpPr txBox="1"/>
          <p:nvPr/>
        </p:nvSpPr>
        <p:spPr>
          <a:xfrm>
            <a:off x="960120" y="569317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Granularity and timeliness</a:t>
            </a:r>
            <a:r>
              <a:rPr sz="1800" b="0" i="0">
                <a:solidFill>
                  <a:srgbClr val="181B1F"/>
                </a:solidFill>
                <a:latin typeface="IBM Plex Sans"/>
              </a:rPr>
              <a:t> — a file is a batch, and a batch arrives when the batch is ready.</a:t>
            </a:r>
          </a:p>
        </p:txBody>
      </p:sp>
      <p:sp>
        <p:nvSpPr>
          <p:cNvPr id="16" name="TextBox 1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INTEGRATION STYLES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Why Messaging</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File transfer is messaging with everything useful left as an exercise.</a:t>
            </a:r>
          </a:p>
        </p:txBody>
      </p:sp>
      <p:sp>
        <p:nvSpPr>
          <p:cNvPr id="7" name="Rectangle 6"/>
          <p:cNvSpPr/>
          <p:nvPr/>
        </p:nvSpPr>
        <p:spPr>
          <a:xfrm>
            <a:off x="713232" y="2038349"/>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008595"/>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Only one style keeps everything the process boundary bought you, and lets you choose the rest.</a:t>
            </a:r>
          </a:p>
        </p:txBody>
      </p:sp>
      <p:pic>
        <p:nvPicPr>
          <p:cNvPr id="9" name="Picture 8" descr="grid-integration-styles.png"/>
          <p:cNvPicPr>
            <a:picLocks noChangeAspect="1"/>
          </p:cNvPicPr>
          <p:nvPr/>
        </p:nvPicPr>
        <p:blipFill>
          <a:blip r:embed="rId2"/>
          <a:stretch>
            <a:fillRect/>
          </a:stretch>
        </p:blipFill>
        <p:spPr>
          <a:xfrm>
            <a:off x="3149979" y="2537206"/>
            <a:ext cx="6038040" cy="3900169"/>
          </a:xfrm>
          <a:prstGeom prst="rect">
            <a:avLst/>
          </a:prstGeom>
        </p:spPr>
      </p:pic>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23</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Messaging Patterns</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MESSAGING PATTERNS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Big Picture</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map of the messaging patterns we will cover across the day.</a:t>
            </a:r>
          </a:p>
        </p:txBody>
      </p:sp>
      <p:pic>
        <p:nvPicPr>
          <p:cNvPr id="6" name="Picture 5" descr="eip-the-big-picture.png"/>
          <p:cNvPicPr>
            <a:picLocks noChangeAspect="1"/>
          </p:cNvPicPr>
          <p:nvPr/>
        </p:nvPicPr>
        <p:blipFill>
          <a:blip r:embed="rId2"/>
          <a:stretch>
            <a:fillRect/>
          </a:stretch>
        </p:blipFill>
        <p:spPr>
          <a:xfrm>
            <a:off x="1599156" y="1735074"/>
            <a:ext cx="9139685" cy="4702302"/>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4.1 What Is a Message?</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Header and body, intent or fact — and whether the channel holds tasks or facts.</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4.1 WHAT IS A MESSAGE?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Message Construction</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message has a </a:t>
            </a:r>
            <a:r>
              <a:rPr sz="1800" b="1" i="0">
                <a:solidFill>
                  <a:srgbClr val="181B1F"/>
                </a:solidFill>
                <a:latin typeface="IBM Plex Sans"/>
              </a:rPr>
              <a:t>header</a:t>
            </a:r>
            <a:r>
              <a:rPr sz="1800" b="0" i="0">
                <a:solidFill>
                  <a:srgbClr val="181B1F"/>
                </a:solidFill>
                <a:latin typeface="IBM Plex Sans"/>
              </a:rPr>
              <a:t> and a </a:t>
            </a:r>
            <a:r>
              <a:rPr sz="1800" b="1" i="0">
                <a:solidFill>
                  <a:srgbClr val="181B1F"/>
                </a:solidFill>
                <a:latin typeface="IBM Plex Sans"/>
              </a:rPr>
              <a:t>body</a:t>
            </a:r>
            <a:r>
              <a:rPr sz="1800" b="0" i="0">
                <a:solidFill>
                  <a:srgbClr val="181B1F"/>
                </a:solidFill>
                <a:latin typeface="IBM Plex Sans"/>
              </a:rPr>
              <a: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a:t>
            </a:r>
            <a:r>
              <a:rPr sz="1800" b="1" i="0">
                <a:solidFill>
                  <a:srgbClr val="181B1F"/>
                </a:solidFill>
                <a:latin typeface="IBM Plex Sans"/>
              </a:rPr>
              <a:t>body</a:t>
            </a:r>
            <a:r>
              <a:rPr sz="1800" b="0" i="0">
                <a:solidFill>
                  <a:srgbClr val="181B1F"/>
                </a:solidFill>
                <a:latin typeface="IBM Plex Sans"/>
              </a:rPr>
              <a:t> contains data for the consumer.</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a:t>
            </a:r>
            <a:r>
              <a:rPr sz="1800" b="1" i="0">
                <a:solidFill>
                  <a:srgbClr val="181B1F"/>
                </a:solidFill>
                <a:latin typeface="IBM Plex Sans"/>
              </a:rPr>
              <a:t>header</a:t>
            </a:r>
            <a:r>
              <a:rPr sz="1800" b="0" i="0">
                <a:solidFill>
                  <a:srgbClr val="181B1F"/>
                </a:solidFill>
                <a:latin typeface="IBM Plex Sans"/>
              </a:rPr>
              <a:t> contains metadata for any filter in the pipeline, and should indicate the format of the body.</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Break a large message into pieces as a </a:t>
            </a:r>
            <a:r>
              <a:rPr sz="1800" b="1" i="0">
                <a:solidFill>
                  <a:srgbClr val="181B1F"/>
                </a:solidFill>
                <a:latin typeface="IBM Plex Sans"/>
              </a:rPr>
              <a:t>Message Sequence</a:t>
            </a:r>
            <a:r>
              <a:rPr sz="1800" b="0" i="0">
                <a:solidFill>
                  <a:srgbClr val="181B1F"/>
                </a:solidFill>
                <a:latin typeface="IBM Plex Sans"/>
              </a:rPr>
              <a:t>, or use a </a:t>
            </a:r>
            <a:r>
              <a:rPr sz="1800" b="1" i="0">
                <a:solidFill>
                  <a:srgbClr val="181B1F"/>
                </a:solidFill>
                <a:latin typeface="IBM Plex Sans"/>
              </a:rPr>
              <a:t>Claim Check</a:t>
            </a:r>
            <a:r>
              <a:rPr sz="1800" b="0" i="0">
                <a:solidFill>
                  <a:srgbClr val="181B1F"/>
                </a:solidFill>
                <a:latin typeface="IBM Plex Sans"/>
              </a:rPr>
              <a:t>.</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27</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4.1 WHAT IS A MESSAGE?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Messaging vs. Eventing (Intent vs. Facts)</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Two words the industry uses interchangeably, and they are not the same thing. After Clemens Vasters, two poles of message types.</a:t>
            </a:r>
          </a:p>
        </p:txBody>
      </p:sp>
      <p:graphicFrame>
        <p:nvGraphicFramePr>
          <p:cNvPr id="6" name="Table 5"/>
          <p:cNvGraphicFramePr>
            <a:graphicFrameLocks noGrp="1"/>
          </p:cNvGraphicFramePr>
          <p:nvPr/>
        </p:nvGraphicFramePr>
        <p:xfrm>
          <a:off x="713232" y="2036826"/>
          <a:ext cx="10911534" cy="2171696"/>
        </p:xfrm>
        <a:graphic>
          <a:graphicData uri="http://schemas.openxmlformats.org/drawingml/2006/table">
            <a:tbl>
              <a:tblPr firstRow="1">
                <a:tableStyleId>{5C22544A-7EE6-4342-B048-85BDC9FD1C3A}</a:tableStyleId>
              </a:tblPr>
              <a:tblGrid>
                <a:gridCol w="1485346"/>
                <a:gridCol w="6188942"/>
                <a:gridCol w="3237246"/>
              </a:tblGrid>
              <a:tr h="389381">
                <a:tc>
                  <a:txBody>
                    <a:bodyPr/>
                    <a:lstStyle/>
                    <a:p>
                      <a:pPr>
                        <a:lnSpc>
                          <a:spcPct val="118000"/>
                        </a:lnSpc>
                      </a:pP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Messaging</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Eventing</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carries</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intent</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facts</a:t>
                      </a:r>
                    </a:p>
                  </a:txBody>
                  <a:tcPr marL="82296" marR="82296" marT="27432" marB="27432">
                    <a:solidFill>
                      <a:srgbClr val="FDFCFA"/>
                    </a:solidFill>
                  </a:tcPr>
                </a:tc>
              </a:tr>
              <a:tr h="614172">
                <a:tc>
                  <a:txBody>
                    <a:bodyPr/>
                    <a:lstStyle/>
                    <a:p>
                      <a:pPr>
                        <a:lnSpc>
                          <a:spcPct val="118000"/>
                        </a:lnSpc>
                      </a:pPr>
                      <a:r>
                        <a:rPr sz="1500" b="0" i="0">
                          <a:solidFill>
                            <a:srgbClr val="181B1F"/>
                          </a:solidFill>
                          <a:latin typeface="IBM Plex Sans"/>
                        </a:rPr>
                        <a:t>which looks like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Command (transfer of control), a Query (request an answer), a transfer of value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notification — something you report on</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expectations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part of a workflow, part of a conversation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none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concerned with</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a:t>
                      </a:r>
                      <a:r>
                        <a:rPr sz="1500" b="1" i="0">
                          <a:solidFill>
                            <a:srgbClr val="181B1F"/>
                          </a:solidFill>
                          <a:latin typeface="IBM Plex Sans"/>
                        </a:rPr>
                        <a:t>future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a:t>
                      </a:r>
                      <a:r>
                        <a:rPr sz="1500" b="1" i="0">
                          <a:solidFill>
                            <a:srgbClr val="181B1F"/>
                          </a:solidFill>
                          <a:latin typeface="IBM Plex Sans"/>
                        </a:rPr>
                        <a:t>past</a:t>
                      </a:r>
                      <a:r>
                        <a:rPr sz="1500" b="0" i="0">
                          <a:solidFill>
                            <a:srgbClr val="181B1F"/>
                          </a:solidFill>
                          <a:latin typeface="IBM Plex Sans"/>
                        </a:rPr>
                        <a:t> — history, context</a:t>
                      </a:r>
                    </a:p>
                  </a:txBody>
                  <a:tcPr marL="82296" marR="82296" marT="27432" marB="27432">
                    <a:solidFill>
                      <a:srgbClr val="FDFCFA"/>
                    </a:solidFill>
                  </a:tcPr>
                </a:tc>
              </a:tr>
            </a:tbl>
          </a:graphicData>
        </a:graphic>
      </p:graphicFrame>
      <p:sp>
        <p:nvSpPr>
          <p:cNvPr id="7" name="Rectangle 6"/>
          <p:cNvSpPr/>
          <p:nvPr/>
        </p:nvSpPr>
        <p:spPr>
          <a:xfrm>
            <a:off x="713232" y="454736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451760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A message asks for something. An event announces something.</a:t>
            </a:r>
          </a:p>
        </p:txBody>
      </p:sp>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4.1 WHAT IS A MESSAGE?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Discrete vs. Series (Eventing Types)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After Clemens Vasters again, a second axis — and this one is about events only.</a:t>
            </a:r>
          </a:p>
        </p:txBody>
      </p:sp>
      <p:graphicFrame>
        <p:nvGraphicFramePr>
          <p:cNvPr id="6" name="Table 5"/>
          <p:cNvGraphicFramePr>
            <a:graphicFrameLocks noGrp="1"/>
          </p:cNvGraphicFramePr>
          <p:nvPr/>
        </p:nvGraphicFramePr>
        <p:xfrm>
          <a:off x="713232" y="1753362"/>
          <a:ext cx="10911533" cy="2725667"/>
        </p:xfrm>
        <a:graphic>
          <a:graphicData uri="http://schemas.openxmlformats.org/drawingml/2006/table">
            <a:tbl>
              <a:tblPr firstRow="1">
                <a:tableStyleId>{5C22544A-7EE6-4342-B048-85BDC9FD1C3A}</a:tableStyleId>
              </a:tblPr>
              <a:tblGrid>
                <a:gridCol w="1854294"/>
                <a:gridCol w="5010572"/>
                <a:gridCol w="4046667"/>
              </a:tblGrid>
              <a:tr h="389381">
                <a:tc>
                  <a:txBody>
                    <a:bodyPr/>
                    <a:lstStyle/>
                    <a:p>
                      <a:pPr>
                        <a:lnSpc>
                          <a:spcPct val="118000"/>
                        </a:lnSpc>
                      </a:pP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Discrete</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Series</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handler</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stateless</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stateful</a:t>
                      </a:r>
                      <a:r>
                        <a:rPr sz="1500" b="0" i="0">
                          <a:solidFill>
                            <a:srgbClr val="181B1F"/>
                          </a:solidFill>
                          <a:latin typeface="IBM Plex Sans"/>
                        </a:rPr>
                        <a:t> partition processor</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delivery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PUSH</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PULL</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position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independent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context, offset</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shape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one thing, immediately actionable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continuous, sequential</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what it says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something happened</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a:t>
                      </a:r>
                      <a:r>
                        <a:rPr sz="1500" b="1" i="0">
                          <a:solidFill>
                            <a:srgbClr val="181B1F"/>
                          </a:solidFill>
                          <a:latin typeface="IBM Plex Sans"/>
                        </a:rPr>
                        <a:t>condition</a:t>
                      </a:r>
                      <a:r>
                        <a:rPr sz="1500" b="0" i="0">
                          <a:solidFill>
                            <a:srgbClr val="181B1F"/>
                          </a:solidFill>
                          <a:latin typeface="IBM Plex Sans"/>
                        </a:rPr>
                        <a:t> holds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part of</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conversation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monolog</a:t>
                      </a:r>
                    </a:p>
                  </a:txBody>
                  <a:tcPr marL="82296" marR="82296" marT="27432" marB="27432">
                    <a:solidFill>
                      <a:srgbClr val="FDFCFA"/>
                    </a:solidFill>
                  </a:tcPr>
                </a:tc>
              </a:tr>
            </a:tbl>
          </a:graphicData>
        </a:graphic>
      </p:graphicFrame>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4.1 WHAT IS A MESSAGE?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Command / Document / Event Messages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After Gregor Hohpe. Three core message types: </a:t>
            </a:r>
            <a:r>
              <a:rPr sz="1800" b="1" i="0">
                <a:solidFill>
                  <a:srgbClr val="181B1F"/>
                </a:solidFill>
                <a:latin typeface="IBM Plex Sans"/>
              </a:rPr>
              <a:t>Command</a:t>
            </a:r>
            <a:r>
              <a:rPr sz="1800" b="0" i="0">
                <a:solidFill>
                  <a:srgbClr val="181B1F"/>
                </a:solidFill>
                <a:latin typeface="IBM Plex Sans"/>
              </a:rPr>
              <a:t>, </a:t>
            </a:r>
            <a:r>
              <a:rPr sz="1800" b="1" i="0">
                <a:solidFill>
                  <a:srgbClr val="181B1F"/>
                </a:solidFill>
                <a:latin typeface="IBM Plex Sans"/>
              </a:rPr>
              <a:t>Document</a:t>
            </a:r>
            <a:r>
              <a:rPr sz="1800" b="0" i="0">
                <a:solidFill>
                  <a:srgbClr val="181B1F"/>
                </a:solidFill>
                <a:latin typeface="IBM Plex Sans"/>
              </a:rPr>
              <a:t>, </a:t>
            </a:r>
            <a:r>
              <a:rPr sz="1800" b="1" i="0">
                <a:solidFill>
                  <a:srgbClr val="181B1F"/>
                </a:solidFill>
                <a:latin typeface="IBM Plex Sans"/>
              </a:rPr>
              <a:t>Event</a:t>
            </a:r>
            <a:r>
              <a:rPr sz="1800" b="0" i="0">
                <a:solidFill>
                  <a:srgbClr val="181B1F"/>
                </a:solidFill>
                <a:latin typeface="IBM Plex Sans"/>
              </a:rPr>
              <a: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Command Message</a:t>
            </a:r>
            <a:r>
              <a:rPr sz="1800" b="0" i="0">
                <a:solidFill>
                  <a:srgbClr val="181B1F"/>
                </a:solidFill>
                <a:latin typeface="IBM Plex Sans"/>
              </a:rPr>
              <a:t> — reliably invoke a procedure in another application. Encapsulates a request as an object (GoF Command); usually sent Point-to-Point (one consumer).</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Document Message</a:t>
            </a:r>
            <a:r>
              <a:rPr sz="1800" b="0" i="0">
                <a:solidFill>
                  <a:srgbClr val="181B1F"/>
                </a:solidFill>
                <a:latin typeface="IBM Plex Sans"/>
              </a:rPr>
              <a:t> — reliably transfer a data structure between applications; the receiver decides what, if anything, to do with the data.</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Event Message</a:t>
            </a:r>
            <a:r>
              <a:rPr sz="1800" b="0" i="0">
                <a:solidFill>
                  <a:srgbClr val="181B1F"/>
                </a:solidFill>
                <a:latin typeface="IBM Plex Sans"/>
              </a:rPr>
              <a:t> — reliable, asynchronous event notification. The difference from a Document Message is timing and content — an event's contents are typically less important.</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30</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4.1 WHAT IS A MESSAGE?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Queues Contain Tasks</a:t>
            </a:r>
          </a:p>
        </p:txBody>
      </p:sp>
      <p:sp>
        <p:nvSpPr>
          <p:cNvPr id="5" name="TextBox 4"/>
          <p:cNvSpPr txBox="1"/>
          <p:nvPr/>
        </p:nvSpPr>
        <p:spPr>
          <a:xfrm>
            <a:off x="713232" y="1319549"/>
            <a:ext cx="4965109" cy="1435608"/>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channel carries one of two things, and which one it is changes almost everything that follows. Messages on a </a:t>
            </a:r>
            <a:r>
              <a:rPr sz="1800" b="1" i="0">
                <a:solidFill>
                  <a:srgbClr val="181B1F"/>
                </a:solidFill>
                <a:latin typeface="IBM Plex Sans"/>
              </a:rPr>
              <a:t>queue</a:t>
            </a:r>
            <a:r>
              <a:rPr sz="1800" b="0" i="0">
                <a:solidFill>
                  <a:srgbClr val="181B1F"/>
                </a:solidFill>
                <a:latin typeface="IBM Plex Sans"/>
              </a:rPr>
              <a:t> are </a:t>
            </a:r>
            <a:r>
              <a:rPr sz="1800" b="1" i="0">
                <a:solidFill>
                  <a:srgbClr val="181B1F"/>
                </a:solidFill>
                <a:latin typeface="IBM Plex Sans"/>
              </a:rPr>
              <a:t>tasks</a:t>
            </a:r>
            <a:r>
              <a:rPr sz="1800" b="0" i="0">
                <a:solidFill>
                  <a:srgbClr val="181B1F"/>
                </a:solidFill>
                <a:latin typeface="IBM Plex Sans"/>
              </a:rPr>
              <a:t> — requests to carry out an action. Once the action is done, the task is gone.</a:t>
            </a:r>
          </a:p>
        </p:txBody>
      </p:sp>
      <p:sp>
        <p:nvSpPr>
          <p:cNvPr id="6" name="TextBox 5"/>
          <p:cNvSpPr txBox="1"/>
          <p:nvPr/>
        </p:nvSpPr>
        <p:spPr>
          <a:xfrm>
            <a:off x="713232" y="28663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825769"/>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first consumer </a:t>
            </a:r>
            <a:r>
              <a:rPr sz="1800" b="1" i="0">
                <a:solidFill>
                  <a:srgbClr val="181B1F"/>
                </a:solidFill>
                <a:latin typeface="IBM Plex Sans"/>
              </a:rPr>
              <a:t>locks</a:t>
            </a:r>
            <a:r>
              <a:rPr sz="1800" b="0" i="0">
                <a:solidFill>
                  <a:srgbClr val="181B1F"/>
                </a:solidFill>
                <a:latin typeface="IBM Plex Sans"/>
              </a:rPr>
              <a:t> the next message while it processes it.</a:t>
            </a:r>
          </a:p>
        </p:txBody>
      </p:sp>
      <p:sp>
        <p:nvSpPr>
          <p:cNvPr id="8" name="TextBox 7"/>
          <p:cNvSpPr txBox="1"/>
          <p:nvPr/>
        </p:nvSpPr>
        <p:spPr>
          <a:xfrm>
            <a:off x="713232" y="35222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3481597"/>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second consumer </a:t>
            </a:r>
            <a:r>
              <a:rPr sz="1800" b="1" i="0">
                <a:solidFill>
                  <a:srgbClr val="181B1F"/>
                </a:solidFill>
                <a:latin typeface="IBM Plex Sans"/>
              </a:rPr>
              <a:t>reads past</a:t>
            </a:r>
            <a:r>
              <a:rPr sz="1800" b="0" i="0">
                <a:solidFill>
                  <a:srgbClr val="181B1F"/>
                </a:solidFill>
                <a:latin typeface="IBM Plex Sans"/>
              </a:rPr>
              <a:t> any locked message and locks the next available one.</a:t>
            </a:r>
          </a:p>
        </p:txBody>
      </p:sp>
      <p:sp>
        <p:nvSpPr>
          <p:cNvPr id="10" name="TextBox 9"/>
          <p:cNvSpPr txBox="1"/>
          <p:nvPr/>
        </p:nvSpPr>
        <p:spPr>
          <a:xfrm>
            <a:off x="713232" y="417804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4137425"/>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Nobody else should action a done task; a receiver of one discards it. If we cannot action it, someone else must.</a:t>
            </a:r>
          </a:p>
        </p:txBody>
      </p:sp>
      <p:pic>
        <p:nvPicPr>
          <p:cNvPr id="12" name="Picture 11" descr="qs-queue-tasks.png"/>
          <p:cNvPicPr>
            <a:picLocks noChangeAspect="1"/>
          </p:cNvPicPr>
          <p:nvPr/>
        </p:nvPicPr>
        <p:blipFill>
          <a:blip r:embed="rId2"/>
          <a:stretch>
            <a:fillRect/>
          </a:stretch>
        </p:blipFill>
        <p:spPr>
          <a:xfrm>
            <a:off x="6025813" y="2233600"/>
            <a:ext cx="5598953" cy="2722180"/>
          </a:xfrm>
          <a:prstGeom prst="rect">
            <a:avLst/>
          </a:prstGeom>
        </p:spPr>
      </p:pic>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31</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4.1 WHAT IS A MESSAGE?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Streams Contain Facts</a:t>
            </a:r>
          </a:p>
        </p:txBody>
      </p:sp>
      <p:sp>
        <p:nvSpPr>
          <p:cNvPr id="5" name="TextBox 4"/>
          <p:cNvSpPr txBox="1"/>
          <p:nvPr/>
        </p:nvSpPr>
        <p:spPr>
          <a:xfrm>
            <a:off x="713232" y="1319549"/>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Records on a </a:t>
            </a:r>
            <a:r>
              <a:rPr sz="1800" b="1" i="0">
                <a:solidFill>
                  <a:srgbClr val="181B1F"/>
                </a:solidFill>
                <a:latin typeface="IBM Plex Sans"/>
              </a:rPr>
              <a:t>stream</a:t>
            </a:r>
            <a:r>
              <a:rPr sz="1800" b="0" i="0">
                <a:solidFill>
                  <a:srgbClr val="181B1F"/>
                </a:solidFill>
                <a:latin typeface="IBM Plex Sans"/>
              </a:rPr>
              <a:t> are </a:t>
            </a:r>
            <a:r>
              <a:rPr sz="1800" b="1" i="0">
                <a:solidFill>
                  <a:srgbClr val="181B1F"/>
                </a:solidFill>
                <a:latin typeface="IBM Plex Sans"/>
              </a:rPr>
              <a:t>facts</a:t>
            </a:r>
            <a:r>
              <a:rPr sz="1800" b="0" i="0">
                <a:solidFill>
                  <a:srgbClr val="181B1F"/>
                </a:solidFill>
                <a:latin typeface="IBM Plex Sans"/>
              </a:rPr>
              <a:t> — records that a state change occurred. Nothing is consumed by reading and nothing is deleted.</a:t>
            </a:r>
          </a:p>
        </p:txBody>
      </p:sp>
      <p:sp>
        <p:nvSpPr>
          <p:cNvPr id="6" name="TextBox 5"/>
          <p:cNvSpPr txBox="1"/>
          <p:nvPr/>
        </p:nvSpPr>
        <p:spPr>
          <a:xfrm>
            <a:off x="713232" y="22994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258841"/>
            <a:ext cx="4718221" cy="1152144"/>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first consumer reads the next record and processes it; a second consumer reads the next and processes it — and </a:t>
            </a:r>
            <a:r>
              <a:rPr sz="1800" b="1" i="0">
                <a:solidFill>
                  <a:srgbClr val="181B1F"/>
                </a:solidFill>
                <a:latin typeface="IBM Plex Sans"/>
              </a:rPr>
              <a:t>both can read the same records</a:t>
            </a:r>
            <a:r>
              <a:rPr sz="1800" b="0" i="0">
                <a:solidFill>
                  <a:srgbClr val="181B1F"/>
                </a:solidFill>
                <a:latin typeface="IBM Plex Sans"/>
              </a:rPr>
              <a:t>.</a:t>
            </a:r>
          </a:p>
        </p:txBody>
      </p:sp>
      <p:pic>
        <p:nvPicPr>
          <p:cNvPr id="8" name="Picture 7" descr="qs-stream-facts.png"/>
          <p:cNvPicPr>
            <a:picLocks noChangeAspect="1"/>
          </p:cNvPicPr>
          <p:nvPr/>
        </p:nvPicPr>
        <p:blipFill>
          <a:blip r:embed="rId2"/>
          <a:stretch>
            <a:fillRect/>
          </a:stretch>
        </p:blipFill>
        <p:spPr>
          <a:xfrm>
            <a:off x="6025813" y="2114708"/>
            <a:ext cx="5598953" cy="3019409"/>
          </a:xfrm>
          <a:prstGeom prst="rect">
            <a:avLst/>
          </a:prstGeom>
        </p:spPr>
      </p:pic>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32</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4.2 Sending and Receiving</a:t>
            </a:r>
          </a:p>
        </p:txBody>
      </p:sp>
      <p:sp>
        <p:nvSpPr>
          <p:cNvPr id="6" name="TextBox 5"/>
          <p:cNvSpPr txBox="1"/>
          <p:nvPr/>
        </p:nvSpPr>
        <p:spPr>
          <a:xfrm>
            <a:off x="713232" y="3098819"/>
            <a:ext cx="6546921" cy="301752"/>
          </a:xfrm>
          <a:prstGeom prst="rect">
            <a:avLst/>
          </a:prstGeom>
          <a:noFill/>
        </p:spPr>
        <p:txBody>
          <a:bodyPr wrap="square" lIns="0" rIns="0" tIns="0" bIns="0">
            <a:spAutoFit/>
          </a:bodyPr>
          <a:lstStyle/>
          <a:p>
            <a:pPr>
              <a:lnSpc>
                <a:spcPts val="2232"/>
              </a:lnSpc>
            </a:pPr>
            <a:r>
              <a:rPr sz="1800" b="0" i="0">
                <a:solidFill>
                  <a:srgbClr val="2F5D3A"/>
                </a:solidFill>
                <a:latin typeface="IBM Plex Sans"/>
              </a:rPr>
              <a:t>How do I send a message, and how do I receive one?</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4.2 SENDING AND RECEIVING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Channels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channel</a:t>
            </a:r>
            <a:r>
              <a:rPr sz="1800" b="0" i="0">
                <a:solidFill>
                  <a:srgbClr val="181B1F"/>
                </a:solidFill>
                <a:latin typeface="IBM Plex Sans"/>
              </a:rPr>
              <a:t> is a virtual pipe that connects producer and consumer.</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logical address (topic or routing key).</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Messaging is a "pipe", not a "bucket".</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Unidirectional.</a:t>
            </a:r>
            <a:r>
              <a:rPr sz="1800" b="0" i="0">
                <a:solidFill>
                  <a:srgbClr val="181B1F"/>
                </a:solidFill>
                <a:latin typeface="IBM Plex Sans"/>
              </a:rPr>
              <a:t> Two-way traffic is </a:t>
            </a:r>
            <a:r>
              <a:rPr sz="1800" b="1" i="0">
                <a:solidFill>
                  <a:srgbClr val="181B1F"/>
                </a:solidFill>
                <a:latin typeface="IBM Plex Sans"/>
              </a:rPr>
              <a:t>two channels</a:t>
            </a:r>
            <a:r>
              <a:rPr sz="1800" b="0" i="0">
                <a:solidFill>
                  <a:srgbClr val="181B1F"/>
                </a:solidFill>
                <a:latin typeface="IBM Plex Sans"/>
              </a:rPr>
              <a:t>, and the sender names the reply channel.</a:t>
            </a:r>
          </a:p>
        </p:txBody>
      </p:sp>
      <p:sp>
        <p:nvSpPr>
          <p:cNvPr id="12" name="TextBox 11"/>
          <p:cNvSpPr txBox="1"/>
          <p:nvPr/>
        </p:nvSpPr>
        <p:spPr>
          <a:xfrm>
            <a:off x="713232" y="28496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28090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One-to-One or One-to-Many.</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34</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4.2 SENDING AND RECEIVING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Point-to-Point Channel</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Only one consumer receives any message. With multiple consumers, the channel ensures only one succeeds, so receivers need not coordinate.</a:t>
            </a:r>
          </a:p>
        </p:txBody>
      </p:sp>
      <p:pic>
        <p:nvPicPr>
          <p:cNvPr id="6" name="Picture 5" descr="eip-point-to-point.png"/>
          <p:cNvPicPr>
            <a:picLocks noChangeAspect="1"/>
          </p:cNvPicPr>
          <p:nvPr/>
        </p:nvPicPr>
        <p:blipFill>
          <a:blip r:embed="rId2"/>
          <a:stretch>
            <a:fillRect/>
          </a:stretch>
        </p:blipFill>
        <p:spPr>
          <a:xfrm>
            <a:off x="1549305" y="2018538"/>
            <a:ext cx="9239388"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4.2 SENDING AND RECEIVING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Publish-Subscribe Channel</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Delivers a copy of each message to every subscriber. A publisher sends to one input channel, replicated onto many output channels, one per subscriber.</a:t>
            </a:r>
          </a:p>
        </p:txBody>
      </p:sp>
      <p:pic>
        <p:nvPicPr>
          <p:cNvPr id="6" name="Picture 5" descr="eip-publish-subscribe.png"/>
          <p:cNvPicPr>
            <a:picLocks noChangeAspect="1"/>
          </p:cNvPicPr>
          <p:nvPr/>
        </p:nvPicPr>
        <p:blipFill>
          <a:blip r:embed="rId2"/>
          <a:stretch>
            <a:fillRect/>
          </a:stretch>
        </p:blipFill>
        <p:spPr>
          <a:xfrm>
            <a:off x="2707576" y="2018538"/>
            <a:ext cx="6922846"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4.2 SENDING AND RECEIVING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Datatype Channel</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Use a separate channel per message schema so all messages on a channel share the same schema.</a:t>
            </a:r>
          </a:p>
        </p:txBody>
      </p:sp>
      <p:pic>
        <p:nvPicPr>
          <p:cNvPr id="6" name="Picture 5" descr="eip-datatype-channel.png"/>
          <p:cNvPicPr>
            <a:picLocks noChangeAspect="1"/>
          </p:cNvPicPr>
          <p:nvPr/>
        </p:nvPicPr>
        <p:blipFill>
          <a:blip r:embed="rId2"/>
          <a:stretch>
            <a:fillRect/>
          </a:stretch>
        </p:blipFill>
        <p:spPr>
          <a:xfrm>
            <a:off x="2358513" y="1735074"/>
            <a:ext cx="7620972" cy="4702302"/>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4.2 SENDING AND RECEIVING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Message Endpoint</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How does an application connect to a channel to send and receive?</a:t>
            </a:r>
          </a:p>
        </p:txBody>
      </p:sp>
      <p:pic>
        <p:nvPicPr>
          <p:cNvPr id="6" name="Picture 5" descr="eip-message-endpoint.png"/>
          <p:cNvPicPr>
            <a:picLocks noChangeAspect="1"/>
          </p:cNvPicPr>
          <p:nvPr/>
        </p:nvPicPr>
        <p:blipFill>
          <a:blip r:embed="rId2"/>
          <a:stretch>
            <a:fillRect/>
          </a:stretch>
        </p:blipFill>
        <p:spPr>
          <a:xfrm>
            <a:off x="2014710" y="1735074"/>
            <a:ext cx="8308578" cy="4702302"/>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4.2 SENDING AND RECEIVING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Messaging Gateway</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Within the endpoint, encapsulate the middleware-access code in a </a:t>
            </a:r>
            <a:r>
              <a:rPr sz="1800" b="1" i="0">
                <a:solidFill>
                  <a:srgbClr val="181B1F"/>
                </a:solidFill>
                <a:latin typeface="IBM Plex Sans"/>
              </a:rPr>
              <a:t>Messaging Gateway</a:t>
            </a:r>
            <a:r>
              <a:rPr sz="1800" b="0" i="0">
                <a:solidFill>
                  <a:srgbClr val="181B1F"/>
                </a:solidFill>
                <a:latin typeface="IBM Plex Sans"/>
              </a:rPr>
              <a:t>, isolating all middleware dependencies into one component so the domain is isolated from messaging concerns.</a:t>
            </a:r>
          </a:p>
        </p:txBody>
      </p:sp>
      <p:pic>
        <p:nvPicPr>
          <p:cNvPr id="6" name="Picture 5" descr="eip-messaging-gateway.png"/>
          <p:cNvPicPr>
            <a:picLocks noChangeAspect="1"/>
          </p:cNvPicPr>
          <p:nvPr/>
        </p:nvPicPr>
        <p:blipFill>
          <a:blip r:embed="rId2"/>
          <a:stretch>
            <a:fillRect/>
          </a:stretch>
        </p:blipFill>
        <p:spPr>
          <a:xfrm>
            <a:off x="1838538" y="2018538"/>
            <a:ext cx="8660922"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4.3 The Message Pump</a:t>
            </a:r>
          </a:p>
        </p:txBody>
      </p:sp>
      <p:sp>
        <p:nvSpPr>
          <p:cNvPr id="6" name="TextBox 5"/>
          <p:cNvSpPr txBox="1"/>
          <p:nvPr/>
        </p:nvSpPr>
        <p:spPr>
          <a:xfrm>
            <a:off x="713232" y="3098819"/>
            <a:ext cx="6546921" cy="301752"/>
          </a:xfrm>
          <a:prstGeom prst="rect">
            <a:avLst/>
          </a:prstGeom>
          <a:noFill/>
        </p:spPr>
        <p:txBody>
          <a:bodyPr wrap="square" lIns="0" rIns="0" tIns="0" bIns="0">
            <a:spAutoFit/>
          </a:bodyPr>
          <a:lstStyle/>
          <a:p>
            <a:pPr>
              <a:lnSpc>
                <a:spcPts val="2232"/>
              </a:lnSpc>
            </a:pPr>
            <a:r>
              <a:rPr sz="1800" b="0" i="0">
                <a:solidFill>
                  <a:srgbClr val="2F5D3A"/>
                </a:solidFill>
                <a:latin typeface="IBM Plex Sans"/>
              </a:rPr>
              <a:t>How do I keep receiving — looping on the receiver.</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Message Pump</a:t>
            </a:r>
          </a:p>
        </p:txBody>
      </p:sp>
      <p:sp>
        <p:nvSpPr>
          <p:cNvPr id="5" name="TextBox 4"/>
          <p:cNvSpPr txBox="1"/>
          <p:nvPr/>
        </p:nvSpPr>
        <p:spPr>
          <a:xfrm>
            <a:off x="713232" y="1319549"/>
            <a:ext cx="4965109" cy="1152144"/>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code that takes a message from a channel and delivers it to application code, running in a loop until cancelled: </a:t>
            </a:r>
            <a:r>
              <a:rPr sz="1800" b="1" i="0">
                <a:solidFill>
                  <a:srgbClr val="181B1F"/>
                </a:solidFill>
                <a:latin typeface="IBM Plex Sans"/>
              </a:rPr>
              <a:t>Get → Translate → Dispatch → Handle</a:t>
            </a:r>
            <a:r>
              <a:rPr sz="1800" b="0" i="0">
                <a:solidFill>
                  <a:srgbClr val="181B1F"/>
                </a:solidFill>
                <a:latin typeface="IBM Plex Sans"/>
              </a:rPr>
              <a:t>.</a:t>
            </a:r>
          </a:p>
        </p:txBody>
      </p:sp>
      <p:sp>
        <p:nvSpPr>
          <p:cNvPr id="6" name="TextBox 5"/>
          <p:cNvSpPr txBox="1"/>
          <p:nvPr/>
        </p:nvSpPr>
        <p:spPr>
          <a:xfrm>
            <a:off x="713232" y="2567705"/>
            <a:ext cx="4965109"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Each stage fails in its own way.</a:t>
            </a:r>
            <a:r>
              <a:rPr sz="1800" b="0" i="0">
                <a:solidFill>
                  <a:srgbClr val="181B1F"/>
                </a:solidFill>
                <a:latin typeface="IBM Plex Sans"/>
              </a:rPr>
              <a:t> That is why a message which is never going to be handled has four different places to end up.</a:t>
            </a:r>
          </a:p>
        </p:txBody>
      </p:sp>
      <p:pic>
        <p:nvPicPr>
          <p:cNvPr id="7" name="Picture 6" descr="eip-message-pump.png"/>
          <p:cNvPicPr>
            <a:picLocks noChangeAspect="1"/>
          </p:cNvPicPr>
          <p:nvPr/>
        </p:nvPicPr>
        <p:blipFill>
          <a:blip r:embed="rId2"/>
          <a:stretch>
            <a:fillRect/>
          </a:stretch>
        </p:blipFill>
        <p:spPr>
          <a:xfrm>
            <a:off x="6025813" y="2315918"/>
            <a:ext cx="5598953" cy="2516383"/>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Translate and Dispatch</a:t>
            </a:r>
          </a:p>
        </p:txBody>
      </p:sp>
      <p:sp>
        <p:nvSpPr>
          <p:cNvPr id="5" name="TextBox 4"/>
          <p:cNvSpPr txBox="1"/>
          <p:nvPr/>
        </p:nvSpPr>
        <p:spPr>
          <a:xfrm>
            <a:off x="713232" y="1319549"/>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Two of those four stages are driven by a registry: </a:t>
            </a:r>
            <a:r>
              <a:rPr sz="1800" b="1" i="0">
                <a:solidFill>
                  <a:srgbClr val="181B1F"/>
                </a:solidFill>
                <a:latin typeface="IBM Plex Sans"/>
              </a:rPr>
              <a:t>Translate</a:t>
            </a:r>
            <a:r>
              <a:rPr sz="1800" b="0" i="0">
                <a:solidFill>
                  <a:srgbClr val="181B1F"/>
                </a:solidFill>
                <a:latin typeface="IBM Plex Sans"/>
              </a:rPr>
              <a:t> looks up a </a:t>
            </a:r>
            <a:r>
              <a:rPr sz="1800" b="1" i="0">
                <a:solidFill>
                  <a:srgbClr val="181B1F"/>
                </a:solidFill>
                <a:latin typeface="IBM Plex Sans"/>
              </a:rPr>
              <a:t>Message Mapper</a:t>
            </a:r>
            <a:r>
              <a:rPr sz="1800" b="0" i="0">
                <a:solidFill>
                  <a:srgbClr val="181B1F"/>
                </a:solidFill>
                <a:latin typeface="IBM Plex Sans"/>
              </a:rPr>
              <a:t>, </a:t>
            </a:r>
            <a:r>
              <a:rPr sz="1800" b="1" i="0">
                <a:solidFill>
                  <a:srgbClr val="181B1F"/>
                </a:solidFill>
                <a:latin typeface="IBM Plex Sans"/>
              </a:rPr>
              <a:t>Dispatch</a:t>
            </a:r>
            <a:r>
              <a:rPr sz="1800" b="0" i="0">
                <a:solidFill>
                  <a:srgbClr val="181B1F"/>
                </a:solidFill>
                <a:latin typeface="IBM Plex Sans"/>
              </a:rPr>
              <a:t> looks up a </a:t>
            </a:r>
            <a:r>
              <a:rPr sz="1800" b="1" i="0">
                <a:solidFill>
                  <a:srgbClr val="181B1F"/>
                </a:solidFill>
                <a:latin typeface="IBM Plex Sans"/>
              </a:rPr>
              <a:t>handler</a:t>
            </a:r>
            <a:r>
              <a:rPr sz="1800" b="0" i="0">
                <a:solidFill>
                  <a:srgbClr val="181B1F"/>
                </a:solidFill>
                <a:latin typeface="IBM Plex Sans"/>
              </a:rPr>
              <a:t>.</a:t>
            </a:r>
          </a:p>
        </p:txBody>
      </p:sp>
      <p:sp>
        <p:nvSpPr>
          <p:cNvPr id="6" name="TextBox 5"/>
          <p:cNvSpPr txBox="1"/>
          <p:nvPr/>
        </p:nvSpPr>
        <p:spPr>
          <a:xfrm>
            <a:off x="713232" y="22994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258841"/>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Message Mapper</a:t>
            </a:r>
            <a:r>
              <a:rPr sz="1800" b="0" i="0">
                <a:solidFill>
                  <a:srgbClr val="181B1F"/>
                </a:solidFill>
                <a:latin typeface="IBM Plex Sans"/>
              </a:rPr>
              <a:t> converts between a message and a domain object.</a:t>
            </a:r>
          </a:p>
        </p:txBody>
      </p:sp>
      <p:sp>
        <p:nvSpPr>
          <p:cNvPr id="8" name="TextBox 7"/>
          <p:cNvSpPr txBox="1"/>
          <p:nvPr/>
        </p:nvSpPr>
        <p:spPr>
          <a:xfrm>
            <a:off x="713232" y="29552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914669"/>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handler</a:t>
            </a:r>
            <a:r>
              <a:rPr sz="1800" b="0" i="0">
                <a:solidFill>
                  <a:srgbClr val="181B1F"/>
                </a:solidFill>
                <a:latin typeface="IBM Plex Sans"/>
              </a:rPr>
              <a:t> is your code, subscribed to the channels the endpoint listens on.</a:t>
            </a:r>
          </a:p>
        </p:txBody>
      </p:sp>
      <p:pic>
        <p:nvPicPr>
          <p:cNvPr id="10" name="Picture 9" descr="eip-translate-and-dispatch.png"/>
          <p:cNvPicPr>
            <a:picLocks noChangeAspect="1"/>
          </p:cNvPicPr>
          <p:nvPr/>
        </p:nvPicPr>
        <p:blipFill>
          <a:blip r:embed="rId2"/>
          <a:stretch>
            <a:fillRect/>
          </a:stretch>
        </p:blipFill>
        <p:spPr>
          <a:xfrm>
            <a:off x="6025813" y="2466901"/>
            <a:ext cx="5598953" cy="2138926"/>
          </a:xfrm>
          <a:prstGeom prst="rect">
            <a:avLst/>
          </a:prstGeom>
        </p:spPr>
      </p:pic>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42</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Polling Consumer</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message pump makes an explicit call to check for messages. Consumes a thread even when idle, but needs no held-open connection to the middleware. (EIP reference.)</a:t>
            </a:r>
          </a:p>
        </p:txBody>
      </p:sp>
      <p:pic>
        <p:nvPicPr>
          <p:cNvPr id="6" name="Picture 5" descr="eip-polling-consumer.png"/>
          <p:cNvPicPr>
            <a:picLocks noChangeAspect="1"/>
          </p:cNvPicPr>
          <p:nvPr/>
        </p:nvPicPr>
        <p:blipFill>
          <a:blip r:embed="rId2"/>
          <a:stretch>
            <a:fillRect/>
          </a:stretch>
        </p:blipFill>
        <p:spPr>
          <a:xfrm>
            <a:off x="1043147" y="2018538"/>
            <a:ext cx="10251704"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Event Driven Consumer</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pump registers a callback that the middleware invokes when a message is available. Doesn't consume a thread, but requires a held-open connection (or the app to serve middleware requests). (EIP reference.)</a:t>
            </a:r>
          </a:p>
        </p:txBody>
      </p:sp>
      <p:pic>
        <p:nvPicPr>
          <p:cNvPr id="6" name="Picture 5" descr="eip-event-driven-consumer.png"/>
          <p:cNvPicPr>
            <a:picLocks noChangeAspect="1"/>
          </p:cNvPicPr>
          <p:nvPr/>
        </p:nvPicPr>
        <p:blipFill>
          <a:blip r:embed="rId2"/>
          <a:stretch>
            <a:fillRect/>
          </a:stretch>
        </p:blipFill>
        <p:spPr>
          <a:xfrm>
            <a:off x="1043147" y="2018538"/>
            <a:ext cx="10251704"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Service Activator</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line between the messaging code and your code.</a:t>
            </a:r>
          </a:p>
        </p:txBody>
      </p:sp>
      <p:sp>
        <p:nvSpPr>
          <p:cNvPr id="6" name="TextBox 5"/>
          <p:cNvSpPr txBox="1"/>
          <p:nvPr/>
        </p:nvSpPr>
        <p:spPr>
          <a:xfrm>
            <a:off x="713232" y="1717313"/>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Everything in this sub-topic so far — endpoint, pump, mapper, registries — is the </a:t>
            </a:r>
            <a:r>
              <a:rPr sz="1800" b="1" i="0">
                <a:solidFill>
                  <a:srgbClr val="181B1F"/>
                </a:solidFill>
                <a:latin typeface="IBM Plex Sans"/>
              </a:rPr>
              <a:t>messaging gateway</a:t>
            </a:r>
            <a:r>
              <a:rPr sz="1800" b="0" i="0">
                <a:solidFill>
                  <a:srgbClr val="181B1F"/>
                </a:solidFill>
                <a:latin typeface="IBM Plex Sans"/>
              </a:rPr>
              <a:t>. The </a:t>
            </a:r>
            <a:r>
              <a:rPr sz="1800" b="1" i="0">
                <a:solidFill>
                  <a:srgbClr val="181B1F"/>
                </a:solidFill>
                <a:latin typeface="IBM Plex Sans"/>
              </a:rPr>
              <a:t>handler</a:t>
            </a:r>
            <a:r>
              <a:rPr sz="1800" b="0" i="0">
                <a:solidFill>
                  <a:srgbClr val="181B1F"/>
                </a:solidFill>
                <a:latin typeface="IBM Plex Sans"/>
              </a:rPr>
              <a:t> is your code. The Service Activator is the join, and its whole job is that the handler </a:t>
            </a:r>
            <a:r>
              <a:rPr sz="1800" b="1" i="0">
                <a:solidFill>
                  <a:srgbClr val="181B1F"/>
                </a:solidFill>
                <a:latin typeface="IBM Plex Sans"/>
              </a:rPr>
              <a:t>does not know the pump exists</a:t>
            </a:r>
            <a:r>
              <a:rPr sz="1800" b="0" i="0">
                <a:solidFill>
                  <a:srgbClr val="181B1F"/>
                </a:solidFill>
                <a:latin typeface="IBM Plex Sans"/>
              </a:rPr>
              <a:t>.</a:t>
            </a:r>
          </a:p>
        </p:txBody>
      </p:sp>
      <p:sp>
        <p:nvSpPr>
          <p:cNvPr id="7" name="TextBox 6"/>
          <p:cNvSpPr txBox="1"/>
          <p:nvPr/>
        </p:nvSpPr>
        <p:spPr>
          <a:xfrm>
            <a:off x="713232" y="26972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6566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pump has a message; the </a:t>
            </a:r>
            <a:r>
              <a:rPr sz="1800" b="1" i="0">
                <a:solidFill>
                  <a:srgbClr val="181B1F"/>
                </a:solidFill>
                <a:latin typeface="IBM Plex Sans"/>
              </a:rPr>
              <a:t>Message Mapper</a:t>
            </a:r>
            <a:r>
              <a:rPr sz="1800" b="0" i="0">
                <a:solidFill>
                  <a:srgbClr val="181B1F"/>
                </a:solidFill>
                <a:latin typeface="IBM Plex Sans"/>
              </a:rPr>
              <a:t> has already turned it into a domain object.</a:t>
            </a:r>
          </a:p>
        </p:txBody>
      </p:sp>
      <p:sp>
        <p:nvSpPr>
          <p:cNvPr id="9" name="TextBox 8"/>
          <p:cNvSpPr txBox="1"/>
          <p:nvPr/>
        </p:nvSpPr>
        <p:spPr>
          <a:xfrm>
            <a:off x="713232" y="30695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302896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activator makes an ordinary </a:t>
            </a:r>
            <a:r>
              <a:rPr sz="1800" b="1" i="0">
                <a:solidFill>
                  <a:srgbClr val="181B1F"/>
                </a:solidFill>
                <a:latin typeface="IBM Plex Sans"/>
              </a:rPr>
              <a:t>synchronous, in-process method call</a:t>
            </a:r>
            <a:r>
              <a:rPr sz="1800" b="0" i="0">
                <a:solidFill>
                  <a:srgbClr val="181B1F"/>
                </a:solidFill>
                <a:latin typeface="IBM Plex Sans"/>
              </a:rPr>
              <a:t> into your code, usually through a service layer.</a:t>
            </a:r>
          </a:p>
        </p:txBody>
      </p:sp>
      <p:sp>
        <p:nvSpPr>
          <p:cNvPr id="11" name="TextBox 10"/>
          <p:cNvSpPr txBox="1"/>
          <p:nvPr/>
        </p:nvSpPr>
        <p:spPr>
          <a:xfrm>
            <a:off x="713232" y="37254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68479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handler takes a domain type and returns, or throws. No channel, no broker, no headers, no ack.</a:t>
            </a:r>
          </a:p>
        </p:txBody>
      </p:sp>
      <p:sp>
        <p:nvSpPr>
          <p:cNvPr id="13" name="TextBox 12"/>
          <p:cNvSpPr txBox="1"/>
          <p:nvPr/>
        </p:nvSpPr>
        <p:spPr>
          <a:xfrm>
            <a:off x="713232" y="40977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405716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Dispatch</a:t>
            </a:r>
            <a:r>
              <a:rPr sz="1800" b="0" i="0">
                <a:solidFill>
                  <a:srgbClr val="181B1F"/>
                </a:solidFill>
                <a:latin typeface="IBM Plex Sans"/>
              </a:rPr>
              <a:t> is hard-coded to one service, or reflective on the message type — which is what the </a:t>
            </a:r>
            <a:r>
              <a:rPr sz="1800" b="0" i="1">
                <a:solidFill>
                  <a:srgbClr val="181B1F"/>
                </a:solidFill>
                <a:latin typeface="IBM Plex Sans"/>
              </a:rPr>
              <a:t>Handler Registry</a:t>
            </a:r>
            <a:r>
              <a:rPr sz="1800" b="0" i="0">
                <a:solidFill>
                  <a:srgbClr val="181B1F"/>
                </a:solidFill>
                <a:latin typeface="IBM Plex Sans"/>
              </a:rPr>
              <a:t> on </a:t>
            </a:r>
            <a:r>
              <a:rPr sz="1800" b="0" i="1">
                <a:solidFill>
                  <a:srgbClr val="181B1F"/>
                </a:solidFill>
                <a:latin typeface="IBM Plex Sans"/>
              </a:rPr>
              <a:t>Translate and Dispatch</a:t>
            </a:r>
            <a:r>
              <a:rPr sz="1800" b="0" i="0">
                <a:solidFill>
                  <a:srgbClr val="181B1F"/>
                </a:solidFill>
                <a:latin typeface="IBM Plex Sans"/>
              </a:rPr>
              <a:t> is for.</a:t>
            </a:r>
          </a:p>
        </p:txBody>
      </p:sp>
      <p:sp>
        <p:nvSpPr>
          <p:cNvPr id="15" name="TextBox 14"/>
          <p:cNvSpPr txBox="1"/>
          <p:nvPr/>
        </p:nvSpPr>
        <p:spPr>
          <a:xfrm>
            <a:off x="713232" y="475361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6" name="TextBox 15"/>
          <p:cNvSpPr txBox="1"/>
          <p:nvPr/>
        </p:nvSpPr>
        <p:spPr>
          <a:xfrm>
            <a:off x="960120" y="471298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One-way</a:t>
            </a:r>
            <a:r>
              <a:rPr sz="1800" b="0" i="0">
                <a:solidFill>
                  <a:srgbClr val="181B1F"/>
                </a:solidFill>
                <a:latin typeface="IBM Plex Sans"/>
              </a:rPr>
              <a:t> (request only) or </a:t>
            </a:r>
            <a:r>
              <a:rPr sz="1800" b="1" i="0">
                <a:solidFill>
                  <a:srgbClr val="181B1F"/>
                </a:solidFill>
                <a:latin typeface="IBM Plex Sans"/>
              </a:rPr>
              <a:t>two-way</a:t>
            </a:r>
            <a:r>
              <a:rPr sz="1800" b="0" i="0">
                <a:solidFill>
                  <a:srgbClr val="181B1F"/>
                </a:solidFill>
                <a:latin typeface="IBM Plex Sans"/>
              </a:rPr>
              <a:t> (Request-Reply).</a:t>
            </a:r>
          </a:p>
        </p:txBody>
      </p:sp>
      <p:sp>
        <p:nvSpPr>
          <p:cNvPr id="17" name="TextBox 16"/>
          <p:cNvSpPr txBox="1"/>
          <p:nvPr/>
        </p:nvSpPr>
        <p:spPr>
          <a:xfrm>
            <a:off x="713232" y="512597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8" name="TextBox 17"/>
          <p:cNvSpPr txBox="1"/>
          <p:nvPr/>
        </p:nvSpPr>
        <p:spPr>
          <a:xfrm>
            <a:off x="960120" y="5085353"/>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Because nothing in the handler is messaging-aware, anything else can call it too</a:t>
            </a:r>
            <a:r>
              <a:rPr sz="1800" b="0" i="0">
                <a:solidFill>
                  <a:srgbClr val="181B1F"/>
                </a:solidFill>
                <a:latin typeface="IBM Plex Sans"/>
              </a:rPr>
              <a:t> — a developer test, an HTTP endpoint, a gRPC service. Useful, and worth calling out; but it is a </a:t>
            </a:r>
            <a:r>
              <a:rPr sz="1800" b="0" i="1">
                <a:solidFill>
                  <a:srgbClr val="181B1F"/>
                </a:solidFill>
                <a:latin typeface="IBM Plex Sans"/>
              </a:rPr>
              <a:t>consequence</a:t>
            </a:r>
            <a:r>
              <a:rPr sz="1800" b="0" i="0">
                <a:solidFill>
                  <a:srgbClr val="181B1F"/>
                </a:solidFill>
                <a:latin typeface="IBM Plex Sans"/>
              </a:rPr>
              <a:t> of the separation, not the reason for it.</a:t>
            </a:r>
          </a:p>
        </p:txBody>
      </p:sp>
      <p:sp>
        <p:nvSpPr>
          <p:cNvPr id="19" name="TextBox 1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Service Activator</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Your handler is not a message handler. It is a method that happens to be called by one.</a:t>
            </a:r>
          </a:p>
        </p:txBody>
      </p:sp>
      <p:pic>
        <p:nvPicPr>
          <p:cNvPr id="7" name="Picture 6" descr="eip-service-activator.png"/>
          <p:cNvPicPr>
            <a:picLocks noChangeAspect="1"/>
          </p:cNvPicPr>
          <p:nvPr/>
        </p:nvPicPr>
        <p:blipFill>
          <a:blip r:embed="rId2"/>
          <a:stretch>
            <a:fillRect/>
          </a:stretch>
        </p:blipFill>
        <p:spPr>
          <a:xfrm>
            <a:off x="768858" y="1937258"/>
            <a:ext cx="10800283"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46</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Competing Consumers</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the </a:t>
            </a:r>
            <a:r>
              <a:rPr sz="1800" b="1" i="0">
                <a:solidFill>
                  <a:srgbClr val="181B1F"/>
                </a:solidFill>
                <a:latin typeface="IBM Plex Sans"/>
              </a:rPr>
              <a:t>Rate of Arrival</a:t>
            </a:r>
            <a:r>
              <a:rPr sz="1800" b="0" i="0">
                <a:solidFill>
                  <a:srgbClr val="181B1F"/>
                </a:solidFill>
                <a:latin typeface="IBM Plex Sans"/>
              </a:rPr>
              <a:t> of messages (RoA) exceeds the </a:t>
            </a:r>
            <a:r>
              <a:rPr sz="1800" b="1" i="0">
                <a:solidFill>
                  <a:srgbClr val="181B1F"/>
                </a:solidFill>
                <a:latin typeface="IBM Plex Sans"/>
              </a:rPr>
              <a:t>Rate of Consumption</a:t>
            </a:r>
            <a:r>
              <a:rPr sz="1800" b="0" i="0">
                <a:solidFill>
                  <a:srgbClr val="181B1F"/>
                </a:solidFill>
                <a:latin typeface="IBM Plex Sans"/>
              </a:rPr>
              <a:t> (RoC), your channel backs up and the age of any message in it increases. At some point the time a message waits in the channel becomes unacceptable.</a:t>
            </a:r>
          </a:p>
        </p:txBody>
      </p:sp>
      <p:sp>
        <p:nvSpPr>
          <p:cNvPr id="6" name="TextBox 5"/>
          <p:cNvSpPr txBox="1"/>
          <p:nvPr/>
        </p:nvSpPr>
        <p:spPr>
          <a:xfrm>
            <a:off x="713232" y="2284241"/>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solve this by </a:t>
            </a:r>
            <a:r>
              <a:rPr sz="1800" b="1" i="0">
                <a:solidFill>
                  <a:srgbClr val="181B1F"/>
                </a:solidFill>
                <a:latin typeface="IBM Plex Sans"/>
              </a:rPr>
              <a:t>competing consumers</a:t>
            </a:r>
            <a:r>
              <a:rPr sz="1800" b="0" i="0">
                <a:solidFill>
                  <a:srgbClr val="181B1F"/>
                </a:solidFill>
                <a:latin typeface="IBM Plex Sans"/>
              </a:rPr>
              <a:t> — but </a:t>
            </a:r>
            <a:r>
              <a:rPr sz="1800" b="0" i="1">
                <a:solidFill>
                  <a:srgbClr val="181B1F"/>
                </a:solidFill>
                <a:latin typeface="IBM Plex Sans"/>
              </a:rPr>
              <a:t>the implementation differs between queues and streams</a:t>
            </a:r>
            <a:r>
              <a:rPr sz="1800" b="0" i="0">
                <a:solidFill>
                  <a:srgbClr val="181B1F"/>
                </a:solidFill>
                <a:latin typeface="IBM Plex Sans"/>
              </a:rPr>
              <a:t>, and so does what it costs you.</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Competing Consumers</a:t>
            </a:r>
          </a:p>
        </p:txBody>
      </p:sp>
      <p:pic>
        <p:nvPicPr>
          <p:cNvPr id="5" name="Picture 4" descr="eip-message-dispatcher.png"/>
          <p:cNvPicPr>
            <a:picLocks noChangeAspect="1"/>
          </p:cNvPicPr>
          <p:nvPr/>
        </p:nvPicPr>
        <p:blipFill>
          <a:blip r:embed="rId2"/>
          <a:stretch>
            <a:fillRect/>
          </a:stretch>
        </p:blipFill>
        <p:spPr>
          <a:xfrm>
            <a:off x="2317237" y="1245870"/>
            <a:ext cx="7703525"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Competing Consumers on a Queue</a:t>
            </a:r>
          </a:p>
        </p:txBody>
      </p:sp>
      <p:sp>
        <p:nvSpPr>
          <p:cNvPr id="5" name="TextBox 4"/>
          <p:cNvSpPr txBox="1"/>
          <p:nvPr/>
        </p:nvSpPr>
        <p:spPr>
          <a:xfrm>
            <a:off x="713232" y="1319549"/>
            <a:ext cx="4965109"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Add consumers to the same queue. The broker's </a:t>
            </a:r>
            <a:r>
              <a:rPr sz="1800" b="1" i="0">
                <a:solidFill>
                  <a:srgbClr val="181B1F"/>
                </a:solidFill>
                <a:latin typeface="IBM Plex Sans"/>
              </a:rPr>
              <a:t>lock</a:t>
            </a:r>
            <a:r>
              <a:rPr sz="1800" b="0" i="0">
                <a:solidFill>
                  <a:srgbClr val="181B1F"/>
                </a:solidFill>
                <a:latin typeface="IBM Plex Sans"/>
              </a:rPr>
              <a:t> does the rest.</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consumer takes the next message and </a:t>
            </a:r>
            <a:r>
              <a:rPr sz="1800" b="1" i="0">
                <a:solidFill>
                  <a:srgbClr val="181B1F"/>
                </a:solidFill>
                <a:latin typeface="IBM Plex Sans"/>
              </a:rPr>
              <a:t>locks</a:t>
            </a:r>
            <a:r>
              <a:rPr sz="1800" b="0" i="0">
                <a:solidFill>
                  <a:srgbClr val="181B1F"/>
                </a:solidFill>
                <a:latin typeface="IBM Plex Sans"/>
              </a:rPr>
              <a:t> it — </a:t>
            </a:r>
            <a:r>
              <a:rPr sz="1800" b="0" i="1">
                <a:solidFill>
                  <a:srgbClr val="181B1F"/>
                </a:solidFill>
                <a:latin typeface="IBM Plex Sans"/>
              </a:rPr>
              <a:t>this item is being processed</a:t>
            </a:r>
            <a:r>
              <a:rPr sz="1800" b="0" i="0">
                <a:solidFill>
                  <a:srgbClr val="181B1F"/>
                </a:solidFill>
                <a:latin typeface="IBM Plex Sans"/>
              </a:rPr>
              <a:t>.</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Another consumer </a:t>
            </a:r>
            <a:r>
              <a:rPr sz="1800" b="1" i="0">
                <a:solidFill>
                  <a:srgbClr val="181B1F"/>
                </a:solidFill>
                <a:latin typeface="IBM Plex Sans"/>
              </a:rPr>
              <a:t>reads past</a:t>
            </a:r>
            <a:r>
              <a:rPr sz="1800" b="0" i="0">
                <a:solidFill>
                  <a:srgbClr val="181B1F"/>
                </a:solidFill>
                <a:latin typeface="IBM Plex Sans"/>
              </a:rPr>
              <a:t> the locked one and picks up the next item.</a:t>
            </a:r>
          </a:p>
        </p:txBody>
      </p:sp>
      <p:sp>
        <p:nvSpPr>
          <p:cNvPr id="10" name="TextBox 9"/>
          <p:cNvSpPr txBox="1"/>
          <p:nvPr/>
        </p:nvSpPr>
        <p:spPr>
          <a:xfrm>
            <a:off x="713232" y="33276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287033"/>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Nothing says which of them finishes first, so </a:t>
            </a:r>
            <a:r>
              <a:rPr sz="1800" b="1" i="0">
                <a:solidFill>
                  <a:srgbClr val="181B1F"/>
                </a:solidFill>
                <a:latin typeface="IBM Plex Sans"/>
              </a:rPr>
              <a:t>you have sacrificed ordering</a:t>
            </a:r>
            <a:r>
              <a:rPr sz="1800" b="0" i="0">
                <a:solidFill>
                  <a:srgbClr val="181B1F"/>
                </a:solidFill>
                <a:latin typeface="IBM Plex Sans"/>
              </a:rPr>
              <a:t> to get the throughput.</a:t>
            </a:r>
          </a:p>
        </p:txBody>
      </p:sp>
      <p:pic>
        <p:nvPicPr>
          <p:cNvPr id="12" name="Picture 11" descr="qs-queue-competing.png"/>
          <p:cNvPicPr>
            <a:picLocks noChangeAspect="1"/>
          </p:cNvPicPr>
          <p:nvPr/>
        </p:nvPicPr>
        <p:blipFill>
          <a:blip r:embed="rId2"/>
          <a:stretch>
            <a:fillRect/>
          </a:stretch>
        </p:blipFill>
        <p:spPr>
          <a:xfrm>
            <a:off x="6025813" y="2121107"/>
            <a:ext cx="5598953" cy="3003412"/>
          </a:xfrm>
          <a:prstGeom prst="rect">
            <a:avLst/>
          </a:prstGeom>
        </p:spPr>
      </p:pic>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49</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Competing Consumers on a Stream</a:t>
            </a:r>
          </a:p>
        </p:txBody>
      </p:sp>
      <p:sp>
        <p:nvSpPr>
          <p:cNvPr id="5" name="TextBox 4"/>
          <p:cNvSpPr txBox="1"/>
          <p:nvPr/>
        </p:nvSpPr>
        <p:spPr>
          <a:xfrm>
            <a:off x="713232" y="1319549"/>
            <a:ext cx="4965109"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There is no lock, so there is no read-past. You scale by </a:t>
            </a:r>
            <a:r>
              <a:rPr sz="1800" b="1" i="0">
                <a:solidFill>
                  <a:srgbClr val="181B1F"/>
                </a:solidFill>
                <a:latin typeface="IBM Plex Sans"/>
              </a:rPr>
              <a:t>partitioning</a:t>
            </a:r>
            <a:r>
              <a:rPr sz="1800" b="0" i="0">
                <a:solidFill>
                  <a:srgbClr val="181B1F"/>
                </a:solidFill>
                <a:latin typeface="IBM Plex Sans"/>
              </a:rPr>
              <a:t>.</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4718221"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Partition by a key</a:t>
            </a:r>
            <a:r>
              <a:rPr sz="1800" b="0" i="0">
                <a:solidFill>
                  <a:srgbClr val="181B1F"/>
                </a:solidFill>
                <a:latin typeface="IBM Plex Sans"/>
              </a:rPr>
              <a:t> — consistent hashing puts same-key records in the same partition.</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4718221"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Each partition has one consumer</a:t>
            </a:r>
            <a:r>
              <a:rPr sz="1800" b="0" i="0">
                <a:solidFill>
                  <a:srgbClr val="181B1F"/>
                </a:solidFill>
                <a:latin typeface="IBM Plex Sans"/>
              </a:rPr>
              <a:t>, and each consumer keeps its own offset.</a:t>
            </a:r>
          </a:p>
        </p:txBody>
      </p:sp>
      <p:sp>
        <p:nvSpPr>
          <p:cNvPr id="10" name="TextBox 9"/>
          <p:cNvSpPr txBox="1"/>
          <p:nvPr/>
        </p:nvSpPr>
        <p:spPr>
          <a:xfrm>
            <a:off x="713232" y="33276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287033"/>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Order holds inside a partition, so </a:t>
            </a:r>
            <a:r>
              <a:rPr sz="1800" b="1" i="0">
                <a:solidFill>
                  <a:srgbClr val="181B1F"/>
                </a:solidFill>
                <a:latin typeface="IBM Plex Sans"/>
              </a:rPr>
              <a:t>you keep ordering</a:t>
            </a:r>
            <a:r>
              <a:rPr sz="1800" b="0" i="0">
                <a:solidFill>
                  <a:srgbClr val="181B1F"/>
                </a:solidFill>
                <a:latin typeface="IBM Plex Sans"/>
              </a:rPr>
              <a:t> for everything that shares a key.</a:t>
            </a:r>
          </a:p>
        </p:txBody>
      </p:sp>
      <p:sp>
        <p:nvSpPr>
          <p:cNvPr id="12" name="TextBox 11"/>
          <p:cNvSpPr txBox="1"/>
          <p:nvPr/>
        </p:nvSpPr>
        <p:spPr>
          <a:xfrm>
            <a:off x="713232" y="39834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942861"/>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price: </a:t>
            </a:r>
            <a:r>
              <a:rPr sz="1800" b="1" i="0">
                <a:solidFill>
                  <a:srgbClr val="181B1F"/>
                </a:solidFill>
                <a:latin typeface="IBM Plex Sans"/>
              </a:rPr>
              <a:t>no delay and no read-past.</a:t>
            </a:r>
            <a:r>
              <a:rPr sz="1800" b="0" i="0">
                <a:solidFill>
                  <a:srgbClr val="181B1F"/>
                </a:solidFill>
                <a:latin typeface="IBM Plex Sans"/>
              </a:rPr>
              <a:t> A slow record holds up its partition, and there is nothing to skip it with.</a:t>
            </a:r>
          </a:p>
        </p:txBody>
      </p:sp>
      <p:pic>
        <p:nvPicPr>
          <p:cNvPr id="14" name="Picture 13" descr="qs-stream-partitions.png"/>
          <p:cNvPicPr>
            <a:picLocks noChangeAspect="1"/>
          </p:cNvPicPr>
          <p:nvPr/>
        </p:nvPicPr>
        <p:blipFill>
          <a:blip r:embed="rId2"/>
          <a:stretch>
            <a:fillRect/>
          </a:stretch>
        </p:blipFill>
        <p:spPr>
          <a:xfrm>
            <a:off x="6025813" y="2229664"/>
            <a:ext cx="5598953" cy="2732019"/>
          </a:xfrm>
          <a:prstGeom prst="rect">
            <a:avLst/>
          </a:prstGeom>
        </p:spPr>
      </p:pic>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50</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the Task Queue</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pump and competing consumers, as an application shape. </a:t>
            </a:r>
            <a:r>
              <a:rPr sz="1800" b="1" i="0">
                <a:solidFill>
                  <a:srgbClr val="181B1F"/>
                </a:solidFill>
                <a:latin typeface="IBM Plex Sans"/>
              </a:rPr>
              <a:t>Offloading work from a request path.</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web server puts the work on a </a:t>
            </a:r>
            <a:r>
              <a:rPr sz="1800" b="1" i="0">
                <a:solidFill>
                  <a:srgbClr val="181B1F"/>
                </a:solidFill>
                <a:latin typeface="IBM Plex Sans"/>
              </a:rPr>
              <a:t>queue</a:t>
            </a:r>
            <a:r>
              <a:rPr sz="1800" b="0" i="0">
                <a:solidFill>
                  <a:srgbClr val="181B1F"/>
                </a:solidFill>
                <a:latin typeface="IBM Plex Sans"/>
              </a:rPr>
              <a:t> and returns immediately.</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queue </a:t>
            </a:r>
            <a:r>
              <a:rPr sz="1800" b="1" i="0">
                <a:solidFill>
                  <a:srgbClr val="181B1F"/>
                </a:solidFill>
                <a:latin typeface="IBM Plex Sans"/>
              </a:rPr>
              <a:t>stores</a:t>
            </a:r>
            <a:r>
              <a:rPr sz="1800" b="0" i="0">
                <a:solidFill>
                  <a:srgbClr val="181B1F"/>
                </a:solidFill>
                <a:latin typeface="IBM Plex Sans"/>
              </a:rPr>
              <a:t> the work until we are ready to consume it — we can throttle to prevent surges.</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backend application does the long-running or CPU-intensive work, freeing the web server to service new requests.</a:t>
            </a:r>
          </a:p>
        </p:txBody>
      </p:sp>
      <p:sp>
        <p:nvSpPr>
          <p:cNvPr id="12" name="TextBox 11"/>
          <p:cNvSpPr txBox="1"/>
          <p:nvPr/>
        </p:nvSpPr>
        <p:spPr>
          <a:xfrm>
            <a:off x="713232" y="31330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0924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We </a:t>
            </a:r>
            <a:r>
              <a:rPr sz="1800" b="1" i="0">
                <a:solidFill>
                  <a:srgbClr val="181B1F"/>
                </a:solidFill>
                <a:latin typeface="IBM Plex Sans"/>
              </a:rPr>
              <a:t>scale out</a:t>
            </a:r>
            <a:r>
              <a:rPr sz="1800" b="0" i="0">
                <a:solidFill>
                  <a:srgbClr val="181B1F"/>
                </a:solidFill>
                <a:latin typeface="IBM Plex Sans"/>
              </a:rPr>
              <a:t> the backend with competing consumers so the queue does not back up.</a:t>
            </a:r>
          </a:p>
        </p:txBody>
      </p:sp>
      <p:sp>
        <p:nvSpPr>
          <p:cNvPr id="14" name="TextBox 13"/>
          <p:cNvSpPr txBox="1"/>
          <p:nvPr/>
        </p:nvSpPr>
        <p:spPr>
          <a:xfrm>
            <a:off x="713232" y="3490233"/>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buys:</a:t>
            </a:r>
            <a:r>
              <a:rPr sz="1800" b="0" i="0">
                <a:solidFill>
                  <a:srgbClr val="181B1F"/>
                </a:solidFill>
                <a:latin typeface="IBM Plex Sans"/>
              </a:rPr>
              <a:t> the web server stays responsive when the backend is slow, overwhelmed, or down. The work is not lost — it waits.</a:t>
            </a:r>
          </a:p>
        </p:txBody>
      </p:sp>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51</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the Task Queue</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This is the shape the opener promised. One team, one service, one queue — and here are its parts.</a:t>
            </a:r>
          </a:p>
        </p:txBody>
      </p:sp>
      <p:pic>
        <p:nvPicPr>
          <p:cNvPr id="7" name="Picture 6" descr="task-queue-shape.png"/>
          <p:cNvPicPr>
            <a:picLocks noChangeAspect="1"/>
          </p:cNvPicPr>
          <p:nvPr/>
        </p:nvPicPr>
        <p:blipFill>
          <a:blip r:embed="rId2"/>
          <a:stretch>
            <a:fillRect/>
          </a:stretch>
        </p:blipFill>
        <p:spPr>
          <a:xfrm>
            <a:off x="1617036" y="1937258"/>
            <a:ext cx="9103925"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52</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Task Queue — HTTP Flow</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How this looks over HTTP — and most delegates have not used it.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Return </a:t>
            </a:r>
            <a:r>
              <a:rPr sz="1800" b="1" i="0">
                <a:solidFill>
                  <a:srgbClr val="181B1F"/>
                </a:solidFill>
                <a:latin typeface="IBM Plex Sans"/>
              </a:rPr>
              <a:t>202 Accepted</a:t>
            </a:r>
            <a:r>
              <a:rPr sz="1800" b="0" i="0">
                <a:solidFill>
                  <a:srgbClr val="181B1F"/>
                </a:solidFill>
                <a:latin typeface="IBM Plex Sans"/>
              </a:rPr>
              <a:t> — we have your work request and we will not lose it. It is HTTP's own way of saying </a:t>
            </a:r>
            <a:r>
              <a:rPr sz="1800" b="0" i="1">
                <a:solidFill>
                  <a:srgbClr val="181B1F"/>
                </a:solidFill>
                <a:latin typeface="IBM Plex Sans"/>
              </a:rPr>
              <a:t>store and forward</a:t>
            </a:r>
            <a:r>
              <a:rPr sz="1800" b="0" i="0">
                <a:solidFill>
                  <a:srgbClr val="181B1F"/>
                </a:solidFill>
                <a:latin typeface="IBM Plex Sans"/>
              </a:rPr>
              <a:t>.</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Enqueue a work item for the request.</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Return a </a:t>
            </a:r>
            <a:r>
              <a:rPr sz="1800" b="1" i="0">
                <a:solidFill>
                  <a:srgbClr val="181B1F"/>
                </a:solidFill>
                <a:latin typeface="IBM Plex Sans"/>
              </a:rPr>
              <a:t>Location</a:t>
            </a:r>
            <a:r>
              <a:rPr sz="1800" b="0" i="0">
                <a:solidFill>
                  <a:srgbClr val="181B1F"/>
                </a:solidFill>
                <a:latin typeface="IBM Plex Sans"/>
              </a:rPr>
              <a:t> header so the caller can monitor progress: a link to the resource — 404 until it is created — and a link to a progress page backed by a KV store where we note progress.</a:t>
            </a:r>
          </a:p>
        </p:txBody>
      </p:sp>
      <p:sp>
        <p:nvSpPr>
          <p:cNvPr id="12" name="TextBox 11"/>
          <p:cNvSpPr txBox="1"/>
          <p:nvPr/>
        </p:nvSpPr>
        <p:spPr>
          <a:xfrm>
            <a:off x="713232" y="34165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37593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backend does the work at a sustainable pace and updates the KV store as it goes.</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53</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Task Queue — HTTP Flow</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§4.4 is how you keep that promise.</a:t>
            </a:r>
          </a:p>
        </p:txBody>
      </p:sp>
      <p:pic>
        <p:nvPicPr>
          <p:cNvPr id="7" name="Picture 6" descr="task-queue-http.png"/>
          <p:cNvPicPr>
            <a:picLocks noChangeAspect="1"/>
          </p:cNvPicPr>
          <p:nvPr/>
        </p:nvPicPr>
        <p:blipFill>
          <a:blip r:embed="rId2"/>
          <a:stretch>
            <a:fillRect/>
          </a:stretch>
        </p:blipFill>
        <p:spPr>
          <a:xfrm>
            <a:off x="1631201" y="1937258"/>
            <a:ext cx="9075596"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4.3 THE MESSAGE PUMP</a:t>
            </a:r>
          </a:p>
        </p:txBody>
      </p:sp>
      <p:sp>
        <p:nvSpPr>
          <p:cNvPr id="4" name="TextBox 3"/>
          <p:cNvSpPr txBox="1"/>
          <p:nvPr/>
        </p:nvSpPr>
        <p:spPr>
          <a:xfrm>
            <a:off x="713232" y="606722"/>
            <a:ext cx="6074336"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Exercise Material — Introduction &amp; RMQ</a:t>
            </a:r>
          </a:p>
        </p:txBody>
      </p:sp>
      <p:sp>
        <p:nvSpPr>
          <p:cNvPr id="5" name="TextBox 4"/>
          <p:cNvSpPr txBox="1"/>
          <p:nvPr/>
        </p:nvSpPr>
        <p:spPr>
          <a:xfrm>
            <a:off x="713232" y="1739411"/>
            <a:ext cx="6074336" cy="1152144"/>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Readme, videos, scripts &amp; slides. Introduction to Exercises; Quick Start RabbitMQ — the AMQP 0-9-1 primitives (exchanges, bindings, queues) behind the channels of §4.2.</a:t>
            </a:r>
          </a:p>
        </p:txBody>
      </p:sp>
      <p:sp>
        <p:nvSpPr>
          <p:cNvPr id="6" name="TextBox 5"/>
          <p:cNvSpPr txBox="1"/>
          <p:nvPr/>
        </p:nvSpPr>
        <p:spPr>
          <a:xfrm>
            <a:off x="713232" y="2987567"/>
            <a:ext cx="6074336" cy="1152144"/>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Then build the thing you have just been shown:</a:t>
            </a:r>
            <a:r>
              <a:rPr sz="1800" b="0" i="0">
                <a:solidFill>
                  <a:srgbClr val="181B1F"/>
                </a:solidFill>
                <a:latin typeface="IBM Plex Sans"/>
              </a:rPr>
              <a:t> a producer, and a consumer with a message pump — mapper, handler registry, and a handler that knows nothing about messaging.</a:t>
            </a:r>
          </a:p>
        </p:txBody>
      </p:sp>
      <p:sp>
        <p:nvSpPr>
          <p:cNvPr id="7" name="Rectangle 6"/>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nt-panic.jpg"/>
          <p:cNvPicPr>
            <a:picLocks noChangeAspect="1"/>
          </p:cNvPicPr>
          <p:nvPr/>
        </p:nvPicPr>
        <p:blipFill>
          <a:blip r:embed="rId2"/>
          <a:stretch>
            <a:fillRect/>
          </a:stretch>
        </p:blipFill>
        <p:spPr>
          <a:xfrm>
            <a:off x="7272200" y="2093738"/>
            <a:ext cx="4215406" cy="2633947"/>
          </a:xfrm>
          <a:prstGeom prst="rect">
            <a:avLst/>
          </a:prstGeom>
        </p:spPr>
      </p:pic>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4.4 Guaranteed Delivery</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How do I stop losing messages — on the way out, and on the way in?</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4.4 GUARANTEED DELIVERY</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Guaranteed Delivery</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Coming from HTTP, a failed call is obvious: you get a status code, or a timeout, and you decide what to do. Messaging hides the failure. The send returns, and you find out later — or never.</a:t>
            </a:r>
          </a:p>
        </p:txBody>
      </p:sp>
      <p:sp>
        <p:nvSpPr>
          <p:cNvPr id="6" name="TextBox 5"/>
          <p:cNvSpPr txBox="1"/>
          <p:nvPr/>
        </p:nvSpPr>
        <p:spPr>
          <a:xfrm>
            <a:off x="713232" y="2000777"/>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Two halves, and you need both:</a:t>
            </a:r>
          </a:p>
        </p:txBody>
      </p:sp>
      <p:sp>
        <p:nvSpPr>
          <p:cNvPr id="7" name="TextBox 6"/>
          <p:cNvSpPr txBox="1"/>
          <p:nvPr/>
        </p:nvSpPr>
        <p:spPr>
          <a:xfrm>
            <a:off x="713232" y="24137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37314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Producer side</a:t>
            </a:r>
            <a:r>
              <a:rPr sz="1800" b="0" i="0">
                <a:solidFill>
                  <a:srgbClr val="181B1F"/>
                </a:solidFill>
                <a:latin typeface="IBM Plex Sans"/>
              </a:rPr>
              <a:t> — did the message actually get out, given the entity write and the send are not in the same transaction?</a:t>
            </a:r>
          </a:p>
        </p:txBody>
      </p:sp>
      <p:sp>
        <p:nvSpPr>
          <p:cNvPr id="9" name="TextBox 8"/>
          <p:cNvSpPr txBox="1"/>
          <p:nvPr/>
        </p:nvSpPr>
        <p:spPr>
          <a:xfrm>
            <a:off x="713232" y="30695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3028969"/>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Consumer side</a:t>
            </a:r>
            <a:r>
              <a:rPr sz="1800" b="0" i="0">
                <a:solidFill>
                  <a:srgbClr val="181B1F"/>
                </a:solidFill>
                <a:latin typeface="IBM Plex Sans"/>
              </a:rPr>
              <a:t> — what happens to a message my code cannot process, and how do I stop it taking the consumer down with it?</a:t>
            </a:r>
          </a:p>
        </p:txBody>
      </p:sp>
      <p:sp>
        <p:nvSpPr>
          <p:cNvPr id="11" name="Rectangle 10"/>
          <p:cNvSpPr/>
          <p:nvPr/>
        </p:nvSpPr>
        <p:spPr>
          <a:xfrm>
            <a:off x="713232" y="3829050"/>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799295"/>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"Sent" is not "delivered", and "delivered" is not "processed".</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PRODUCER SIDE — DID THE MESSAGE GET OUT?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Dual-Write Problem</a:t>
            </a:r>
          </a:p>
        </p:txBody>
      </p:sp>
      <p:sp>
        <p:nvSpPr>
          <p:cNvPr id="5" name="TextBox 4"/>
          <p:cNvSpPr txBox="1"/>
          <p:nvPr/>
        </p:nvSpPr>
        <p:spPr>
          <a:xfrm>
            <a:off x="713232" y="1319549"/>
            <a:ext cx="4965109"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 transaction spans both my write to the DB for an entity </a:t>
            </a:r>
            <a:r>
              <a:rPr sz="1800" b="0" i="1">
                <a:solidFill>
                  <a:srgbClr val="181B1F"/>
                </a:solidFill>
                <a:latin typeface="IBM Plex Sans"/>
              </a:rPr>
              <a:t>and</a:t>
            </a:r>
            <a:r>
              <a:rPr sz="1800" b="0" i="0">
                <a:solidFill>
                  <a:srgbClr val="181B1F"/>
                </a:solidFill>
                <a:latin typeface="IBM Plex Sans"/>
              </a:rPr>
              <a:t> my sending of a message.</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the message send fails, downstream systems become inconsistent with upstream.</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we reverse the operations and the message sends but the DB write fails, upstream is inconsistent.</a:t>
            </a:r>
          </a:p>
        </p:txBody>
      </p:sp>
      <p:pic>
        <p:nvPicPr>
          <p:cNvPr id="10" name="Picture 9" descr="Transactional No Outbox.png"/>
          <p:cNvPicPr>
            <a:picLocks noChangeAspect="1"/>
          </p:cNvPicPr>
          <p:nvPr/>
        </p:nvPicPr>
        <p:blipFill>
          <a:blip r:embed="rId2"/>
          <a:stretch>
            <a:fillRect/>
          </a:stretch>
        </p:blipFill>
        <p:spPr>
          <a:xfrm>
            <a:off x="6025813" y="2383242"/>
            <a:ext cx="5598953" cy="2348075"/>
          </a:xfrm>
          <a:prstGeom prst="rect">
            <a:avLst/>
          </a:prstGeom>
        </p:spPr>
      </p:pic>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58</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PRODUCER SIDE — DID THE MESSAGE GET OUT?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Outbox</a:t>
            </a:r>
          </a:p>
        </p:txBody>
      </p:sp>
      <p:sp>
        <p:nvSpPr>
          <p:cNvPr id="5" name="TextBox 4"/>
          <p:cNvSpPr txBox="1"/>
          <p:nvPr/>
        </p:nvSpPr>
        <p:spPr>
          <a:xfrm>
            <a:off x="713232" y="1319549"/>
            <a:ext cx="4965109"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Instead of writing directly to the channel:</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Open a transaction, update the entity, and write the message to send to an </a:t>
            </a:r>
            <a:r>
              <a:rPr sz="1800" b="1" i="0">
                <a:solidFill>
                  <a:srgbClr val="181B1F"/>
                </a:solidFill>
                <a:latin typeface="IBM Plex Sans"/>
              </a:rPr>
              <a:t>Outbox</a:t>
            </a:r>
            <a:r>
              <a:rPr sz="1800" b="0" i="0">
                <a:solidFill>
                  <a:srgbClr val="181B1F"/>
                </a:solidFill>
                <a:latin typeface="IBM Plex Sans"/>
              </a:rPr>
              <a:t> table as </a:t>
            </a:r>
            <a:r>
              <a:rPr sz="1800" b="0" i="1">
                <a:solidFill>
                  <a:srgbClr val="181B1F"/>
                </a:solidFill>
                <a:latin typeface="IBM Plex Sans"/>
              </a:rPr>
              <a:t>Pending</a:t>
            </a:r>
            <a:r>
              <a:rPr sz="1800" b="0" i="0">
                <a:solidFill>
                  <a:srgbClr val="181B1F"/>
                </a:solidFill>
                <a:latin typeface="IBM Plex Sans"/>
              </a:rPr>
              <a:t>.</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Once sent, mark the message </a:t>
            </a:r>
            <a:r>
              <a:rPr sz="1800" b="0" i="1">
                <a:solidFill>
                  <a:srgbClr val="181B1F"/>
                </a:solidFill>
                <a:latin typeface="IBM Plex Sans"/>
              </a:rPr>
              <a:t>Sent</a:t>
            </a:r>
            <a:r>
              <a:rPr sz="1800" b="0" i="0">
                <a:solidFill>
                  <a:srgbClr val="181B1F"/>
                </a:solidFill>
                <a:latin typeface="IBM Plex Sans"/>
              </a:rPr>
              <a:t> in the Outbox.</a:t>
            </a:r>
          </a:p>
        </p:txBody>
      </p:sp>
      <p:sp>
        <p:nvSpPr>
          <p:cNvPr id="10" name="TextBox 9"/>
          <p:cNvSpPr txBox="1"/>
          <p:nvPr/>
        </p:nvSpPr>
        <p:spPr>
          <a:xfrm>
            <a:off x="713232" y="33276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287033"/>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background "sweeper" runs at an interval to flush any Pending items (over an age) from the Outbox.</a:t>
            </a:r>
          </a:p>
        </p:txBody>
      </p:sp>
      <p:sp>
        <p:nvSpPr>
          <p:cNvPr id="12" name="TextBox 11"/>
          <p:cNvSpPr txBox="1"/>
          <p:nvPr/>
        </p:nvSpPr>
        <p:spPr>
          <a:xfrm>
            <a:off x="713232" y="426694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4226325"/>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To reduce latency, also send from the application right after writing, with the sweeper as backup.</a:t>
            </a:r>
          </a:p>
        </p:txBody>
      </p:sp>
      <p:sp>
        <p:nvSpPr>
          <p:cNvPr id="14" name="Rectangle 13"/>
          <p:cNvSpPr/>
          <p:nvPr/>
        </p:nvSpPr>
        <p:spPr>
          <a:xfrm>
            <a:off x="713232" y="5309870"/>
            <a:ext cx="50292" cy="969264"/>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280115"/>
            <a:ext cx="4690789" cy="987552"/>
          </a:xfrm>
          <a:prstGeom prst="rect">
            <a:avLst/>
          </a:prstGeom>
          <a:noFill/>
        </p:spPr>
        <p:txBody>
          <a:bodyPr wrap="square" lIns="0" rIns="0" tIns="0" bIns="0">
            <a:spAutoFit/>
          </a:bodyPr>
          <a:lstStyle/>
          <a:p>
            <a:pPr>
              <a:lnSpc>
                <a:spcPts val="2544"/>
              </a:lnSpc>
            </a:pPr>
            <a:r>
              <a:rPr sz="2400" b="0" i="0">
                <a:solidFill>
                  <a:srgbClr val="C0453B"/>
                </a:solidFill>
                <a:latin typeface="Caveat"/>
              </a:rPr>
              <a:t>The outbox guarantees at-least-once. Which is a polite way of saying: you will send duplicates.</a:t>
            </a:r>
          </a:p>
        </p:txBody>
      </p:sp>
      <p:pic>
        <p:nvPicPr>
          <p:cNvPr id="16" name="Picture 15" descr="Transactional With Outbox.png"/>
          <p:cNvPicPr>
            <a:picLocks noChangeAspect="1"/>
          </p:cNvPicPr>
          <p:nvPr/>
        </p:nvPicPr>
        <p:blipFill>
          <a:blip r:embed="rId2"/>
          <a:stretch>
            <a:fillRect/>
          </a:stretch>
        </p:blipFill>
        <p:spPr>
          <a:xfrm>
            <a:off x="6025813" y="1851064"/>
            <a:ext cx="5598953" cy="3678520"/>
          </a:xfrm>
          <a:prstGeom prst="rect">
            <a:avLst/>
          </a:prstGeom>
        </p:spPr>
      </p:pic>
      <p:sp>
        <p:nvSpPr>
          <p:cNvPr id="17" name="TextBox 1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59</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PRODUCER SIDE — DID THE MESSAGE GET OUT?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Log Tailing (Change Data Capture)</a:t>
            </a:r>
          </a:p>
        </p:txBody>
      </p:sp>
      <p:sp>
        <p:nvSpPr>
          <p:cNvPr id="5" name="TextBox 4"/>
          <p:cNvSpPr txBox="1"/>
          <p:nvPr/>
        </p:nvSpPr>
        <p:spPr>
          <a:xfrm>
            <a:off x="713232" y="1319549"/>
            <a:ext cx="4965109"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 ACID transaction across the Outbox and the entity tables? Tail the transaction log instead.</a:t>
            </a:r>
          </a:p>
        </p:txBody>
      </p:sp>
      <p:sp>
        <p:nvSpPr>
          <p:cNvPr id="6" name="TextBox 5"/>
          <p:cNvSpPr txBox="1"/>
          <p:nvPr/>
        </p:nvSpPr>
        <p:spPr>
          <a:xfrm>
            <a:off x="713232" y="2000777"/>
            <a:ext cx="4965109"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naive version, and the one CDC tooling makes trivially easy:</a:t>
            </a:r>
          </a:p>
        </p:txBody>
      </p:sp>
      <p:sp>
        <p:nvSpPr>
          <p:cNvPr id="7" name="Rectangle 6"/>
          <p:cNvSpPr/>
          <p:nvPr/>
        </p:nvSpPr>
        <p:spPr>
          <a:xfrm>
            <a:off x="713232" y="2762758"/>
            <a:ext cx="27432" cy="283464"/>
          </a:xfrm>
          <a:prstGeom prst="rect">
            <a:avLst/>
          </a:prstGeom>
          <a:solidFill>
            <a:srgbClr val="E0D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694705"/>
            <a:ext cx="4654213" cy="301752"/>
          </a:xfrm>
          <a:prstGeom prst="rect">
            <a:avLst/>
          </a:prstGeom>
          <a:noFill/>
        </p:spPr>
        <p:txBody>
          <a:bodyPr wrap="square" lIns="0" rIns="0" tIns="0" bIns="0">
            <a:spAutoFit/>
          </a:bodyPr>
          <a:lstStyle/>
          <a:p>
            <a:pPr>
              <a:lnSpc>
                <a:spcPts val="2232"/>
              </a:lnSpc>
            </a:pPr>
            <a:r>
              <a:rPr sz="1800" b="0" i="0">
                <a:solidFill>
                  <a:srgbClr val="2F5D3A"/>
                </a:solidFill>
                <a:latin typeface="IBM Plex Sans"/>
              </a:rPr>
              <a:t>transaction log → broker. Done.</a:t>
            </a:r>
          </a:p>
        </p:txBody>
      </p:sp>
      <p:sp>
        <p:nvSpPr>
          <p:cNvPr id="9" name="TextBox 8"/>
          <p:cNvSpPr txBox="1"/>
          <p:nvPr/>
        </p:nvSpPr>
        <p:spPr>
          <a:xfrm>
            <a:off x="713232" y="3092469"/>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problem: </a:t>
            </a:r>
            <a:r>
              <a:rPr sz="1800" b="1" i="0">
                <a:solidFill>
                  <a:srgbClr val="181B1F"/>
                </a:solidFill>
                <a:latin typeface="IBM Plex Sans"/>
              </a:rPr>
              <a:t>your table schema is now your published contract.</a:t>
            </a:r>
            <a:r>
              <a:rPr sz="1800" b="0" i="0">
                <a:solidFill>
                  <a:srgbClr val="181B1F"/>
                </a:solidFill>
                <a:latin typeface="IBM Plex Sans"/>
              </a:rPr>
              <a:t> Every column rename breaks consumers you have never met.</a:t>
            </a:r>
          </a:p>
        </p:txBody>
      </p:sp>
      <p:sp>
        <p:nvSpPr>
          <p:cNvPr id="10" name="TextBox 9"/>
          <p:cNvSpPr txBox="1"/>
          <p:nvPr/>
        </p:nvSpPr>
        <p:spPr>
          <a:xfrm>
            <a:off x="713232" y="4057161"/>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Instead, the log tail feeds an </a:t>
            </a:r>
            <a:r>
              <a:rPr sz="1800" b="1" i="0">
                <a:solidFill>
                  <a:srgbClr val="181B1F"/>
                </a:solidFill>
                <a:latin typeface="IBM Plex Sans"/>
              </a:rPr>
              <a:t>anti-corruption layer</a:t>
            </a:r>
            <a:r>
              <a:rPr sz="1800" b="0" i="0">
                <a:solidFill>
                  <a:srgbClr val="181B1F"/>
                </a:solidFill>
                <a:latin typeface="IBM Plex Sans"/>
              </a:rPr>
              <a:t>: read the log, run the </a:t>
            </a:r>
            <a:r>
              <a:rPr sz="1800" b="1" i="0">
                <a:solidFill>
                  <a:srgbClr val="181B1F"/>
                </a:solidFill>
                <a:latin typeface="IBM Plex Sans"/>
              </a:rPr>
              <a:t>mapper</a:t>
            </a:r>
            <a:r>
              <a:rPr sz="1800" b="0" i="0">
                <a:solidFill>
                  <a:srgbClr val="181B1F"/>
                </a:solidFill>
                <a:latin typeface="IBM Plex Sans"/>
              </a:rPr>
              <a:t>, write the </a:t>
            </a:r>
            <a:r>
              <a:rPr sz="1800" b="0" i="1">
                <a:solidFill>
                  <a:srgbClr val="181B1F"/>
                </a:solidFill>
                <a:latin typeface="IBM Plex Sans"/>
              </a:rPr>
              <a:t>message</a:t>
            </a:r>
            <a:r>
              <a:rPr sz="1800" b="0" i="0">
                <a:solidFill>
                  <a:srgbClr val="181B1F"/>
                </a:solidFill>
                <a:latin typeface="IBM Plex Sans"/>
              </a:rPr>
              <a:t> to the </a:t>
            </a:r>
            <a:r>
              <a:rPr sz="1800" b="1" i="0">
                <a:solidFill>
                  <a:srgbClr val="181B1F"/>
                </a:solidFill>
                <a:latin typeface="IBM Plex Sans"/>
              </a:rPr>
              <a:t>Outbox</a:t>
            </a:r>
            <a:r>
              <a:rPr sz="1800" b="0" i="0">
                <a:solidFill>
                  <a:srgbClr val="181B1F"/>
                </a:solidFill>
                <a:latin typeface="IBM Plex Sans"/>
              </a:rPr>
              <a:t>, then sweep as before.</a:t>
            </a:r>
          </a:p>
        </p:txBody>
      </p:sp>
      <p:sp>
        <p:nvSpPr>
          <p:cNvPr id="11" name="Rectangle 10"/>
          <p:cNvSpPr/>
          <p:nvPr/>
        </p:nvSpPr>
        <p:spPr>
          <a:xfrm>
            <a:off x="713232" y="5140706"/>
            <a:ext cx="50292" cy="969264"/>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5110951"/>
            <a:ext cx="4690789" cy="987552"/>
          </a:xfrm>
          <a:prstGeom prst="rect">
            <a:avLst/>
          </a:prstGeom>
          <a:noFill/>
        </p:spPr>
        <p:txBody>
          <a:bodyPr wrap="square" lIns="0" rIns="0" tIns="0" bIns="0">
            <a:spAutoFit/>
          </a:bodyPr>
          <a:lstStyle/>
          <a:p>
            <a:pPr>
              <a:lnSpc>
                <a:spcPts val="2544"/>
              </a:lnSpc>
            </a:pPr>
            <a:r>
              <a:rPr sz="2400" b="0" i="0">
                <a:solidFill>
                  <a:srgbClr val="C0453B"/>
                </a:solidFill>
                <a:latin typeface="Caveat"/>
              </a:rPr>
              <a:t>Change Data Capture without an anti-corruption layer publishes your schema. The write to the Outbox </a:t>
            </a:r>
            <a:r>
              <a:rPr sz="2400" b="0" i="1">
                <a:solidFill>
                  <a:srgbClr val="C0453B"/>
                </a:solidFill>
                <a:latin typeface="Caveat"/>
              </a:rPr>
              <a:t>is</a:t>
            </a:r>
            <a:r>
              <a:rPr sz="2400" b="0" i="0">
                <a:solidFill>
                  <a:srgbClr val="C0453B"/>
                </a:solidFill>
                <a:latin typeface="Caveat"/>
              </a:rPr>
              <a:t> the layer.</a:t>
            </a:r>
          </a:p>
        </p:txBody>
      </p:sp>
      <p:pic>
        <p:nvPicPr>
          <p:cNvPr id="13" name="Picture 12" descr="Log Tailing.png"/>
          <p:cNvPicPr>
            <a:picLocks noChangeAspect="1"/>
          </p:cNvPicPr>
          <p:nvPr/>
        </p:nvPicPr>
        <p:blipFill>
          <a:blip r:embed="rId2"/>
          <a:stretch>
            <a:fillRect/>
          </a:stretch>
        </p:blipFill>
        <p:spPr>
          <a:xfrm>
            <a:off x="6025813" y="2386542"/>
            <a:ext cx="5598953" cy="2339823"/>
          </a:xfrm>
          <a:prstGeom prst="rect">
            <a:avLst/>
          </a:prstGeom>
        </p:spPr>
      </p:pic>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PRODUCER SIDE — DID THE MESSAGE GET OUT?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State Change Capture</a:t>
            </a:r>
          </a:p>
        </p:txBody>
      </p:sp>
      <p:sp>
        <p:nvSpPr>
          <p:cNvPr id="5" name="TextBox 4"/>
          <p:cNvSpPr txBox="1"/>
          <p:nvPr/>
        </p:nvSpPr>
        <p:spPr>
          <a:xfrm>
            <a:off x="713232" y="1319549"/>
            <a:ext cx="4965109" cy="171907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low-cost alternative: send the message </a:t>
            </a:r>
            <a:r>
              <a:rPr sz="1800" b="0" i="1">
                <a:solidFill>
                  <a:srgbClr val="181B1F"/>
                </a:solidFill>
                <a:latin typeface="IBM Plex Sans"/>
              </a:rPr>
              <a:t>before</a:t>
            </a:r>
            <a:r>
              <a:rPr sz="1800" b="0" i="0">
                <a:solidFill>
                  <a:srgbClr val="181B1F"/>
                </a:solidFill>
                <a:latin typeface="IBM Plex Sans"/>
              </a:rPr>
              <a:t> writing the entity. If the message sends, delivery is guaranteed. Read the message back from the channel and then update the entity. The main issue: you must cope with </a:t>
            </a:r>
            <a:r>
              <a:rPr sz="1800" b="1" i="0">
                <a:solidFill>
                  <a:srgbClr val="181B1F"/>
                </a:solidFill>
                <a:latin typeface="IBM Plex Sans"/>
              </a:rPr>
              <a:t>eventual consistency</a:t>
            </a:r>
            <a:r>
              <a:rPr sz="1800" b="0" i="0">
                <a:solidFill>
                  <a:srgbClr val="181B1F"/>
                </a:solidFill>
                <a:latin typeface="IBM Plex Sans"/>
              </a:rPr>
              <a:t>, which isn't always simple.</a:t>
            </a:r>
          </a:p>
        </p:txBody>
      </p:sp>
      <p:pic>
        <p:nvPicPr>
          <p:cNvPr id="6" name="Picture 5" descr="State Change Capture.png"/>
          <p:cNvPicPr>
            <a:picLocks noChangeAspect="1"/>
          </p:cNvPicPr>
          <p:nvPr/>
        </p:nvPicPr>
        <p:blipFill>
          <a:blip r:embed="rId2"/>
          <a:stretch>
            <a:fillRect/>
          </a:stretch>
        </p:blipFill>
        <p:spPr>
          <a:xfrm>
            <a:off x="6025813" y="1851064"/>
            <a:ext cx="5598953" cy="3678520"/>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When the Handler Fails — Ack and Nack</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pump reads a message and calls your handler. </a:t>
            </a:r>
            <a:r>
              <a:rPr sz="1800" b="1" i="0">
                <a:solidFill>
                  <a:srgbClr val="181B1F"/>
                </a:solidFill>
                <a:latin typeface="IBM Plex Sans"/>
              </a:rPr>
              <a:t>The handler throws.</a:t>
            </a:r>
            <a:r>
              <a:rPr sz="1800" b="0" i="0">
                <a:solidFill>
                  <a:srgbClr val="181B1F"/>
                </a:solidFill>
                <a:latin typeface="IBM Plex Sans"/>
              </a:rPr>
              <a:t> Now what?</a:t>
            </a:r>
          </a:p>
        </p:txBody>
      </p:sp>
      <p:sp>
        <p:nvSpPr>
          <p:cNvPr id="6" name="TextBox 5"/>
          <p:cNvSpPr txBox="1"/>
          <p:nvPr/>
        </p:nvSpPr>
        <p:spPr>
          <a:xfrm>
            <a:off x="713232" y="1717313"/>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pump has exactly one lever: </a:t>
            </a:r>
            <a:r>
              <a:rPr sz="1800" b="1" i="0">
                <a:solidFill>
                  <a:srgbClr val="181B1F"/>
                </a:solidFill>
                <a:latin typeface="IBM Plex Sans"/>
              </a:rPr>
              <a:t>acknowledge</a:t>
            </a:r>
            <a:r>
              <a:rPr sz="1800" b="0" i="0">
                <a:solidFill>
                  <a:srgbClr val="181B1F"/>
                </a:solidFill>
                <a:latin typeface="IBM Plex Sans"/>
              </a:rPr>
              <a:t> the message, or don't.</a:t>
            </a:r>
          </a:p>
        </p:txBody>
      </p:sp>
      <p:sp>
        <p:nvSpPr>
          <p:cNvPr id="7" name="TextBox 6"/>
          <p:cNvSpPr txBox="1"/>
          <p:nvPr/>
        </p:nvSpPr>
        <p:spPr>
          <a:xfrm>
            <a:off x="713232" y="21302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0896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Ack</a:t>
            </a:r>
            <a:r>
              <a:rPr sz="1800" b="0" i="0">
                <a:solidFill>
                  <a:srgbClr val="181B1F"/>
                </a:solidFill>
                <a:latin typeface="IBM Plex Sans"/>
              </a:rPr>
              <a:t> — I am done with this. The broker may forget it.</a:t>
            </a:r>
          </a:p>
        </p:txBody>
      </p:sp>
      <p:sp>
        <p:nvSpPr>
          <p:cNvPr id="9" name="TextBox 8"/>
          <p:cNvSpPr txBox="1"/>
          <p:nvPr/>
        </p:nvSpPr>
        <p:spPr>
          <a:xfrm>
            <a:off x="713232" y="25026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24620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Nack</a:t>
            </a:r>
            <a:r>
              <a:rPr sz="1800" b="0" i="0">
                <a:solidFill>
                  <a:srgbClr val="181B1F"/>
                </a:solidFill>
                <a:latin typeface="IBM Plex Sans"/>
              </a:rPr>
              <a:t> — I am not done. The broker keeps it, and will hand it to someone again.</a:t>
            </a:r>
          </a:p>
        </p:txBody>
      </p:sp>
      <p:sp>
        <p:nvSpPr>
          <p:cNvPr id="11" name="TextBox 10"/>
          <p:cNvSpPr txBox="1"/>
          <p:nvPr/>
        </p:nvSpPr>
        <p:spPr>
          <a:xfrm>
            <a:off x="713232" y="2859805"/>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Ack too early and a crash loses the message. Ack too late and a crash reprocesses it. </a:t>
            </a:r>
            <a:r>
              <a:rPr sz="1800" b="1" i="0">
                <a:solidFill>
                  <a:srgbClr val="181B1F"/>
                </a:solidFill>
                <a:latin typeface="IBM Plex Sans"/>
              </a:rPr>
              <a:t>There is no third option</a:t>
            </a:r>
            <a:r>
              <a:rPr sz="1800" b="0" i="0">
                <a:solidFill>
                  <a:srgbClr val="181B1F"/>
                </a:solidFill>
                <a:latin typeface="IBM Plex Sans"/>
              </a:rPr>
              <a:t> — which is why at-least-once stops being a slogan on the consumer side.</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Not Acking — Requeue or Reject</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Not acking is two decisions, not one. </a:t>
            </a:r>
            <a:r>
              <a:rPr sz="1800" b="1" i="0">
                <a:solidFill>
                  <a:srgbClr val="181B1F"/>
                </a:solidFill>
                <a:latin typeface="IBM Plex Sans"/>
              </a:rPr>
              <a:t>Which one you take is a policy</a:t>
            </a:r>
            <a:r>
              <a:rPr sz="1800" b="0" i="0">
                <a:solidFill>
                  <a:srgbClr val="181B1F"/>
                </a:solidFill>
                <a:latin typeface="IBM Plex Sans"/>
              </a:rPr>
              <a:t> — you set it in advance, and most teams never do.</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Requeue</a:t>
            </a:r>
            <a:r>
              <a:rPr sz="1800" b="0" i="0">
                <a:solidFill>
                  <a:srgbClr val="181B1F"/>
                </a:solidFill>
                <a:latin typeface="IBM Plex Sans"/>
              </a:rPr>
              <a:t> — put the message back on the queue. Someone tries it again.</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Reject</a:t>
            </a:r>
            <a:r>
              <a:rPr sz="1800" b="0" i="0">
                <a:solidFill>
                  <a:srgbClr val="181B1F"/>
                </a:solidFill>
                <a:latin typeface="IBM Plex Sans"/>
              </a:rPr>
              <a:t> — do not process this message at all. </a:t>
            </a:r>
            <a:r>
              <a:rPr sz="1800" b="1" i="0">
                <a:solidFill>
                  <a:srgbClr val="181B1F"/>
                </a:solidFill>
                <a:latin typeface="IBM Plex Sans"/>
              </a:rPr>
              <a:t>Delete</a:t>
            </a:r>
            <a:r>
              <a:rPr sz="1800" b="0" i="0">
                <a:solidFill>
                  <a:srgbClr val="181B1F"/>
                </a:solidFill>
                <a:latin typeface="IBM Plex Sans"/>
              </a:rPr>
              <a:t> it on a queue; </a:t>
            </a:r>
            <a:r>
              <a:rPr sz="1800" b="1" i="0">
                <a:solidFill>
                  <a:srgbClr val="181B1F"/>
                </a:solidFill>
                <a:latin typeface="IBM Plex Sans"/>
              </a:rPr>
              <a:t>skip</a:t>
            </a:r>
            <a:r>
              <a:rPr sz="1800" b="0" i="0">
                <a:solidFill>
                  <a:srgbClr val="181B1F"/>
                </a:solidFill>
                <a:latin typeface="IBM Plex Sans"/>
              </a:rPr>
              <a:t> it on a stream.</a:t>
            </a:r>
          </a:p>
        </p:txBody>
      </p:sp>
      <p:sp>
        <p:nvSpPr>
          <p:cNvPr id="10" name="TextBox 9"/>
          <p:cNvSpPr txBox="1"/>
          <p:nvPr/>
        </p:nvSpPr>
        <p:spPr>
          <a:xfrm>
            <a:off x="713232" y="2745505"/>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Each of the two has to end somewhere:</a:t>
            </a:r>
          </a:p>
        </p:txBody>
      </p:sp>
      <p:sp>
        <p:nvSpPr>
          <p:cNvPr id="11" name="TextBox 10"/>
          <p:cNvSpPr txBox="1"/>
          <p:nvPr/>
        </p:nvSpPr>
        <p:spPr>
          <a:xfrm>
            <a:off x="713232" y="31584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11786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 a </a:t>
            </a:r>
            <a:r>
              <a:rPr sz="1800" b="1" i="0">
                <a:solidFill>
                  <a:srgbClr val="181B1F"/>
                </a:solidFill>
                <a:latin typeface="IBM Plex Sans"/>
              </a:rPr>
              <a:t>requeue</a:t>
            </a:r>
            <a:r>
              <a:rPr sz="1800" b="0" i="0">
                <a:solidFill>
                  <a:srgbClr val="181B1F"/>
                </a:solidFill>
                <a:latin typeface="IBM Plex Sans"/>
              </a:rPr>
              <a:t>, set a policy for how many attempts. Exceed it and the message goes to the </a:t>
            </a:r>
            <a:r>
              <a:rPr sz="1800" b="1" i="0">
                <a:solidFill>
                  <a:srgbClr val="181B1F"/>
                </a:solidFill>
                <a:latin typeface="IBM Plex Sans"/>
              </a:rPr>
              <a:t>Dead Letter Channel</a:t>
            </a:r>
            <a:r>
              <a:rPr sz="1800" b="0" i="0">
                <a:solidFill>
                  <a:srgbClr val="181B1F"/>
                </a:solidFill>
                <a:latin typeface="IBM Plex Sans"/>
              </a:rPr>
              <a:t>.</a:t>
            </a:r>
          </a:p>
        </p:txBody>
      </p:sp>
      <p:sp>
        <p:nvSpPr>
          <p:cNvPr id="13" name="TextBox 12"/>
          <p:cNvSpPr txBox="1"/>
          <p:nvPr/>
        </p:nvSpPr>
        <p:spPr>
          <a:xfrm>
            <a:off x="713232" y="38143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377369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 a </a:t>
            </a:r>
            <a:r>
              <a:rPr sz="1800" b="1" i="0">
                <a:solidFill>
                  <a:srgbClr val="181B1F"/>
                </a:solidFill>
                <a:latin typeface="IBM Plex Sans"/>
              </a:rPr>
              <a:t>reject</a:t>
            </a:r>
            <a:r>
              <a:rPr sz="1800" b="0" i="0">
                <a:solidFill>
                  <a:srgbClr val="181B1F"/>
                </a:solidFill>
                <a:latin typeface="IBM Plex Sans"/>
              </a:rPr>
              <a:t>, a </a:t>
            </a:r>
            <a:r>
              <a:rPr sz="1800" b="1" i="0">
                <a:solidFill>
                  <a:srgbClr val="181B1F"/>
                </a:solidFill>
                <a:latin typeface="IBM Plex Sans"/>
              </a:rPr>
              <a:t>badly formed</a:t>
            </a:r>
            <a:r>
              <a:rPr sz="1800" b="0" i="0">
                <a:solidFill>
                  <a:srgbClr val="181B1F"/>
                </a:solidFill>
                <a:latin typeface="IBM Plex Sans"/>
              </a:rPr>
              <a:t> message goes to the </a:t>
            </a:r>
            <a:r>
              <a:rPr sz="1800" b="1" i="0">
                <a:solidFill>
                  <a:srgbClr val="181B1F"/>
                </a:solidFill>
                <a:latin typeface="IBM Plex Sans"/>
              </a:rPr>
              <a:t>Invalid Message Channel</a:t>
            </a:r>
            <a:r>
              <a:rPr sz="1800" b="0" i="0">
                <a:solidFill>
                  <a:srgbClr val="181B1F"/>
                </a:solidFill>
                <a:latin typeface="IBM Plex Sans"/>
              </a:rPr>
              <a:t>.</a:t>
            </a:r>
          </a:p>
        </p:txBody>
      </p:sp>
      <p:sp>
        <p:nvSpPr>
          <p:cNvPr id="15" name="TextBox 14"/>
          <p:cNvSpPr txBox="1"/>
          <p:nvPr/>
        </p:nvSpPr>
        <p:spPr>
          <a:xfrm>
            <a:off x="713232" y="41866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6" name="TextBox 15"/>
          <p:cNvSpPr txBox="1"/>
          <p:nvPr/>
        </p:nvSpPr>
        <p:spPr>
          <a:xfrm>
            <a:off x="960120" y="414606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well-formed</a:t>
            </a:r>
            <a:r>
              <a:rPr sz="1800" b="0" i="0">
                <a:solidFill>
                  <a:srgbClr val="181B1F"/>
                </a:solidFill>
                <a:latin typeface="IBM Plex Sans"/>
              </a:rPr>
              <a:t> message you reject may go straight to the </a:t>
            </a:r>
            <a:r>
              <a:rPr sz="1800" b="1" i="0">
                <a:solidFill>
                  <a:srgbClr val="181B1F"/>
                </a:solidFill>
                <a:latin typeface="IBM Plex Sans"/>
              </a:rPr>
              <a:t>Dead Letter Channel</a:t>
            </a:r>
            <a:r>
              <a:rPr sz="1800" b="0" i="0">
                <a:solidFill>
                  <a:srgbClr val="181B1F"/>
                </a:solidFill>
                <a:latin typeface="IBM Plex Sans"/>
              </a:rPr>
              <a:t> — by policy, and it is your policy.</a:t>
            </a:r>
          </a:p>
        </p:txBody>
      </p:sp>
      <p:sp>
        <p:nvSpPr>
          <p:cNvPr id="17" name="TextBox 1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63</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Not Acking — Requeue or Reject</a:t>
            </a:r>
          </a:p>
        </p:txBody>
      </p:sp>
      <p:sp>
        <p:nvSpPr>
          <p:cNvPr id="5" name="Rectangle 4"/>
          <p:cNvSpPr/>
          <p:nvPr/>
        </p:nvSpPr>
        <p:spPr>
          <a:xfrm>
            <a:off x="713232" y="1438402"/>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A message that is only ever nacked blocks the queue forever. Requeue and reject both have to end somewhere.</a:t>
            </a:r>
          </a:p>
        </p:txBody>
      </p:sp>
      <p:pic>
        <p:nvPicPr>
          <p:cNvPr id="7" name="Picture 6" descr="qs-queue-lifecycle.png"/>
          <p:cNvPicPr>
            <a:picLocks noChangeAspect="1"/>
          </p:cNvPicPr>
          <p:nvPr/>
        </p:nvPicPr>
        <p:blipFill>
          <a:blip r:embed="rId2"/>
          <a:stretch>
            <a:fillRect/>
          </a:stretch>
        </p:blipFill>
        <p:spPr>
          <a:xfrm>
            <a:off x="1290316" y="2260346"/>
            <a:ext cx="9757366" cy="4177029"/>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Invalid Message Channel</a:t>
            </a:r>
          </a:p>
        </p:txBody>
      </p:sp>
      <p:sp>
        <p:nvSpPr>
          <p:cNvPr id="5" name="TextBox 4"/>
          <p:cNvSpPr txBox="1"/>
          <p:nvPr/>
        </p:nvSpPr>
        <p:spPr>
          <a:xfrm>
            <a:off x="713232" y="1319549"/>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What happens when a </a:t>
            </a:r>
            <a:r>
              <a:rPr sz="1800" b="0" i="1">
                <a:solidFill>
                  <a:srgbClr val="181B1F"/>
                </a:solidFill>
                <a:latin typeface="IBM Plex Sans"/>
              </a:rPr>
              <a:t>delivered</a:t>
            </a:r>
            <a:r>
              <a:rPr sz="1800" b="0" i="0">
                <a:solidFill>
                  <a:srgbClr val="181B1F"/>
                </a:solidFill>
                <a:latin typeface="IBM Plex Sans"/>
              </a:rPr>
              <a:t> message cannot be understood (missing headers, wrong content type, schema mismatch)?</a:t>
            </a:r>
          </a:p>
        </p:txBody>
      </p:sp>
      <p:sp>
        <p:nvSpPr>
          <p:cNvPr id="6" name="TextBox 5"/>
          <p:cNvSpPr txBox="1"/>
          <p:nvPr/>
        </p:nvSpPr>
        <p:spPr>
          <a:xfrm>
            <a:off x="713232" y="2284241"/>
            <a:ext cx="4965109"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Needs from the broker:</a:t>
            </a:r>
            <a:r>
              <a:rPr sz="1800" b="0" i="0">
                <a:solidFill>
                  <a:srgbClr val="181B1F"/>
                </a:solidFill>
                <a:latin typeface="IBM Plex Sans"/>
              </a:rPr>
              <a:t> the ability to take the message off the channel and put it somewhere else </a:t>
            </a:r>
            <a:r>
              <a:rPr sz="1800" b="0" i="1">
                <a:solidFill>
                  <a:srgbClr val="181B1F"/>
                </a:solidFill>
                <a:latin typeface="IBM Plex Sans"/>
              </a:rPr>
              <a:t>without</a:t>
            </a:r>
            <a:r>
              <a:rPr sz="1800" b="0" i="0">
                <a:solidFill>
                  <a:srgbClr val="181B1F"/>
                </a:solidFill>
                <a:latin typeface="IBM Plex Sans"/>
              </a:rPr>
              <a:t> pretending it was processed.</a:t>
            </a:r>
          </a:p>
        </p:txBody>
      </p:sp>
      <p:sp>
        <p:nvSpPr>
          <p:cNvPr id="7" name="Rectangle 6"/>
          <p:cNvSpPr/>
          <p:nvPr/>
        </p:nvSpPr>
        <p:spPr>
          <a:xfrm>
            <a:off x="713232" y="3367786"/>
            <a:ext cx="50292" cy="969264"/>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338031"/>
            <a:ext cx="4690789" cy="987552"/>
          </a:xfrm>
          <a:prstGeom prst="rect">
            <a:avLst/>
          </a:prstGeom>
          <a:noFill/>
        </p:spPr>
        <p:txBody>
          <a:bodyPr wrap="square" lIns="0" rIns="0" tIns="0" bIns="0">
            <a:spAutoFit/>
          </a:bodyPr>
          <a:lstStyle/>
          <a:p>
            <a:pPr>
              <a:lnSpc>
                <a:spcPts val="2544"/>
              </a:lnSpc>
            </a:pPr>
            <a:r>
              <a:rPr sz="2400" b="0" i="0">
                <a:solidFill>
                  <a:srgbClr val="C0453B"/>
                </a:solidFill>
                <a:latin typeface="Caveat"/>
              </a:rPr>
              <a:t>Dead Letter: we could not deliver it. Invalid Message: we delivered it and could not read it.</a:t>
            </a:r>
          </a:p>
        </p:txBody>
      </p:sp>
      <p:pic>
        <p:nvPicPr>
          <p:cNvPr id="9" name="Picture 8" descr="eip-invalid-message-channel.png"/>
          <p:cNvPicPr>
            <a:picLocks noChangeAspect="1"/>
          </p:cNvPicPr>
          <p:nvPr/>
        </p:nvPicPr>
        <p:blipFill>
          <a:blip r:embed="rId2"/>
          <a:stretch>
            <a:fillRect/>
          </a:stretch>
        </p:blipFill>
        <p:spPr>
          <a:xfrm>
            <a:off x="6025813" y="1892952"/>
            <a:ext cx="5598953" cy="3573800"/>
          </a:xfrm>
          <a:prstGeom prst="rect">
            <a:avLst/>
          </a:prstGeom>
        </p:spPr>
      </p:pic>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Requeue with Delay — a Queue Capability</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Transient failure is not the same as permanent failure. The downstream service is restarting; the database is failing over. The message is fine — you just tried at a bad moment.</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work isn't done/acked, make it available again to the next consumer.</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it failed for a transient reason, </a:t>
            </a:r>
            <a:r>
              <a:rPr sz="1800" b="1" i="0">
                <a:solidFill>
                  <a:srgbClr val="181B1F"/>
                </a:solidFill>
                <a:latin typeface="IBM Plex Sans"/>
              </a:rPr>
              <a:t>delay</a:t>
            </a:r>
            <a:r>
              <a:rPr sz="1800" b="0" i="0">
                <a:solidFill>
                  <a:srgbClr val="181B1F"/>
                </a:solidFill>
                <a:latin typeface="IBM Plex Sans"/>
              </a:rPr>
              <a:t> to let that pass.</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After a number of re-queues, move to a dead-letter channel.</a:t>
            </a:r>
          </a:p>
        </p:txBody>
      </p:sp>
      <p:sp>
        <p:nvSpPr>
          <p:cNvPr id="12" name="TextBox 11"/>
          <p:cNvSpPr txBox="1"/>
          <p:nvPr/>
        </p:nvSpPr>
        <p:spPr>
          <a:xfrm>
            <a:off x="713232" y="3117869"/>
            <a:ext cx="10911535"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Needs from the broker:</a:t>
            </a:r>
            <a:r>
              <a:rPr sz="1800" b="0" i="0">
                <a:solidFill>
                  <a:srgbClr val="181B1F"/>
                </a:solidFill>
                <a:latin typeface="IBM Plex Sans"/>
              </a:rPr>
              <a:t> per-message acknowledgement, a redelivery mechanism, and a way to hold a message back for a period. </a:t>
            </a:r>
            <a:r>
              <a:rPr sz="1800" b="1" i="0">
                <a:solidFill>
                  <a:srgbClr val="181B1F"/>
                </a:solidFill>
                <a:latin typeface="IBM Plex Sans"/>
              </a:rPr>
              <a:t>The lock is what supplies all three, and only a queue has one</a:t>
            </a:r>
            <a:r>
              <a:rPr sz="1800" b="0" i="0">
                <a:solidFill>
                  <a:srgbClr val="181B1F"/>
                </a:solidFill>
                <a:latin typeface="IBM Plex Sans"/>
              </a:rPr>
              <a:t> — which is what the slide after Dead Letter Channel is about.</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66</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Requeue with Delay — a Queue Capability</a:t>
            </a:r>
          </a:p>
        </p:txBody>
      </p:sp>
      <p:pic>
        <p:nvPicPr>
          <p:cNvPr id="5" name="Picture 4" descr="qs-requeue-with-delay.png"/>
          <p:cNvPicPr>
            <a:picLocks noChangeAspect="1"/>
          </p:cNvPicPr>
          <p:nvPr/>
        </p:nvPicPr>
        <p:blipFill>
          <a:blip r:embed="rId2"/>
          <a:stretch>
            <a:fillRect/>
          </a:stretch>
        </p:blipFill>
        <p:spPr>
          <a:xfrm>
            <a:off x="713232" y="1284231"/>
            <a:ext cx="10911535" cy="5114782"/>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Dead Letter Channel</a:t>
            </a:r>
          </a:p>
        </p:txBody>
      </p:sp>
      <p:sp>
        <p:nvSpPr>
          <p:cNvPr id="5" name="TextBox 4"/>
          <p:cNvSpPr txBox="1"/>
          <p:nvPr/>
        </p:nvSpPr>
        <p:spPr>
          <a:xfrm>
            <a:off x="713232" y="1319549"/>
            <a:ext cx="4965109" cy="1435608"/>
          </a:xfrm>
          <a:prstGeom prst="rect">
            <a:avLst/>
          </a:prstGeom>
          <a:noFill/>
        </p:spPr>
        <p:txBody>
          <a:bodyPr wrap="square" lIns="0" rIns="0" tIns="0" bIns="0">
            <a:spAutoFit/>
          </a:bodyPr>
          <a:lstStyle/>
          <a:p>
            <a:pPr>
              <a:lnSpc>
                <a:spcPts val="2232"/>
              </a:lnSpc>
            </a:pPr>
            <a:r>
              <a:rPr sz="1800" b="0" i="0">
                <a:solidFill>
                  <a:srgbClr val="181B1F"/>
                </a:solidFill>
                <a:latin typeface="IBM Plex Sans"/>
              </a:rPr>
              <a:t>What does the middleware do with a message it cannot deliver to the intended channel? It may move it to a </a:t>
            </a:r>
            <a:r>
              <a:rPr sz="1800" b="1" i="0">
                <a:solidFill>
                  <a:srgbClr val="181B1F"/>
                </a:solidFill>
                <a:latin typeface="IBM Plex Sans"/>
              </a:rPr>
              <a:t>Dead Letter Channel</a:t>
            </a:r>
            <a:r>
              <a:rPr sz="1800" b="0" i="0">
                <a:solidFill>
                  <a:srgbClr val="181B1F"/>
                </a:solidFill>
                <a:latin typeface="IBM Plex Sans"/>
              </a:rPr>
              <a:t> for later operator review, often after retrying delivery a number of times.</a:t>
            </a:r>
          </a:p>
        </p:txBody>
      </p:sp>
      <p:sp>
        <p:nvSpPr>
          <p:cNvPr id="6" name="TextBox 5"/>
          <p:cNvSpPr txBox="1"/>
          <p:nvPr/>
        </p:nvSpPr>
        <p:spPr>
          <a:xfrm>
            <a:off x="713232" y="2851169"/>
            <a:ext cx="4965109"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Needs from the broker:</a:t>
            </a:r>
            <a:r>
              <a:rPr sz="1800" b="0" i="0">
                <a:solidFill>
                  <a:srgbClr val="181B1F"/>
                </a:solidFill>
                <a:latin typeface="IBM Plex Sans"/>
              </a:rPr>
              <a:t> somewhere to put the undeliverable message, and a rule for when to give up.</a:t>
            </a:r>
          </a:p>
        </p:txBody>
      </p:sp>
      <p:pic>
        <p:nvPicPr>
          <p:cNvPr id="7" name="Picture 6" descr="eip-dead-letter-channel.png"/>
          <p:cNvPicPr>
            <a:picLocks noChangeAspect="1"/>
          </p:cNvPicPr>
          <p:nvPr/>
        </p:nvPicPr>
        <p:blipFill>
          <a:blip r:embed="rId2"/>
          <a:stretch>
            <a:fillRect/>
          </a:stretch>
        </p:blipFill>
        <p:spPr>
          <a:xfrm>
            <a:off x="6025813" y="1892952"/>
            <a:ext cx="5598953" cy="3573800"/>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Streams — No Requeue or DLQ</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1">
                <a:solidFill>
                  <a:srgbClr val="181B1F"/>
                </a:solidFill>
                <a:latin typeface="IBM Plex Sans"/>
              </a:rPr>
              <a:t>Invalid Message Channel</a:t>
            </a:r>
            <a:r>
              <a:rPr sz="1800" b="0" i="0">
                <a:solidFill>
                  <a:srgbClr val="181B1F"/>
                </a:solidFill>
                <a:latin typeface="IBM Plex Sans"/>
              </a:rPr>
              <a:t>, </a:t>
            </a:r>
            <a:r>
              <a:rPr sz="1800" b="0" i="1">
                <a:solidFill>
                  <a:srgbClr val="181B1F"/>
                </a:solidFill>
                <a:latin typeface="IBM Plex Sans"/>
              </a:rPr>
              <a:t>Requeue with Delay</a:t>
            </a:r>
            <a:r>
              <a:rPr sz="1800" b="0" i="0">
                <a:solidFill>
                  <a:srgbClr val="181B1F"/>
                </a:solidFill>
                <a:latin typeface="IBM Plex Sans"/>
              </a:rPr>
              <a:t> and </a:t>
            </a:r>
            <a:r>
              <a:rPr sz="1800" b="0" i="1">
                <a:solidFill>
                  <a:srgbClr val="181B1F"/>
                </a:solidFill>
                <a:latin typeface="IBM Plex Sans"/>
              </a:rPr>
              <a:t>Dead Letter Channel</a:t>
            </a:r>
            <a:r>
              <a:rPr sz="1800" b="0" i="0">
                <a:solidFill>
                  <a:srgbClr val="181B1F"/>
                </a:solidFill>
                <a:latin typeface="IBM Plex Sans"/>
              </a:rPr>
              <a:t> all needed the broker to hold a message for you. A stream has no lock, so it has </a:t>
            </a:r>
            <a:r>
              <a:rPr sz="1800" b="1" i="0">
                <a:solidFill>
                  <a:srgbClr val="181B1F"/>
                </a:solidFill>
                <a:latin typeface="IBM Plex Sans"/>
              </a:rPr>
              <a:t>no requeue</a:t>
            </a:r>
            <a:r>
              <a:rPr sz="1800" b="0" i="0">
                <a:solidFill>
                  <a:srgbClr val="181B1F"/>
                </a:solidFill>
                <a:latin typeface="IBM Plex Sans"/>
              </a:rPr>
              <a:t>, no requeue-with-delay and no dead-letter channel. What you have instead:</a:t>
            </a:r>
          </a:p>
        </p:txBody>
      </p:sp>
      <p:sp>
        <p:nvSpPr>
          <p:cNvPr id="6" name="TextBox 5"/>
          <p:cNvSpPr txBox="1"/>
          <p:nvPr/>
        </p:nvSpPr>
        <p:spPr>
          <a:xfrm>
            <a:off x="713232" y="22994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2588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Ignore and continue</a:t>
            </a:r>
            <a:r>
              <a:rPr sz="1800" b="0" i="0">
                <a:solidFill>
                  <a:srgbClr val="181B1F"/>
                </a:solidFill>
                <a:latin typeface="IBM Plex Sans"/>
              </a:rPr>
              <a:t> — load shedding. The record is gone and the partition moves on.</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Retry in place</a:t>
            </a:r>
            <a:r>
              <a:rPr sz="1800" b="0" i="0">
                <a:solidFill>
                  <a:srgbClr val="181B1F"/>
                </a:solidFill>
                <a:latin typeface="IBM Plex Sans"/>
              </a:rPr>
              <a:t> — backpressure. The partition stops until it succeeds.</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Copy to another stream</a:t>
            </a:r>
            <a:r>
              <a:rPr sz="1800" b="0" i="0">
                <a:solidFill>
                  <a:srgbClr val="181B1F"/>
                </a:solidFill>
                <a:latin typeface="IBM Plex Sans"/>
              </a:rPr>
              <a:t> — a delay stream or a DLQ stream, and a scheduler to feed it back.</a:t>
            </a:r>
          </a:p>
        </p:txBody>
      </p:sp>
      <p:sp>
        <p:nvSpPr>
          <p:cNvPr id="12" name="TextBox 11"/>
          <p:cNvSpPr txBox="1"/>
          <p:nvPr/>
        </p:nvSpPr>
        <p:spPr>
          <a:xfrm>
            <a:off x="713232" y="3401333"/>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third one is the closest thing to requeue-with-delay, and it costs you the thing partitioning bought: the record comes back at the </a:t>
            </a:r>
            <a:r>
              <a:rPr sz="1800" b="1" i="0">
                <a:solidFill>
                  <a:srgbClr val="181B1F"/>
                </a:solidFill>
                <a:latin typeface="IBM Plex Sans"/>
              </a:rPr>
              <a:t>end</a:t>
            </a:r>
            <a:r>
              <a:rPr sz="1800" b="0" i="0">
                <a:solidFill>
                  <a:srgbClr val="181B1F"/>
                </a:solidFill>
                <a:latin typeface="IBM Plex Sans"/>
              </a:rPr>
              <a:t>. </a:t>
            </a:r>
            <a:r>
              <a:rPr sz="1800" b="1" i="0">
                <a:solidFill>
                  <a:srgbClr val="181B1F"/>
                </a:solidFill>
                <a:latin typeface="IBM Plex Sans"/>
              </a:rPr>
              <a:t>You have de-ordered the stream to get a retry.</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69</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Streams — No Requeue or DLQ</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On a queue the broker holds the message for you. On a stream, whatever holds it is code you wrote.</a:t>
            </a:r>
          </a:p>
        </p:txBody>
      </p:sp>
      <p:pic>
        <p:nvPicPr>
          <p:cNvPr id="7" name="Picture 6" descr="qs-stream-no-requeue.png"/>
          <p:cNvPicPr>
            <a:picLocks noChangeAspect="1"/>
          </p:cNvPicPr>
          <p:nvPr/>
        </p:nvPicPr>
        <p:blipFill>
          <a:blip r:embed="rId2"/>
          <a:stretch>
            <a:fillRect/>
          </a:stretch>
        </p:blipFill>
        <p:spPr>
          <a:xfrm>
            <a:off x="1679993" y="1937258"/>
            <a:ext cx="8978013"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70</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Inbox (Idempotency)</a:t>
            </a:r>
          </a:p>
        </p:txBody>
      </p:sp>
      <p:sp>
        <p:nvSpPr>
          <p:cNvPr id="5" name="TextBox 4"/>
          <p:cNvSpPr txBox="1"/>
          <p:nvPr/>
        </p:nvSpPr>
        <p:spPr>
          <a:xfrm>
            <a:off x="713232" y="1319549"/>
            <a:ext cx="4965109"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One more thing the pump has to decide, and this one comes from the producer side: have I seen this message before?</a:t>
            </a:r>
          </a:p>
        </p:txBody>
      </p:sp>
      <p:sp>
        <p:nvSpPr>
          <p:cNvPr id="6" name="TextBox 5"/>
          <p:cNvSpPr txBox="1"/>
          <p:nvPr/>
        </p:nvSpPr>
        <p:spPr>
          <a:xfrm>
            <a:off x="713232" y="2284241"/>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Outbox bought at-least-once, so duplicates are not a risk — they are a certainty. This is where you pay for it.</a:t>
            </a:r>
          </a:p>
        </p:txBody>
      </p:sp>
      <p:sp>
        <p:nvSpPr>
          <p:cNvPr id="7" name="TextBox 6"/>
          <p:cNvSpPr txBox="1"/>
          <p:nvPr/>
        </p:nvSpPr>
        <p:spPr>
          <a:xfrm>
            <a:off x="713232" y="3248933"/>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the message isn't idempotent (not side-effect free), use an </a:t>
            </a:r>
            <a:r>
              <a:rPr sz="1800" b="1" i="0">
                <a:solidFill>
                  <a:srgbClr val="181B1F"/>
                </a:solidFill>
                <a:latin typeface="IBM Plex Sans"/>
              </a:rPr>
              <a:t>Inbox</a:t>
            </a:r>
            <a:r>
              <a:rPr sz="1800" b="0" i="0">
                <a:solidFill>
                  <a:srgbClr val="181B1F"/>
                </a:solidFill>
                <a:latin typeface="IBM Plex Sans"/>
              </a:rPr>
              <a:t> to record messages </a:t>
            </a:r>
            <a:r>
              <a:rPr sz="1800" b="0" i="1">
                <a:solidFill>
                  <a:srgbClr val="181B1F"/>
                </a:solidFill>
                <a:latin typeface="IBM Plex Sans"/>
              </a:rPr>
              <a:t>seen</a:t>
            </a:r>
            <a:r>
              <a:rPr sz="1800" b="0" i="0">
                <a:solidFill>
                  <a:srgbClr val="181B1F"/>
                </a:solidFill>
                <a:latin typeface="IBM Plex Sans"/>
              </a:rPr>
              <a:t> (working on) and </a:t>
            </a:r>
            <a:r>
              <a:rPr sz="1800" b="0" i="1">
                <a:solidFill>
                  <a:srgbClr val="181B1F"/>
                </a:solidFill>
                <a:latin typeface="IBM Plex Sans"/>
              </a:rPr>
              <a:t>processed</a:t>
            </a:r>
            <a:r>
              <a:rPr sz="1800" b="0" i="0">
                <a:solidFill>
                  <a:srgbClr val="181B1F"/>
                </a:solidFill>
                <a:latin typeface="IBM Plex Sans"/>
              </a:rPr>
              <a:t> (may fail).</a:t>
            </a:r>
          </a:p>
        </p:txBody>
      </p:sp>
      <p:sp>
        <p:nvSpPr>
          <p:cNvPr id="8" name="TextBox 7"/>
          <p:cNvSpPr txBox="1"/>
          <p:nvPr/>
        </p:nvSpPr>
        <p:spPr>
          <a:xfrm>
            <a:off x="713232" y="422884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4188225"/>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Producer-side reliability creates a consumer-side obligation — the two halves are one design.</a:t>
            </a:r>
          </a:p>
        </p:txBody>
      </p:sp>
      <p:sp>
        <p:nvSpPr>
          <p:cNvPr id="10" name="TextBox 9"/>
          <p:cNvSpPr txBox="1"/>
          <p:nvPr/>
        </p:nvSpPr>
        <p:spPr>
          <a:xfrm>
            <a:off x="713232" y="516813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5127517"/>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the handler </a:t>
            </a:r>
            <a:r>
              <a:rPr sz="1800" b="0" i="1">
                <a:solidFill>
                  <a:srgbClr val="181B1F"/>
                </a:solidFill>
                <a:latin typeface="IBM Plex Sans"/>
              </a:rPr>
              <a:t>is</a:t>
            </a:r>
            <a:r>
              <a:rPr sz="1800" b="0" i="0">
                <a:solidFill>
                  <a:srgbClr val="181B1F"/>
                </a:solidFill>
                <a:latin typeface="IBM Plex Sans"/>
              </a:rPr>
              <a:t> naturally idempotent, you do not need an Inbox. Most aren't.</a:t>
            </a:r>
          </a:p>
        </p:txBody>
      </p:sp>
      <p:pic>
        <p:nvPicPr>
          <p:cNvPr id="12" name="Picture 11" descr="Inbox.png"/>
          <p:cNvPicPr>
            <a:picLocks noChangeAspect="1"/>
          </p:cNvPicPr>
          <p:nvPr/>
        </p:nvPicPr>
        <p:blipFill>
          <a:blip r:embed="rId2"/>
          <a:stretch>
            <a:fillRect/>
          </a:stretch>
        </p:blipFill>
        <p:spPr>
          <a:xfrm>
            <a:off x="6025813" y="2450298"/>
            <a:ext cx="5598953" cy="2180435"/>
          </a:xfrm>
          <a:prstGeom prst="rect">
            <a:avLst/>
          </a:prstGeom>
        </p:spPr>
      </p:pic>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What Your Broker Actually Gives You</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Everything in this sub-section is a </a:t>
            </a:r>
            <a:r>
              <a:rPr sz="1800" b="0" i="1">
                <a:solidFill>
                  <a:srgbClr val="181B1F"/>
                </a:solidFill>
                <a:latin typeface="IBM Plex Sans"/>
              </a:rPr>
              <a:t>broker</a:t>
            </a:r>
            <a:r>
              <a:rPr sz="1800" b="0" i="0">
                <a:solidFill>
                  <a:srgbClr val="181B1F"/>
                </a:solidFill>
                <a:latin typeface="IBM Plex Sans"/>
              </a:rPr>
              <a:t> capability first. Frameworks backfill the gaps — which is fine, until you assume it is native and reason about failure as though it were.</a:t>
            </a:r>
          </a:p>
        </p:txBody>
      </p:sp>
      <p:graphicFrame>
        <p:nvGraphicFramePr>
          <p:cNvPr id="6" name="Table 5"/>
          <p:cNvGraphicFramePr>
            <a:graphicFrameLocks noGrp="1"/>
          </p:cNvGraphicFramePr>
          <p:nvPr/>
        </p:nvGraphicFramePr>
        <p:xfrm>
          <a:off x="713232" y="2036826"/>
          <a:ext cx="10911533" cy="3010659"/>
        </p:xfrm>
        <a:graphic>
          <a:graphicData uri="http://schemas.openxmlformats.org/drawingml/2006/table">
            <a:tbl>
              <a:tblPr firstRow="1">
                <a:tableStyleId>{5C22544A-7EE6-4342-B048-85BDC9FD1C3A}</a:tableStyleId>
              </a:tblPr>
              <a:tblGrid>
                <a:gridCol w="1908317"/>
                <a:gridCol w="2930749"/>
                <a:gridCol w="3064912"/>
                <a:gridCol w="3007555"/>
              </a:tblGrid>
              <a:tr h="389381">
                <a:tc>
                  <a:txBody>
                    <a:bodyPr/>
                    <a:lstStyle/>
                    <a:p>
                      <a:pPr>
                        <a:lnSpc>
                          <a:spcPct val="118000"/>
                        </a:lnSpc>
                      </a:pPr>
                      <a:r>
                        <a:rPr sz="1500" b="1" i="0">
                          <a:solidFill>
                            <a:srgbClr val="181B1F"/>
                          </a:solidFill>
                          <a:latin typeface="IBM Plex Sans"/>
                        </a:rPr>
                        <a:t>Capability</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RabbitMQ (queue)</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AWS SQS (queue)</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Kafka (stream)</a:t>
                      </a:r>
                    </a:p>
                  </a:txBody>
                  <a:tcPr marL="82296" marR="82296" marT="27432" marB="27432">
                    <a:solidFill>
                      <a:srgbClr val="F3EFE6"/>
                    </a:solidFill>
                  </a:tcPr>
                </a:tc>
              </a:tr>
              <a:tr h="614172">
                <a:tc>
                  <a:txBody>
                    <a:bodyPr/>
                    <a:lstStyle/>
                    <a:p>
                      <a:pPr>
                        <a:lnSpc>
                          <a:spcPct val="118000"/>
                        </a:lnSpc>
                      </a:pPr>
                      <a:r>
                        <a:rPr sz="1500" b="0" i="0">
                          <a:solidFill>
                            <a:srgbClr val="181B1F"/>
                          </a:solidFill>
                          <a:latin typeface="IBM Plex Sans"/>
                        </a:rPr>
                        <a:t>Per-message ack / lock</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Ack / nack</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Visibility timeout</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None</a:t>
                      </a:r>
                      <a:r>
                        <a:rPr sz="1500" b="0" i="0">
                          <a:solidFill>
                            <a:srgbClr val="181B1F"/>
                          </a:solidFill>
                          <a:latin typeface="IBM Plex Sans"/>
                        </a:rPr>
                        <a:t> — offsets only</a:t>
                      </a:r>
                    </a:p>
                  </a:txBody>
                  <a:tcPr marL="82296" marR="82296" marT="27432" marB="27432">
                    <a:solidFill>
                      <a:srgbClr val="FDFCFA"/>
                    </a:solidFill>
                  </a:tcPr>
                </a:tc>
              </a:tr>
              <a:tr h="614172">
                <a:tc>
                  <a:txBody>
                    <a:bodyPr/>
                    <a:lstStyle/>
                    <a:p>
                      <a:pPr>
                        <a:lnSpc>
                          <a:spcPct val="118000"/>
                        </a:lnSpc>
                      </a:pPr>
                      <a:r>
                        <a:rPr sz="1500" b="0" i="0">
                          <a:solidFill>
                            <a:srgbClr val="181B1F"/>
                          </a:solidFill>
                          <a:latin typeface="IBM Plex Sans"/>
                        </a:rPr>
                        <a:t>Dead letter</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Dead-letter exchange, native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Redrive policy, native</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None</a:t>
                      </a:r>
                      <a:r>
                        <a:rPr sz="1500" b="0" i="0">
                          <a:solidFill>
                            <a:srgbClr val="181B1F"/>
                          </a:solidFill>
                          <a:latin typeface="IBM Plex Sans"/>
                        </a:rPr>
                        <a:t> — framework writes a separate topic</a:t>
                      </a:r>
                    </a:p>
                  </a:txBody>
                  <a:tcPr marL="82296" marR="82296" marT="27432" marB="27432">
                    <a:solidFill>
                      <a:srgbClr val="FDFCFA"/>
                    </a:solidFill>
                  </a:tcPr>
                </a:tc>
              </a:tr>
              <a:tr h="614172">
                <a:tc>
                  <a:txBody>
                    <a:bodyPr/>
                    <a:lstStyle/>
                    <a:p>
                      <a:pPr>
                        <a:lnSpc>
                          <a:spcPct val="118000"/>
                        </a:lnSpc>
                      </a:pPr>
                      <a:r>
                        <a:rPr sz="1500" b="0" i="0">
                          <a:solidFill>
                            <a:srgbClr val="181B1F"/>
                          </a:solidFill>
                          <a:latin typeface="IBM Plex Sans"/>
                        </a:rPr>
                        <a:t>Delay / retry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TTL + DLX, or delayed-message plugin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Delay queues + per-message delay, native</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None</a:t>
                      </a:r>
                      <a:r>
                        <a:rPr sz="1500" b="0" i="0">
                          <a:solidFill>
                            <a:srgbClr val="181B1F"/>
                          </a:solidFill>
                          <a:latin typeface="IBM Plex Sans"/>
                        </a:rPr>
                        <a:t> — framework uses retry topics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Redelivery count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Header, by convention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Receive count, native</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None</a:t>
                      </a:r>
                      <a:r>
                        <a:rPr sz="1500" b="0" i="0">
                          <a:solidFill>
                            <a:srgbClr val="181B1F"/>
                          </a:solidFill>
                          <a:latin typeface="IBM Plex Sans"/>
                        </a:rPr>
                        <a:t> — framework tracks it</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Ordering</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Per queue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FIFO queues only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Per partition</a:t>
                      </a:r>
                    </a:p>
                  </a:txBody>
                  <a:tcPr marL="82296" marR="82296" marT="27432" marB="27432">
                    <a:solidFill>
                      <a:srgbClr val="FDFCFA"/>
                    </a:solidFill>
                  </a:tcPr>
                </a:tc>
              </a:tr>
            </a:tbl>
          </a:graphicData>
        </a:graphic>
      </p:graphicFrame>
      <p:sp>
        <p:nvSpPr>
          <p:cNvPr id="7" name="Rectangle 6"/>
          <p:cNvSpPr/>
          <p:nvPr/>
        </p:nvSpPr>
        <p:spPr>
          <a:xfrm>
            <a:off x="713232" y="5386324"/>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5356569"/>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If your framework offers you a DLQ on Kafka, it built one. Know which of these you are relying on.</a:t>
            </a:r>
          </a:p>
        </p:txBody>
      </p:sp>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CONSUMER SIDE — WHAT THE PUMP CANNOT ACK</a:t>
            </a:r>
          </a:p>
        </p:txBody>
      </p:sp>
      <p:sp>
        <p:nvSpPr>
          <p:cNvPr id="4" name="TextBox 3"/>
          <p:cNvSpPr txBox="1"/>
          <p:nvPr/>
        </p:nvSpPr>
        <p:spPr>
          <a:xfrm>
            <a:off x="713232" y="606722"/>
            <a:ext cx="6074336"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Exercise Material — Failing Well</a:t>
            </a:r>
          </a:p>
        </p:txBody>
      </p:sp>
      <p:sp>
        <p:nvSpPr>
          <p:cNvPr id="5" name="TextBox 4"/>
          <p:cNvSpPr txBox="1"/>
          <p:nvPr/>
        </p:nvSpPr>
        <p:spPr>
          <a:xfrm>
            <a:off x="713232" y="1319549"/>
            <a:ext cx="6074336" cy="1152144"/>
          </a:xfrm>
          <a:prstGeom prst="rect">
            <a:avLst/>
          </a:prstGeom>
          <a:noFill/>
        </p:spPr>
        <p:txBody>
          <a:bodyPr wrap="square" lIns="0" rIns="0" tIns="0" bIns="0">
            <a:spAutoFit/>
          </a:bodyPr>
          <a:lstStyle/>
          <a:p>
            <a:pPr>
              <a:lnSpc>
                <a:spcPts val="2232"/>
              </a:lnSpc>
            </a:pPr>
            <a:r>
              <a:rPr sz="1800" b="0" i="0">
                <a:solidFill>
                  <a:srgbClr val="181B1F"/>
                </a:solidFill>
                <a:latin typeface="IBM Plex Sans"/>
              </a:rPr>
              <a:t>Take the pump you built and make it survive the ways this sub-topic says it will fail: a message that </a:t>
            </a:r>
            <a:r>
              <a:rPr sz="1800" b="1" i="0">
                <a:solidFill>
                  <a:srgbClr val="181B1F"/>
                </a:solidFill>
                <a:latin typeface="IBM Plex Sans"/>
              </a:rPr>
              <a:t>cannot be mapped</a:t>
            </a:r>
            <a:r>
              <a:rPr sz="1800" b="0" i="0">
                <a:solidFill>
                  <a:srgbClr val="181B1F"/>
                </a:solidFill>
                <a:latin typeface="IBM Plex Sans"/>
              </a:rPr>
              <a:t>, and a message that </a:t>
            </a:r>
            <a:r>
              <a:rPr sz="1800" b="1" i="0">
                <a:solidFill>
                  <a:srgbClr val="181B1F"/>
                </a:solidFill>
                <a:latin typeface="IBM Plex Sans"/>
              </a:rPr>
              <a:t>fails handling</a:t>
            </a:r>
            <a:r>
              <a:rPr sz="1800" b="0" i="0">
                <a:solidFill>
                  <a:srgbClr val="181B1F"/>
                </a:solidFill>
                <a:latin typeface="IBM Plex Sans"/>
              </a:rPr>
              <a:t> </a:t>
            </a:r>
            <a:r>
              <a:rPr sz="1800" b="0" i="1">
                <a:solidFill>
                  <a:srgbClr val="181B1F"/>
                </a:solidFill>
                <a:latin typeface="IBM Plex Sans"/>
              </a:rPr>
              <a:t>n</a:t>
            </a:r>
            <a:r>
              <a:rPr sz="1800" b="0" i="0">
                <a:solidFill>
                  <a:srgbClr val="181B1F"/>
                </a:solidFill>
                <a:latin typeface="IBM Plex Sans"/>
              </a:rPr>
              <a:t> times. Use RMQ's own dead-letter exchange rather than building one.</a:t>
            </a:r>
          </a:p>
        </p:txBody>
      </p:sp>
      <p:sp>
        <p:nvSpPr>
          <p:cNvPr id="6" name="Rectangle 5"/>
          <p:cNvSpPr/>
          <p:nvPr/>
        </p:nvSpPr>
        <p:spPr>
          <a:xfrm>
            <a:off x="713232" y="2686557"/>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656803"/>
            <a:ext cx="5800016"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Two different failures, two different answers — and the pump has to tell them apart.</a:t>
            </a:r>
          </a:p>
        </p:txBody>
      </p:sp>
      <p:sp>
        <p:nvSpPr>
          <p:cNvPr id="8" name="Rectangle 7"/>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nt-panic.jpg"/>
          <p:cNvPicPr>
            <a:picLocks noChangeAspect="1"/>
          </p:cNvPicPr>
          <p:nvPr/>
        </p:nvPicPr>
        <p:blipFill>
          <a:blip r:embed="rId2"/>
          <a:stretch>
            <a:fillRect/>
          </a:stretch>
        </p:blipFill>
        <p:spPr>
          <a:xfrm>
            <a:off x="7272200" y="2093738"/>
            <a:ext cx="4215406" cy="2633947"/>
          </a:xfrm>
          <a:prstGeom prst="rect">
            <a:avLst/>
          </a:prstGeom>
        </p:spPr>
      </p:pic>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4.5 Queues and Streams</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The two things only one of them can do — and the summary you take away.</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4.5 QUEUES AND STREAMS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Scaling Streams — Consumer Groups</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partitioned the stream in §4.3 and gave each partition a consumer. A </a:t>
            </a:r>
            <a:r>
              <a:rPr sz="1800" b="1" i="0">
                <a:solidFill>
                  <a:srgbClr val="181B1F"/>
                </a:solidFill>
                <a:latin typeface="IBM Plex Sans"/>
              </a:rPr>
              <a:t>consumer group</a:t>
            </a:r>
            <a:r>
              <a:rPr sz="1800" b="0" i="0">
                <a:solidFill>
                  <a:srgbClr val="181B1F"/>
                </a:solidFill>
                <a:latin typeface="IBM Plex Sans"/>
              </a:rPr>
              <a:t> is how the broker keeps that assignment true while consumers come and go.</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Only </a:t>
            </a:r>
            <a:r>
              <a:rPr sz="1800" b="1" i="0">
                <a:solidFill>
                  <a:srgbClr val="181B1F"/>
                </a:solidFill>
                <a:latin typeface="IBM Plex Sans"/>
              </a:rPr>
              <a:t>one consumer in a group</a:t>
            </a:r>
            <a:r>
              <a:rPr sz="1800" b="0" i="0">
                <a:solidFill>
                  <a:srgbClr val="181B1F"/>
                </a:solidFill>
                <a:latin typeface="IBM Plex Sans"/>
              </a:rPr>
              <a:t> reads from a partition at a time — that is what protects the ordering partitioning bought you.</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consumer may hold </a:t>
            </a:r>
            <a:r>
              <a:rPr sz="1800" b="1" i="0">
                <a:solidFill>
                  <a:srgbClr val="181B1F"/>
                </a:solidFill>
                <a:latin typeface="IBM Plex Sans"/>
              </a:rPr>
              <a:t>more than one</a:t>
            </a:r>
            <a:r>
              <a:rPr sz="1800" b="0" i="0">
                <a:solidFill>
                  <a:srgbClr val="181B1F"/>
                </a:solidFill>
                <a:latin typeface="IBM Plex Sans"/>
              </a:rPr>
              <a:t> of the group's partitions, so a group survives losing a member.</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75</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4.5 QUEUES AND STREAMS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Scaling Streams — Consumer Groups</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Partitions decide the ordering. Consumer groups decide who is holding them right now.</a:t>
            </a:r>
          </a:p>
        </p:txBody>
      </p:sp>
      <p:pic>
        <p:nvPicPr>
          <p:cNvPr id="7" name="Picture 6" descr="qs-stream-consumer-groups.png"/>
          <p:cNvPicPr>
            <a:picLocks noChangeAspect="1"/>
          </p:cNvPicPr>
          <p:nvPr/>
        </p:nvPicPr>
        <p:blipFill>
          <a:blip r:embed="rId2"/>
          <a:stretch>
            <a:fillRect/>
          </a:stretch>
        </p:blipFill>
        <p:spPr>
          <a:xfrm>
            <a:off x="1524433" y="1937258"/>
            <a:ext cx="9289132"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76</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4.5 QUEUES AND STREAMS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Archive and Replay</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Can we re-read the past? The two models answer differently, and the answer follows from what §4.1 said each one </a:t>
            </a:r>
            <a:r>
              <a:rPr sz="1800" b="1" i="0">
                <a:solidFill>
                  <a:srgbClr val="181B1F"/>
                </a:solidFill>
                <a:latin typeface="IBM Plex Sans"/>
              </a:rPr>
              <a:t>is</a:t>
            </a:r>
            <a:r>
              <a:rPr sz="1800" b="0" i="0">
                <a:solidFill>
                  <a:srgbClr val="181B1F"/>
                </a:solidFill>
                <a:latin typeface="IBM Plex Sans"/>
              </a:rPr>
              <a:t>: a queue holds work to be done, and work that is done is gone.</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4.5 QUEUES AND STREAMS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Queues — No Archive and Replay</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With queues we delete a message once the action completes, so there's no way to replay a work request — our only option is to ask the producer to resend.</a:t>
            </a:r>
          </a:p>
        </p:txBody>
      </p:sp>
      <p:pic>
        <p:nvPicPr>
          <p:cNvPr id="6" name="Picture 5" descr="qs-queue-no-replay.png"/>
          <p:cNvPicPr>
            <a:picLocks noChangeAspect="1"/>
          </p:cNvPicPr>
          <p:nvPr/>
        </p:nvPicPr>
        <p:blipFill>
          <a:blip r:embed="rId2"/>
          <a:stretch>
            <a:fillRect/>
          </a:stretch>
        </p:blipFill>
        <p:spPr>
          <a:xfrm>
            <a:off x="1139887" y="2018538"/>
            <a:ext cx="10058224"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4.5 QUEUES AND STREAMS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Streams — Archive and Replay</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Straightforward, because nothing is deleted: reset the consumer's offset to re-read the stream.</a:t>
            </a:r>
          </a:p>
        </p:txBody>
      </p:sp>
      <p:pic>
        <p:nvPicPr>
          <p:cNvPr id="6" name="Picture 5" descr="qs-stream-replay.png"/>
          <p:cNvPicPr>
            <a:picLocks noChangeAspect="1"/>
          </p:cNvPicPr>
          <p:nvPr/>
        </p:nvPicPr>
        <p:blipFill>
          <a:blip r:embed="rId2"/>
          <a:stretch>
            <a:fillRect/>
          </a:stretch>
        </p:blipFill>
        <p:spPr>
          <a:xfrm>
            <a:off x="713232" y="1762926"/>
            <a:ext cx="10911535" cy="4646597"/>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4.5 QUEUES AND STREAMS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Queues vs. Streams — Capability Matrix</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Summary comparison across: Messaging (Discrete Event vs. Series Event), Ordering, Archive and Replay, and Requeue with Delay — for Queue vs. Stream.</a:t>
            </a:r>
          </a:p>
        </p:txBody>
      </p:sp>
      <p:pic>
        <p:nvPicPr>
          <p:cNvPr id="6" name="Picture 5" descr="qs-capability-matrix.png"/>
          <p:cNvPicPr>
            <a:picLocks noChangeAspect="1"/>
          </p:cNvPicPr>
          <p:nvPr/>
        </p:nvPicPr>
        <p:blipFill>
          <a:blip r:embed="rId2"/>
          <a:stretch>
            <a:fillRect/>
          </a:stretch>
        </p:blipFill>
        <p:spPr>
          <a:xfrm>
            <a:off x="2295697" y="2018538"/>
            <a:ext cx="7746604" cy="4418837"/>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4.5 QUEUES AND STREAMS</a:t>
            </a:r>
          </a:p>
        </p:txBody>
      </p:sp>
      <p:sp>
        <p:nvSpPr>
          <p:cNvPr id="4" name="TextBox 3"/>
          <p:cNvSpPr txBox="1"/>
          <p:nvPr/>
        </p:nvSpPr>
        <p:spPr>
          <a:xfrm>
            <a:off x="713232" y="606722"/>
            <a:ext cx="6074336"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Exercise Material — Introduction to Kafka</a:t>
            </a:r>
          </a:p>
        </p:txBody>
      </p:sp>
      <p:sp>
        <p:nvSpPr>
          <p:cNvPr id="5" name="TextBox 4"/>
          <p:cNvSpPr txBox="1"/>
          <p:nvPr/>
        </p:nvSpPr>
        <p:spPr>
          <a:xfrm>
            <a:off x="713232" y="1739411"/>
            <a:ext cx="6074336"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Readme, slides. Quick Start Kafka — brokers, topics, partitions, consumer groups, offsets.</a:t>
            </a:r>
          </a:p>
        </p:txBody>
      </p:sp>
      <p:sp>
        <p:nvSpPr>
          <p:cNvPr id="6" name="TextBox 5"/>
          <p:cNvSpPr txBox="1"/>
          <p:nvPr/>
        </p:nvSpPr>
        <p:spPr>
          <a:xfrm>
            <a:off x="713232" y="2420639"/>
            <a:ext cx="6074336"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Then the exercises: </a:t>
            </a:r>
            <a:r>
              <a:rPr sz="1800" b="1" i="0">
                <a:solidFill>
                  <a:srgbClr val="181B1F"/>
                </a:solidFill>
                <a:latin typeface="IBM Plex Sans"/>
              </a:rPr>
              <a:t>take the reliability you built on a queue and get the same guarantees on a stream.</a:t>
            </a:r>
            <a:r>
              <a:rPr sz="1800" b="0" i="0">
                <a:solidFill>
                  <a:srgbClr val="181B1F"/>
                </a:solidFill>
                <a:latin typeface="IBM Plex Sans"/>
              </a:rPr>
              <a:t> Nothing you relied on in §4.4 is native here.</a:t>
            </a:r>
          </a:p>
        </p:txBody>
      </p:sp>
      <p:sp>
        <p:nvSpPr>
          <p:cNvPr id="7" name="Rectangle 6"/>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nt-panic.jpg"/>
          <p:cNvPicPr>
            <a:picLocks noChangeAspect="1"/>
          </p:cNvPicPr>
          <p:nvPr/>
        </p:nvPicPr>
        <p:blipFill>
          <a:blip r:embed="rId2"/>
          <a:stretch>
            <a:fillRect/>
          </a:stretch>
        </p:blipFill>
        <p:spPr>
          <a:xfrm>
            <a:off x="7272200" y="2093738"/>
            <a:ext cx="4215406" cy="2633947"/>
          </a:xfrm>
          <a:prstGeom prst="rect">
            <a:avLst/>
          </a:prstGeom>
        </p:spPr>
      </p:pic>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Conversations</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From single messages to conversations — choosing an exchange pattern.</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CONVERSATIONS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Messaging Participants</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can now send a message, receive it, and not lose it. Real interactions are rarely one message — they are </a:t>
            </a:r>
            <a:r>
              <a:rPr sz="1800" b="1" i="0">
                <a:solidFill>
                  <a:srgbClr val="181B1F"/>
                </a:solidFill>
                <a:latin typeface="IBM Plex Sans"/>
              </a:rPr>
              <a:t>conversations</a:t>
            </a:r>
            <a:r>
              <a:rPr sz="1800" b="0" i="0">
                <a:solidFill>
                  <a:srgbClr val="181B1F"/>
                </a:solidFill>
                <a:latin typeface="IBM Plex Sans"/>
              </a:rPr>
              <a:t>, and the shape of the conversation is a design decision.</a:t>
            </a:r>
          </a:p>
        </p:txBody>
      </p:sp>
      <p:sp>
        <p:nvSpPr>
          <p:cNvPr id="6" name="TextBox 5"/>
          <p:cNvSpPr txBox="1"/>
          <p:nvPr/>
        </p:nvSpPr>
        <p:spPr>
          <a:xfrm>
            <a:off x="713232" y="2000777"/>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 application acts as either a </a:t>
            </a:r>
            <a:r>
              <a:rPr sz="1800" b="1" i="0">
                <a:solidFill>
                  <a:srgbClr val="181B1F"/>
                </a:solidFill>
                <a:latin typeface="IBM Plex Sans"/>
              </a:rPr>
              <a:t>requestor</a:t>
            </a:r>
            <a:r>
              <a:rPr sz="1800" b="0" i="0">
                <a:solidFill>
                  <a:srgbClr val="181B1F"/>
                </a:solidFill>
                <a:latin typeface="IBM Plex Sans"/>
              </a:rPr>
              <a:t> or a </a:t>
            </a:r>
            <a:r>
              <a:rPr sz="1800" b="1" i="0">
                <a:solidFill>
                  <a:srgbClr val="181B1F"/>
                </a:solidFill>
                <a:latin typeface="IBM Plex Sans"/>
              </a:rPr>
              <a:t>provider</a:t>
            </a:r>
            <a:r>
              <a:rPr sz="1800" b="0" i="0">
                <a:solidFill>
                  <a:srgbClr val="181B1F"/>
                </a:solidFill>
                <a:latin typeface="IBM Plex Sans"/>
              </a:rPr>
              <a:t>.</a:t>
            </a:r>
          </a:p>
        </p:txBody>
      </p:sp>
      <p:sp>
        <p:nvSpPr>
          <p:cNvPr id="7" name="TextBox 6"/>
          <p:cNvSpPr txBox="1"/>
          <p:nvPr/>
        </p:nvSpPr>
        <p:spPr>
          <a:xfrm>
            <a:off x="713232" y="24137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3731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Prefer </a:t>
            </a:r>
            <a:r>
              <a:rPr sz="1800" b="0" i="1">
                <a:solidFill>
                  <a:srgbClr val="181B1F"/>
                </a:solidFill>
                <a:latin typeface="IBM Plex Sans"/>
              </a:rPr>
              <a:t>requestor/provider</a:t>
            </a:r>
            <a:r>
              <a:rPr sz="1800" b="0" i="0">
                <a:solidFill>
                  <a:srgbClr val="181B1F"/>
                </a:solidFill>
                <a:latin typeface="IBM Plex Sans"/>
              </a:rPr>
              <a:t> over </a:t>
            </a:r>
            <a:r>
              <a:rPr sz="1800" b="0" i="1">
                <a:solidFill>
                  <a:srgbClr val="181B1F"/>
                </a:solidFill>
                <a:latin typeface="IBM Plex Sans"/>
              </a:rPr>
              <a:t>producer/consumer</a:t>
            </a:r>
            <a:r>
              <a:rPr sz="1800" b="0" i="0">
                <a:solidFill>
                  <a:srgbClr val="181B1F"/>
                </a:solidFill>
                <a:latin typeface="IBM Plex Sans"/>
              </a:rPr>
              <a:t> here, because they name the </a:t>
            </a:r>
            <a:r>
              <a:rPr sz="1800" b="1" i="0">
                <a:solidFill>
                  <a:srgbClr val="181B1F"/>
                </a:solidFill>
                <a:latin typeface="IBM Plex Sans"/>
              </a:rPr>
              <a:t>role</a:t>
            </a:r>
            <a:r>
              <a:rPr sz="1800" b="0" i="0">
                <a:solidFill>
                  <a:srgbClr val="181B1F"/>
                </a:solidFill>
                <a:latin typeface="IBM Plex Sans"/>
              </a:rPr>
              <a:t>: are you providing the API, or using it?</a:t>
            </a:r>
          </a:p>
        </p:txBody>
      </p:sp>
      <p:sp>
        <p:nvSpPr>
          <p:cNvPr id="9" name="TextBox 8"/>
          <p:cNvSpPr txBox="1"/>
          <p:nvPr/>
        </p:nvSpPr>
        <p:spPr>
          <a:xfrm>
            <a:off x="713232" y="30695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302896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channel is </a:t>
            </a:r>
            <a:r>
              <a:rPr sz="1800" b="1" i="0">
                <a:solidFill>
                  <a:srgbClr val="181B1F"/>
                </a:solidFill>
                <a:latin typeface="IBM Plex Sans"/>
              </a:rPr>
              <a:t>unidirectional</a:t>
            </a:r>
            <a:r>
              <a:rPr sz="1800" b="0" i="0">
                <a:solidFill>
                  <a:srgbClr val="181B1F"/>
                </a:solidFill>
                <a:latin typeface="IBM Plex Sans"/>
              </a:rPr>
              <a:t>. </a:t>
            </a:r>
            <a:r>
              <a:rPr sz="1800" b="1" i="0">
                <a:solidFill>
                  <a:srgbClr val="181B1F"/>
                </a:solidFill>
                <a:latin typeface="IBM Plex Sans"/>
              </a:rPr>
              <a:t>A two-way conversation needs two channels</a:t>
            </a:r>
            <a:r>
              <a:rPr sz="1800" b="0" i="0">
                <a:solidFill>
                  <a:srgbClr val="181B1F"/>
                </a:solidFill>
                <a:latin typeface="IBM Plex Sans"/>
              </a:rPr>
              <a:t> — and that one fact forces every pattern in this section.</a:t>
            </a:r>
          </a:p>
        </p:txBody>
      </p:sp>
      <p:sp>
        <p:nvSpPr>
          <p:cNvPr id="11" name="TextBox 10"/>
          <p:cNvSpPr txBox="1"/>
          <p:nvPr/>
        </p:nvSpPr>
        <p:spPr>
          <a:xfrm>
            <a:off x="713232" y="3710197"/>
            <a:ext cx="10911535"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Example.</a:t>
            </a:r>
            <a:r>
              <a:rPr sz="1800" b="0" i="0">
                <a:solidFill>
                  <a:srgbClr val="181B1F"/>
                </a:solidFill>
                <a:latin typeface="IBM Plex Sans"/>
              </a:rPr>
              <a:t> </a:t>
            </a:r>
            <a:r>
              <a:rPr sz="1800" b="0" i="1">
                <a:solidFill>
                  <a:srgbClr val="181B1F"/>
                </a:solidFill>
                <a:latin typeface="IBM Plex Sans"/>
              </a:rPr>
              <a:t>Provider (Store Information)</a:t>
            </a:r>
            <a:r>
              <a:rPr sz="1800" b="0" i="0">
                <a:solidFill>
                  <a:srgbClr val="181B1F"/>
                </a:solidFill>
                <a:latin typeface="IBM Plex Sans"/>
              </a:rPr>
              <a:t> manages stores for our ecommerce site. </a:t>
            </a:r>
            <a:r>
              <a:rPr sz="1800" b="0" i="1">
                <a:solidFill>
                  <a:srgbClr val="181B1F"/>
                </a:solidFill>
                <a:latin typeface="IBM Plex Sans"/>
              </a:rPr>
              <a:t>Requestor (Search)</a:t>
            </a:r>
            <a:r>
              <a:rPr sz="1800" b="0" i="0">
                <a:solidFill>
                  <a:srgbClr val="181B1F"/>
                </a:solidFill>
                <a:latin typeface="IBM Plex Sans"/>
              </a:rPr>
              <a:t> registers a store and optimizes for fast lookup on key search terms. The message </a:t>
            </a:r>
            <a:r>
              <a:rPr sz="1700" b="0" i="0">
                <a:solidFill>
                  <a:srgbClr val="181B1F"/>
                </a:solidFill>
                <a:latin typeface="IBM Plex Mono"/>
              </a:rPr>
              <a:t>changedstore()</a:t>
            </a:r>
            <a:r>
              <a:rPr sz="1800" b="0" i="0">
                <a:solidFill>
                  <a:srgbClr val="181B1F"/>
                </a:solidFill>
                <a:latin typeface="IBM Plex Sans"/>
              </a:rPr>
              <a:t> indicates new store details.</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CONVERSATIONS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Messaging or Eventing?</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first question, before any pattern, and you met it in §4.1: </a:t>
            </a:r>
            <a:r>
              <a:rPr sz="1800" b="1" i="0">
                <a:solidFill>
                  <a:srgbClr val="181B1F"/>
                </a:solidFill>
                <a:latin typeface="IBM Plex Sans"/>
              </a:rPr>
              <a:t>are you expressing intent, or reporting a fact?</a:t>
            </a:r>
            <a:r>
              <a:rPr sz="1800" b="0" i="0">
                <a:solidFill>
                  <a:srgbClr val="181B1F"/>
                </a:solidFill>
                <a:latin typeface="IBM Plex Sans"/>
              </a:rPr>
              <a:t> Here is what it decides.</a:t>
            </a:r>
          </a:p>
        </p:txBody>
      </p:sp>
      <p:graphicFrame>
        <p:nvGraphicFramePr>
          <p:cNvPr id="6" name="Table 5"/>
          <p:cNvGraphicFramePr>
            <a:graphicFrameLocks noGrp="1"/>
          </p:cNvGraphicFramePr>
          <p:nvPr/>
        </p:nvGraphicFramePr>
        <p:xfrm>
          <a:off x="713232" y="2036826"/>
          <a:ext cx="10911534" cy="1557524"/>
        </p:xfrm>
        <a:graphic>
          <a:graphicData uri="http://schemas.openxmlformats.org/drawingml/2006/table">
            <a:tbl>
              <a:tblPr firstRow="1">
                <a:tableStyleId>{5C22544A-7EE6-4342-B048-85BDC9FD1C3A}</a:tableStyleId>
              </a:tblPr>
              <a:tblGrid>
                <a:gridCol w="2709343"/>
                <a:gridCol w="3943777"/>
                <a:gridCol w="4258414"/>
              </a:tblGrid>
              <a:tr h="389381">
                <a:tc>
                  <a:txBody>
                    <a:bodyPr/>
                    <a:lstStyle/>
                    <a:p>
                      <a:pPr>
                        <a:lnSpc>
                          <a:spcPct val="118000"/>
                        </a:lnSpc>
                      </a:pP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intent — Messaging</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a fact — Eventing</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patterns available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In-Only, In-Out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Out-Only</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who you are addressing</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someone: you know who should act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nobody: the subscriber list is not yours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what you are coupled to</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request or command contract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event schema</a:t>
                      </a:r>
                    </a:p>
                  </a:txBody>
                  <a:tcPr marL="82296" marR="82296" marT="27432" marB="27432">
                    <a:solidFill>
                      <a:srgbClr val="FDFCFA"/>
                    </a:solidFill>
                  </a:tcPr>
                </a:tc>
              </a:tr>
            </a:tbl>
          </a:graphicData>
        </a:graphic>
      </p:graphicFrame>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CONVERSATIONS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Messaging or Eventing?</a:t>
            </a:r>
          </a:p>
        </p:txBody>
      </p:sp>
      <p:pic>
        <p:nvPicPr>
          <p:cNvPr id="5" name="Picture 4" descr="conversation-messaging-or-eventing.png"/>
          <p:cNvPicPr>
            <a:picLocks noChangeAspect="1"/>
          </p:cNvPicPr>
          <p:nvPr/>
        </p:nvPicPr>
        <p:blipFill>
          <a:blip r:embed="rId2"/>
          <a:stretch>
            <a:fillRect/>
          </a:stretch>
        </p:blipFill>
        <p:spPr>
          <a:xfrm>
            <a:off x="1265910" y="1245869"/>
            <a:ext cx="9806178"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CONVERSATIONS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Four Exchange Patterns</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Two questions give you all four. </a:t>
            </a:r>
            <a:r>
              <a:rPr sz="1800" b="1" i="0">
                <a:solidFill>
                  <a:srgbClr val="181B1F"/>
                </a:solidFill>
                <a:latin typeface="IBM Plex Sans"/>
              </a:rPr>
              <a:t>Who speaks first</a:t>
            </a:r>
            <a:r>
              <a:rPr sz="1800" b="0" i="0">
                <a:solidFill>
                  <a:srgbClr val="181B1F"/>
                </a:solidFill>
                <a:latin typeface="IBM Plex Sans"/>
              </a:rPr>
              <a:t> — the requestor, or the provider? And </a:t>
            </a:r>
            <a:r>
              <a:rPr sz="1800" b="1" i="0">
                <a:solidFill>
                  <a:srgbClr val="181B1F"/>
                </a:solidFill>
                <a:latin typeface="IBM Plex Sans"/>
              </a:rPr>
              <a:t>is there a message back?</a:t>
            </a:r>
          </a:p>
        </p:txBody>
      </p:sp>
      <p:graphicFrame>
        <p:nvGraphicFramePr>
          <p:cNvPr id="6" name="Table 5"/>
          <p:cNvGraphicFramePr>
            <a:graphicFrameLocks noGrp="1"/>
          </p:cNvGraphicFramePr>
          <p:nvPr/>
        </p:nvGraphicFramePr>
        <p:xfrm>
          <a:off x="713232" y="2036826"/>
          <a:ext cx="10911533" cy="1168143"/>
        </p:xfrm>
        <a:graphic>
          <a:graphicData uri="http://schemas.openxmlformats.org/drawingml/2006/table">
            <a:tbl>
              <a:tblPr firstRow="1">
                <a:tableStyleId>{5C22544A-7EE6-4342-B048-85BDC9FD1C3A}</a:tableStyleId>
              </a:tblPr>
              <a:tblGrid>
                <a:gridCol w="3841070"/>
                <a:gridCol w="3414759"/>
                <a:gridCol w="3655704"/>
              </a:tblGrid>
              <a:tr h="389381">
                <a:tc>
                  <a:txBody>
                    <a:bodyPr/>
                    <a:lstStyle/>
                    <a:p>
                      <a:pPr>
                        <a:lnSpc>
                          <a:spcPct val="118000"/>
                        </a:lnSpc>
                      </a:pP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no message back</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a message back</a:t>
                      </a:r>
                    </a:p>
                  </a:txBody>
                  <a:tcPr marL="82296" marR="82296" marT="27432" marB="27432">
                    <a:solidFill>
                      <a:srgbClr val="F3EFE6"/>
                    </a:solidFill>
                  </a:tcPr>
                </a:tc>
              </a:tr>
              <a:tr h="389381">
                <a:tc>
                  <a:txBody>
                    <a:bodyPr/>
                    <a:lstStyle/>
                    <a:p>
                      <a:pPr>
                        <a:lnSpc>
                          <a:spcPct val="118000"/>
                        </a:lnSpc>
                      </a:pPr>
                      <a:r>
                        <a:rPr sz="1500" b="1" i="0">
                          <a:solidFill>
                            <a:srgbClr val="181B1F"/>
                          </a:solidFill>
                          <a:latin typeface="IBM Plex Sans"/>
                        </a:rPr>
                        <a:t>In</a:t>
                      </a:r>
                      <a:r>
                        <a:rPr sz="1500" b="0" i="0">
                          <a:solidFill>
                            <a:srgbClr val="181B1F"/>
                          </a:solidFill>
                          <a:latin typeface="IBM Plex Sans"/>
                        </a:rPr>
                        <a:t> — requestor speaks first</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In-Only</a:t>
                      </a:r>
                      <a:r>
                        <a:rPr sz="1500" b="0" i="0">
                          <a:solidFill>
                            <a:srgbClr val="181B1F"/>
                          </a:solidFill>
                          <a:latin typeface="IBM Plex Sans"/>
                        </a:rPr>
                        <a:t> (fire and forget)</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In-Out</a:t>
                      </a:r>
                      <a:r>
                        <a:rPr sz="1500" b="0" i="0">
                          <a:solidFill>
                            <a:srgbClr val="181B1F"/>
                          </a:solidFill>
                          <a:latin typeface="IBM Plex Sans"/>
                        </a:rPr>
                        <a:t> (request-reaction)</a:t>
                      </a:r>
                    </a:p>
                  </a:txBody>
                  <a:tcPr marL="82296" marR="82296" marT="27432" marB="27432">
                    <a:solidFill>
                      <a:srgbClr val="FDFCFA"/>
                    </a:solidFill>
                  </a:tcPr>
                </a:tc>
              </a:tr>
              <a:tr h="389381">
                <a:tc>
                  <a:txBody>
                    <a:bodyPr/>
                    <a:lstStyle/>
                    <a:p>
                      <a:pPr>
                        <a:lnSpc>
                          <a:spcPct val="118000"/>
                        </a:lnSpc>
                      </a:pPr>
                      <a:r>
                        <a:rPr sz="1500" b="1" i="0">
                          <a:solidFill>
                            <a:srgbClr val="181B1F"/>
                          </a:solidFill>
                          <a:latin typeface="IBM Plex Sans"/>
                        </a:rPr>
                        <a:t>Out</a:t>
                      </a:r>
                      <a:r>
                        <a:rPr sz="1500" b="0" i="0">
                          <a:solidFill>
                            <a:srgbClr val="181B1F"/>
                          </a:solidFill>
                          <a:latin typeface="IBM Plex Sans"/>
                        </a:rPr>
                        <a:t> — provider speaks first</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Out-Only</a:t>
                      </a:r>
                      <a:r>
                        <a:rPr sz="1500" b="0" i="0">
                          <a:solidFill>
                            <a:srgbClr val="181B1F"/>
                          </a:solidFill>
                          <a:latin typeface="IBM Plex Sans"/>
                        </a:rPr>
                        <a:t> (notification)</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Out-In</a:t>
                      </a:r>
                      <a:r>
                        <a:rPr sz="1500" b="0" i="0">
                          <a:solidFill>
                            <a:srgbClr val="181B1F"/>
                          </a:solidFill>
                          <a:latin typeface="IBM Plex Sans"/>
                        </a:rPr>
                        <a:t> (solicit-response)</a:t>
                      </a:r>
                    </a:p>
                  </a:txBody>
                  <a:tcPr marL="82296" marR="82296" marT="27432" marB="27432">
                    <a:solidFill>
                      <a:srgbClr val="FDFCFA"/>
                    </a:solidFill>
                  </a:tcPr>
                </a:tc>
              </a:tr>
            </a:tbl>
          </a:graphicData>
        </a:graphic>
      </p:graphicFrame>
      <p:sp>
        <p:nvSpPr>
          <p:cNvPr id="7" name="TextBox 6"/>
          <p:cNvSpPr txBox="1"/>
          <p:nvPr/>
        </p:nvSpPr>
        <p:spPr>
          <a:xfrm>
            <a:off x="713232" y="344017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3399555"/>
            <a:ext cx="10664647" cy="585216"/>
          </a:xfrm>
          <a:prstGeom prst="rect">
            <a:avLst/>
          </a:prstGeom>
          <a:noFill/>
        </p:spPr>
        <p:txBody>
          <a:bodyPr wrap="square" lIns="0" rIns="0" tIns="0" bIns="0">
            <a:spAutoFit/>
          </a:bodyPr>
          <a:lstStyle/>
          <a:p>
            <a:pPr>
              <a:lnSpc>
                <a:spcPts val="2232"/>
              </a:lnSpc>
            </a:pPr>
            <a:r>
              <a:rPr sz="1800" b="0" i="1">
                <a:solidFill>
                  <a:srgbClr val="181B1F"/>
                </a:solidFill>
                <a:latin typeface="IBM Plex Sans"/>
              </a:rPr>
              <a:t>In</a:t>
            </a:r>
            <a:r>
              <a:rPr sz="1800" b="0" i="0">
                <a:solidFill>
                  <a:srgbClr val="181B1F"/>
                </a:solidFill>
                <a:latin typeface="IBM Plex Sans"/>
              </a:rPr>
              <a:t> and </a:t>
            </a:r>
            <a:r>
              <a:rPr sz="1800" b="0" i="1">
                <a:solidFill>
                  <a:srgbClr val="181B1F"/>
                </a:solidFill>
                <a:latin typeface="IBM Plex Sans"/>
              </a:rPr>
              <a:t>Out</a:t>
            </a:r>
            <a:r>
              <a:rPr sz="1800" b="0" i="0">
                <a:solidFill>
                  <a:srgbClr val="181B1F"/>
                </a:solidFill>
                <a:latin typeface="IBM Plex Sans"/>
              </a:rPr>
              <a:t> are named from the </a:t>
            </a:r>
            <a:r>
              <a:rPr sz="1800" b="1" i="0">
                <a:solidFill>
                  <a:srgbClr val="181B1F"/>
                </a:solidFill>
                <a:latin typeface="IBM Plex Sans"/>
              </a:rPr>
              <a:t>provider's</a:t>
            </a:r>
            <a:r>
              <a:rPr sz="1800" b="0" i="0">
                <a:solidFill>
                  <a:srgbClr val="181B1F"/>
                </a:solidFill>
                <a:latin typeface="IBM Plex Sans"/>
              </a:rPr>
              <a:t> point of view: In = a message arrives, Out = a message leaves.</a:t>
            </a:r>
          </a:p>
        </p:txBody>
      </p:sp>
      <p:sp>
        <p:nvSpPr>
          <p:cNvPr id="9" name="TextBox 8"/>
          <p:cNvSpPr txBox="1"/>
          <p:nvPr/>
        </p:nvSpPr>
        <p:spPr>
          <a:xfrm>
            <a:off x="713232" y="409600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405538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Everything else in this section is one of these four, or a composition of them.</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CONVERSATIONS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Four Exchange Patterns</a:t>
            </a:r>
          </a:p>
        </p:txBody>
      </p:sp>
      <p:pic>
        <p:nvPicPr>
          <p:cNvPr id="5" name="Picture 4" descr="grid-exchange-2x2.png"/>
          <p:cNvPicPr>
            <a:picLocks noChangeAspect="1"/>
          </p:cNvPicPr>
          <p:nvPr/>
        </p:nvPicPr>
        <p:blipFill>
          <a:blip r:embed="rId2"/>
          <a:stretch>
            <a:fillRect/>
          </a:stretch>
        </p:blipFill>
        <p:spPr>
          <a:xfrm>
            <a:off x="1695331" y="1245870"/>
            <a:ext cx="8947336"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IN-ONLY — FIRE AND FORGET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In-Only (Fire and Forget)</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Under </a:t>
            </a:r>
            <a:r>
              <a:rPr sz="1800" b="1" i="0">
                <a:solidFill>
                  <a:srgbClr val="181B1F"/>
                </a:solidFill>
                <a:latin typeface="IBM Plex Sans"/>
              </a:rPr>
              <a:t>In-Only</a:t>
            </a:r>
            <a:r>
              <a:rPr sz="1800" b="0" i="0">
                <a:solidFill>
                  <a:srgbClr val="181B1F"/>
                </a:solidFill>
                <a:latin typeface="IBM Plex Sans"/>
              </a:rPr>
              <a:t>, the requestor sends a request to the provider but does not seek acknowledgment of completion. Typically called </a:t>
            </a:r>
            <a:r>
              <a:rPr sz="1800" b="0" i="1">
                <a:solidFill>
                  <a:srgbClr val="181B1F"/>
                </a:solidFill>
                <a:latin typeface="IBM Plex Sans"/>
              </a:rPr>
              <a:t>fire-and-forget</a:t>
            </a:r>
            <a:r>
              <a:rPr sz="1800" b="0" i="0">
                <a:solidFill>
                  <a:srgbClr val="181B1F"/>
                </a:solidFill>
                <a:latin typeface="IBM Plex Sans"/>
              </a:rPr>
              <a:t>.</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Used where we are finished with our part in a flow and are </a:t>
            </a:r>
            <a:r>
              <a:rPr sz="1800" b="1" i="0">
                <a:solidFill>
                  <a:srgbClr val="181B1F"/>
                </a:solidFill>
                <a:latin typeface="IBM Plex Sans"/>
              </a:rPr>
              <a:t>transferring control</a:t>
            </a:r>
            <a:r>
              <a:rPr sz="1800" b="0" i="0">
                <a:solidFill>
                  <a:srgbClr val="181B1F"/>
                </a:solidFill>
                <a:latin typeface="IBM Plex Sans"/>
              </a:rPr>
              <a:t> — we need no response because we are done.</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Example.</a:t>
            </a:r>
            <a:r>
              <a:rPr sz="1800" b="0" i="0">
                <a:solidFill>
                  <a:srgbClr val="181B1F"/>
                </a:solidFill>
                <a:latin typeface="IBM Plex Sans"/>
              </a:rPr>
              <a:t> </a:t>
            </a:r>
            <a:r>
              <a:rPr sz="1800" b="0" i="1">
                <a:solidFill>
                  <a:srgbClr val="181B1F"/>
                </a:solidFill>
                <a:latin typeface="IBM Plex Sans"/>
              </a:rPr>
              <a:t>Requestor (cashier)</a:t>
            </a:r>
            <a:r>
              <a:rPr sz="1800" b="0" i="0">
                <a:solidFill>
                  <a:srgbClr val="181B1F"/>
                </a:solidFill>
                <a:latin typeface="IBM Plex Sans"/>
              </a:rPr>
              <a:t> has a paid-for basket it wants to turn into an order; </a:t>
            </a:r>
            <a:r>
              <a:rPr sz="1800" b="0" i="1">
                <a:solidFill>
                  <a:srgbClr val="181B1F"/>
                </a:solidFill>
                <a:latin typeface="IBM Plex Sans"/>
              </a:rPr>
              <a:t>provider (order placement)</a:t>
            </a:r>
            <a:r>
              <a:rPr sz="1800" b="0" i="0">
                <a:solidFill>
                  <a:srgbClr val="181B1F"/>
                </a:solidFill>
                <a:latin typeface="IBM Plex Sans"/>
              </a:rPr>
              <a:t> raises an order — </a:t>
            </a:r>
            <a:r>
              <a:rPr sz="1700" b="0" i="0">
                <a:solidFill>
                  <a:srgbClr val="181B1F"/>
                </a:solidFill>
                <a:latin typeface="IBM Plex Mono"/>
              </a:rPr>
              <a:t>place order()</a:t>
            </a:r>
            <a:r>
              <a:rPr sz="1800" b="0" i="0">
                <a:solidFill>
                  <a:srgbClr val="181B1F"/>
                </a:solidFill>
                <a:latin typeface="IBM Plex Sans"/>
              </a:rPr>
              <a:t>.</a:t>
            </a:r>
          </a:p>
        </p:txBody>
      </p:sp>
      <p:sp>
        <p:nvSpPr>
          <p:cNvPr id="10" name="TextBox 9"/>
          <p:cNvSpPr txBox="1"/>
          <p:nvPr/>
        </p:nvSpPr>
        <p:spPr>
          <a:xfrm>
            <a:off x="713232" y="3312433"/>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commits you to</a:t>
            </a:r>
          </a:p>
        </p:txBody>
      </p:sp>
      <p:sp>
        <p:nvSpPr>
          <p:cNvPr id="11" name="TextBox 10"/>
          <p:cNvSpPr txBox="1"/>
          <p:nvPr/>
        </p:nvSpPr>
        <p:spPr>
          <a:xfrm>
            <a:off x="713232" y="37254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684797"/>
            <a:ext cx="10664647"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Coupled about:</a:t>
            </a:r>
            <a:r>
              <a:rPr sz="1800" b="0" i="0">
                <a:solidFill>
                  <a:srgbClr val="181B1F"/>
                </a:solidFill>
                <a:latin typeface="IBM Plex Sans"/>
              </a:rPr>
              <a:t> the command contract — you name an operation on someone else.</a:t>
            </a:r>
          </a:p>
        </p:txBody>
      </p:sp>
      <p:sp>
        <p:nvSpPr>
          <p:cNvPr id="13" name="TextBox 12"/>
          <p:cNvSpPr txBox="1"/>
          <p:nvPr/>
        </p:nvSpPr>
        <p:spPr>
          <a:xfrm>
            <a:off x="713232" y="40977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4057161"/>
            <a:ext cx="10664647"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Must you both be up?</a:t>
            </a:r>
            <a:r>
              <a:rPr sz="1800" b="0" i="0">
                <a:solidFill>
                  <a:srgbClr val="181B1F"/>
                </a:solidFill>
                <a:latin typeface="IBM Plex Sans"/>
              </a:rPr>
              <a:t> </a:t>
            </a:r>
            <a:r>
              <a:rPr sz="1800" b="1" i="0">
                <a:solidFill>
                  <a:srgbClr val="181B1F"/>
                </a:solidFill>
                <a:latin typeface="IBM Plex Sans"/>
              </a:rPr>
              <a:t>No.</a:t>
            </a:r>
            <a:r>
              <a:rPr sz="1800" b="0" i="0">
                <a:solidFill>
                  <a:srgbClr val="181B1F"/>
                </a:solidFill>
                <a:latin typeface="IBM Plex Sans"/>
              </a:rPr>
              <a:t> Store-and-forward; the provider can be down.</a:t>
            </a:r>
          </a:p>
        </p:txBody>
      </p:sp>
      <p:sp>
        <p:nvSpPr>
          <p:cNvPr id="15" name="TextBox 14"/>
          <p:cNvSpPr txBox="1"/>
          <p:nvPr/>
        </p:nvSpPr>
        <p:spPr>
          <a:xfrm>
            <a:off x="713232" y="4470145"/>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6" name="TextBox 15"/>
          <p:cNvSpPr txBox="1"/>
          <p:nvPr/>
        </p:nvSpPr>
        <p:spPr>
          <a:xfrm>
            <a:off x="960120" y="442952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Behavioural (control) coupling: you decided who should act.</a:t>
            </a:r>
          </a:p>
        </p:txBody>
      </p:sp>
      <p:sp>
        <p:nvSpPr>
          <p:cNvPr id="17" name="TextBox 1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88</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OUT-ONLY — NOTIFICATION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Out-Only (Notification)</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Under </a:t>
            </a:r>
            <a:r>
              <a:rPr sz="1800" b="1" i="0">
                <a:solidFill>
                  <a:srgbClr val="181B1F"/>
                </a:solidFill>
                <a:latin typeface="IBM Plex Sans"/>
              </a:rPr>
              <a:t>Out-Only</a:t>
            </a:r>
            <a:r>
              <a:rPr sz="1800" b="0" i="0">
                <a:solidFill>
                  <a:srgbClr val="181B1F"/>
                </a:solidFill>
                <a:latin typeface="IBM Plex Sans"/>
              </a:rPr>
              <a:t>, the requestor subscribes to the provider; an operation is triggered by receipt of a message, but it does not acknowledge the message back to the provider. Out-Only </a:t>
            </a:r>
            <a:r>
              <a:rPr sz="1800" b="0" i="1">
                <a:solidFill>
                  <a:srgbClr val="181B1F"/>
                </a:solidFill>
                <a:latin typeface="IBM Plex Sans"/>
              </a:rPr>
              <a:t>is</a:t>
            </a:r>
            <a:r>
              <a:rPr sz="1800" b="0" i="0">
                <a:solidFill>
                  <a:srgbClr val="181B1F"/>
                </a:solidFill>
                <a:latin typeface="IBM Plex Sans"/>
              </a:rPr>
              <a:t> the Publish-Subscribe pattern: a provider is not aware of its consumers.</a:t>
            </a:r>
          </a:p>
        </p:txBody>
      </p:sp>
      <p:sp>
        <p:nvSpPr>
          <p:cNvPr id="6" name="TextBox 5"/>
          <p:cNvSpPr txBox="1"/>
          <p:nvPr/>
        </p:nvSpPr>
        <p:spPr>
          <a:xfrm>
            <a:off x="713232" y="22994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258841"/>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Example.</a:t>
            </a:r>
            <a:r>
              <a:rPr sz="1800" b="0" i="0">
                <a:solidFill>
                  <a:srgbClr val="181B1F"/>
                </a:solidFill>
                <a:latin typeface="IBM Plex Sans"/>
              </a:rPr>
              <a:t> </a:t>
            </a:r>
            <a:r>
              <a:rPr sz="1800" b="0" i="1">
                <a:solidFill>
                  <a:srgbClr val="181B1F"/>
                </a:solidFill>
                <a:latin typeface="IBM Plex Sans"/>
              </a:rPr>
              <a:t>Provider (Store Information)</a:t>
            </a:r>
            <a:r>
              <a:rPr sz="1800" b="0" i="0">
                <a:solidFill>
                  <a:srgbClr val="181B1F"/>
                </a:solidFill>
                <a:latin typeface="IBM Plex Sans"/>
              </a:rPr>
              <a:t> manages stores and raises </a:t>
            </a:r>
            <a:r>
              <a:rPr sz="1700" b="0" i="0">
                <a:solidFill>
                  <a:srgbClr val="181B1F"/>
                </a:solidFill>
                <a:latin typeface="IBM Plex Mono"/>
              </a:rPr>
              <a:t>changedstore()</a:t>
            </a:r>
            <a:r>
              <a:rPr sz="1800" b="0" i="0">
                <a:solidFill>
                  <a:srgbClr val="181B1F"/>
                </a:solidFill>
                <a:latin typeface="IBM Plex Sans"/>
              </a:rPr>
              <a:t>. Multiple requestors subscribe: </a:t>
            </a:r>
            <a:r>
              <a:rPr sz="1800" b="1" i="0">
                <a:solidFill>
                  <a:srgbClr val="181B1F"/>
                </a:solidFill>
                <a:latin typeface="IBM Plex Sans"/>
              </a:rPr>
              <a:t>Search</a:t>
            </a:r>
            <a:r>
              <a:rPr sz="1800" b="0" i="0">
                <a:solidFill>
                  <a:srgbClr val="181B1F"/>
                </a:solidFill>
                <a:latin typeface="IBM Plex Sans"/>
              </a:rPr>
              <a:t> (fast lookup), </a:t>
            </a:r>
            <a:r>
              <a:rPr sz="1800" b="1" i="0">
                <a:solidFill>
                  <a:srgbClr val="181B1F"/>
                </a:solidFill>
                <a:latin typeface="IBM Plex Sans"/>
              </a:rPr>
              <a:t>Availability</a:t>
            </a:r>
            <a:r>
              <a:rPr sz="1800" b="0" i="0">
                <a:solidFill>
                  <a:srgbClr val="181B1F"/>
                </a:solidFill>
                <a:latin typeface="IBM Plex Sans"/>
              </a:rPr>
              <a:t> (factors for whether a store is open), </a:t>
            </a:r>
            <a:r>
              <a:rPr sz="1800" b="1" i="0">
                <a:solidFill>
                  <a:srgbClr val="181B1F"/>
                </a:solidFill>
                <a:latin typeface="IBM Plex Sans"/>
              </a:rPr>
              <a:t>Pick-Up Locations</a:t>
            </a:r>
            <a:r>
              <a:rPr sz="1800" b="0" i="0">
                <a:solidFill>
                  <a:srgbClr val="181B1F"/>
                </a:solidFill>
                <a:latin typeface="IBM Plex Sans"/>
              </a:rPr>
              <a:t> (where couriers pick up, and restrictions).</a:t>
            </a:r>
          </a:p>
        </p:txBody>
      </p:sp>
      <p:sp>
        <p:nvSpPr>
          <p:cNvPr id="8" name="TextBox 7"/>
          <p:cNvSpPr txBox="1"/>
          <p:nvPr/>
        </p:nvSpPr>
        <p:spPr>
          <a:xfrm>
            <a:off x="713232" y="32387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319813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Adding a fourth subscriber requires no change to the provider — that is the whole point.</a:t>
            </a:r>
          </a:p>
        </p:txBody>
      </p:sp>
      <p:sp>
        <p:nvSpPr>
          <p:cNvPr id="10" name="TextBox 9"/>
          <p:cNvSpPr txBox="1"/>
          <p:nvPr/>
        </p:nvSpPr>
        <p:spPr>
          <a:xfrm>
            <a:off x="713232" y="3595897"/>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commits you to</a:t>
            </a:r>
          </a:p>
        </p:txBody>
      </p:sp>
      <p:sp>
        <p:nvSpPr>
          <p:cNvPr id="11" name="TextBox 10"/>
          <p:cNvSpPr txBox="1"/>
          <p:nvPr/>
        </p:nvSpPr>
        <p:spPr>
          <a:xfrm>
            <a:off x="713232" y="40088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968261"/>
            <a:ext cx="10664647"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Coupled about:</a:t>
            </a:r>
            <a:r>
              <a:rPr sz="1800" b="0" i="0">
                <a:solidFill>
                  <a:srgbClr val="181B1F"/>
                </a:solidFill>
                <a:latin typeface="IBM Plex Sans"/>
              </a:rPr>
              <a:t> the event schema, and nothing else. No operation is named.</a:t>
            </a:r>
          </a:p>
        </p:txBody>
      </p:sp>
      <p:sp>
        <p:nvSpPr>
          <p:cNvPr id="13" name="TextBox 12"/>
          <p:cNvSpPr txBox="1"/>
          <p:nvPr/>
        </p:nvSpPr>
        <p:spPr>
          <a:xfrm>
            <a:off x="713232" y="438124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4340625"/>
            <a:ext cx="10664647"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Must you both be up?</a:t>
            </a:r>
            <a:r>
              <a:rPr sz="1800" b="0" i="0">
                <a:solidFill>
                  <a:srgbClr val="181B1F"/>
                </a:solidFill>
                <a:latin typeface="IBM Plex Sans"/>
              </a:rPr>
              <a:t> </a:t>
            </a:r>
            <a:r>
              <a:rPr sz="1800" b="1" i="0">
                <a:solidFill>
                  <a:srgbClr val="181B1F"/>
                </a:solidFill>
                <a:latin typeface="IBM Plex Sans"/>
              </a:rPr>
              <a:t>No.</a:t>
            </a:r>
          </a:p>
        </p:txBody>
      </p:sp>
      <p:sp>
        <p:nvSpPr>
          <p:cNvPr id="15" name="TextBox 14"/>
          <p:cNvSpPr txBox="1"/>
          <p:nvPr/>
        </p:nvSpPr>
        <p:spPr>
          <a:xfrm>
            <a:off x="713232" y="475361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6" name="TextBox 15"/>
          <p:cNvSpPr txBox="1"/>
          <p:nvPr/>
        </p:nvSpPr>
        <p:spPr>
          <a:xfrm>
            <a:off x="960120" y="471298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loosest coupling available — and, as </a:t>
            </a:r>
            <a:r>
              <a:rPr sz="1800" b="0" i="1">
                <a:solidFill>
                  <a:srgbClr val="181B1F"/>
                </a:solidFill>
                <a:latin typeface="IBM Plex Sans"/>
              </a:rPr>
              <a:t>Faults, by Pattern</a:t>
            </a:r>
            <a:r>
              <a:rPr sz="1800" b="0" i="0">
                <a:solidFill>
                  <a:srgbClr val="181B1F"/>
                </a:solidFill>
                <a:latin typeface="IBM Plex Sans"/>
              </a:rPr>
              <a:t> shows shortly, that is exactly why it has no fault path at all.</a:t>
            </a:r>
          </a:p>
        </p:txBody>
      </p:sp>
      <p:sp>
        <p:nvSpPr>
          <p:cNvPr id="17" name="TextBox 1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89</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OUT-ONLY — NOTIFICATION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Subscribe-Notify</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In-Out </a:t>
            </a:r>
            <a:r>
              <a:rPr sz="1800" b="1" i="0">
                <a:solidFill>
                  <a:srgbClr val="181B1F"/>
                </a:solidFill>
                <a:latin typeface="IBM Plex Sans"/>
              </a:rPr>
              <a:t>composed with</a:t>
            </a:r>
            <a:r>
              <a:rPr sz="1800" b="0" i="0">
                <a:solidFill>
                  <a:srgbClr val="181B1F"/>
                </a:solidFill>
                <a:latin typeface="IBM Plex Sans"/>
              </a:rPr>
              <a:t> Out-Only: a requestor asks to subscribe to a provider, and then notifications flow.</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700" b="0" i="0">
                <a:solidFill>
                  <a:srgbClr val="181B1F"/>
                </a:solidFill>
                <a:latin typeface="IBM Plex Mono"/>
              </a:rPr>
              <a:t>subscribe()</a:t>
            </a:r>
            <a:r>
              <a:rPr sz="1800" b="0" i="0">
                <a:solidFill>
                  <a:srgbClr val="181B1F"/>
                </a:solidFill>
                <a:latin typeface="IBM Plex Sans"/>
              </a:rPr>
              <a:t> → the provider manages a list of subscribers → optional </a:t>
            </a:r>
            <a:r>
              <a:rPr sz="1700" b="0" i="0">
                <a:solidFill>
                  <a:srgbClr val="181B1F"/>
                </a:solidFill>
                <a:latin typeface="IBM Plex Mono"/>
              </a:rPr>
              <a:t>confirm()</a:t>
            </a:r>
            <a:r>
              <a:rPr sz="1800" b="0" i="0">
                <a:solidFill>
                  <a:srgbClr val="181B1F"/>
                </a:solidFill>
                <a:latin typeface="IBM Plex Sans"/>
              </a:rPr>
              <a:t> / </a:t>
            </a:r>
            <a:r>
              <a:rPr sz="1700" b="0" i="0">
                <a:solidFill>
                  <a:srgbClr val="181B1F"/>
                </a:solidFill>
                <a:latin typeface="IBM Plex Mono"/>
              </a:rPr>
              <a:t>confirmed()</a:t>
            </a:r>
            <a:r>
              <a:rPr sz="1800" b="0" i="0">
                <a:solidFill>
                  <a:srgbClr val="181B1F"/>
                </a:solidFill>
                <a:latin typeface="IBM Plex Sans"/>
              </a:rPr>
              <a:t> (note the role switch — the provider is now the requestor).</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Then Out-Only </a:t>
            </a:r>
            <a:r>
              <a:rPr sz="1700" b="0" i="0">
                <a:solidFill>
                  <a:srgbClr val="181B1F"/>
                </a:solidFill>
                <a:latin typeface="IBM Plex Mono"/>
              </a:rPr>
              <a:t>notification()</a:t>
            </a:r>
            <a:r>
              <a:rPr sz="1800" b="0" i="0">
                <a:solidFill>
                  <a:srgbClr val="181B1F"/>
                </a:solidFill>
                <a:latin typeface="IBM Plex Sans"/>
              </a:rPr>
              <a:t> messages flow; a </a:t>
            </a:r>
            <a:r>
              <a:rPr sz="1700" b="0" i="0">
                <a:solidFill>
                  <a:srgbClr val="181B1F"/>
                </a:solidFill>
                <a:latin typeface="IBM Plex Mono"/>
              </a:rPr>
              <a:t>stop()</a:t>
            </a:r>
            <a:r>
              <a:rPr sz="1800" b="0" i="0">
                <a:solidFill>
                  <a:srgbClr val="181B1F"/>
                </a:solidFill>
                <a:latin typeface="IBM Plex Sans"/>
              </a:rPr>
              <a:t> ends them.</a:t>
            </a:r>
          </a:p>
        </p:txBody>
      </p:sp>
      <p:sp>
        <p:nvSpPr>
          <p:cNvPr id="10" name="TextBox 9"/>
          <p:cNvSpPr txBox="1"/>
          <p:nvPr/>
        </p:nvSpPr>
        <p:spPr>
          <a:xfrm>
            <a:off x="713232" y="2745505"/>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commits you to</a:t>
            </a:r>
          </a:p>
        </p:txBody>
      </p:sp>
      <p:sp>
        <p:nvSpPr>
          <p:cNvPr id="11" name="TextBox 10"/>
          <p:cNvSpPr txBox="1"/>
          <p:nvPr/>
        </p:nvSpPr>
        <p:spPr>
          <a:xfrm>
            <a:off x="713232" y="31584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11786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Behavioural (control) coupling on the subscribe exchange — then the loose coupling of Out-Only for everything after it.</a:t>
            </a:r>
          </a:p>
        </p:txBody>
      </p:sp>
      <p:sp>
        <p:nvSpPr>
          <p:cNvPr id="13" name="TextBox 12"/>
          <p:cNvSpPr txBox="1"/>
          <p:nvPr/>
        </p:nvSpPr>
        <p:spPr>
          <a:xfrm>
            <a:off x="713232" y="38143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377369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provider now holds </a:t>
            </a:r>
            <a:r>
              <a:rPr sz="1800" b="1" i="0">
                <a:solidFill>
                  <a:srgbClr val="181B1F"/>
                </a:solidFill>
                <a:latin typeface="IBM Plex Sans"/>
              </a:rPr>
              <a:t>subscriber state</a:t>
            </a:r>
            <a:r>
              <a:rPr sz="1800" b="0" i="0">
                <a:solidFill>
                  <a:srgbClr val="181B1F"/>
                </a:solidFill>
                <a:latin typeface="IBM Plex Sans"/>
              </a:rPr>
              <a:t>, which it did not in plain Out-Only.</a:t>
            </a:r>
          </a:p>
        </p:txBody>
      </p:sp>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90</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IN-OUT — REQUEST AND REACTION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In-Out (Request-Reaction)</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Under </a:t>
            </a:r>
            <a:r>
              <a:rPr sz="1800" b="1" i="0">
                <a:solidFill>
                  <a:srgbClr val="181B1F"/>
                </a:solidFill>
                <a:latin typeface="IBM Plex Sans"/>
              </a:rPr>
              <a:t>In-Out</a:t>
            </a:r>
            <a:r>
              <a:rPr sz="1800" b="0" i="0">
                <a:solidFill>
                  <a:srgbClr val="181B1F"/>
                </a:solidFill>
                <a:latin typeface="IBM Plex Sans"/>
              </a:rPr>
              <a:t>, the provider receives a request on one channel and returns a response — from the triggered operation — on a </a:t>
            </a:r>
            <a:r>
              <a:rPr sz="1800" b="0" i="1">
                <a:solidFill>
                  <a:srgbClr val="181B1F"/>
                </a:solidFill>
                <a:latin typeface="IBM Plex Sans"/>
              </a:rPr>
              <a:t>separate</a:t>
            </a:r>
            <a:r>
              <a:rPr sz="1800" b="0" i="0">
                <a:solidFill>
                  <a:srgbClr val="181B1F"/>
                </a:solidFill>
                <a:latin typeface="IBM Plex Sans"/>
              </a:rPr>
              <a:t> channel.</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requestor sets a </a:t>
            </a:r>
            <a:r>
              <a:rPr sz="1800" b="1" i="0">
                <a:solidFill>
                  <a:srgbClr val="181B1F"/>
                </a:solidFill>
                <a:latin typeface="IBM Plex Sans"/>
              </a:rPr>
              <a:t>correlation id</a:t>
            </a:r>
            <a:r>
              <a:rPr sz="1800" b="0" i="0">
                <a:solidFill>
                  <a:srgbClr val="181B1F"/>
                </a:solidFill>
                <a:latin typeface="IBM Plex Sans"/>
              </a:rPr>
              <a:t> (conversation id) in the request header; the provider returns it in the response header, so replies arriving over a separate channel can be matched to the request that caused them.</a:t>
            </a:r>
          </a:p>
        </p:txBody>
      </p:sp>
      <p:sp>
        <p:nvSpPr>
          <p:cNvPr id="8" name="TextBox 7"/>
          <p:cNvSpPr txBox="1"/>
          <p:nvPr/>
        </p:nvSpPr>
        <p:spPr>
          <a:xfrm>
            <a:off x="713232" y="29552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914669"/>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Example.</a:t>
            </a:r>
            <a:r>
              <a:rPr sz="1800" b="0" i="0">
                <a:solidFill>
                  <a:srgbClr val="181B1F"/>
                </a:solidFill>
                <a:latin typeface="IBM Plex Sans"/>
              </a:rPr>
              <a:t> </a:t>
            </a:r>
            <a:r>
              <a:rPr sz="1800" b="0" i="1">
                <a:solidFill>
                  <a:srgbClr val="181B1F"/>
                </a:solidFill>
                <a:latin typeface="IBM Plex Sans"/>
              </a:rPr>
              <a:t>Requestor (Basket)</a:t>
            </a:r>
            <a:r>
              <a:rPr sz="1800" b="0" i="0">
                <a:solidFill>
                  <a:srgbClr val="181B1F"/>
                </a:solidFill>
                <a:latin typeface="IBM Plex Sans"/>
              </a:rPr>
              <a:t> sends </a:t>
            </a:r>
            <a:r>
              <a:rPr sz="1700" b="0" i="0">
                <a:solidFill>
                  <a:srgbClr val="181B1F"/>
                </a:solidFill>
                <a:latin typeface="IBM Plex Mono"/>
              </a:rPr>
              <a:t>checkout()</a:t>
            </a:r>
            <a:r>
              <a:rPr sz="1800" b="0" i="0">
                <a:solidFill>
                  <a:srgbClr val="181B1F"/>
                </a:solidFill>
                <a:latin typeface="IBM Plex Sans"/>
              </a:rPr>
              <a:t> — a command asking the cashier to price a basket. </a:t>
            </a:r>
            <a:r>
              <a:rPr sz="1800" b="0" i="1">
                <a:solidFill>
                  <a:srgbClr val="181B1F"/>
                </a:solidFill>
                <a:latin typeface="IBM Plex Sans"/>
              </a:rPr>
              <a:t>Provider (Cashier)</a:t>
            </a:r>
            <a:r>
              <a:rPr sz="1800" b="0" i="0">
                <a:solidFill>
                  <a:srgbClr val="181B1F"/>
                </a:solidFill>
                <a:latin typeface="IBM Plex Sans"/>
              </a:rPr>
              <a:t> takes payment for the agreed amount and turns the basket into an order, replying </a:t>
            </a:r>
            <a:r>
              <a:rPr sz="1700" b="0" i="0">
                <a:solidFill>
                  <a:srgbClr val="181B1F"/>
                </a:solidFill>
                <a:latin typeface="IBM Plex Mono"/>
              </a:rPr>
              <a:t>successfulpayment()</a:t>
            </a:r>
            <a:r>
              <a:rPr sz="1800" b="0" i="0">
                <a:solidFill>
                  <a:srgbClr val="181B1F"/>
                </a:solidFill>
                <a:latin typeface="IBM Plex Sans"/>
              </a:rPr>
              <a:t>.</a:t>
            </a:r>
          </a:p>
        </p:txBody>
      </p:sp>
      <p:sp>
        <p:nvSpPr>
          <p:cNvPr id="10" name="TextBox 9"/>
          <p:cNvSpPr txBox="1"/>
          <p:nvPr/>
        </p:nvSpPr>
        <p:spPr>
          <a:xfrm>
            <a:off x="713232" y="3879361"/>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commits you to</a:t>
            </a:r>
          </a:p>
        </p:txBody>
      </p:sp>
      <p:sp>
        <p:nvSpPr>
          <p:cNvPr id="11" name="TextBox 10"/>
          <p:cNvSpPr txBox="1"/>
          <p:nvPr/>
        </p:nvSpPr>
        <p:spPr>
          <a:xfrm>
            <a:off x="713232" y="4292345"/>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4251725"/>
            <a:ext cx="10664647"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Coupled about:</a:t>
            </a:r>
            <a:r>
              <a:rPr sz="1800" b="0" i="0">
                <a:solidFill>
                  <a:srgbClr val="181B1F"/>
                </a:solidFill>
                <a:latin typeface="IBM Plex Sans"/>
              </a:rPr>
              <a:t> both the request contract and the response contract.</a:t>
            </a:r>
          </a:p>
        </p:txBody>
      </p:sp>
      <p:sp>
        <p:nvSpPr>
          <p:cNvPr id="13" name="TextBox 12"/>
          <p:cNvSpPr txBox="1"/>
          <p:nvPr/>
        </p:nvSpPr>
        <p:spPr>
          <a:xfrm>
            <a:off x="713232" y="4664709"/>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4624089"/>
            <a:ext cx="10664647"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Must you both be up?</a:t>
            </a:r>
            <a:r>
              <a:rPr sz="1800" b="0" i="0">
                <a:solidFill>
                  <a:srgbClr val="181B1F"/>
                </a:solidFill>
                <a:latin typeface="IBM Plex Sans"/>
              </a:rPr>
              <a:t> </a:t>
            </a:r>
            <a:r>
              <a:rPr sz="1800" b="1" i="0">
                <a:solidFill>
                  <a:srgbClr val="181B1F"/>
                </a:solidFill>
                <a:latin typeface="IBM Plex Sans"/>
              </a:rPr>
              <a:t>Not necessarily</a:t>
            </a:r>
            <a:r>
              <a:rPr sz="1800" b="0" i="0">
                <a:solidFill>
                  <a:srgbClr val="181B1F"/>
                </a:solidFill>
                <a:latin typeface="IBM Plex Sans"/>
              </a:rPr>
              <a:t> — as long as you do not </a:t>
            </a:r>
            <a:r>
              <a:rPr sz="1800" b="0" i="1">
                <a:solidFill>
                  <a:srgbClr val="181B1F"/>
                </a:solidFill>
                <a:latin typeface="IBM Plex Sans"/>
              </a:rPr>
              <a:t>block</a:t>
            </a:r>
            <a:r>
              <a:rPr sz="1800" b="0" i="0">
                <a:solidFill>
                  <a:srgbClr val="181B1F"/>
                </a:solidFill>
                <a:latin typeface="IBM Plex Sans"/>
              </a:rPr>
              <a:t>. See Blocking In-Out.</a:t>
            </a:r>
          </a:p>
        </p:txBody>
      </p:sp>
      <p:sp>
        <p:nvSpPr>
          <p:cNvPr id="15" name="TextBox 14"/>
          <p:cNvSpPr txBox="1"/>
          <p:nvPr/>
        </p:nvSpPr>
        <p:spPr>
          <a:xfrm>
            <a:off x="713232" y="5037073"/>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6" name="TextBox 15"/>
          <p:cNvSpPr txBox="1"/>
          <p:nvPr/>
        </p:nvSpPr>
        <p:spPr>
          <a:xfrm>
            <a:off x="960120" y="499645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Behavioural (control) coupling, and now you hold </a:t>
            </a:r>
            <a:r>
              <a:rPr sz="1800" b="1" i="0">
                <a:solidFill>
                  <a:srgbClr val="181B1F"/>
                </a:solidFill>
                <a:latin typeface="IBM Plex Sans"/>
              </a:rPr>
              <a:t>state</a:t>
            </a:r>
            <a:r>
              <a:rPr sz="1800" b="0" i="0">
                <a:solidFill>
                  <a:srgbClr val="181B1F"/>
                </a:solidFill>
                <a:latin typeface="IBM Plex Sans"/>
              </a:rPr>
              <a:t>: something must remember what the correlation id refers to.</a:t>
            </a:r>
          </a:p>
        </p:txBody>
      </p:sp>
      <p:sp>
        <p:nvSpPr>
          <p:cNvPr id="17" name="TextBox 1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91</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IN-OUT — REQUEST AND REACTION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Command or Query?</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Command-Acknowledgement and Query-Result are the </a:t>
            </a:r>
            <a:r>
              <a:rPr sz="1800" b="1" i="0">
                <a:solidFill>
                  <a:srgbClr val="181B1F"/>
                </a:solidFill>
                <a:latin typeface="IBM Plex Sans"/>
              </a:rPr>
              <a:t>same exchange pattern</a:t>
            </a:r>
            <a:r>
              <a:rPr sz="1800" b="0" i="0">
                <a:solidFill>
                  <a:srgbClr val="181B1F"/>
                </a:solidFill>
                <a:latin typeface="IBM Plex Sans"/>
              </a:rPr>
              <a:t> — In-Out. What differs is the </a:t>
            </a:r>
            <a:r>
              <a:rPr sz="1800" b="1" i="0">
                <a:solidFill>
                  <a:srgbClr val="181B1F"/>
                </a:solidFill>
                <a:latin typeface="IBM Plex Sans"/>
              </a:rPr>
              <a:t>intent</a:t>
            </a:r>
            <a:r>
              <a:rPr sz="1800" b="0" i="0">
                <a:solidFill>
                  <a:srgbClr val="181B1F"/>
                </a:solidFill>
                <a:latin typeface="IBM Plex Sans"/>
              </a:rPr>
              <a:t> of the message, and intent is what decides what you must design for.</a:t>
            </a:r>
          </a:p>
        </p:txBody>
      </p:sp>
      <p:graphicFrame>
        <p:nvGraphicFramePr>
          <p:cNvPr id="6" name="Table 5"/>
          <p:cNvGraphicFramePr>
            <a:graphicFrameLocks noGrp="1"/>
          </p:cNvGraphicFramePr>
          <p:nvPr/>
        </p:nvGraphicFramePr>
        <p:xfrm>
          <a:off x="713232" y="2036826"/>
          <a:ext cx="10911534" cy="2396487"/>
        </p:xfrm>
        <a:graphic>
          <a:graphicData uri="http://schemas.openxmlformats.org/drawingml/2006/table">
            <a:tbl>
              <a:tblPr firstRow="1">
                <a:tableStyleId>{5C22544A-7EE6-4342-B048-85BDC9FD1C3A}</a:tableStyleId>
              </a:tblPr>
              <a:tblGrid>
                <a:gridCol w="1755706"/>
                <a:gridCol w="4690540"/>
                <a:gridCol w="4465288"/>
              </a:tblGrid>
              <a:tr h="389381">
                <a:tc>
                  <a:txBody>
                    <a:bodyPr/>
                    <a:lstStyle/>
                    <a:p>
                      <a:pPr>
                        <a:lnSpc>
                          <a:spcPct val="118000"/>
                        </a:lnSpc>
                      </a:pP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Command-Acknowledgement</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Query-Result</a:t>
                      </a:r>
                    </a:p>
                  </a:txBody>
                  <a:tcPr marL="82296" marR="82296" marT="27432" marB="27432">
                    <a:solidFill>
                      <a:srgbClr val="F3EFE6"/>
                    </a:solidFill>
                  </a:tcPr>
                </a:tc>
              </a:tr>
              <a:tr h="614172">
                <a:tc>
                  <a:txBody>
                    <a:bodyPr/>
                    <a:lstStyle/>
                    <a:p>
                      <a:pPr>
                        <a:lnSpc>
                          <a:spcPct val="118000"/>
                        </a:lnSpc>
                      </a:pPr>
                      <a:r>
                        <a:rPr sz="1500" b="0" i="0">
                          <a:solidFill>
                            <a:srgbClr val="181B1F"/>
                          </a:solidFill>
                          <a:latin typeface="IBM Plex Sans"/>
                        </a:rPr>
                        <a:t>the requestor asks</a:t>
                      </a:r>
                    </a:p>
                  </a:txBody>
                  <a:tcPr marL="82296" marR="82296" marT="27432" marB="27432">
                    <a:solidFill>
                      <a:srgbClr val="FDFCFA"/>
                    </a:solidFill>
                  </a:tcPr>
                </a:tc>
                <a:tc>
                  <a:txBody>
                    <a:bodyPr/>
                    <a:lstStyle/>
                    <a:p>
                      <a:pPr>
                        <a:lnSpc>
                          <a:spcPct val="118000"/>
                        </a:lnSpc>
                      </a:pPr>
                      <a:r>
                        <a:rPr sz="1500" b="0" i="1">
                          <a:solidFill>
                            <a:srgbClr val="181B1F"/>
                          </a:solidFill>
                          <a:latin typeface="IBM Plex Sans"/>
                        </a:rPr>
                        <a:t>do this</a:t>
                      </a:r>
                    </a:p>
                  </a:txBody>
                  <a:tcPr marL="82296" marR="82296" marT="27432" marB="27432">
                    <a:solidFill>
                      <a:srgbClr val="FDFCFA"/>
                    </a:solidFill>
                  </a:tcPr>
                </a:tc>
                <a:tc>
                  <a:txBody>
                    <a:bodyPr/>
                    <a:lstStyle/>
                    <a:p>
                      <a:pPr>
                        <a:lnSpc>
                          <a:spcPct val="118000"/>
                        </a:lnSpc>
                      </a:pPr>
                      <a:r>
                        <a:rPr sz="1500" b="0" i="1">
                          <a:solidFill>
                            <a:srgbClr val="181B1F"/>
                          </a:solidFill>
                          <a:latin typeface="IBM Plex Sans"/>
                        </a:rPr>
                        <a:t>tell me this</a:t>
                      </a:r>
                    </a:p>
                  </a:txBody>
                  <a:tcPr marL="82296" marR="82296" marT="27432" marB="27432">
                    <a:solidFill>
                      <a:srgbClr val="FDFCFA"/>
                    </a:solidFill>
                  </a:tcPr>
                </a:tc>
              </a:tr>
              <a:tr h="614172">
                <a:tc>
                  <a:txBody>
                    <a:bodyPr/>
                    <a:lstStyle/>
                    <a:p>
                      <a:pPr>
                        <a:lnSpc>
                          <a:spcPct val="118000"/>
                        </a:lnSpc>
                      </a:pPr>
                      <a:r>
                        <a:rPr sz="1500" b="0" i="0">
                          <a:solidFill>
                            <a:srgbClr val="181B1F"/>
                          </a:solidFill>
                          <a:latin typeface="IBM Plex Sans"/>
                        </a:rPr>
                        <a:t>example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Basket → Cashier: </a:t>
                      </a:r>
                      <a:r>
                        <a:rPr sz="1400" b="0" i="0">
                          <a:solidFill>
                            <a:srgbClr val="181B1F"/>
                          </a:solidFill>
                          <a:latin typeface="IBM Plex Mono"/>
                        </a:rPr>
                        <a:t>checkout()</a:t>
                      </a:r>
                      <a:r>
                        <a:rPr sz="1500" b="0" i="0">
                          <a:solidFill>
                            <a:srgbClr val="181B1F"/>
                          </a:solidFill>
                          <a:latin typeface="IBM Plex Sans"/>
                        </a:rPr>
                        <a:t> → </a:t>
                      </a:r>
                      <a:r>
                        <a:rPr sz="1400" b="0" i="0">
                          <a:solidFill>
                            <a:srgbClr val="181B1F"/>
                          </a:solidFill>
                          <a:latin typeface="IBM Plex Mono"/>
                        </a:rPr>
                        <a:t>successfulpayment()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Basket → Delivery: </a:t>
                      </a:r>
                      <a:r>
                        <a:rPr sz="1400" b="0" i="0">
                          <a:solidFill>
                            <a:srgbClr val="181B1F"/>
                          </a:solidFill>
                          <a:latin typeface="IBM Plex Mono"/>
                        </a:rPr>
                        <a:t>getdeliveryfees()</a:t>
                      </a:r>
                      <a:r>
                        <a:rPr sz="1500" b="0" i="0">
                          <a:solidFill>
                            <a:srgbClr val="181B1F"/>
                          </a:solidFill>
                          <a:latin typeface="IBM Plex Sans"/>
                        </a:rPr>
                        <a:t> → </a:t>
                      </a:r>
                      <a:r>
                        <a:rPr sz="1400" b="0" i="0">
                          <a:solidFill>
                            <a:srgbClr val="181B1F"/>
                          </a:solidFill>
                          <a:latin typeface="IBM Plex Mono"/>
                        </a:rPr>
                        <a:t>deliverfee()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provider state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changes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unchanged</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retry is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unsafe without idempotency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naturally safe</a:t>
                      </a:r>
                    </a:p>
                  </a:txBody>
                  <a:tcPr marL="82296" marR="82296" marT="27432" marB="27432">
                    <a:solidFill>
                      <a:srgbClr val="FDFCFA"/>
                    </a:solidFill>
                  </a:tcPr>
                </a:tc>
              </a:tr>
            </a:tbl>
          </a:graphicData>
        </a:graphic>
      </p:graphicFrame>
      <p:sp>
        <p:nvSpPr>
          <p:cNvPr id="7" name="TextBox 6"/>
          <p:cNvSpPr txBox="1"/>
          <p:nvPr/>
        </p:nvSpPr>
        <p:spPr>
          <a:xfrm>
            <a:off x="713232" y="465329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Both carry behavioural (control) coupling — you named the provider and the operation.</a:t>
            </a:r>
          </a:p>
        </p:txBody>
      </p:sp>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IN-OUT — REQUEST AND REACTION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In-Out — When Nothing Comes Back at All</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requestor may not receive the expected response at all. What can it do?</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Set a </a:t>
            </a:r>
            <a:r>
              <a:rPr sz="1800" b="1" i="0">
                <a:solidFill>
                  <a:srgbClr val="181B1F"/>
                </a:solidFill>
                <a:latin typeface="IBM Plex Sans"/>
              </a:rPr>
              <a:t>timeout</a:t>
            </a:r>
            <a:r>
              <a:rPr sz="1800" b="0" i="0">
                <a:solidFill>
                  <a:srgbClr val="181B1F"/>
                </a:solidFill>
                <a:latin typeface="IBM Plex Sans"/>
              </a:rPr>
              <a:t> within which to receive a response.</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Retry</a:t>
            </a:r>
            <a:r>
              <a:rPr sz="1800" b="0" i="0">
                <a:solidFill>
                  <a:srgbClr val="181B1F"/>
                </a:solidFill>
                <a:latin typeface="IBM Plex Sans"/>
              </a:rPr>
              <a:t> if no response arrives within that window (</a:t>
            </a:r>
            <a:r>
              <a:rPr sz="1700" b="0" i="0">
                <a:solidFill>
                  <a:srgbClr val="181B1F"/>
                </a:solidFill>
                <a:latin typeface="IBM Plex Mono"/>
              </a:rPr>
              <a:t>greet()</a:t>
            </a:r>
            <a:r>
              <a:rPr sz="1800" b="0" i="0">
                <a:solidFill>
                  <a:srgbClr val="181B1F"/>
                </a:solidFill>
                <a:latin typeface="IBM Plex Sans"/>
              </a:rPr>
              <a:t> → </a:t>
            </a:r>
            <a:r>
              <a:rPr sz="1700" b="0" i="0">
                <a:solidFill>
                  <a:srgbClr val="181B1F"/>
                </a:solidFill>
                <a:latin typeface="IBM Plex Mono"/>
              </a:rPr>
              <a:t>greet()</a:t>
            </a:r>
            <a:r>
              <a:rPr sz="1800" b="0" i="0">
                <a:solidFill>
                  <a:srgbClr val="181B1F"/>
                </a:solidFill>
                <a:latin typeface="IBM Plex Sans"/>
              </a:rPr>
              <a:t> → </a:t>
            </a:r>
            <a:r>
              <a:rPr sz="1700" b="0" i="0">
                <a:solidFill>
                  <a:srgbClr val="181B1F"/>
                </a:solidFill>
                <a:latin typeface="IBM Plex Mono"/>
              </a:rPr>
              <a:t>acknowledge()</a:t>
            </a:r>
            <a:r>
              <a:rPr sz="1800" b="0" i="0">
                <a:solidFill>
                  <a:srgbClr val="181B1F"/>
                </a:solidFill>
                <a:latin typeface="IBM Plex Sans"/>
              </a:rPr>
              <a:t>).</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Because we might send twice, the provider operation must be </a:t>
            </a:r>
            <a:r>
              <a:rPr sz="1800" b="1" i="0">
                <a:solidFill>
                  <a:srgbClr val="181B1F"/>
                </a:solidFill>
                <a:latin typeface="IBM Plex Sans"/>
              </a:rPr>
              <a:t>idempotent</a:t>
            </a:r>
            <a:r>
              <a:rPr sz="1800" b="0" i="0">
                <a:solidFill>
                  <a:srgbClr val="181B1F"/>
                </a:solidFill>
                <a:latin typeface="IBM Plex Sans"/>
              </a:rPr>
              <a:t>, or the consumer must </a:t>
            </a:r>
            <a:r>
              <a:rPr sz="1800" b="1" i="0">
                <a:solidFill>
                  <a:srgbClr val="181B1F"/>
                </a:solidFill>
                <a:latin typeface="IBM Plex Sans"/>
              </a:rPr>
              <a:t>de-duplicate</a:t>
            </a:r>
            <a:r>
              <a:rPr sz="1800" b="0" i="0">
                <a:solidFill>
                  <a:srgbClr val="181B1F"/>
                </a:solidFill>
                <a:latin typeface="IBM Plex Sans"/>
              </a:rPr>
              <a:t> already-seen messages.</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93</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IN-OUT — REQUEST AND REACTION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Blocking In-Out (Request-Reply)</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requestor provides a unique </a:t>
            </a:r>
            <a:r>
              <a:rPr sz="1800" b="1" i="0">
                <a:solidFill>
                  <a:srgbClr val="181B1F"/>
                </a:solidFill>
                <a:latin typeface="IBM Plex Sans"/>
              </a:rPr>
              <a:t>Reply-To</a:t>
            </a:r>
            <a:r>
              <a:rPr sz="1800" b="0" i="0">
                <a:solidFill>
                  <a:srgbClr val="181B1F"/>
                </a:solidFill>
                <a:latin typeface="IBM Plex Sans"/>
              </a:rPr>
              <a:t> channel in the request header; the provider uses it for the response, letting the requestor look up the suspended workflow — so a correlation id is not required. </a:t>
            </a:r>
            <a:r>
              <a:rPr sz="1800" b="1" i="0">
                <a:solidFill>
                  <a:srgbClr val="181B1F"/>
                </a:solidFill>
                <a:latin typeface="IBM Plex Sans"/>
              </a:rPr>
              <a:t>The requestor may block</a:t>
            </a:r>
            <a:r>
              <a:rPr sz="1800" b="0" i="0">
                <a:solidFill>
                  <a:srgbClr val="181B1F"/>
                </a:solidFill>
                <a:latin typeface="IBM Plex Sans"/>
              </a:rPr>
              <a:t> on the Reply-To channel while awaiting the reply.</a:t>
            </a:r>
          </a:p>
        </p:txBody>
      </p:sp>
      <p:sp>
        <p:nvSpPr>
          <p:cNvPr id="6" name="Rectangle 5"/>
          <p:cNvSpPr/>
          <p:nvPr/>
        </p:nvSpPr>
        <p:spPr>
          <a:xfrm>
            <a:off x="713232" y="2403093"/>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373339"/>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Block, and you have rebuilt RPC on top of a message broker.</a:t>
            </a:r>
          </a:p>
        </p:txBody>
      </p:sp>
      <p:sp>
        <p:nvSpPr>
          <p:cNvPr id="8" name="TextBox 7"/>
          <p:cNvSpPr txBox="1"/>
          <p:nvPr/>
        </p:nvSpPr>
        <p:spPr>
          <a:xfrm>
            <a:off x="713232" y="2884189"/>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commits you to</a:t>
            </a:r>
          </a:p>
        </p:txBody>
      </p:sp>
      <p:sp>
        <p:nvSpPr>
          <p:cNvPr id="9" name="TextBox 8"/>
          <p:cNvSpPr txBox="1"/>
          <p:nvPr/>
        </p:nvSpPr>
        <p:spPr>
          <a:xfrm>
            <a:off x="713232" y="329717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3256553"/>
            <a:ext cx="10664647"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Must you both be up?</a:t>
            </a:r>
            <a:r>
              <a:rPr sz="1800" b="0" i="0">
                <a:solidFill>
                  <a:srgbClr val="181B1F"/>
                </a:solidFill>
                <a:latin typeface="IBM Plex Sans"/>
              </a:rPr>
              <a:t> </a:t>
            </a:r>
            <a:r>
              <a:rPr sz="1800" b="1" i="0">
                <a:solidFill>
                  <a:srgbClr val="181B1F"/>
                </a:solidFill>
                <a:latin typeface="IBM Plex Sans"/>
              </a:rPr>
              <a:t>Yes.</a:t>
            </a:r>
            <a:r>
              <a:rPr sz="1800" b="0" i="0">
                <a:solidFill>
                  <a:srgbClr val="181B1F"/>
                </a:solidFill>
                <a:latin typeface="IBM Plex Sans"/>
              </a:rPr>
              <a:t> This is the one pattern in the set that puts </a:t>
            </a:r>
            <a:r>
              <a:rPr sz="1800" b="1" i="0">
                <a:solidFill>
                  <a:srgbClr val="181B1F"/>
                </a:solidFill>
                <a:latin typeface="IBM Plex Sans"/>
              </a:rPr>
              <a:t>temporal coupling</a:t>
            </a:r>
            <a:r>
              <a:rPr sz="1800" b="0" i="0">
                <a:solidFill>
                  <a:srgbClr val="181B1F"/>
                </a:solidFill>
                <a:latin typeface="IBM Plex Sans"/>
              </a:rPr>
              <a:t> back.</a:t>
            </a:r>
          </a:p>
        </p:txBody>
      </p:sp>
      <p:sp>
        <p:nvSpPr>
          <p:cNvPr id="11" name="TextBox 10"/>
          <p:cNvSpPr txBox="1"/>
          <p:nvPr/>
        </p:nvSpPr>
        <p:spPr>
          <a:xfrm>
            <a:off x="713232" y="366953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62891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Availabilities multiply again — the thing we distributed to avoid, and spent Guaranteed Delivery breaking.</a:t>
            </a:r>
          </a:p>
        </p:txBody>
      </p:sp>
      <p:sp>
        <p:nvSpPr>
          <p:cNvPr id="13" name="TextBox 12"/>
          <p:cNvSpPr txBox="1"/>
          <p:nvPr/>
        </p:nvSpPr>
        <p:spPr>
          <a:xfrm>
            <a:off x="713232" y="432536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428474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have paid the cost of a broker and kept the failure mode of a synchronous call.</a:t>
            </a:r>
          </a:p>
        </p:txBody>
      </p:sp>
      <p:sp>
        <p:nvSpPr>
          <p:cNvPr id="15" name="TextBox 14"/>
          <p:cNvSpPr txBox="1"/>
          <p:nvPr/>
        </p:nvSpPr>
        <p:spPr>
          <a:xfrm>
            <a:off x="713232" y="468250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When it is still the right answer:</a:t>
            </a:r>
            <a:r>
              <a:rPr sz="1800" b="0" i="0">
                <a:solidFill>
                  <a:srgbClr val="181B1F"/>
                </a:solidFill>
                <a:latin typeface="IBM Plex Sans"/>
              </a:rPr>
              <a:t> an interactive request where a human is waiting and there is no useful "later" — the caller cannot do anything with a response that arrives in ten minutes.</a:t>
            </a:r>
          </a:p>
        </p:txBody>
      </p:sp>
      <p:sp>
        <p:nvSpPr>
          <p:cNvPr id="16" name="TextBox 1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OUT-IN — SOLICIT AND RESPONSE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Out-In (Solicit-Response)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Under </a:t>
            </a:r>
            <a:r>
              <a:rPr sz="1800" b="1" i="0">
                <a:solidFill>
                  <a:srgbClr val="181B1F"/>
                </a:solidFill>
                <a:latin typeface="IBM Plex Sans"/>
              </a:rPr>
              <a:t>Out-In</a:t>
            </a:r>
            <a:r>
              <a:rPr sz="1800" b="0" i="0">
                <a:solidFill>
                  <a:srgbClr val="181B1F"/>
                </a:solidFill>
                <a:latin typeface="IBM Plex Sans"/>
              </a:rPr>
              <a:t>, a provider solicits a response from a subscriber and awaits confirmation; the subscriber confirms receipt of the provider's solicitation.</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Example.</a:t>
            </a:r>
            <a:r>
              <a:rPr sz="1800" b="0" i="0">
                <a:solidFill>
                  <a:srgbClr val="181B1F"/>
                </a:solidFill>
                <a:latin typeface="IBM Plex Sans"/>
              </a:rPr>
              <a:t> </a:t>
            </a:r>
            <a:r>
              <a:rPr sz="1800" b="0" i="1">
                <a:solidFill>
                  <a:srgbClr val="181B1F"/>
                </a:solidFill>
                <a:latin typeface="IBM Plex Sans"/>
              </a:rPr>
              <a:t>Provider (Delivery)</a:t>
            </a:r>
            <a:r>
              <a:rPr sz="1800" b="0" i="0">
                <a:solidFill>
                  <a:srgbClr val="181B1F"/>
                </a:solidFill>
                <a:latin typeface="IBM Plex Sans"/>
              </a:rPr>
              <a:t> assigns delivery requests to drivers and queries whether a courier is available — </a:t>
            </a:r>
            <a:r>
              <a:rPr sz="1700" b="0" i="0">
                <a:solidFill>
                  <a:srgbClr val="181B1F"/>
                </a:solidFill>
                <a:latin typeface="IBM Plex Mono"/>
              </a:rPr>
              <a:t>solicit()</a:t>
            </a:r>
            <a:r>
              <a:rPr sz="1800" b="0" i="0">
                <a:solidFill>
                  <a:srgbClr val="181B1F"/>
                </a:solidFill>
                <a:latin typeface="IBM Plex Sans"/>
              </a:rPr>
              <a:t> — usually followed by notifications of available work. </a:t>
            </a:r>
            <a:r>
              <a:rPr sz="1800" b="0" i="1">
                <a:solidFill>
                  <a:srgbClr val="181B1F"/>
                </a:solidFill>
                <a:latin typeface="IBM Plex Sans"/>
              </a:rPr>
              <a:t>Requestor (Courier)</a:t>
            </a:r>
            <a:r>
              <a:rPr sz="1800" b="0" i="0">
                <a:solidFill>
                  <a:srgbClr val="181B1F"/>
                </a:solidFill>
                <a:latin typeface="IBM Plex Sans"/>
              </a:rPr>
              <a:t> offers to take jobs depending on location and busyness — </a:t>
            </a:r>
            <a:r>
              <a:rPr sz="1700" b="0" i="0">
                <a:solidFill>
                  <a:srgbClr val="181B1F"/>
                </a:solidFill>
                <a:latin typeface="IBM Plex Mono"/>
              </a:rPr>
              <a:t>ready()</a:t>
            </a:r>
            <a:r>
              <a:rPr sz="1800" b="0" i="0">
                <a:solidFill>
                  <a:srgbClr val="181B1F"/>
                </a:solidFill>
                <a:latin typeface="IBM Plex Sans"/>
              </a:rPr>
              <a:t>.</a:t>
            </a:r>
          </a:p>
        </p:txBody>
      </p:sp>
      <p:sp>
        <p:nvSpPr>
          <p:cNvPr id="8" name="TextBox 7"/>
          <p:cNvSpPr txBox="1"/>
          <p:nvPr/>
        </p:nvSpPr>
        <p:spPr>
          <a:xfrm>
            <a:off x="713232" y="29552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9146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Use it when the provider needs to know </a:t>
            </a:r>
            <a:r>
              <a:rPr sz="1800" b="1" i="0">
                <a:solidFill>
                  <a:srgbClr val="181B1F"/>
                </a:solidFill>
                <a:latin typeface="IBM Plex Sans"/>
              </a:rPr>
              <a:t>who is willing</a:t>
            </a:r>
            <a:r>
              <a:rPr sz="1800" b="0" i="0">
                <a:solidFill>
                  <a:srgbClr val="181B1F"/>
                </a:solidFill>
                <a:latin typeface="IBM Plex Sans"/>
              </a:rPr>
              <a:t> before it allocates work.</a:t>
            </a:r>
          </a:p>
        </p:txBody>
      </p:sp>
      <p:sp>
        <p:nvSpPr>
          <p:cNvPr id="10" name="TextBox 9"/>
          <p:cNvSpPr txBox="1"/>
          <p:nvPr/>
        </p:nvSpPr>
        <p:spPr>
          <a:xfrm>
            <a:off x="713232" y="3312433"/>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commits you to</a:t>
            </a:r>
          </a:p>
        </p:txBody>
      </p:sp>
      <p:sp>
        <p:nvSpPr>
          <p:cNvPr id="11" name="TextBox 10"/>
          <p:cNvSpPr txBox="1"/>
          <p:nvPr/>
        </p:nvSpPr>
        <p:spPr>
          <a:xfrm>
            <a:off x="713232" y="37254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684797"/>
            <a:ext cx="10664647" cy="585216"/>
          </a:xfrm>
          <a:prstGeom prst="rect">
            <a:avLst/>
          </a:prstGeom>
          <a:noFill/>
        </p:spPr>
        <p:txBody>
          <a:bodyPr wrap="square" lIns="0" rIns="0" tIns="0" bIns="0">
            <a:spAutoFit/>
          </a:bodyPr>
          <a:lstStyle/>
          <a:p>
            <a:pPr>
              <a:lnSpc>
                <a:spcPts val="2232"/>
              </a:lnSpc>
            </a:pPr>
            <a:r>
              <a:rPr sz="1800" b="0" i="1">
                <a:solidFill>
                  <a:srgbClr val="181B1F"/>
                </a:solidFill>
                <a:latin typeface="IBM Plex Sans"/>
              </a:rPr>
              <a:t>Coupled about:</a:t>
            </a:r>
            <a:r>
              <a:rPr sz="1800" b="0" i="0">
                <a:solidFill>
                  <a:srgbClr val="181B1F"/>
                </a:solidFill>
                <a:latin typeface="IBM Plex Sans"/>
              </a:rPr>
              <a:t> the solicitation contract. The provider must know subscribers exist, though not who they are.</a:t>
            </a:r>
          </a:p>
        </p:txBody>
      </p:sp>
      <p:sp>
        <p:nvSpPr>
          <p:cNvPr id="13" name="TextBox 12"/>
          <p:cNvSpPr txBox="1"/>
          <p:nvPr/>
        </p:nvSpPr>
        <p:spPr>
          <a:xfrm>
            <a:off x="713232" y="438124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4340625"/>
            <a:ext cx="10664647" cy="585216"/>
          </a:xfrm>
          <a:prstGeom prst="rect">
            <a:avLst/>
          </a:prstGeom>
          <a:noFill/>
        </p:spPr>
        <p:txBody>
          <a:bodyPr wrap="square" lIns="0" rIns="0" tIns="0" bIns="0">
            <a:spAutoFit/>
          </a:bodyPr>
          <a:lstStyle/>
          <a:p>
            <a:pPr>
              <a:lnSpc>
                <a:spcPts val="2232"/>
              </a:lnSpc>
            </a:pPr>
            <a:r>
              <a:rPr sz="1800" b="0" i="1">
                <a:solidFill>
                  <a:srgbClr val="181B1F"/>
                </a:solidFill>
                <a:latin typeface="IBM Plex Sans"/>
              </a:rPr>
              <a:t>Must you both be up?</a:t>
            </a:r>
            <a:r>
              <a:rPr sz="1800" b="0" i="0">
                <a:solidFill>
                  <a:srgbClr val="181B1F"/>
                </a:solidFill>
                <a:latin typeface="IBM Plex Sans"/>
              </a:rPr>
              <a:t> </a:t>
            </a:r>
            <a:r>
              <a:rPr sz="1800" b="1" i="0">
                <a:solidFill>
                  <a:srgbClr val="181B1F"/>
                </a:solidFill>
                <a:latin typeface="IBM Plex Sans"/>
              </a:rPr>
              <a:t>No</a:t>
            </a:r>
            <a:r>
              <a:rPr sz="1800" b="0" i="0">
                <a:solidFill>
                  <a:srgbClr val="181B1F"/>
                </a:solidFill>
                <a:latin typeface="IBM Plex Sans"/>
              </a:rPr>
              <a:t> — but the solicitation has a useful lifetime. An answer that arrives too late is worthless, which is a </a:t>
            </a:r>
            <a:r>
              <a:rPr sz="1800" b="1" i="0">
                <a:solidFill>
                  <a:srgbClr val="181B1F"/>
                </a:solidFill>
                <a:latin typeface="IBM Plex Sans"/>
              </a:rPr>
              <a:t>timeout</a:t>
            </a:r>
            <a:r>
              <a:rPr sz="1800" b="0" i="0">
                <a:solidFill>
                  <a:srgbClr val="181B1F"/>
                </a:solidFill>
                <a:latin typeface="IBM Plex Sans"/>
              </a:rPr>
              <a:t> problem, not an availability one.</a:t>
            </a:r>
          </a:p>
        </p:txBody>
      </p:sp>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95</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OUT-IN — SOLICIT AND RESPONSE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Out-In (Solicit-Response)</a:t>
            </a:r>
          </a:p>
        </p:txBody>
      </p:sp>
      <p:pic>
        <p:nvPicPr>
          <p:cNvPr id="5" name="Picture 4" descr="conversation-out-in.png"/>
          <p:cNvPicPr>
            <a:picLocks noChangeAspect="1"/>
          </p:cNvPicPr>
          <p:nvPr/>
        </p:nvPicPr>
        <p:blipFill>
          <a:blip r:embed="rId2"/>
          <a:stretch>
            <a:fillRect/>
          </a:stretch>
        </p:blipFill>
        <p:spPr>
          <a:xfrm>
            <a:off x="1214022" y="1245870"/>
            <a:ext cx="9909954"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ACROSS ALL FOUR PATTERNS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Faults, by Pattern</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have met all four. </a:t>
            </a:r>
            <a:r>
              <a:rPr sz="1800" b="1" i="0">
                <a:solidFill>
                  <a:srgbClr val="181B1F"/>
                </a:solidFill>
                <a:latin typeface="IBM Plex Sans"/>
              </a:rPr>
              <a:t>You do not get to choose their fault stories — the coupling already chose.</a:t>
            </a:r>
          </a:p>
        </p:txBody>
      </p:sp>
      <p:graphicFrame>
        <p:nvGraphicFramePr>
          <p:cNvPr id="6" name="Table 5"/>
          <p:cNvGraphicFramePr>
            <a:graphicFrameLocks noGrp="1"/>
          </p:cNvGraphicFramePr>
          <p:nvPr/>
        </p:nvGraphicFramePr>
        <p:xfrm>
          <a:off x="713232" y="1753362"/>
          <a:ext cx="10911534" cy="3295648"/>
        </p:xfrm>
        <a:graphic>
          <a:graphicData uri="http://schemas.openxmlformats.org/drawingml/2006/table">
            <a:tbl>
              <a:tblPr firstRow="1">
                <a:tableStyleId>{5C22544A-7EE6-4342-B048-85BDC9FD1C3A}</a:tableStyleId>
              </a:tblPr>
              <a:tblGrid>
                <a:gridCol w="940498"/>
                <a:gridCol w="4145464"/>
                <a:gridCol w="5825572"/>
              </a:tblGrid>
              <a:tr h="389381">
                <a:tc>
                  <a:txBody>
                    <a:bodyPr/>
                    <a:lstStyle/>
                    <a:p>
                      <a:pPr>
                        <a:lnSpc>
                          <a:spcPct val="118000"/>
                        </a:lnSpc>
                      </a:pPr>
                      <a:r>
                        <a:rPr sz="1500" b="1" i="0">
                          <a:solidFill>
                            <a:srgbClr val="181B1F"/>
                          </a:solidFill>
                          <a:latin typeface="IBM Plex Sans"/>
                        </a:rPr>
                        <a:t>pattern</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what a fault can be</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why</a:t>
                      </a:r>
                    </a:p>
                  </a:txBody>
                  <a:tcPr marL="82296" marR="82296" marT="27432" marB="27432">
                    <a:solidFill>
                      <a:srgbClr val="F3EFE6"/>
                    </a:solidFill>
                  </a:tcPr>
                </a:tc>
              </a:tr>
              <a:tr h="838962">
                <a:tc>
                  <a:txBody>
                    <a:bodyPr/>
                    <a:lstStyle/>
                    <a:p>
                      <a:pPr>
                        <a:lnSpc>
                          <a:spcPct val="118000"/>
                        </a:lnSpc>
                      </a:pPr>
                      <a:r>
                        <a:rPr sz="1500" b="1" i="0">
                          <a:solidFill>
                            <a:srgbClr val="181B1F"/>
                          </a:solidFill>
                          <a:latin typeface="IBM Plex Sans"/>
                        </a:rPr>
                        <a:t>Out-Only</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Nothing. No Fault is forced.</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provider does not know its subscribers. There is nobody to tell — and if it </a:t>
                      </a:r>
                      <a:r>
                        <a:rPr sz="1500" b="0" i="1">
                          <a:solidFill>
                            <a:srgbClr val="181B1F"/>
                          </a:solidFill>
                          <a:latin typeface="IBM Plex Sans"/>
                        </a:rPr>
                        <a:t>did</a:t>
                      </a:r>
                      <a:r>
                        <a:rPr sz="1500" b="0" i="0">
                          <a:solidFill>
                            <a:srgbClr val="181B1F"/>
                          </a:solidFill>
                          <a:latin typeface="IBM Plex Sans"/>
                        </a:rPr>
                        <a:t> know it would be coupled to them, and you would have traded away the property you chose pub-sub for.</a:t>
                      </a:r>
                    </a:p>
                  </a:txBody>
                  <a:tcPr marL="82296" marR="82296" marT="27432" marB="27432">
                    <a:solidFill>
                      <a:srgbClr val="FDFCFA"/>
                    </a:solidFill>
                  </a:tcPr>
                </a:tc>
              </a:tr>
              <a:tr h="838962">
                <a:tc>
                  <a:txBody>
                    <a:bodyPr/>
                    <a:lstStyle/>
                    <a:p>
                      <a:pPr>
                        <a:lnSpc>
                          <a:spcPct val="118000"/>
                        </a:lnSpc>
                      </a:pPr>
                      <a:r>
                        <a:rPr sz="1500" b="1" i="0">
                          <a:solidFill>
                            <a:srgbClr val="181B1F"/>
                          </a:solidFill>
                          <a:latin typeface="IBM Plex Sans"/>
                        </a:rPr>
                        <a:t>In-Only</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No Fault</a:t>
                      </a:r>
                      <a:r>
                        <a:rPr sz="1500" b="0" i="0">
                          <a:solidFill>
                            <a:srgbClr val="181B1F"/>
                          </a:solidFill>
                          <a:latin typeface="IBM Plex Sans"/>
                        </a:rPr>
                        <a:t>, or </a:t>
                      </a:r>
                      <a:r>
                        <a:rPr sz="1500" b="1" i="0">
                          <a:solidFill>
                            <a:srgbClr val="181B1F"/>
                          </a:solidFill>
                          <a:latin typeface="IBM Plex Sans"/>
                        </a:rPr>
                        <a:t>Message Triggers Fault</a:t>
                      </a:r>
                      <a:r>
                        <a:rPr sz="1500" b="0" i="0">
                          <a:solidFill>
                            <a:srgbClr val="181B1F"/>
                          </a:solidFill>
                          <a:latin typeface="IBM Plex Sans"/>
                        </a:rPr>
                        <a:t> (Robust In-Only) — a fault on a </a:t>
                      </a:r>
                      <a:r>
                        <a:rPr sz="1500" b="0" i="1">
                          <a:solidFill>
                            <a:srgbClr val="181B1F"/>
                          </a:solidFill>
                          <a:latin typeface="IBM Plex Sans"/>
                        </a:rPr>
                        <a:t>reverse channel</a:t>
                      </a:r>
                      <a:r>
                        <a:rPr sz="1500" b="0" i="0">
                          <a:solidFill>
                            <a:srgbClr val="181B1F"/>
                          </a:solidFill>
                          <a:latin typeface="IBM Plex Sans"/>
                        </a:rPr>
                        <a:t>, because there is no later message to replace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requestor took no response, so a fault channel is an addition, not a substitution. Add one </a:t>
                      </a:r>
                      <a:r>
                        <a:rPr sz="1500" b="1" i="0">
                          <a:solidFill>
                            <a:srgbClr val="181B1F"/>
                          </a:solidFill>
                          <a:latin typeface="IBM Plex Sans"/>
                        </a:rPr>
                        <a:t>only if there is an action to take</a:t>
                      </a:r>
                      <a:r>
                        <a:rPr sz="1500" b="0" i="0">
                          <a:solidFill>
                            <a:srgbClr val="181B1F"/>
                          </a:solidFill>
                          <a:latin typeface="IBM Plex Sans"/>
                        </a:rPr>
                        <a:t>.</a:t>
                      </a:r>
                    </a:p>
                  </a:txBody>
                  <a:tcPr marL="82296" marR="82296" marT="27432" marB="27432">
                    <a:solidFill>
                      <a:srgbClr val="FDFCFA"/>
                    </a:solidFill>
                  </a:tcPr>
                </a:tc>
              </a:tr>
              <a:tr h="838962">
                <a:tc>
                  <a:txBody>
                    <a:bodyPr/>
                    <a:lstStyle/>
                    <a:p>
                      <a:pPr>
                        <a:lnSpc>
                          <a:spcPct val="118000"/>
                        </a:lnSpc>
                      </a:pPr>
                      <a:r>
                        <a:rPr sz="1500" b="1" i="0">
                          <a:solidFill>
                            <a:srgbClr val="181B1F"/>
                          </a:solidFill>
                          <a:latin typeface="IBM Plex Sans"/>
                        </a:rPr>
                        <a:t>In-Out</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Fault Replaces Message</a:t>
                      </a:r>
                      <a:r>
                        <a:rPr sz="1500" b="0" i="0">
                          <a:solidFill>
                            <a:srgbClr val="181B1F"/>
                          </a:solidFill>
                          <a:latin typeface="IBM Plex Sans"/>
                        </a:rPr>
                        <a:t> (Robust In-Out) — any message </a:t>
                      </a:r>
                      <a:r>
                        <a:rPr sz="1500" b="0" i="1">
                          <a:solidFill>
                            <a:srgbClr val="181B1F"/>
                          </a:solidFill>
                          <a:latin typeface="IBM Plex Sans"/>
                        </a:rPr>
                        <a:t>after the first</a:t>
                      </a:r>
                      <a:r>
                        <a:rPr sz="1500" b="0" i="0">
                          <a:solidFill>
                            <a:srgbClr val="181B1F"/>
                          </a:solidFill>
                          <a:latin typeface="IBM Plex Sans"/>
                        </a:rPr>
                        <a:t> becomes a fault instead of the normal outcome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There is already a response channel and a correlation id. The fault is a </a:t>
                      </a:r>
                      <a:r>
                        <a:rPr sz="1500" b="1" i="0">
                          <a:solidFill>
                            <a:srgbClr val="181B1F"/>
                          </a:solidFill>
                          <a:latin typeface="IBM Plex Sans"/>
                        </a:rPr>
                        <a:t>response</a:t>
                      </a:r>
                      <a:r>
                        <a:rPr sz="1500" b="0" i="0">
                          <a:solidFill>
                            <a:srgbClr val="181B1F"/>
                          </a:solidFill>
                          <a:latin typeface="IBM Plex Sans"/>
                        </a:rPr>
                        <a:t>, not an exception: same channel, same id, same code path.</a:t>
                      </a:r>
                    </a:p>
                  </a:txBody>
                  <a:tcPr marL="82296" marR="82296" marT="27432" marB="27432">
                    <a:solidFill>
                      <a:srgbClr val="FDFCFA"/>
                    </a:solidFill>
                  </a:tcPr>
                </a:tc>
              </a:tr>
              <a:tr h="389381">
                <a:tc>
                  <a:txBody>
                    <a:bodyPr/>
                    <a:lstStyle/>
                    <a:p>
                      <a:pPr>
                        <a:lnSpc>
                          <a:spcPct val="118000"/>
                        </a:lnSpc>
                      </a:pPr>
                      <a:r>
                        <a:rPr sz="1500" b="1" i="0">
                          <a:solidFill>
                            <a:srgbClr val="181B1F"/>
                          </a:solidFill>
                          <a:latin typeface="IBM Plex Sans"/>
                        </a:rPr>
                        <a:t>Out-In</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Fault Replaces Message</a:t>
                      </a:r>
                      <a:r>
                        <a:rPr sz="1500" b="0" i="0">
                          <a:solidFill>
                            <a:srgbClr val="181B1F"/>
                          </a:solidFill>
                          <a:latin typeface="IBM Plex Sans"/>
                        </a:rPr>
                        <a:t>, as for In-Out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Roles reversed, and nothing else — the provider waits.</a:t>
                      </a:r>
                    </a:p>
                  </a:txBody>
                  <a:tcPr marL="82296" marR="82296" marT="27432" marB="27432">
                    <a:solidFill>
                      <a:srgbClr val="FDFCFA"/>
                    </a:solidFill>
                  </a:tcPr>
                </a:tc>
              </a:tr>
            </a:tbl>
          </a:graphicData>
        </a:graphic>
      </p:graphicFrame>
      <p:sp>
        <p:nvSpPr>
          <p:cNvPr id="7" name="Rectangle 6"/>
          <p:cNvSpPr/>
          <p:nvPr/>
        </p:nvSpPr>
        <p:spPr>
          <a:xfrm>
            <a:off x="713232" y="5387848"/>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5358093"/>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You cannot have loose coupling and a fault path back. Pick one.</a:t>
            </a:r>
          </a:p>
        </p:txBody>
      </p:sp>
      <p:sp>
        <p:nvSpPr>
          <p:cNvPr id="9" name="Rectangle 8"/>
          <p:cNvSpPr/>
          <p:nvPr/>
        </p:nvSpPr>
        <p:spPr>
          <a:xfrm>
            <a:off x="713232" y="5987796"/>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5958041"/>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The question is never "should we handle faults?" It is </a:t>
            </a:r>
            <a:r>
              <a:rPr sz="2400" b="1" i="0">
                <a:solidFill>
                  <a:srgbClr val="C0453B"/>
                </a:solidFill>
                <a:latin typeface="Caveat"/>
              </a:rPr>
              <a:t>"is there an action the requestor would take?"</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ACROSS ALL FOUR PATTERNS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Choosing an Exchange Pattern</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decision, in order:</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Intent or fact?</a:t>
            </a:r>
            <a:r>
              <a:rPr sz="1800" b="0" i="0">
                <a:solidFill>
                  <a:srgbClr val="181B1F"/>
                </a:solidFill>
                <a:latin typeface="IBM Plex Sans"/>
              </a:rPr>
              <a:t> Fact → Out-Only, and accept No Fault. Intent → keep going.</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Do you need an answer?</a:t>
            </a:r>
            <a:r>
              <a:rPr sz="1800" b="0" i="0">
                <a:solidFill>
                  <a:srgbClr val="181B1F"/>
                </a:solidFill>
                <a:latin typeface="IBM Plex Sans"/>
              </a:rPr>
              <a:t> No → In-Only. Yes → In-Out.</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Who starts?</a:t>
            </a:r>
            <a:r>
              <a:rPr sz="1800" b="0" i="0">
                <a:solidFill>
                  <a:srgbClr val="181B1F"/>
                </a:solidFill>
                <a:latin typeface="IBM Plex Sans"/>
              </a:rPr>
              <a:t> If the provider needs to canvass its subscribers → Out-In.</a:t>
            </a:r>
          </a:p>
        </p:txBody>
      </p:sp>
      <p:sp>
        <p:nvSpPr>
          <p:cNvPr id="12" name="TextBox 11"/>
          <p:cNvSpPr txBox="1"/>
          <p:nvPr/>
        </p:nvSpPr>
        <p:spPr>
          <a:xfrm>
            <a:off x="713232" y="28496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280900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Do you need the answer </a:t>
            </a:r>
            <a:r>
              <a:rPr sz="1800" b="1" i="1">
                <a:solidFill>
                  <a:srgbClr val="181B1F"/>
                </a:solidFill>
                <a:latin typeface="IBM Plex Sans"/>
              </a:rPr>
              <a:t>now</a:t>
            </a:r>
            <a:r>
              <a:rPr sz="1800" b="1" i="0">
                <a:solidFill>
                  <a:srgbClr val="181B1F"/>
                </a:solidFill>
                <a:latin typeface="IBM Plex Sans"/>
              </a:rPr>
              <a:t>?</a:t>
            </a:r>
            <a:r>
              <a:rPr sz="1800" b="0" i="0">
                <a:solidFill>
                  <a:srgbClr val="181B1F"/>
                </a:solidFill>
                <a:latin typeface="IBM Plex Sans"/>
              </a:rPr>
              <a:t> Only then Blocking In-Out — and know what you just paid.</a:t>
            </a:r>
          </a:p>
        </p:txBody>
      </p:sp>
      <p:graphicFrame>
        <p:nvGraphicFramePr>
          <p:cNvPr id="14" name="Table 13"/>
          <p:cNvGraphicFramePr>
            <a:graphicFrameLocks noGrp="1"/>
          </p:cNvGraphicFramePr>
          <p:nvPr/>
        </p:nvGraphicFramePr>
        <p:xfrm>
          <a:off x="713232" y="3242818"/>
          <a:ext cx="10911533" cy="2336286"/>
        </p:xfrm>
        <a:graphic>
          <a:graphicData uri="http://schemas.openxmlformats.org/drawingml/2006/table">
            <a:tbl>
              <a:tblPr firstRow="1">
                <a:tableStyleId>{5C22544A-7EE6-4342-B048-85BDC9FD1C3A}</a:tableStyleId>
              </a:tblPr>
              <a:tblGrid>
                <a:gridCol w="1653049"/>
                <a:gridCol w="2920684"/>
                <a:gridCol w="2076434"/>
                <a:gridCol w="4261366"/>
              </a:tblGrid>
              <a:tr h="389381">
                <a:tc>
                  <a:txBody>
                    <a:bodyPr/>
                    <a:lstStyle/>
                    <a:p>
                      <a:pPr>
                        <a:lnSpc>
                          <a:spcPct val="118000"/>
                        </a:lnSpc>
                      </a:pPr>
                      <a:r>
                        <a:rPr sz="1500" b="1" i="0">
                          <a:solidFill>
                            <a:srgbClr val="181B1F"/>
                          </a:solidFill>
                          <a:latin typeface="IBM Plex Sans"/>
                        </a:rPr>
                        <a:t>pattern</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coupled about</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both up?</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fault path</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Out-Only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event schema</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none available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In-Only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command contract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reverse channel, if there is an action to take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In-Out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request + response contracts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 unless you block</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fault replaces the response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Out-In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solicitation contract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no</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fault replaces the response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Blocking In-Out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request + response contracts</a:t>
                      </a:r>
                    </a:p>
                  </a:txBody>
                  <a:tcPr marL="82296" marR="82296" marT="27432" marB="27432">
                    <a:solidFill>
                      <a:srgbClr val="FDFCFA"/>
                    </a:solidFill>
                  </a:tcPr>
                </a:tc>
                <a:tc>
                  <a:txBody>
                    <a:bodyPr/>
                    <a:lstStyle/>
                    <a:p>
                      <a:pPr>
                        <a:lnSpc>
                          <a:spcPct val="118000"/>
                        </a:lnSpc>
                      </a:pPr>
                      <a:r>
                        <a:rPr sz="1500" b="1" i="0">
                          <a:solidFill>
                            <a:srgbClr val="181B1F"/>
                          </a:solidFill>
                          <a:latin typeface="IBM Plex Sans"/>
                        </a:rPr>
                        <a:t>yes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fault replaces the response</a:t>
                      </a:r>
                    </a:p>
                  </a:txBody>
                  <a:tcPr marL="82296" marR="82296" marT="27432" marB="27432">
                    <a:solidFill>
                      <a:srgbClr val="FDFCFA"/>
                    </a:solidFill>
                  </a:tcPr>
                </a:tc>
              </a:tr>
            </a:tbl>
          </a:graphicData>
        </a:graphic>
      </p:graphicFrame>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98</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ACROSS ALL FOUR PATTERNS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Choosing an Exchange Pattern</a:t>
            </a:r>
          </a:p>
        </p:txBody>
      </p:sp>
      <p:pic>
        <p:nvPicPr>
          <p:cNvPr id="5" name="Picture 4" descr="grid-exchange-patterns.png"/>
          <p:cNvPicPr>
            <a:picLocks noChangeAspect="1"/>
          </p:cNvPicPr>
          <p:nvPr/>
        </p:nvPicPr>
        <p:blipFill>
          <a:blip r:embed="rId2"/>
          <a:stretch>
            <a:fillRect/>
          </a:stretch>
        </p:blipFill>
        <p:spPr>
          <a:xfrm>
            <a:off x="2041431" y="1245870"/>
            <a:ext cx="8255135"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6.1 Fat and Skinny Messages</a:t>
            </a:r>
          </a:p>
        </p:txBody>
      </p:sp>
      <p:sp>
        <p:nvSpPr>
          <p:cNvPr id="6" name="TextBox 5"/>
          <p:cNvSpPr txBox="1"/>
          <p:nvPr/>
        </p:nvSpPr>
        <p:spPr>
          <a:xfrm>
            <a:off x="713232" y="3098819"/>
            <a:ext cx="6546921" cy="301752"/>
          </a:xfrm>
          <a:prstGeom prst="rect">
            <a:avLst/>
          </a:prstGeom>
          <a:noFill/>
        </p:spPr>
        <p:txBody>
          <a:bodyPr wrap="square" lIns="0" rIns="0" tIns="0" bIns="0">
            <a:spAutoFit/>
          </a:bodyPr>
          <a:lstStyle/>
          <a:p>
            <a:pPr>
              <a:lnSpc>
                <a:spcPts val="2232"/>
              </a:lnSpc>
            </a:pPr>
            <a:r>
              <a:rPr sz="1800" b="0" i="0">
                <a:solidFill>
                  <a:srgbClr val="2F5D3A"/>
                </a:solidFill>
                <a:latin typeface="IBM Plex Sans"/>
              </a:rPr>
              <a:t>Normalising the message: inline it, reference it, or replicate it.</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6.1 FAT AND SKINNY MESSAGES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What Goes in a Message?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decision is </a:t>
            </a:r>
            <a:r>
              <a:rPr sz="1800" b="1" i="0">
                <a:solidFill>
                  <a:srgbClr val="181B1F"/>
                </a:solidFill>
                <a:latin typeface="IBM Plex Sans"/>
              </a:rPr>
              <a:t>per field, not per message</a:t>
            </a:r>
            <a:r>
              <a:rPr sz="1800" b="0" i="0">
                <a:solidFill>
                  <a:srgbClr val="181B1F"/>
                </a:solidFill>
                <a:latin typeface="IBM Plex Sans"/>
              </a:rPr>
              <a:t>. For every piece of data the provider needs in order to act, there are three choices:</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Inline it</a:t>
            </a:r>
            <a:r>
              <a:rPr sz="1800" b="0" i="0">
                <a:solidFill>
                  <a:srgbClr val="181B1F"/>
                </a:solidFill>
                <a:latin typeface="IBM Plex Sans"/>
              </a:rPr>
              <a:t> — put the value in the message.</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Reference it</a:t>
            </a:r>
            <a:r>
              <a:rPr sz="1800" b="0" i="0">
                <a:solidFill>
                  <a:srgbClr val="181B1F"/>
                </a:solidFill>
                <a:latin typeface="IBM Plex Sans"/>
              </a:rPr>
              <a:t> — put an id in the message; the provider looks the data up.</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Replicate it</a:t>
            </a:r>
            <a:r>
              <a:rPr sz="1800" b="0" i="0">
                <a:solidFill>
                  <a:srgbClr val="181B1F"/>
                </a:solidFill>
                <a:latin typeface="IBM Plex Sans"/>
              </a:rPr>
              <a:t> — the provider already holds a copy, kept fresh out-of-band.</a:t>
            </a:r>
          </a:p>
        </p:txBody>
      </p:sp>
      <p:sp>
        <p:nvSpPr>
          <p:cNvPr id="12" name="Rectangle 11"/>
          <p:cNvSpPr/>
          <p:nvPr/>
        </p:nvSpPr>
        <p:spPr>
          <a:xfrm>
            <a:off x="713232" y="323672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0696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Designing a message is a normalisation problem.</a:t>
            </a:r>
          </a:p>
        </p:txBody>
      </p:sp>
      <p:sp>
        <p:nvSpPr>
          <p:cNvPr id="14" name="TextBox 13"/>
          <p:cNvSpPr txBox="1"/>
          <p:nvPr/>
        </p:nvSpPr>
        <p:spPr>
          <a:xfrm>
            <a:off x="713232" y="373303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5" name="TextBox 14"/>
          <p:cNvSpPr txBox="1"/>
          <p:nvPr/>
        </p:nvSpPr>
        <p:spPr>
          <a:xfrm>
            <a:off x="960120" y="369241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fat</a:t>
            </a:r>
            <a:r>
              <a:rPr sz="1800" b="0" i="0">
                <a:solidFill>
                  <a:srgbClr val="181B1F"/>
                </a:solidFill>
                <a:latin typeface="IBM Plex Sans"/>
              </a:rPr>
              <a:t> message is fully denormalised. A </a:t>
            </a:r>
            <a:r>
              <a:rPr sz="1800" b="1" i="0">
                <a:solidFill>
                  <a:srgbClr val="181B1F"/>
                </a:solidFill>
                <a:latin typeface="IBM Plex Sans"/>
              </a:rPr>
              <a:t>skinny</a:t>
            </a:r>
            <a:r>
              <a:rPr sz="1800" b="0" i="0">
                <a:solidFill>
                  <a:srgbClr val="181B1F"/>
                </a:solidFill>
                <a:latin typeface="IBM Plex Sans"/>
              </a:rPr>
              <a:t> message is fully normalised. Neither extreme is usually right.</a:t>
            </a:r>
          </a:p>
        </p:txBody>
      </p:sp>
      <p:sp>
        <p:nvSpPr>
          <p:cNvPr id="16" name="TextBox 15"/>
          <p:cNvSpPr txBox="1"/>
          <p:nvPr/>
        </p:nvSpPr>
        <p:spPr>
          <a:xfrm>
            <a:off x="713232" y="438886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7" name="TextBox 16"/>
          <p:cNvSpPr txBox="1"/>
          <p:nvPr/>
        </p:nvSpPr>
        <p:spPr>
          <a:xfrm>
            <a:off x="960120" y="434824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rest of this section is the rule that decides per field, and the price of each answer.</a:t>
            </a:r>
          </a:p>
        </p:txBody>
      </p:sp>
      <p:sp>
        <p:nvSpPr>
          <p:cNvPr id="18" name="TextBox 1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101</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6.1 FAT AND SKINNY MESSAGES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Fat Message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With a </a:t>
            </a:r>
            <a:r>
              <a:rPr sz="1800" b="1" i="0">
                <a:solidFill>
                  <a:srgbClr val="181B1F"/>
                </a:solidFill>
                <a:latin typeface="IBM Plex Sans"/>
              </a:rPr>
              <a:t>Fat Message</a:t>
            </a:r>
            <a:r>
              <a:rPr sz="1800" b="0" i="0">
                <a:solidFill>
                  <a:srgbClr val="181B1F"/>
                </a:solidFill>
                <a:latin typeface="IBM Plex Sans"/>
              </a:rPr>
              <a:t>, the requestor sends across all the </a:t>
            </a:r>
            <a:r>
              <a:rPr sz="1800" b="0" i="1">
                <a:solidFill>
                  <a:srgbClr val="181B1F"/>
                </a:solidFill>
                <a:latin typeface="IBM Plex Sans"/>
              </a:rPr>
              <a:t>external</a:t>
            </a:r>
            <a:r>
              <a:rPr sz="1800" b="0" i="0">
                <a:solidFill>
                  <a:srgbClr val="181B1F"/>
                </a:solidFill>
                <a:latin typeface="IBM Plex Sans"/>
              </a:rPr>
              <a:t> information a provider may need to perform the operation.</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requestor provides all external information the provider needs to act.</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resulting document message may be large (a </a:t>
            </a:r>
            <a:r>
              <a:rPr sz="1800" b="1" i="0">
                <a:solidFill>
                  <a:srgbClr val="181B1F"/>
                </a:solidFill>
                <a:latin typeface="IBM Plex Sans"/>
              </a:rPr>
              <a:t>Claim Check</a:t>
            </a:r>
            <a:r>
              <a:rPr sz="1800" b="0" i="0">
                <a:solidFill>
                  <a:srgbClr val="181B1F"/>
                </a:solidFill>
                <a:latin typeface="IBM Plex Sans"/>
              </a:rPr>
              <a:t> can help).</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Example.</a:t>
            </a:r>
            <a:r>
              <a:rPr sz="1800" b="0" i="0">
                <a:solidFill>
                  <a:srgbClr val="181B1F"/>
                </a:solidFill>
                <a:latin typeface="IBM Plex Sans"/>
              </a:rPr>
              <a:t> </a:t>
            </a:r>
            <a:r>
              <a:rPr sz="1800" b="0" i="1">
                <a:solidFill>
                  <a:srgbClr val="181B1F"/>
                </a:solidFill>
                <a:latin typeface="IBM Plex Sans"/>
              </a:rPr>
              <a:t>Order Fulfilment → Courier Assignment:</a:t>
            </a:r>
            <a:r>
              <a:rPr sz="1800" b="0" i="0">
                <a:solidFill>
                  <a:srgbClr val="181B1F"/>
                </a:solidFill>
                <a:latin typeface="IBM Plex Sans"/>
              </a:rPr>
              <a:t> the request provides delivery and pickup address, size, weights, etc. of the order.</a:t>
            </a:r>
          </a:p>
        </p:txBody>
      </p:sp>
      <p:sp>
        <p:nvSpPr>
          <p:cNvPr id="12" name="TextBox 11"/>
          <p:cNvSpPr txBox="1"/>
          <p:nvPr/>
        </p:nvSpPr>
        <p:spPr>
          <a:xfrm>
            <a:off x="713232" y="3401333"/>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buys you:</a:t>
            </a:r>
            <a:r>
              <a:rPr sz="1800" b="0" i="0">
                <a:solidFill>
                  <a:srgbClr val="181B1F"/>
                </a:solidFill>
                <a:latin typeface="IBM Plex Sans"/>
              </a:rPr>
              <a:t> the provider needs nobody else in order to act. No lookup, no cache, no second system that has to be up.</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102</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6.1 FAT AND SKINNY MESSAGES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Fat Message — Transitive Dependencies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purchase-order message that inlines customer and restaurant data shows the cost.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order data has the </a:t>
            </a:r>
            <a:r>
              <a:rPr sz="1800" b="1" i="0">
                <a:solidFill>
                  <a:srgbClr val="181B1F"/>
                </a:solidFill>
                <a:latin typeface="IBM Plex Sans"/>
              </a:rPr>
              <a:t>lifetime of the message</a:t>
            </a:r>
            <a:r>
              <a:rPr sz="1800" b="0" i="0">
                <a:solidFill>
                  <a:srgbClr val="181B1F"/>
                </a:solidFill>
                <a:latin typeface="IBM Plex Sans"/>
              </a:rPr>
              <a:t> — its schema changes if the purchase order changes. That is fine; it is </a:t>
            </a:r>
            <a:r>
              <a:rPr sz="1800" b="0" i="1">
                <a:solidFill>
                  <a:srgbClr val="181B1F"/>
                </a:solidFill>
                <a:latin typeface="IBM Plex Sans"/>
              </a:rPr>
              <a:t>our</a:t>
            </a:r>
            <a:r>
              <a:rPr sz="1800" b="0" i="0">
                <a:solidFill>
                  <a:srgbClr val="181B1F"/>
                </a:solidFill>
                <a:latin typeface="IBM Plex Sans"/>
              </a:rPr>
              <a:t> data.</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Customer data is a </a:t>
            </a:r>
            <a:r>
              <a:rPr sz="1800" b="1" i="0">
                <a:solidFill>
                  <a:srgbClr val="181B1F"/>
                </a:solidFill>
                <a:latin typeface="IBM Plex Sans"/>
              </a:rPr>
              <a:t>transitive dependency</a:t>
            </a:r>
            <a:r>
              <a:rPr sz="1800" b="0" i="0">
                <a:solidFill>
                  <a:srgbClr val="181B1F"/>
                </a:solidFill>
                <a:latin typeface="IBM Plex Sans"/>
              </a:rPr>
              <a:t> — its lifetime is the Customer's. A Customer schema change may force a message change.</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Restaurant data is likewise a transitive dependency on the Restaurant schema.</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103</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6.1 FAT AND SKINNY MESSAGES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Fat Message — Transitive Dependencies</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Inline someone else's data and you have inherited their release schedule.</a:t>
            </a:r>
          </a:p>
        </p:txBody>
      </p:sp>
      <p:pic>
        <p:nvPicPr>
          <p:cNvPr id="7" name="Picture 6" descr="eip-fat-message-transitive.png"/>
          <p:cNvPicPr>
            <a:picLocks noChangeAspect="1"/>
          </p:cNvPicPr>
          <p:nvPr/>
        </p:nvPicPr>
        <p:blipFill>
          <a:blip r:embed="rId2"/>
          <a:stretch>
            <a:fillRect/>
          </a:stretch>
        </p:blipFill>
        <p:spPr>
          <a:xfrm>
            <a:off x="713232" y="2265398"/>
            <a:ext cx="10911535" cy="3843836"/>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6.1 FAT AND SKINNY MESSAGES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Skinny Message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With a </a:t>
            </a:r>
            <a:r>
              <a:rPr sz="1800" b="1" i="0">
                <a:solidFill>
                  <a:srgbClr val="181B1F"/>
                </a:solidFill>
                <a:latin typeface="IBM Plex Sans"/>
              </a:rPr>
              <a:t>Skinny Message</a:t>
            </a:r>
            <a:r>
              <a:rPr sz="1800" b="0" i="0">
                <a:solidFill>
                  <a:srgbClr val="181B1F"/>
                </a:solidFill>
                <a:latin typeface="IBM Plex Sans"/>
              </a:rPr>
              <a:t>, the requestor provides only information unique to the event, and assumes the provider has, or can obtain, the other information.</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resulting notification message is normally skinny.</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Example.</a:t>
            </a:r>
            <a:r>
              <a:rPr sz="1800" b="0" i="0">
                <a:solidFill>
                  <a:srgbClr val="181B1F"/>
                </a:solidFill>
                <a:latin typeface="IBM Plex Sans"/>
              </a:rPr>
              <a:t> </a:t>
            </a:r>
            <a:r>
              <a:rPr sz="1800" b="0" i="1">
                <a:solidFill>
                  <a:srgbClr val="181B1F"/>
                </a:solidFill>
                <a:latin typeface="IBM Plex Sans"/>
              </a:rPr>
              <a:t>Order Notification → Courier Assignment:</a:t>
            </a:r>
            <a:r>
              <a:rPr sz="1800" b="0" i="0">
                <a:solidFill>
                  <a:srgbClr val="181B1F"/>
                </a:solidFill>
                <a:latin typeface="IBM Plex Sans"/>
              </a:rPr>
              <a:t> notifies that there is an order, inlining only order-unique data — not reference data like weights or addresses. Courier Assignment must source the missing information from elsewhere.</a:t>
            </a:r>
          </a:p>
        </p:txBody>
      </p:sp>
      <p:sp>
        <p:nvSpPr>
          <p:cNvPr id="10" name="TextBox 9"/>
          <p:cNvSpPr txBox="1"/>
          <p:nvPr/>
        </p:nvSpPr>
        <p:spPr>
          <a:xfrm>
            <a:off x="713232" y="3312433"/>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costs you:</a:t>
            </a:r>
            <a:r>
              <a:rPr sz="1800" b="0" i="0">
                <a:solidFill>
                  <a:srgbClr val="181B1F"/>
                </a:solidFill>
                <a:latin typeface="IBM Plex Sans"/>
              </a:rPr>
              <a:t> the provider can no longer act alone. Something else has to supply the rest — which is the next sub-topic.</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105</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6.1 FAT AND SKINNY MESSAGES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Lifetime Rule</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If the data does not share the message's lifetime, put an id in the message, not the data.</a:t>
            </a:r>
          </a:p>
        </p:txBody>
      </p:sp>
      <p:sp>
        <p:nvSpPr>
          <p:cNvPr id="7" name="TextBox 6"/>
          <p:cNvSpPr txBox="1"/>
          <p:nvPr/>
        </p:nvSpPr>
        <p:spPr>
          <a:xfrm>
            <a:off x="713232" y="1919497"/>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purchase-order message carries </a:t>
            </a:r>
            <a:r>
              <a:rPr sz="1700" b="0" i="0">
                <a:solidFill>
                  <a:srgbClr val="181B1F"/>
                </a:solidFill>
                <a:latin typeface="IBM Plex Mono"/>
              </a:rPr>
              <a:t>CustomerId</a:t>
            </a:r>
            <a:r>
              <a:rPr sz="1800" b="0" i="0">
                <a:solidFill>
                  <a:srgbClr val="181B1F"/>
                </a:solidFill>
                <a:latin typeface="IBM Plex Sans"/>
              </a:rPr>
              <a:t> and </a:t>
            </a:r>
            <a:r>
              <a:rPr sz="1700" b="0" i="0">
                <a:solidFill>
                  <a:srgbClr val="181B1F"/>
                </a:solidFill>
                <a:latin typeface="IBM Plex Mono"/>
              </a:rPr>
              <a:t>RestaurantId</a:t>
            </a:r>
            <a:r>
              <a:rPr sz="1800" b="0" i="0">
                <a:solidFill>
                  <a:srgbClr val="181B1F"/>
                </a:solidFill>
                <a:latin typeface="IBM Plex Sans"/>
              </a:rPr>
              <a:t> instead of inlined data.</a:t>
            </a:r>
          </a:p>
        </p:txBody>
      </p:sp>
      <p:sp>
        <p:nvSpPr>
          <p:cNvPr id="8" name="TextBox 7"/>
          <p:cNvSpPr txBox="1"/>
          <p:nvPr/>
        </p:nvSpPr>
        <p:spPr>
          <a:xfrm>
            <a:off x="713232" y="23324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29186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Data that shares the message's lifetime → </a:t>
            </a:r>
            <a:r>
              <a:rPr sz="1800" b="1" i="0">
                <a:solidFill>
                  <a:srgbClr val="181B1F"/>
                </a:solidFill>
                <a:latin typeface="IBM Plex Sans"/>
              </a:rPr>
              <a:t>inline it</a:t>
            </a:r>
            <a:r>
              <a:rPr sz="1800" b="0" i="0">
                <a:solidFill>
                  <a:srgbClr val="181B1F"/>
                </a:solidFill>
                <a:latin typeface="IBM Plex Sans"/>
              </a:rPr>
              <a:t>.</a:t>
            </a:r>
          </a:p>
        </p:txBody>
      </p:sp>
      <p:sp>
        <p:nvSpPr>
          <p:cNvPr id="10" name="TextBox 9"/>
          <p:cNvSpPr txBox="1"/>
          <p:nvPr/>
        </p:nvSpPr>
        <p:spPr>
          <a:xfrm>
            <a:off x="713232" y="270484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66422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Data with its own lifetime → </a:t>
            </a:r>
            <a:r>
              <a:rPr sz="1800" b="1" i="0">
                <a:solidFill>
                  <a:srgbClr val="181B1F"/>
                </a:solidFill>
                <a:latin typeface="IBM Plex Sans"/>
              </a:rPr>
              <a:t>reference it</a:t>
            </a:r>
            <a:r>
              <a:rPr sz="1800" b="0" i="0">
                <a:solidFill>
                  <a:srgbClr val="181B1F"/>
                </a:solidFill>
                <a:latin typeface="IBM Plex Sans"/>
              </a:rPr>
              <a:t> by id; assume the requestor obtains the data out-of-band.</a:t>
            </a:r>
          </a:p>
        </p:txBody>
      </p:sp>
      <p:sp>
        <p:nvSpPr>
          <p:cNvPr id="12" name="TextBox 11"/>
          <p:cNvSpPr txBox="1"/>
          <p:nvPr/>
        </p:nvSpPr>
        <p:spPr>
          <a:xfrm>
            <a:off x="713232" y="307721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03658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These ids must be looked up with other providers (Customer, Restaurant).</a:t>
            </a:r>
          </a:p>
        </p:txBody>
      </p:sp>
      <p:sp>
        <p:nvSpPr>
          <p:cNvPr id="14" name="TextBox 13"/>
          <p:cNvSpPr txBox="1"/>
          <p:nvPr/>
        </p:nvSpPr>
        <p:spPr>
          <a:xfrm>
            <a:off x="713232" y="3434353"/>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Then be pragmatic.</a:t>
            </a:r>
            <a:r>
              <a:rPr sz="1800" b="0" i="0">
                <a:solidFill>
                  <a:srgbClr val="181B1F"/>
                </a:solidFill>
                <a:latin typeface="IBM Plex Sans"/>
              </a:rPr>
              <a:t> Exactly as with a database, you may </a:t>
            </a:r>
            <a:r>
              <a:rPr sz="1800" b="1" i="0">
                <a:solidFill>
                  <a:srgbClr val="181B1F"/>
                </a:solidFill>
                <a:latin typeface="IBM Plex Sans"/>
              </a:rPr>
              <a:t>denormalise</a:t>
            </a:r>
            <a:r>
              <a:rPr sz="1800" b="0" i="0">
                <a:solidFill>
                  <a:srgbClr val="181B1F"/>
                </a:solidFill>
                <a:latin typeface="IBM Plex Sans"/>
              </a:rPr>
              <a:t> — inline a common lookup so you do not pay for it on every message.</a:t>
            </a:r>
          </a:p>
        </p:txBody>
      </p:sp>
      <p:sp>
        <p:nvSpPr>
          <p:cNvPr id="15" name="TextBox 14"/>
          <p:cNvSpPr txBox="1"/>
          <p:nvPr/>
        </p:nvSpPr>
        <p:spPr>
          <a:xfrm>
            <a:off x="713232" y="413080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6" name="TextBox 15"/>
          <p:cNvSpPr txBox="1"/>
          <p:nvPr/>
        </p:nvSpPr>
        <p:spPr>
          <a:xfrm>
            <a:off x="960120" y="409018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Do it for the lookups that actually hurt, not by default.</a:t>
            </a:r>
          </a:p>
        </p:txBody>
      </p:sp>
      <p:sp>
        <p:nvSpPr>
          <p:cNvPr id="17" name="TextBox 16"/>
          <p:cNvSpPr txBox="1"/>
          <p:nvPr/>
        </p:nvSpPr>
        <p:spPr>
          <a:xfrm>
            <a:off x="713232" y="450316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8" name="TextBox 17"/>
          <p:cNvSpPr txBox="1"/>
          <p:nvPr/>
        </p:nvSpPr>
        <p:spPr>
          <a:xfrm>
            <a:off x="960120" y="4462545"/>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moment you copy someone else's data into your message you own a </a:t>
            </a:r>
            <a:r>
              <a:rPr sz="1800" b="1" i="0">
                <a:solidFill>
                  <a:srgbClr val="181B1F"/>
                </a:solidFill>
                <a:latin typeface="IBM Plex Sans"/>
              </a:rPr>
              <a:t>stale copy</a:t>
            </a:r>
            <a:r>
              <a:rPr sz="1800" b="0" i="0">
                <a:solidFill>
                  <a:srgbClr val="181B1F"/>
                </a:solidFill>
                <a:latin typeface="IBM Plex Sans"/>
              </a:rPr>
              <a:t>, and you have taken on their schema.</a:t>
            </a:r>
          </a:p>
        </p:txBody>
      </p:sp>
      <p:sp>
        <p:nvSpPr>
          <p:cNvPr id="19" name="TextBox 18"/>
          <p:cNvSpPr txBox="1"/>
          <p:nvPr/>
        </p:nvSpPr>
        <p:spPr>
          <a:xfrm>
            <a:off x="713232" y="515899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20" name="TextBox 19"/>
          <p:cNvSpPr txBox="1"/>
          <p:nvPr/>
        </p:nvSpPr>
        <p:spPr>
          <a:xfrm>
            <a:off x="960120" y="511837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rule is the default; a denormalisation is a decision you should be able to justify.</a:t>
            </a:r>
          </a:p>
        </p:txBody>
      </p:sp>
      <p:sp>
        <p:nvSpPr>
          <p:cNvPr id="21" name="TextBox 2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106</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6.2 Reference Data</a:t>
            </a:r>
          </a:p>
        </p:txBody>
      </p:sp>
      <p:sp>
        <p:nvSpPr>
          <p:cNvPr id="6" name="TextBox 5"/>
          <p:cNvSpPr txBox="1"/>
          <p:nvPr/>
        </p:nvSpPr>
        <p:spPr>
          <a:xfrm>
            <a:off x="713232" y="3098819"/>
            <a:ext cx="6546921" cy="301752"/>
          </a:xfrm>
          <a:prstGeom prst="rect">
            <a:avLst/>
          </a:prstGeom>
          <a:noFill/>
        </p:spPr>
        <p:txBody>
          <a:bodyPr wrap="square" lIns="0" rIns="0" tIns="0" bIns="0">
            <a:spAutoFit/>
          </a:bodyPr>
          <a:lstStyle/>
          <a:p>
            <a:pPr>
              <a:lnSpc>
                <a:spcPts val="2232"/>
              </a:lnSpc>
            </a:pPr>
            <a:r>
              <a:rPr sz="1800" b="0" i="0">
                <a:solidFill>
                  <a:srgbClr val="2F5D3A"/>
                </a:solidFill>
                <a:latin typeface="IBM Plex Sans"/>
              </a:rPr>
              <a:t>How the provider gets what the message did not carry.</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Reference Data</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requestor assumes </a:t>
            </a:r>
            <a:r>
              <a:rPr sz="1800" b="1" i="0">
                <a:solidFill>
                  <a:srgbClr val="181B1F"/>
                </a:solidFill>
                <a:latin typeface="IBM Plex Sans"/>
              </a:rPr>
              <a:t>Provider A</a:t>
            </a:r>
            <a:r>
              <a:rPr sz="1800" b="0" i="0">
                <a:solidFill>
                  <a:srgbClr val="181B1F"/>
                </a:solidFill>
                <a:latin typeface="IBM Plex Sans"/>
              </a:rPr>
              <a:t> has a local cache of data from </a:t>
            </a:r>
            <a:r>
              <a:rPr sz="1800" b="1" i="0">
                <a:solidFill>
                  <a:srgbClr val="181B1F"/>
                </a:solidFill>
                <a:latin typeface="IBM Plex Sans"/>
              </a:rPr>
              <a:t>Provider B</a:t>
            </a:r>
            <a:r>
              <a:rPr sz="1800" b="0" i="0">
                <a:solidFill>
                  <a:srgbClr val="181B1F"/>
                </a:solidFill>
                <a:latin typeface="IBM Plex Sans"/>
              </a:rPr>
              <a:t> that it can use to look up the identifiers in a skinny message.</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Data that leaves Provider B via an API is </a:t>
            </a:r>
            <a:r>
              <a:rPr sz="1800" b="1" i="0">
                <a:solidFill>
                  <a:srgbClr val="181B1F"/>
                </a:solidFill>
                <a:latin typeface="IBM Plex Sans"/>
              </a:rPr>
              <a:t>Reference Data</a:t>
            </a:r>
            <a:r>
              <a:rPr sz="1800" b="0" i="0">
                <a:solidFill>
                  <a:srgbClr val="181B1F"/>
                </a:solidFill>
                <a:latin typeface="IBM Plex Sans"/>
              </a:rPr>
              <a:t>: immutable, versioned, stale.</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Immutable and versioned because a copy that can change shape under its holder cannot be cached safely.</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It can be cached locally to Provider A to avoid frequent lookups (</a:t>
            </a:r>
            <a:r>
              <a:rPr sz="1700" b="0" i="0">
                <a:solidFill>
                  <a:srgbClr val="181B1F"/>
                </a:solidFill>
                <a:latin typeface="IBM Plex Mono"/>
              </a:rPr>
              <a:t>cache lookup()</a:t>
            </a:r>
            <a:r>
              <a:rPr sz="1800" b="0" i="0">
                <a:solidFill>
                  <a:srgbClr val="181B1F"/>
                </a:solidFill>
                <a:latin typeface="IBM Plex Sans"/>
              </a:rPr>
              <a:t>).</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108</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Get It On Demand — REST/RPC</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 a cache miss, Provider A fetches the data from Provider B synchronously.</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Look up missing data in the local reference-data cache (may specify identity </a:t>
            </a:r>
            <a:r>
              <a:rPr sz="1800" b="0" i="1">
                <a:solidFill>
                  <a:srgbClr val="181B1F"/>
                </a:solidFill>
                <a:latin typeface="IBM Plex Sans"/>
              </a:rPr>
              <a:t>and</a:t>
            </a:r>
            <a:r>
              <a:rPr sz="1800" b="0" i="0">
                <a:solidFill>
                  <a:srgbClr val="181B1F"/>
                </a:solidFill>
                <a:latin typeface="IBM Plex Sans"/>
              </a:rPr>
              <a:t> version).</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 a miss, request from Provider B and store it in the cache (</a:t>
            </a:r>
            <a:r>
              <a:rPr sz="1700" b="0" i="0">
                <a:solidFill>
                  <a:srgbClr val="181B1F"/>
                </a:solidFill>
                <a:latin typeface="IBM Plex Mono"/>
              </a:rPr>
              <a:t>request()</a:t>
            </a:r>
            <a:r>
              <a:rPr sz="1800" b="0" i="0">
                <a:solidFill>
                  <a:srgbClr val="181B1F"/>
                </a:solidFill>
                <a:latin typeface="IBM Plex Sans"/>
              </a:rPr>
              <a:t> / </a:t>
            </a:r>
            <a:r>
              <a:rPr sz="1700" b="0" i="0">
                <a:solidFill>
                  <a:srgbClr val="181B1F"/>
                </a:solidFill>
                <a:latin typeface="IBM Plex Mono"/>
              </a:rPr>
              <a:t>reply()</a:t>
            </a:r>
            <a:r>
              <a:rPr sz="1800" b="0" i="0">
                <a:solidFill>
                  <a:srgbClr val="181B1F"/>
                </a:solidFill>
                <a:latin typeface="IBM Plex Sans"/>
              </a:rPr>
              <a:t> / </a:t>
            </a:r>
            <a:r>
              <a:rPr sz="1700" b="0" i="0">
                <a:solidFill>
                  <a:srgbClr val="181B1F"/>
                </a:solidFill>
                <a:latin typeface="IBM Plex Mono"/>
              </a:rPr>
              <a:t>cache write()</a:t>
            </a:r>
            <a:r>
              <a:rPr sz="1800" b="0" i="0">
                <a:solidFill>
                  <a:srgbClr val="181B1F"/>
                </a:solidFill>
                <a:latin typeface="IBM Plex Sans"/>
              </a:rPr>
              <a:t>).</a:t>
            </a:r>
          </a:p>
        </p:txBody>
      </p:sp>
      <p:sp>
        <p:nvSpPr>
          <p:cNvPr id="10" name="TextBox 9"/>
          <p:cNvSpPr txBox="1"/>
          <p:nvPr/>
        </p:nvSpPr>
        <p:spPr>
          <a:xfrm>
            <a:off x="713232" y="2745505"/>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costs you</a:t>
            </a:r>
          </a:p>
        </p:txBody>
      </p:sp>
      <p:sp>
        <p:nvSpPr>
          <p:cNvPr id="11" name="TextBox 10"/>
          <p:cNvSpPr txBox="1"/>
          <p:nvPr/>
        </p:nvSpPr>
        <p:spPr>
          <a:xfrm>
            <a:off x="713232" y="31584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1178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 a hit: </a:t>
            </a:r>
            <a:r>
              <a:rPr sz="1800" b="1" i="0">
                <a:solidFill>
                  <a:srgbClr val="181B1F"/>
                </a:solidFill>
                <a:latin typeface="IBM Plex Sans"/>
              </a:rPr>
              <a:t>availability over consistency</a:t>
            </a:r>
            <a:r>
              <a:rPr sz="1800" b="0" i="0">
                <a:solidFill>
                  <a:srgbClr val="181B1F"/>
                </a:solidFill>
                <a:latin typeface="IBM Plex Sans"/>
              </a:rPr>
              <a:t> — you serve possibly-stale data and stay up.</a:t>
            </a:r>
          </a:p>
        </p:txBody>
      </p:sp>
      <p:sp>
        <p:nvSpPr>
          <p:cNvPr id="13" name="TextBox 12"/>
          <p:cNvSpPr txBox="1"/>
          <p:nvPr/>
        </p:nvSpPr>
        <p:spPr>
          <a:xfrm>
            <a:off x="713232" y="35308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349023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 a miss: </a:t>
            </a:r>
            <a:r>
              <a:rPr sz="1800" b="1" i="0">
                <a:solidFill>
                  <a:srgbClr val="181B1F"/>
                </a:solidFill>
                <a:latin typeface="IBM Plex Sans"/>
              </a:rPr>
              <a:t>consistency over availability</a:t>
            </a:r>
            <a:r>
              <a:rPr sz="1800" b="0" i="0">
                <a:solidFill>
                  <a:srgbClr val="181B1F"/>
                </a:solidFill>
                <a:latin typeface="IBM Plex Sans"/>
              </a:rPr>
              <a:t> — and A's uptime becomes the uptime of </a:t>
            </a:r>
            <a:r>
              <a:rPr sz="1800" b="1" i="0">
                <a:solidFill>
                  <a:srgbClr val="181B1F"/>
                </a:solidFill>
                <a:latin typeface="IBM Plex Sans"/>
              </a:rPr>
              <a:t>A </a:t>
            </a:r>
            <a:r>
              <a:rPr sz="1800" b="1" i="1">
                <a:solidFill>
                  <a:srgbClr val="181B1F"/>
                </a:solidFill>
                <a:latin typeface="IBM Plex Sans"/>
              </a:rPr>
              <a:t>and</a:t>
            </a:r>
            <a:r>
              <a:rPr sz="1800" b="1" i="0">
                <a:solidFill>
                  <a:srgbClr val="181B1F"/>
                </a:solidFill>
                <a:latin typeface="IBM Plex Sans"/>
              </a:rPr>
              <a:t> B</a:t>
            </a:r>
            <a:r>
              <a:rPr sz="1800" b="0" i="0">
                <a:solidFill>
                  <a:srgbClr val="181B1F"/>
                </a:solidFill>
                <a:latin typeface="IBM Plex Sans"/>
              </a:rPr>
              <a:t>. If B fails, A fails.</a:t>
            </a:r>
          </a:p>
        </p:txBody>
      </p:sp>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109</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Get It On Demand — REST/RPC</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A cache miss is a temporal coupling you did not plan for.</a:t>
            </a:r>
          </a:p>
        </p:txBody>
      </p:sp>
      <p:pic>
        <p:nvPicPr>
          <p:cNvPr id="7" name="Picture 6" descr="eip-get-on-demand.png"/>
          <p:cNvPicPr>
            <a:picLocks noChangeAspect="1"/>
          </p:cNvPicPr>
          <p:nvPr/>
        </p:nvPicPr>
        <p:blipFill>
          <a:blip r:embed="rId2"/>
          <a:stretch>
            <a:fillRect/>
          </a:stretch>
        </p:blipFill>
        <p:spPr>
          <a:xfrm>
            <a:off x="1959211" y="1937258"/>
            <a:ext cx="8419575"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110</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Content Enricher — Someone Else Does the Lookup</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Content Enricher</a:t>
            </a:r>
            <a:r>
              <a:rPr sz="1800" b="0" i="0">
                <a:solidFill>
                  <a:srgbClr val="181B1F"/>
                </a:solidFill>
                <a:latin typeface="IBM Plex Sans"/>
              </a:rPr>
              <a:t> is a filter step that adds required data the publisher did not include: it listens on the channel, fetches what is missing, and republishes the message complete.</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new order carries an </a:t>
            </a:r>
            <a:r>
              <a:rPr sz="1700" b="0" i="0">
                <a:solidFill>
                  <a:srgbClr val="181B1F"/>
                </a:solidFill>
                <a:latin typeface="IBM Plex Mono"/>
              </a:rPr>
              <a:t>AccountId</a:t>
            </a:r>
            <a:r>
              <a:rPr sz="1800" b="0" i="0">
                <a:solidFill>
                  <a:srgbClr val="181B1F"/>
                </a:solidFill>
                <a:latin typeface="IBM Plex Sans"/>
              </a:rPr>
              <a:t>, but shipping needs the customer's address. The enricher adds the address, and the shipping consumer then has what it needs.</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Especially common in microservices, where each service holds only its own data and something has to do the join.</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111</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Content Enricher — Someone Else Does the Lookup</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The enricher does not remove the lookup. It moves it — and the availability sum moves with it.</a:t>
            </a:r>
          </a:p>
        </p:txBody>
      </p:sp>
      <p:pic>
        <p:nvPicPr>
          <p:cNvPr id="7" name="Picture 6" descr="eip-content-enricher.png"/>
          <p:cNvPicPr>
            <a:picLocks noChangeAspect="1"/>
          </p:cNvPicPr>
          <p:nvPr/>
        </p:nvPicPr>
        <p:blipFill>
          <a:blip r:embed="rId2"/>
          <a:stretch>
            <a:fillRect/>
          </a:stretch>
        </p:blipFill>
        <p:spPr>
          <a:xfrm>
            <a:off x="2915902" y="1937258"/>
            <a:ext cx="6506194"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112</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Get It In Advance — ECST (Event-Carried State Transfer)</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Provider B </a:t>
            </a:r>
            <a:r>
              <a:rPr sz="1800" b="1" i="0">
                <a:solidFill>
                  <a:srgbClr val="181B1F"/>
                </a:solidFill>
                <a:latin typeface="IBM Plex Sans"/>
              </a:rPr>
              <a:t>publishes</a:t>
            </a:r>
            <a:r>
              <a:rPr sz="1800" b="0" i="0">
                <a:solidFill>
                  <a:srgbClr val="181B1F"/>
                </a:solidFill>
                <a:latin typeface="IBM Plex Sans"/>
              </a:rPr>
              <a:t> its state changes; Provider A subscribes and keeps a local copy. A never makes a synchronous call to read it.</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upstream provider raises a </a:t>
            </a:r>
            <a:r>
              <a:rPr sz="1800" b="1" i="0">
                <a:solidFill>
                  <a:srgbClr val="181B1F"/>
                </a:solidFill>
                <a:latin typeface="IBM Plex Sans"/>
              </a:rPr>
              <a:t>notification</a:t>
            </a:r>
            <a:r>
              <a:rPr sz="1800" b="0" i="0">
                <a:solidFill>
                  <a:srgbClr val="181B1F"/>
                </a:solidFill>
                <a:latin typeface="IBM Plex Sans"/>
              </a:rPr>
              <a:t> when its own entity state changes (Out-Only / pub-sub).</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downstream provider subscribes and writes to its local cache (</a:t>
            </a:r>
            <a:r>
              <a:rPr sz="1700" b="0" i="0">
                <a:solidFill>
                  <a:srgbClr val="181B1F"/>
                </a:solidFill>
                <a:latin typeface="IBM Plex Mono"/>
              </a:rPr>
              <a:t>cache write()</a:t>
            </a:r>
            <a:r>
              <a:rPr sz="1800" b="0" i="0">
                <a:solidFill>
                  <a:srgbClr val="181B1F"/>
                </a:solidFill>
                <a:latin typeface="IBM Plex Sans"/>
              </a:rPr>
              <a:t>); every request then reads locally.</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There is </a:t>
            </a:r>
            <a:r>
              <a:rPr sz="1800" b="1" i="0">
                <a:solidFill>
                  <a:srgbClr val="181B1F"/>
                </a:solidFill>
                <a:latin typeface="IBM Plex Sans"/>
              </a:rPr>
              <a:t>no miss path</a:t>
            </a:r>
            <a:r>
              <a:rPr sz="1800" b="0" i="0">
                <a:solidFill>
                  <a:srgbClr val="181B1F"/>
                </a:solidFill>
                <a:latin typeface="IBM Plex Sans"/>
              </a:rPr>
              <a:t>, so there is no synchronous call in the middle of a message flow.</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113</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Get It In Advance — ECST (Event-Carried State Transfer)</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This is the default. Prefer it to the synchronous lookup.</a:t>
            </a:r>
          </a:p>
        </p:txBody>
      </p:sp>
      <p:pic>
        <p:nvPicPr>
          <p:cNvPr id="7" name="Picture 6" descr="eip-ecst.png"/>
          <p:cNvPicPr>
            <a:picLocks noChangeAspect="1"/>
          </p:cNvPicPr>
          <p:nvPr/>
        </p:nvPicPr>
        <p:blipFill>
          <a:blip r:embed="rId2"/>
          <a:stretch>
            <a:fillRect/>
          </a:stretch>
        </p:blipFill>
        <p:spPr>
          <a:xfrm>
            <a:off x="2214350" y="1937258"/>
            <a:ext cx="7909298"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Why It Holds Up in Practice</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Latency is not the problem people expect it to be.</a:t>
            </a:r>
            <a:r>
              <a:rPr sz="1800" b="0" i="0">
                <a:solidFill>
                  <a:srgbClr val="181B1F"/>
                </a:solidFill>
                <a:latin typeface="IBM Plex Sans"/>
              </a:rPr>
              <a:t> Propagation is a broker hop — you are behind by milliseconds to seconds. And this is </a:t>
            </a:r>
            <a:r>
              <a:rPr sz="1800" b="0" i="1">
                <a:solidFill>
                  <a:srgbClr val="181B1F"/>
                </a:solidFill>
                <a:latin typeface="IBM Plex Sans"/>
              </a:rPr>
              <a:t>reference</a:t>
            </a:r>
            <a:r>
              <a:rPr sz="1800" b="0" i="0">
                <a:solidFill>
                  <a:srgbClr val="181B1F"/>
                </a:solidFill>
                <a:latin typeface="IBM Plex Sans"/>
              </a:rPr>
              <a:t> data: restaurants, customers, price lists. It changes rarely, and rarely in a way the next message depends on.</a:t>
            </a:r>
          </a:p>
        </p:txBody>
      </p:sp>
      <p:sp>
        <p:nvSpPr>
          <p:cNvPr id="7" name="TextBox 6"/>
          <p:cNvSpPr txBox="1"/>
          <p:nvPr/>
        </p:nvSpPr>
        <p:spPr>
          <a:xfrm>
            <a:off x="713232" y="22740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233441"/>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Versioning is what makes it safe.</a:t>
            </a:r>
            <a:r>
              <a:rPr sz="1800" b="0" i="0">
                <a:solidFill>
                  <a:srgbClr val="181B1F"/>
                </a:solidFill>
                <a:latin typeface="IBM Plex Sans"/>
              </a:rPr>
              <a:t> Carry </a:t>
            </a:r>
            <a:r>
              <a:rPr sz="1800" b="1" i="0">
                <a:solidFill>
                  <a:srgbClr val="181B1F"/>
                </a:solidFill>
                <a:latin typeface="IBM Plex Sans"/>
              </a:rPr>
              <a:t>id and version</a:t>
            </a:r>
            <a:r>
              <a:rPr sz="1800" b="0" i="0">
                <a:solidFill>
                  <a:srgbClr val="181B1F"/>
                </a:solidFill>
                <a:latin typeface="IBM Plex Sans"/>
              </a:rPr>
              <a:t>. Then "I have not seen this yet" is distinguishable from "I have it", and a missing version becomes a </a:t>
            </a:r>
            <a:r>
              <a:rPr sz="1800" b="1" i="0">
                <a:solidFill>
                  <a:srgbClr val="181B1F"/>
                </a:solidFill>
                <a:latin typeface="IBM Plex Sans"/>
              </a:rPr>
              <a:t>wait</a:t>
            </a:r>
            <a:r>
              <a:rPr sz="1800" b="0" i="0">
                <a:solidFill>
                  <a:srgbClr val="181B1F"/>
                </a:solidFill>
                <a:latin typeface="IBM Plex Sans"/>
              </a:rPr>
              <a:t> rather than a wrong answer — which the worked example shows.</a:t>
            </a:r>
          </a:p>
        </p:txBody>
      </p:sp>
      <p:sp>
        <p:nvSpPr>
          <p:cNvPr id="9" name="TextBox 8"/>
          <p:cNvSpPr txBox="1"/>
          <p:nvPr/>
        </p:nvSpPr>
        <p:spPr>
          <a:xfrm>
            <a:off x="713232" y="32133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3172733"/>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You removed the temporal coupling rather than relocating it.</a:t>
            </a:r>
            <a:r>
              <a:rPr sz="1800" b="0" i="0">
                <a:solidFill>
                  <a:srgbClr val="181B1F"/>
                </a:solidFill>
                <a:latin typeface="IBM Plex Sans"/>
              </a:rPr>
              <a:t> A stays up when B is down. Day 1 §Coupling's </a:t>
            </a:r>
            <a:r>
              <a:rPr sz="1800" b="0" i="1">
                <a:solidFill>
                  <a:srgbClr val="181B1F"/>
                </a:solidFill>
                <a:latin typeface="IBM Plex Sans"/>
              </a:rPr>
              <a:t>Must We Both Be Up?</a:t>
            </a:r>
            <a:r>
              <a:rPr sz="1800" b="0" i="0">
                <a:solidFill>
                  <a:srgbClr val="181B1F"/>
                </a:solidFill>
                <a:latin typeface="IBM Plex Sans"/>
              </a:rPr>
              <a:t> arriving inside message design.</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115</a:t>
            </a:r>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Be Honest About the Trade — and Which Way It Runs</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ECST chooses </a:t>
            </a:r>
            <a:r>
              <a:rPr sz="1800" b="1" i="0">
                <a:solidFill>
                  <a:srgbClr val="181B1F"/>
                </a:solidFill>
                <a:latin typeface="IBM Plex Sans"/>
              </a:rPr>
              <a:t>availability over consistency</a:t>
            </a:r>
            <a:r>
              <a:rPr sz="1800" b="0" i="0">
                <a:solidFill>
                  <a:srgbClr val="181B1F"/>
                </a:solidFill>
                <a:latin typeface="IBM Plex Sans"/>
              </a:rPr>
              <a:t> on purpose, and by an amount you can measure: you read a copy that is behind by the propagation delay. The synchronous lookup is not the consistent option — it makes the same trade on a cache hit, and then </a:t>
            </a:r>
            <a:r>
              <a:rPr sz="1800" b="1" i="0">
                <a:solidFill>
                  <a:srgbClr val="181B1F"/>
                </a:solidFill>
                <a:latin typeface="IBM Plex Sans"/>
              </a:rPr>
              <a:t>reverses it on a miss</a:t>
            </a:r>
            <a:r>
              <a:rPr sz="1800" b="0" i="0">
                <a:solidFill>
                  <a:srgbClr val="181B1F"/>
                </a:solidFill>
                <a:latin typeface="IBM Plex Sans"/>
              </a:rPr>
              <a:t>, when B is down and you are not.</a:t>
            </a:r>
          </a:p>
        </p:txBody>
      </p:sp>
      <p:sp>
        <p:nvSpPr>
          <p:cNvPr id="6" name="TextBox 5"/>
          <p:cNvSpPr txBox="1"/>
          <p:nvPr/>
        </p:nvSpPr>
        <p:spPr>
          <a:xfrm>
            <a:off x="713232" y="2284241"/>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it actually costs:</a:t>
            </a:r>
            <a:r>
              <a:rPr sz="1800" b="0" i="0">
                <a:solidFill>
                  <a:srgbClr val="181B1F"/>
                </a:solidFill>
                <a:latin typeface="IBM Plex Sans"/>
              </a:rPr>
              <a:t> you are running a replica, so you own a subscription and you must be able to </a:t>
            </a:r>
            <a:r>
              <a:rPr sz="1800" b="1" i="0">
                <a:solidFill>
                  <a:srgbClr val="181B1F"/>
                </a:solidFill>
                <a:latin typeface="IBM Plex Sans"/>
              </a:rPr>
              <a:t>rebuild</a:t>
            </a:r>
            <a:r>
              <a:rPr sz="1800" b="0" i="0">
                <a:solidFill>
                  <a:srgbClr val="181B1F"/>
                </a:solidFill>
                <a:latin typeface="IBM Plex Sans"/>
              </a:rPr>
              <a:t> it — replay the stream from the beginning. That is operational work, not a correctness risk.</a:t>
            </a:r>
          </a:p>
        </p:txBody>
      </p:sp>
      <p:sp>
        <p:nvSpPr>
          <p:cNvPr id="7" name="TextBox 6"/>
          <p:cNvSpPr txBox="1"/>
          <p:nvPr/>
        </p:nvSpPr>
        <p:spPr>
          <a:xfrm>
            <a:off x="713232" y="2965469"/>
            <a:ext cx="10911535"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When to still reach for the lookup:</a:t>
            </a:r>
            <a:r>
              <a:rPr sz="1800" b="0" i="0">
                <a:solidFill>
                  <a:srgbClr val="181B1F"/>
                </a:solidFill>
                <a:latin typeface="IBM Plex Sans"/>
              </a:rPr>
              <a:t> the data genuinely cannot be replicated — too large, too sensitive, or it must be fresh at the instant you read it (an authorisation or a balance check). Then take the coupling knowingly, and put a circuit breaker on it.</a:t>
            </a:r>
          </a:p>
        </p:txBody>
      </p:sp>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6.2 REFERENCE DATA</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Reference Data — Worked Example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1">
                <a:solidFill>
                  <a:srgbClr val="181B1F"/>
                </a:solidFill>
                <a:latin typeface="IBM Plex Sans"/>
              </a:rPr>
              <a:t>Order Fulfilment → Courier Assignment:</a:t>
            </a:r>
            <a:r>
              <a:rPr sz="1800" b="0" i="0">
                <a:solidFill>
                  <a:srgbClr val="181B1F"/>
                </a:solidFill>
                <a:latin typeface="IBM Plex Sans"/>
              </a:rPr>
              <a:t> the request omits the restaurant pickup address; we assume Courier Assignment obtained it from Restaurant Information.</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Look up the restaurant in the local cache by </a:t>
            </a:r>
            <a:r>
              <a:rPr sz="1800" b="1" i="0">
                <a:solidFill>
                  <a:srgbClr val="181B1F"/>
                </a:solidFill>
                <a:latin typeface="IBM Plex Sans"/>
              </a:rPr>
              <a:t>id and version</a:t>
            </a:r>
            <a:r>
              <a:rPr sz="1800" b="0" i="0">
                <a:solidFill>
                  <a:srgbClr val="181B1F"/>
                </a:solidFill>
                <a:latin typeface="IBM Plex Sans"/>
              </a:rPr>
              <a:t>.</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we have the restaurant but </a:t>
            </a:r>
            <a:r>
              <a:rPr sz="1800" b="1" i="0">
                <a:solidFill>
                  <a:srgbClr val="181B1F"/>
                </a:solidFill>
                <a:latin typeface="IBM Plex Sans"/>
              </a:rPr>
              <a:t>not that version</a:t>
            </a:r>
            <a:r>
              <a:rPr sz="1800" b="0" i="0">
                <a:solidFill>
                  <a:srgbClr val="181B1F"/>
                </a:solidFill>
                <a:latin typeface="IBM Plex Sans"/>
              </a:rPr>
              <a:t>, apply </a:t>
            </a:r>
            <a:r>
              <a:rPr sz="1800" b="1" i="0">
                <a:solidFill>
                  <a:srgbClr val="181B1F"/>
                </a:solidFill>
                <a:latin typeface="IBM Plex Sans"/>
              </a:rPr>
              <a:t>backpressure</a:t>
            </a:r>
            <a:r>
              <a:rPr sz="1800" b="0" i="0">
                <a:solidFill>
                  <a:srgbClr val="181B1F"/>
                </a:solidFill>
                <a:latin typeface="IBM Plex Sans"/>
              </a:rPr>
              <a:t> and retry the order after a delay.</a:t>
            </a:r>
          </a:p>
        </p:txBody>
      </p:sp>
      <p:sp>
        <p:nvSpPr>
          <p:cNvPr id="10" name="Rectangle 9"/>
          <p:cNvSpPr/>
          <p:nvPr/>
        </p:nvSpPr>
        <p:spPr>
          <a:xfrm>
            <a:off x="713232" y="2864358"/>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834603"/>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A missing version is a wait. A missing </a:t>
            </a:r>
            <a:r>
              <a:rPr sz="2400" b="0" i="1">
                <a:solidFill>
                  <a:srgbClr val="C0453B"/>
                </a:solidFill>
                <a:latin typeface="Caveat"/>
              </a:rPr>
              <a:t>value</a:t>
            </a:r>
            <a:r>
              <a:rPr sz="2400" b="0" i="0">
                <a:solidFill>
                  <a:srgbClr val="C0453B"/>
                </a:solidFill>
                <a:latin typeface="Caveat"/>
              </a:rPr>
              <a:t> would have been a wrong answer.</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117</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6.3 Event Shape</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What shape of event lets the receiver keep a copy — and what guarantees that buys.</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6.3 EVENT SHAPE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Domain or Delta Event</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 approach to Pub-Sub where the provider communicates </a:t>
            </a:r>
            <a:r>
              <a:rPr sz="1800" b="1" i="0">
                <a:solidFill>
                  <a:srgbClr val="181B1F"/>
                </a:solidFill>
                <a:latin typeface="IBM Plex Sans"/>
              </a:rPr>
              <a:t>granular</a:t>
            </a:r>
            <a:r>
              <a:rPr sz="1800" b="0" i="0">
                <a:solidFill>
                  <a:srgbClr val="181B1F"/>
                </a:solidFill>
                <a:latin typeface="IBM Plex Sans"/>
              </a:rPr>
              <a:t> state changes to its requestors.</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Messages are usually named as a past participle after the causing command (e.g. </a:t>
            </a:r>
            <a:r>
              <a:rPr sz="1700" b="0" i="0">
                <a:solidFill>
                  <a:srgbClr val="181B1F"/>
                </a:solidFill>
                <a:latin typeface="IBM Plex Mono"/>
              </a:rPr>
              <a:t>BasketItemRemoved</a:t>
            </a:r>
            <a:r>
              <a:rPr sz="1800" b="0" i="0">
                <a:solidFill>
                  <a:srgbClr val="181B1F"/>
                </a:solidFill>
                <a:latin typeface="IBM Plex Sans"/>
              </a:rPr>
              <a:t>, </a:t>
            </a:r>
            <a:r>
              <a:rPr sz="1700" b="0" i="0">
                <a:solidFill>
                  <a:srgbClr val="181B1F"/>
                </a:solidFill>
                <a:latin typeface="IBM Plex Mono"/>
              </a:rPr>
              <a:t>BasketItemAdded</a:t>
            </a:r>
            <a:r>
              <a:rPr sz="1800" b="0" i="0">
                <a:solidFill>
                  <a:srgbClr val="181B1F"/>
                </a:solidFill>
                <a:latin typeface="IBM Plex Sans"/>
              </a:rPr>
              <a:t>).</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Cannot use a </a:t>
            </a:r>
            <a:r>
              <a:rPr sz="1800" b="1" i="0">
                <a:solidFill>
                  <a:srgbClr val="181B1F"/>
                </a:solidFill>
                <a:latin typeface="IBM Plex Sans"/>
              </a:rPr>
              <a:t>Datatype Channel</a:t>
            </a:r>
            <a:r>
              <a:rPr sz="1800" b="0" i="0">
                <a:solidFill>
                  <a:srgbClr val="181B1F"/>
                </a:solidFill>
                <a:latin typeface="IBM Plex Sans"/>
              </a:rPr>
              <a:t> — domain events for the observable must be </a:t>
            </a:r>
            <a:r>
              <a:rPr sz="1800" b="0" i="1">
                <a:solidFill>
                  <a:srgbClr val="181B1F"/>
                </a:solidFill>
                <a:latin typeface="IBM Plex Sans"/>
              </a:rPr>
              <a:t>ordered on the same channel</a:t>
            </a:r>
            <a:r>
              <a:rPr sz="1800" b="0" i="0">
                <a:solidFill>
                  <a:srgbClr val="181B1F"/>
                </a:solidFill>
                <a:latin typeface="IBM Plex Sans"/>
              </a:rPr>
              <a:t> and have different schemas. This burdens the requestor to multiplex handling of the events.</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119</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6.3 EVENT SHAPE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Summary or Snapshot Event</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 approach to Pub-Sub where the provider communicates a </a:t>
            </a:r>
            <a:r>
              <a:rPr sz="1800" b="1" i="0">
                <a:solidFill>
                  <a:srgbClr val="181B1F"/>
                </a:solidFill>
                <a:latin typeface="IBM Plex Sans"/>
              </a:rPr>
              <a:t>summary</a:t>
            </a:r>
            <a:r>
              <a:rPr sz="1800" b="0" i="0">
                <a:solidFill>
                  <a:srgbClr val="181B1F"/>
                </a:solidFill>
                <a:latin typeface="IBM Plex Sans"/>
              </a:rPr>
              <a:t> of state changes.</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message is </a:t>
            </a:r>
            <a:r>
              <a:rPr sz="1800" b="1" i="0">
                <a:solidFill>
                  <a:srgbClr val="181B1F"/>
                </a:solidFill>
                <a:latin typeface="IBM Plex Sans"/>
              </a:rPr>
              <a:t>versioned</a:t>
            </a:r>
            <a:r>
              <a:rPr sz="1800" b="0" i="0">
                <a:solidFill>
                  <a:srgbClr val="181B1F"/>
                </a:solidFill>
                <a:latin typeface="IBM Plex Sans"/>
              </a:rPr>
              <a:t> and contains metadata describing the cause(s) of changes; usually named after the observable (e.g. </a:t>
            </a:r>
            <a:r>
              <a:rPr sz="1700" b="0" i="0">
                <a:solidFill>
                  <a:srgbClr val="181B1F"/>
                </a:solidFill>
                <a:latin typeface="IBM Plex Mono"/>
              </a:rPr>
              <a:t>BasketChanged</a:t>
            </a:r>
            <a:r>
              <a:rPr sz="1800" b="0" i="0">
                <a:solidFill>
                  <a:srgbClr val="181B1F"/>
                </a:solidFill>
                <a:latin typeface="IBM Plex Sans"/>
              </a:rPr>
              <a:t>).</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Can</a:t>
            </a:r>
            <a:r>
              <a:rPr sz="1800" b="0" i="0">
                <a:solidFill>
                  <a:srgbClr val="181B1F"/>
                </a:solidFill>
                <a:latin typeface="IBM Plex Sans"/>
              </a:rPr>
              <a:t> use a Datatype Channel — there is just one schema for a snapshot of the observable.</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120</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6.3 EVENT SHAPE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Why ECST Needs Snapshots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cannot replicate someone else's state from deltas unless you receive </a:t>
            </a:r>
            <a:r>
              <a:rPr sz="1800" b="1" i="0">
                <a:solidFill>
                  <a:srgbClr val="181B1F"/>
                </a:solidFill>
                <a:latin typeface="IBM Plex Sans"/>
              </a:rPr>
              <a:t>every one of them, in order</a:t>
            </a:r>
            <a:r>
              <a:rPr sz="1800" b="0" i="0">
                <a:solidFill>
                  <a:srgbClr val="181B1F"/>
                </a:solidFill>
                <a:latin typeface="IBM Plex Sans"/>
              </a:rPr>
              <a: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With </a:t>
            </a:r>
            <a:r>
              <a:rPr sz="1800" b="1" i="0">
                <a:solidFill>
                  <a:srgbClr val="181B1F"/>
                </a:solidFill>
                <a:latin typeface="IBM Plex Sans"/>
              </a:rPr>
              <a:t>Domain/Delta events</a:t>
            </a:r>
            <a:r>
              <a:rPr sz="1800" b="0" i="0">
                <a:solidFill>
                  <a:srgbClr val="181B1F"/>
                </a:solidFill>
                <a:latin typeface="IBM Plex Sans"/>
              </a:rPr>
              <a:t>, a missed or reordered message leaves the replica permanently wrong — and nothing in the stream tells you. You must apply them all, you can only use blocking retry, and you cannot shed load.</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With </a:t>
            </a:r>
            <a:r>
              <a:rPr sz="1800" b="1" i="0">
                <a:solidFill>
                  <a:srgbClr val="181B1F"/>
                </a:solidFill>
                <a:latin typeface="IBM Plex Sans"/>
              </a:rPr>
              <a:t>Summary/Snapshot events</a:t>
            </a:r>
            <a:r>
              <a:rPr sz="1800" b="0" i="0">
                <a:solidFill>
                  <a:srgbClr val="181B1F"/>
                </a:solidFill>
                <a:latin typeface="IBM Plex Sans"/>
              </a:rPr>
              <a:t>, each message is complete in itself. A missed one is repaired by the next one to arrive.</a:t>
            </a:r>
          </a:p>
        </p:txBody>
      </p:sp>
      <p:sp>
        <p:nvSpPr>
          <p:cNvPr id="10" name="Rectangle 9"/>
          <p:cNvSpPr/>
          <p:nvPr/>
        </p:nvSpPr>
        <p:spPr>
          <a:xfrm>
            <a:off x="713232" y="3431286"/>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401531"/>
            <a:ext cx="10637215"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Choose the delta and you have chosen strict ordering. Choose the snapshot and you have bought it back.</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121</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6.3 EVENT SHAPE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If Later, Stream</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If Later</a:t>
            </a:r>
            <a:r>
              <a:rPr sz="1800" b="0" i="0">
                <a:solidFill>
                  <a:srgbClr val="181B1F"/>
                </a:solidFill>
                <a:latin typeface="IBM Plex Sans"/>
              </a:rPr>
              <a:t> lets us use a versioned Summary Event to ignore ordering errors.</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Consumer reads v1 of 12345 and handles it; reads v3 and applies it (later than v1); reads v2 and </a:t>
            </a:r>
            <a:r>
              <a:rPr sz="1800" b="1" i="0">
                <a:solidFill>
                  <a:srgbClr val="181B1F"/>
                </a:solidFill>
                <a:latin typeface="IBM Plex Sans"/>
              </a:rPr>
              <a:t>discards</a:t>
            </a:r>
            <a:r>
              <a:rPr sz="1800" b="0" i="0">
                <a:solidFill>
                  <a:srgbClr val="181B1F"/>
                </a:solidFill>
                <a:latin typeface="IBM Plex Sans"/>
              </a:rPr>
              <a:t> it (earlier than the already-applied v3).</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Even on a stream, non-blocking retry or guaranteed delivery via an outbox can produce out-of-order messages; If-Later also lets us shed load.</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We </a:t>
            </a:r>
            <a:r>
              <a:rPr sz="1800" b="0" i="1">
                <a:solidFill>
                  <a:srgbClr val="181B1F"/>
                </a:solidFill>
                <a:latin typeface="IBM Plex Sans"/>
              </a:rPr>
              <a:t>cannot</a:t>
            </a:r>
            <a:r>
              <a:rPr sz="1800" b="0" i="0">
                <a:solidFill>
                  <a:srgbClr val="181B1F"/>
                </a:solidFill>
                <a:latin typeface="IBM Plex Sans"/>
              </a:rPr>
              <a:t> use If-Later with a Domain Event — those must all be applied. With Domain Events we can only use a blocking retry and cannot shed load.</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122</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6.3 EVENT SHAPE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If Later, Stream</a:t>
            </a:r>
          </a:p>
        </p:txBody>
      </p:sp>
      <p:pic>
        <p:nvPicPr>
          <p:cNvPr id="5" name="Picture 4" descr="if-later-stream.png"/>
          <p:cNvPicPr>
            <a:picLocks noChangeAspect="1"/>
          </p:cNvPicPr>
          <p:nvPr/>
        </p:nvPicPr>
        <p:blipFill>
          <a:blip r:embed="rId2"/>
          <a:stretch>
            <a:fillRect/>
          </a:stretch>
        </p:blipFill>
        <p:spPr>
          <a:xfrm>
            <a:off x="713232" y="1389592"/>
            <a:ext cx="10911535" cy="4904060"/>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6.3 EVENT SHAPE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If Later, Queue</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If-Later also lets messages be processed out-of-order with a queue and competing consumers.</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consumer expects/writes v1 while another writes v2; </a:t>
            </a:r>
            <a:r>
              <a:rPr sz="1800" b="1" i="0">
                <a:solidFill>
                  <a:srgbClr val="181B1F"/>
                </a:solidFill>
                <a:latin typeface="IBM Plex Sans"/>
              </a:rPr>
              <a:t>read-past</a:t>
            </a:r>
            <a:r>
              <a:rPr sz="1800" b="0" i="0">
                <a:solidFill>
                  <a:srgbClr val="181B1F"/>
                </a:solidFill>
                <a:latin typeface="IBM Plex Sans"/>
              </a:rPr>
              <a:t> lets them proceed.</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queue normally processes messages (not events), so this applies only where we use a queue.</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If a message </a:t>
            </a:r>
            <a:r>
              <a:rPr sz="1800" b="0" i="1">
                <a:solidFill>
                  <a:srgbClr val="181B1F"/>
                </a:solidFill>
                <a:latin typeface="IBM Plex Sans"/>
              </a:rPr>
              <a:t>must</a:t>
            </a:r>
            <a:r>
              <a:rPr sz="1800" b="0" i="0">
                <a:solidFill>
                  <a:srgbClr val="181B1F"/>
                </a:solidFill>
                <a:latin typeface="IBM Plex Sans"/>
              </a:rPr>
              <a:t> be ordered (e.g. a series of commands), use requeue-with-delay or a sequencer to re-order.</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124</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6.3 EVENT SHAPE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If Later, Queue</a:t>
            </a:r>
          </a:p>
        </p:txBody>
      </p:sp>
      <p:pic>
        <p:nvPicPr>
          <p:cNvPr id="5" name="Picture 4" descr="if-later-queue.png"/>
          <p:cNvPicPr>
            <a:picLocks noChangeAspect="1"/>
          </p:cNvPicPr>
          <p:nvPr/>
        </p:nvPicPr>
        <p:blipFill>
          <a:blip r:embed="rId2"/>
          <a:stretch>
            <a:fillRect/>
          </a:stretch>
        </p:blipFill>
        <p:spPr>
          <a:xfrm>
            <a:off x="1348315" y="1245870"/>
            <a:ext cx="9641368"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6.3 EVENT SHAPE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Public and Private Providers</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 approach to Pub-Sub where a </a:t>
            </a:r>
            <a:r>
              <a:rPr sz="1800" b="1" i="0">
                <a:solidFill>
                  <a:srgbClr val="181B1F"/>
                </a:solidFill>
                <a:latin typeface="IBM Plex Sans"/>
              </a:rPr>
              <a:t>public</a:t>
            </a:r>
            <a:r>
              <a:rPr sz="1800" b="0" i="0">
                <a:solidFill>
                  <a:srgbClr val="181B1F"/>
                </a:solidFill>
                <a:latin typeface="IBM Plex Sans"/>
              </a:rPr>
              <a:t> provider communicates with collaborators in other domains via a </a:t>
            </a:r>
            <a:r>
              <a:rPr sz="1800" b="1" i="0">
                <a:solidFill>
                  <a:srgbClr val="181B1F"/>
                </a:solidFill>
                <a:latin typeface="IBM Plex Sans"/>
              </a:rPr>
              <a:t>Summary Event</a:t>
            </a:r>
            <a:r>
              <a:rPr sz="1800" b="0" i="0">
                <a:solidFill>
                  <a:srgbClr val="181B1F"/>
                </a:solidFill>
                <a:latin typeface="IBM Plex Sans"/>
              </a:rPr>
              <a:t> aggregated from the domain events of </a:t>
            </a:r>
            <a:r>
              <a:rPr sz="1800" b="1" i="0">
                <a:solidFill>
                  <a:srgbClr val="181B1F"/>
                </a:solidFill>
                <a:latin typeface="IBM Plex Sans"/>
              </a:rPr>
              <a:t>private</a:t>
            </a:r>
            <a:r>
              <a:rPr sz="1800" b="0" i="0">
                <a:solidFill>
                  <a:srgbClr val="181B1F"/>
                </a:solidFill>
                <a:latin typeface="IBM Plex Sans"/>
              </a:rPr>
              <a:t> providers.</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Private providers raise granular </a:t>
            </a:r>
            <a:r>
              <a:rPr sz="1700" b="0" i="0">
                <a:solidFill>
                  <a:srgbClr val="181B1F"/>
                </a:solidFill>
                <a:latin typeface="IBM Plex Mono"/>
              </a:rPr>
              <a:t>event()</a:t>
            </a:r>
            <a:r>
              <a:rPr sz="1800" b="0" i="0">
                <a:solidFill>
                  <a:srgbClr val="181B1F"/>
                </a:solidFill>
                <a:latin typeface="IBM Plex Sans"/>
              </a:rPr>
              <a:t>s.</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public provider republishes a versioned </a:t>
            </a:r>
            <a:r>
              <a:rPr sz="1700" b="0" i="0">
                <a:solidFill>
                  <a:srgbClr val="181B1F"/>
                </a:solidFill>
                <a:latin typeface="IBM Plex Mono"/>
              </a:rPr>
              <a:t>summary()</a:t>
            </a:r>
            <a:r>
              <a:rPr sz="1800" b="0" i="0">
                <a:solidFill>
                  <a:srgbClr val="181B1F"/>
                </a:solidFill>
                <a:latin typeface="IBM Plex Sans"/>
              </a:rPr>
              <a:t> with metadata describing the cause(s) of changes.</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126</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ONE</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Closing</a:t>
            </a:r>
          </a:p>
        </p:txBody>
      </p:sp>
      <p:sp>
        <p:nvSpPr>
          <p:cNvPr id="6" name="TextBox 5"/>
          <p:cNvSpPr txBox="1"/>
          <p:nvPr/>
        </p:nvSpPr>
        <p:spPr>
          <a:xfrm>
            <a:off x="713232" y="3098819"/>
            <a:ext cx="6546921" cy="301752"/>
          </a:xfrm>
          <a:prstGeom prst="rect">
            <a:avLst/>
          </a:prstGeom>
          <a:noFill/>
        </p:spPr>
        <p:txBody>
          <a:bodyPr wrap="square" lIns="0" rIns="0" tIns="0" bIns="0">
            <a:spAutoFit/>
          </a:bodyPr>
          <a:lstStyle/>
          <a:p>
            <a:pPr>
              <a:lnSpc>
                <a:spcPts val="2232"/>
              </a:lnSpc>
            </a:pPr>
            <a:r>
              <a:rPr sz="1800" b="0" i="0">
                <a:solidFill>
                  <a:srgbClr val="2F5D3A"/>
                </a:solidFill>
                <a:latin typeface="IBM Plex Sans"/>
              </a:rPr>
              <a:t>Where to go deeper, and what to ask.</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CLOSING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Further Reading — Data on the Outside</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Data on the Outside versus Data on the Inside</a:t>
            </a:r>
            <a:r>
              <a:rPr sz="1800" b="0" i="0">
                <a:solidFill>
                  <a:srgbClr val="181B1F"/>
                </a:solidFill>
                <a:latin typeface="IBM Plex Sans"/>
              </a:rPr>
              <a:t> — Pat Helland, CIDR 2005. Free online.</a:t>
            </a:r>
          </a:p>
        </p:txBody>
      </p:sp>
      <p:sp>
        <p:nvSpPr>
          <p:cNvPr id="6" name="TextBox 5"/>
          <p:cNvSpPr txBox="1"/>
          <p:nvPr/>
        </p:nvSpPr>
        <p:spPr>
          <a:xfrm>
            <a:off x="713232" y="1717313"/>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paper behind this morning: data that crosses a process boundary is a </a:t>
            </a:r>
            <a:r>
              <a:rPr sz="1800" b="1" i="0">
                <a:solidFill>
                  <a:srgbClr val="181B1F"/>
                </a:solidFill>
                <a:latin typeface="IBM Plex Sans"/>
              </a:rPr>
              <a:t>copy</a:t>
            </a:r>
            <a:r>
              <a:rPr sz="1800" b="0" i="0">
                <a:solidFill>
                  <a:srgbClr val="181B1F"/>
                </a:solidFill>
                <a:latin typeface="IBM Plex Sans"/>
              </a:rPr>
              <a:t>, immutable and already stale, and that is why it travels as a message rather than a call.</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CLOSING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Further Reading — Building Microservices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Building Microservices</a:t>
            </a:r>
            <a:r>
              <a:rPr sz="1800" b="0" i="0">
                <a:solidFill>
                  <a:srgbClr val="181B1F"/>
                </a:solidFill>
                <a:latin typeface="IBM Plex Sans"/>
              </a:rPr>
              <a:t> — Sam Newman (O'Reilly, 2nd edition). samnewman.io</a:t>
            </a:r>
          </a:p>
        </p:txBody>
      </p:sp>
      <p:sp>
        <p:nvSpPr>
          <p:cNvPr id="6" name="TextBox 5"/>
          <p:cNvSpPr txBox="1"/>
          <p:nvPr/>
        </p:nvSpPr>
        <p:spPr>
          <a:xfrm>
            <a:off x="713232" y="1717313"/>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For §Coupling and §Integration Styles — the same four styles on the same grid, argued at book length, and the boundary as an </a:t>
            </a:r>
            <a:r>
              <a:rPr sz="1800" b="1" i="0">
                <a:solidFill>
                  <a:srgbClr val="181B1F"/>
                </a:solidFill>
                <a:latin typeface="IBM Plex Sans"/>
              </a:rPr>
              <a:t>organisational</a:t>
            </a:r>
            <a:r>
              <a:rPr sz="1800" b="0" i="0">
                <a:solidFill>
                  <a:srgbClr val="181B1F"/>
                </a:solidFill>
                <a:latin typeface="IBM Plex Sans"/>
              </a:rPr>
              <a:t> one as much as a technical one.</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CLOSING</a:t>
            </a:r>
          </a:p>
        </p:txBody>
      </p:sp>
      <p:sp>
        <p:nvSpPr>
          <p:cNvPr id="4" name="TextBox 3"/>
          <p:cNvSpPr txBox="1"/>
          <p:nvPr/>
        </p:nvSpPr>
        <p:spPr>
          <a:xfrm>
            <a:off x="713232" y="606722"/>
            <a:ext cx="6074336"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Further Reading — Enterprise Integration Patterns</a:t>
            </a:r>
          </a:p>
        </p:txBody>
      </p:sp>
      <p:sp>
        <p:nvSpPr>
          <p:cNvPr id="5" name="TextBox 4"/>
          <p:cNvSpPr txBox="1"/>
          <p:nvPr/>
        </p:nvSpPr>
        <p:spPr>
          <a:xfrm>
            <a:off x="713232" y="1739411"/>
            <a:ext cx="6074336" cy="585216"/>
          </a:xfrm>
          <a:prstGeom prst="rect">
            <a:avLst/>
          </a:prstGeom>
          <a:noFill/>
        </p:spPr>
        <p:txBody>
          <a:bodyPr wrap="square" lIns="0" rIns="0" tIns="0" bIns="0">
            <a:spAutoFit/>
          </a:bodyPr>
          <a:lstStyle/>
          <a:p>
            <a:pPr>
              <a:lnSpc>
                <a:spcPts val="2232"/>
              </a:lnSpc>
            </a:pPr>
            <a:r>
              <a:rPr sz="1800" b="0" i="1">
                <a:solidFill>
                  <a:srgbClr val="181B1F"/>
                </a:solidFill>
                <a:latin typeface="IBM Plex Sans"/>
              </a:rPr>
              <a:t>Enterprise Integration Patterns</a:t>
            </a:r>
            <a:r>
              <a:rPr sz="1800" b="0" i="0">
                <a:solidFill>
                  <a:srgbClr val="181B1F"/>
                </a:solidFill>
                <a:latin typeface="IBM Plex Sans"/>
              </a:rPr>
              <a:t> — Gregor Hohpe &amp; Bobby Woolf. enterpriseintegrationpatterns.com</a:t>
            </a:r>
          </a:p>
        </p:txBody>
      </p:sp>
      <p:sp>
        <p:nvSpPr>
          <p:cNvPr id="6" name="TextBox 5"/>
          <p:cNvSpPr txBox="1"/>
          <p:nvPr/>
        </p:nvSpPr>
        <p:spPr>
          <a:xfrm>
            <a:off x="713232" y="2420639"/>
            <a:ext cx="6074336"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catalogue §Messaging Patterns follows.</a:t>
            </a:r>
            <a:r>
              <a:rPr sz="1800" b="0" i="0">
                <a:solidFill>
                  <a:srgbClr val="181B1F"/>
                </a:solidFill>
                <a:latin typeface="IBM Plex Sans"/>
              </a:rPr>
              <a:t> Every pattern named today is written up there in full, with the trade-offs the slides had to compress.</a:t>
            </a:r>
          </a:p>
        </p:txBody>
      </p:sp>
      <p:sp>
        <p:nvSpPr>
          <p:cNvPr id="7" name="Rectangle 6"/>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ver-enterprise-integration-patterns.jpg"/>
          <p:cNvPicPr>
            <a:picLocks noChangeAspect="1"/>
          </p:cNvPicPr>
          <p:nvPr/>
        </p:nvPicPr>
        <p:blipFill>
          <a:blip r:embed="rId2"/>
          <a:stretch>
            <a:fillRect/>
          </a:stretch>
        </p:blipFill>
        <p:spPr>
          <a:xfrm>
            <a:off x="7272200" y="624328"/>
            <a:ext cx="4215406" cy="5572767"/>
          </a:xfrm>
          <a:prstGeom prst="rect">
            <a:avLst/>
          </a:prstGeom>
        </p:spPr>
      </p:pic>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CLOSING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Further Reading — Designing Data-Intensive Applications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1">
                <a:solidFill>
                  <a:srgbClr val="181B1F"/>
                </a:solidFill>
                <a:latin typeface="IBM Plex Sans"/>
              </a:rPr>
              <a:t>Designing Data-Intensive Applications</a:t>
            </a:r>
            <a:r>
              <a:rPr sz="1800" b="0" i="0">
                <a:solidFill>
                  <a:srgbClr val="181B1F"/>
                </a:solidFill>
                <a:latin typeface="IBM Plex Sans"/>
              </a:rPr>
              <a:t> — Martin Kleppmann (O'Reilly). dataintensive.net</a:t>
            </a:r>
          </a:p>
        </p:txBody>
      </p:sp>
      <p:sp>
        <p:nvSpPr>
          <p:cNvPr id="6" name="TextBox 5"/>
          <p:cNvSpPr txBox="1"/>
          <p:nvPr/>
        </p:nvSpPr>
        <p:spPr>
          <a:xfrm>
            <a:off x="713232" y="1717313"/>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For §4.5 Queues and Streams and §6.3 Event Shape — ordering, idempotency, replication, and why a log and a queue are not the same thing.</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CLOSING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Q&amp;A</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Questions and discussion.</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