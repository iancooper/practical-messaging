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56" r:id="rId2"/>
    <p:sldId id="821" r:id="rId3"/>
    <p:sldId id="422" r:id="rId4"/>
    <p:sldId id="977" r:id="rId5"/>
    <p:sldId id="287" r:id="rId6"/>
    <p:sldId id="289" r:id="rId7"/>
    <p:sldId id="835" r:id="rId8"/>
    <p:sldId id="421" r:id="rId9"/>
    <p:sldId id="297" r:id="rId10"/>
    <p:sldId id="296" r:id="rId11"/>
    <p:sldId id="557" r:id="rId12"/>
    <p:sldId id="318" r:id="rId13"/>
    <p:sldId id="558" r:id="rId14"/>
    <p:sldId id="568" r:id="rId15"/>
    <p:sldId id="282" r:id="rId16"/>
    <p:sldId id="567" r:id="rId17"/>
    <p:sldId id="265" r:id="rId18"/>
    <p:sldId id="266" r:id="rId19"/>
    <p:sldId id="531" r:id="rId20"/>
    <p:sldId id="304" r:id="rId21"/>
    <p:sldId id="573" r:id="rId22"/>
    <p:sldId id="990" r:id="rId23"/>
    <p:sldId id="576" r:id="rId24"/>
    <p:sldId id="562" r:id="rId25"/>
    <p:sldId id="329" r:id="rId26"/>
    <p:sldId id="496" r:id="rId27"/>
    <p:sldId id="743" r:id="rId28"/>
    <p:sldId id="574" r:id="rId29"/>
    <p:sldId id="569" r:id="rId30"/>
    <p:sldId id="577" r:id="rId31"/>
    <p:sldId id="981" r:id="rId32"/>
    <p:sldId id="579" r:id="rId33"/>
    <p:sldId id="580" r:id="rId34"/>
    <p:sldId id="581" r:id="rId35"/>
    <p:sldId id="582" r:id="rId36"/>
    <p:sldId id="525" r:id="rId37"/>
    <p:sldId id="583" r:id="rId38"/>
    <p:sldId id="561" r:id="rId39"/>
    <p:sldId id="323" r:id="rId40"/>
    <p:sldId id="455" r:id="rId41"/>
    <p:sldId id="689" r:id="rId42"/>
    <p:sldId id="595" r:id="rId43"/>
    <p:sldId id="688" r:id="rId44"/>
    <p:sldId id="398" r:id="rId45"/>
    <p:sldId id="666" r:id="rId46"/>
    <p:sldId id="667" r:id="rId47"/>
    <p:sldId id="307" r:id="rId48"/>
    <p:sldId id="321" r:id="rId49"/>
    <p:sldId id="409" r:id="rId50"/>
    <p:sldId id="410" r:id="rId51"/>
    <p:sldId id="411" r:id="rId52"/>
    <p:sldId id="413" r:id="rId53"/>
    <p:sldId id="412" r:id="rId54"/>
    <p:sldId id="308" r:id="rId55"/>
    <p:sldId id="415" r:id="rId56"/>
    <p:sldId id="419" r:id="rId57"/>
    <p:sldId id="526" r:id="rId58"/>
    <p:sldId id="495" r:id="rId59"/>
    <p:sldId id="418" r:id="rId60"/>
    <p:sldId id="416" r:id="rId61"/>
    <p:sldId id="408" r:id="rId62"/>
    <p:sldId id="417" r:id="rId63"/>
    <p:sldId id="527" r:id="rId64"/>
    <p:sldId id="530" r:id="rId65"/>
    <p:sldId id="528" r:id="rId66"/>
    <p:sldId id="333" r:id="rId67"/>
    <p:sldId id="334" r:id="rId68"/>
    <p:sldId id="335" r:id="rId69"/>
    <p:sldId id="338" r:id="rId70"/>
    <p:sldId id="529" r:id="rId71"/>
    <p:sldId id="349" r:id="rId72"/>
    <p:sldId id="348" r:id="rId73"/>
    <p:sldId id="350" r:id="rId74"/>
    <p:sldId id="351" r:id="rId75"/>
    <p:sldId id="826" r:id="rId76"/>
    <p:sldId id="696" r:id="rId77"/>
    <p:sldId id="697" r:id="rId78"/>
    <p:sldId id="610" r:id="rId79"/>
    <p:sldId id="698" r:id="rId80"/>
    <p:sldId id="634" r:id="rId81"/>
    <p:sldId id="699" r:id="rId82"/>
    <p:sldId id="614" r:id="rId83"/>
    <p:sldId id="703" r:id="rId84"/>
    <p:sldId id="701" r:id="rId85"/>
    <p:sldId id="702" r:id="rId86"/>
    <p:sldId id="646" r:id="rId87"/>
    <p:sldId id="827" r:id="rId88"/>
    <p:sldId id="648" r:id="rId89"/>
    <p:sldId id="828" r:id="rId90"/>
    <p:sldId id="829" r:id="rId91"/>
    <p:sldId id="976" r:id="rId92"/>
    <p:sldId id="991" r:id="rId93"/>
    <p:sldId id="992" r:id="rId94"/>
    <p:sldId id="984" r:id="rId95"/>
    <p:sldId id="993" r:id="rId96"/>
    <p:sldId id="994" r:id="rId97"/>
    <p:sldId id="820" r:id="rId98"/>
    <p:sldId id="988" r:id="rId99"/>
    <p:sldId id="497" r:id="rId100"/>
    <p:sldId id="439" r:id="rId101"/>
    <p:sldId id="830" r:id="rId102"/>
    <p:sldId id="440" r:id="rId103"/>
    <p:sldId id="989" r:id="rId104"/>
    <p:sldId id="832" r:id="rId105"/>
    <p:sldId id="278" r:id="rId106"/>
    <p:sldId id="668" r:id="rId107"/>
    <p:sldId id="372" r:id="rId108"/>
    <p:sldId id="374" r:id="rId109"/>
    <p:sldId id="345" r:id="rId110"/>
    <p:sldId id="768" r:id="rId111"/>
    <p:sldId id="378" r:id="rId112"/>
    <p:sldId id="769" r:id="rId113"/>
    <p:sldId id="771" r:id="rId114"/>
    <p:sldId id="772" r:id="rId115"/>
    <p:sldId id="774" r:id="rId116"/>
    <p:sldId id="775" r:id="rId117"/>
    <p:sldId id="776" r:id="rId118"/>
    <p:sldId id="777" r:id="rId119"/>
    <p:sldId id="778" r:id="rId120"/>
    <p:sldId id="779" r:id="rId121"/>
    <p:sldId id="780" r:id="rId122"/>
    <p:sldId id="781" r:id="rId123"/>
    <p:sldId id="782" r:id="rId124"/>
    <p:sldId id="369" r:id="rId125"/>
    <p:sldId id="783" r:id="rId126"/>
    <p:sldId id="360" r:id="rId127"/>
    <p:sldId id="784" r:id="rId128"/>
    <p:sldId id="770" r:id="rId129"/>
    <p:sldId id="834" r:id="rId130"/>
    <p:sldId id="295" r:id="rId131"/>
    <p:sldId id="371" r:id="rId132"/>
    <p:sldId id="833" r:id="rId133"/>
    <p:sldId id="987" r:id="rId134"/>
    <p:sldId id="364" r:id="rId135"/>
    <p:sldId id="368" r:id="rId136"/>
    <p:sldId id="672" r:id="rId137"/>
    <p:sldId id="290" r:id="rId138"/>
    <p:sldId id="281" r:id="rId1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54"/>
    <p:restoredTop sz="94311" autoAdjust="0"/>
  </p:normalViewPr>
  <p:slideViewPr>
    <p:cSldViewPr snapToGrid="0" snapToObjects="1">
      <p:cViewPr varScale="1">
        <p:scale>
          <a:sx n="152" d="100"/>
          <a:sy n="152" d="100"/>
        </p:scale>
        <p:origin x="184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94CDBB-F67A-4059-9AAF-13F2C7AAA628}"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2F7DA765-0AB4-4B7D-B101-FDDF4B6463AA}">
      <dgm:prSet/>
      <dgm:spPr/>
      <dgm:t>
        <a:bodyPr/>
        <a:lstStyle/>
        <a:p>
          <a:pPr>
            <a:lnSpc>
              <a:spcPct val="100000"/>
            </a:lnSpc>
          </a:pPr>
          <a:r>
            <a:rPr lang="en-US"/>
            <a:t>Distribution</a:t>
          </a:r>
        </a:p>
      </dgm:t>
    </dgm:pt>
    <dgm:pt modelId="{9B9495E7-CB8C-4F56-BFA2-6BD5C33710CC}" type="parTrans" cxnId="{33C5D6EC-833E-4912-95A1-34D4B72715F7}">
      <dgm:prSet/>
      <dgm:spPr/>
      <dgm:t>
        <a:bodyPr/>
        <a:lstStyle/>
        <a:p>
          <a:endParaRPr lang="en-US"/>
        </a:p>
      </dgm:t>
    </dgm:pt>
    <dgm:pt modelId="{CDD01098-93DD-48A2-A8E4-F2CD86948E98}" type="sibTrans" cxnId="{33C5D6EC-833E-4912-95A1-34D4B72715F7}">
      <dgm:prSet/>
      <dgm:spPr/>
      <dgm:t>
        <a:bodyPr/>
        <a:lstStyle/>
        <a:p>
          <a:endParaRPr lang="en-US"/>
        </a:p>
      </dgm:t>
    </dgm:pt>
    <dgm:pt modelId="{084D1BDA-0B47-4A39-A5B6-15310F04BB6B}">
      <dgm:prSet/>
      <dgm:spPr/>
      <dgm:t>
        <a:bodyPr/>
        <a:lstStyle/>
        <a:p>
          <a:pPr>
            <a:lnSpc>
              <a:spcPct val="100000"/>
            </a:lnSpc>
          </a:pPr>
          <a:r>
            <a:rPr lang="en-US"/>
            <a:t>Integration Styles</a:t>
          </a:r>
        </a:p>
      </dgm:t>
    </dgm:pt>
    <dgm:pt modelId="{C0693506-C42B-48AC-8D03-4458AB356E97}" type="parTrans" cxnId="{067D6122-1A7A-456E-A958-24984767ED64}">
      <dgm:prSet/>
      <dgm:spPr/>
      <dgm:t>
        <a:bodyPr/>
        <a:lstStyle/>
        <a:p>
          <a:endParaRPr lang="en-US"/>
        </a:p>
      </dgm:t>
    </dgm:pt>
    <dgm:pt modelId="{00C026C4-E887-4660-8490-766471ADD4EA}" type="sibTrans" cxnId="{067D6122-1A7A-456E-A958-24984767ED64}">
      <dgm:prSet/>
      <dgm:spPr/>
      <dgm:t>
        <a:bodyPr/>
        <a:lstStyle/>
        <a:p>
          <a:endParaRPr lang="en-US"/>
        </a:p>
      </dgm:t>
    </dgm:pt>
    <dgm:pt modelId="{7F77F4B6-49A0-472E-80D8-0813C5797C51}">
      <dgm:prSet/>
      <dgm:spPr/>
      <dgm:t>
        <a:bodyPr/>
        <a:lstStyle/>
        <a:p>
          <a:pPr>
            <a:lnSpc>
              <a:spcPct val="100000"/>
            </a:lnSpc>
          </a:pPr>
          <a:r>
            <a:rPr lang="en-US"/>
            <a:t>Messaging Patterns</a:t>
          </a:r>
        </a:p>
      </dgm:t>
    </dgm:pt>
    <dgm:pt modelId="{4C3E7494-9F89-45AE-B9C9-EA1E512EDB3A}" type="parTrans" cxnId="{AC32BA66-E757-4D60-B9CB-F80EF6C6243E}">
      <dgm:prSet/>
      <dgm:spPr/>
      <dgm:t>
        <a:bodyPr/>
        <a:lstStyle/>
        <a:p>
          <a:endParaRPr lang="en-US"/>
        </a:p>
      </dgm:t>
    </dgm:pt>
    <dgm:pt modelId="{469FE234-6561-49BB-A3A8-FEEACB3BA54D}" type="sibTrans" cxnId="{AC32BA66-E757-4D60-B9CB-F80EF6C6243E}">
      <dgm:prSet/>
      <dgm:spPr/>
      <dgm:t>
        <a:bodyPr/>
        <a:lstStyle/>
        <a:p>
          <a:endParaRPr lang="en-US"/>
        </a:p>
      </dgm:t>
    </dgm:pt>
    <dgm:pt modelId="{0924C685-6A3C-4D28-8A8C-282837A0AC5E}">
      <dgm:prSet/>
      <dgm:spPr/>
      <dgm:t>
        <a:bodyPr/>
        <a:lstStyle/>
        <a:p>
          <a:pPr>
            <a:lnSpc>
              <a:spcPct val="100000"/>
            </a:lnSpc>
          </a:pPr>
          <a:r>
            <a:rPr lang="en-US"/>
            <a:t>Queues and Streams</a:t>
          </a:r>
        </a:p>
      </dgm:t>
    </dgm:pt>
    <dgm:pt modelId="{24865E57-8546-417A-B078-7A3E30E2C423}" type="parTrans" cxnId="{8A544F97-3045-4657-8166-5C19DDCDDF2B}">
      <dgm:prSet/>
      <dgm:spPr/>
      <dgm:t>
        <a:bodyPr/>
        <a:lstStyle/>
        <a:p>
          <a:endParaRPr lang="en-US"/>
        </a:p>
      </dgm:t>
    </dgm:pt>
    <dgm:pt modelId="{6053D073-D191-402C-9204-F5F7E672E6D8}" type="sibTrans" cxnId="{8A544F97-3045-4657-8166-5C19DDCDDF2B}">
      <dgm:prSet/>
      <dgm:spPr/>
      <dgm:t>
        <a:bodyPr/>
        <a:lstStyle/>
        <a:p>
          <a:endParaRPr lang="en-US"/>
        </a:p>
      </dgm:t>
    </dgm:pt>
    <dgm:pt modelId="{D4D1DB0E-5AE5-4F6C-8AAE-D3198E9CA8A5}">
      <dgm:prSet/>
      <dgm:spPr/>
      <dgm:t>
        <a:bodyPr/>
        <a:lstStyle/>
        <a:p>
          <a:pPr>
            <a:lnSpc>
              <a:spcPct val="100000"/>
            </a:lnSpc>
          </a:pPr>
          <a:r>
            <a:rPr lang="en-US"/>
            <a:t>Managing Asynchronous Architectures</a:t>
          </a:r>
        </a:p>
      </dgm:t>
    </dgm:pt>
    <dgm:pt modelId="{BE85BA69-A151-4964-B46C-56F177C2ECB2}" type="parTrans" cxnId="{F4347F63-C603-4E52-922A-AEC571EE4A5C}">
      <dgm:prSet/>
      <dgm:spPr/>
      <dgm:t>
        <a:bodyPr/>
        <a:lstStyle/>
        <a:p>
          <a:endParaRPr lang="en-US"/>
        </a:p>
      </dgm:t>
    </dgm:pt>
    <dgm:pt modelId="{0F69E6B7-BCEC-4904-A2E2-47CF92963A7E}" type="sibTrans" cxnId="{F4347F63-C603-4E52-922A-AEC571EE4A5C}">
      <dgm:prSet/>
      <dgm:spPr/>
      <dgm:t>
        <a:bodyPr/>
        <a:lstStyle/>
        <a:p>
          <a:endParaRPr lang="en-US"/>
        </a:p>
      </dgm:t>
    </dgm:pt>
    <dgm:pt modelId="{F32D47BE-4DED-412D-879B-FB187FFCA8ED}" type="pres">
      <dgm:prSet presAssocID="{3B94CDBB-F67A-4059-9AAF-13F2C7AAA628}" presName="root" presStyleCnt="0">
        <dgm:presLayoutVars>
          <dgm:dir/>
          <dgm:resizeHandles val="exact"/>
        </dgm:presLayoutVars>
      </dgm:prSet>
      <dgm:spPr/>
    </dgm:pt>
    <dgm:pt modelId="{DD449C43-9050-4095-ABB2-3DA9BBE1AD36}" type="pres">
      <dgm:prSet presAssocID="{2F7DA765-0AB4-4B7D-B101-FDDF4B6463AA}" presName="compNode" presStyleCnt="0"/>
      <dgm:spPr/>
    </dgm:pt>
    <dgm:pt modelId="{87640102-8C58-4A28-B6F2-5D0432B29FBF}" type="pres">
      <dgm:prSet presAssocID="{2F7DA765-0AB4-4B7D-B101-FDDF4B6463AA}" presName="bgRect" presStyleLbl="bgShp" presStyleIdx="0" presStyleCnt="5"/>
      <dgm:spPr/>
    </dgm:pt>
    <dgm:pt modelId="{8CE5F85A-5A1A-4274-BAC1-6B92D7139EF9}" type="pres">
      <dgm:prSet presAssocID="{2F7DA765-0AB4-4B7D-B101-FDDF4B6463A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uck"/>
        </a:ext>
      </dgm:extLst>
    </dgm:pt>
    <dgm:pt modelId="{62C77FC5-A7B3-4065-A9C2-0740320C9632}" type="pres">
      <dgm:prSet presAssocID="{2F7DA765-0AB4-4B7D-B101-FDDF4B6463AA}" presName="spaceRect" presStyleCnt="0"/>
      <dgm:spPr/>
    </dgm:pt>
    <dgm:pt modelId="{55F9AEE9-6461-4CCF-B874-936104697EB0}" type="pres">
      <dgm:prSet presAssocID="{2F7DA765-0AB4-4B7D-B101-FDDF4B6463AA}" presName="parTx" presStyleLbl="revTx" presStyleIdx="0" presStyleCnt="5">
        <dgm:presLayoutVars>
          <dgm:chMax val="0"/>
          <dgm:chPref val="0"/>
        </dgm:presLayoutVars>
      </dgm:prSet>
      <dgm:spPr/>
    </dgm:pt>
    <dgm:pt modelId="{ABCE9C28-A218-4DF1-91B4-BA131DA51EC6}" type="pres">
      <dgm:prSet presAssocID="{CDD01098-93DD-48A2-A8E4-F2CD86948E98}" presName="sibTrans" presStyleCnt="0"/>
      <dgm:spPr/>
    </dgm:pt>
    <dgm:pt modelId="{2AB903F7-BB02-45DB-8C1B-5334A4FC6A33}" type="pres">
      <dgm:prSet presAssocID="{084D1BDA-0B47-4A39-A5B6-15310F04BB6B}" presName="compNode" presStyleCnt="0"/>
      <dgm:spPr/>
    </dgm:pt>
    <dgm:pt modelId="{BF5EB49F-1335-479B-AFB5-5B81B249B8DA}" type="pres">
      <dgm:prSet presAssocID="{084D1BDA-0B47-4A39-A5B6-15310F04BB6B}" presName="bgRect" presStyleLbl="bgShp" presStyleIdx="1" presStyleCnt="5"/>
      <dgm:spPr/>
    </dgm:pt>
    <dgm:pt modelId="{30AFBDCA-7F9A-46F2-BDDC-5209C0334223}" type="pres">
      <dgm:prSet presAssocID="{084D1BDA-0B47-4A39-A5B6-15310F04BB6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C07D129B-739C-46DC-93CB-77BDC2DADE2F}" type="pres">
      <dgm:prSet presAssocID="{084D1BDA-0B47-4A39-A5B6-15310F04BB6B}" presName="spaceRect" presStyleCnt="0"/>
      <dgm:spPr/>
    </dgm:pt>
    <dgm:pt modelId="{B908E8EC-9AD0-4686-8A45-85FC495A5C87}" type="pres">
      <dgm:prSet presAssocID="{084D1BDA-0B47-4A39-A5B6-15310F04BB6B}" presName="parTx" presStyleLbl="revTx" presStyleIdx="1" presStyleCnt="5">
        <dgm:presLayoutVars>
          <dgm:chMax val="0"/>
          <dgm:chPref val="0"/>
        </dgm:presLayoutVars>
      </dgm:prSet>
      <dgm:spPr/>
    </dgm:pt>
    <dgm:pt modelId="{B9585BE3-A19E-4CC7-940E-5BA5B5088513}" type="pres">
      <dgm:prSet presAssocID="{00C026C4-E887-4660-8490-766471ADD4EA}" presName="sibTrans" presStyleCnt="0"/>
      <dgm:spPr/>
    </dgm:pt>
    <dgm:pt modelId="{1BBF9F24-0857-4AE7-B8D4-09003203F044}" type="pres">
      <dgm:prSet presAssocID="{7F77F4B6-49A0-472E-80D8-0813C5797C51}" presName="compNode" presStyleCnt="0"/>
      <dgm:spPr/>
    </dgm:pt>
    <dgm:pt modelId="{7B25A68D-AC7C-4806-AAA9-AF0A0CC35526}" type="pres">
      <dgm:prSet presAssocID="{7F77F4B6-49A0-472E-80D8-0813C5797C51}" presName="bgRect" presStyleLbl="bgShp" presStyleIdx="2" presStyleCnt="5"/>
      <dgm:spPr/>
    </dgm:pt>
    <dgm:pt modelId="{933F3440-E9B4-4C91-BC23-60F6E2046E6C}" type="pres">
      <dgm:prSet presAssocID="{7F77F4B6-49A0-472E-80D8-0813C5797C5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B06BC28E-A5A0-4108-A085-A154F55C78DF}" type="pres">
      <dgm:prSet presAssocID="{7F77F4B6-49A0-472E-80D8-0813C5797C51}" presName="spaceRect" presStyleCnt="0"/>
      <dgm:spPr/>
    </dgm:pt>
    <dgm:pt modelId="{15C7DB55-4464-402B-B8EA-BAFC9B2DC59A}" type="pres">
      <dgm:prSet presAssocID="{7F77F4B6-49A0-472E-80D8-0813C5797C51}" presName="parTx" presStyleLbl="revTx" presStyleIdx="2" presStyleCnt="5">
        <dgm:presLayoutVars>
          <dgm:chMax val="0"/>
          <dgm:chPref val="0"/>
        </dgm:presLayoutVars>
      </dgm:prSet>
      <dgm:spPr/>
    </dgm:pt>
    <dgm:pt modelId="{AFBDE735-99DE-4511-B132-FFB7B842E9A4}" type="pres">
      <dgm:prSet presAssocID="{469FE234-6561-49BB-A3A8-FEEACB3BA54D}" presName="sibTrans" presStyleCnt="0"/>
      <dgm:spPr/>
    </dgm:pt>
    <dgm:pt modelId="{4B5F36A0-C580-4F57-AA50-1E23C32FC00C}" type="pres">
      <dgm:prSet presAssocID="{0924C685-6A3C-4D28-8A8C-282837A0AC5E}" presName="compNode" presStyleCnt="0"/>
      <dgm:spPr/>
    </dgm:pt>
    <dgm:pt modelId="{808BA6E0-F064-4C92-83FB-BF7FEECD838B}" type="pres">
      <dgm:prSet presAssocID="{0924C685-6A3C-4D28-8A8C-282837A0AC5E}" presName="bgRect" presStyleLbl="bgShp" presStyleIdx="3" presStyleCnt="5"/>
      <dgm:spPr/>
    </dgm:pt>
    <dgm:pt modelId="{E78B71D9-89AC-4F5F-B9C3-95FA3AD5D536}" type="pres">
      <dgm:prSet presAssocID="{0924C685-6A3C-4D28-8A8C-282837A0AC5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lk"/>
        </a:ext>
      </dgm:extLst>
    </dgm:pt>
    <dgm:pt modelId="{EB65CF0B-ECF9-4AF0-9A68-977CB5190E5D}" type="pres">
      <dgm:prSet presAssocID="{0924C685-6A3C-4D28-8A8C-282837A0AC5E}" presName="spaceRect" presStyleCnt="0"/>
      <dgm:spPr/>
    </dgm:pt>
    <dgm:pt modelId="{40BAC88D-549D-4E41-814F-FA67384924FF}" type="pres">
      <dgm:prSet presAssocID="{0924C685-6A3C-4D28-8A8C-282837A0AC5E}" presName="parTx" presStyleLbl="revTx" presStyleIdx="3" presStyleCnt="5">
        <dgm:presLayoutVars>
          <dgm:chMax val="0"/>
          <dgm:chPref val="0"/>
        </dgm:presLayoutVars>
      </dgm:prSet>
      <dgm:spPr/>
    </dgm:pt>
    <dgm:pt modelId="{FBA0F479-139A-406F-8D49-5FC4638FAD4C}" type="pres">
      <dgm:prSet presAssocID="{6053D073-D191-402C-9204-F5F7E672E6D8}" presName="sibTrans" presStyleCnt="0"/>
      <dgm:spPr/>
    </dgm:pt>
    <dgm:pt modelId="{1BBB30BD-C174-4D80-BC9C-8EEFF0853675}" type="pres">
      <dgm:prSet presAssocID="{D4D1DB0E-5AE5-4F6C-8AAE-D3198E9CA8A5}" presName="compNode" presStyleCnt="0"/>
      <dgm:spPr/>
    </dgm:pt>
    <dgm:pt modelId="{4DB5E4E4-F5EC-4949-920B-E2702414E15E}" type="pres">
      <dgm:prSet presAssocID="{D4D1DB0E-5AE5-4F6C-8AAE-D3198E9CA8A5}" presName="bgRect" presStyleLbl="bgShp" presStyleIdx="4" presStyleCnt="5"/>
      <dgm:spPr/>
    </dgm:pt>
    <dgm:pt modelId="{3A1BC3AE-D231-4228-87DF-83E990F8C2B8}" type="pres">
      <dgm:prSet presAssocID="{D4D1DB0E-5AE5-4F6C-8AAE-D3198E9CA8A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DD69BC12-7647-44A7-950D-7D6F4702C149}" type="pres">
      <dgm:prSet presAssocID="{D4D1DB0E-5AE5-4F6C-8AAE-D3198E9CA8A5}" presName="spaceRect" presStyleCnt="0"/>
      <dgm:spPr/>
    </dgm:pt>
    <dgm:pt modelId="{9E92BF33-9747-41D4-9D07-EA4BF18E595B}" type="pres">
      <dgm:prSet presAssocID="{D4D1DB0E-5AE5-4F6C-8AAE-D3198E9CA8A5}" presName="parTx" presStyleLbl="revTx" presStyleIdx="4" presStyleCnt="5">
        <dgm:presLayoutVars>
          <dgm:chMax val="0"/>
          <dgm:chPref val="0"/>
        </dgm:presLayoutVars>
      </dgm:prSet>
      <dgm:spPr/>
    </dgm:pt>
  </dgm:ptLst>
  <dgm:cxnLst>
    <dgm:cxn modelId="{067D6122-1A7A-456E-A958-24984767ED64}" srcId="{3B94CDBB-F67A-4059-9AAF-13F2C7AAA628}" destId="{084D1BDA-0B47-4A39-A5B6-15310F04BB6B}" srcOrd="1" destOrd="0" parTransId="{C0693506-C42B-48AC-8D03-4458AB356E97}" sibTransId="{00C026C4-E887-4660-8490-766471ADD4EA}"/>
    <dgm:cxn modelId="{241D334B-ECF8-4510-9930-35DEBB9F6114}" type="presOf" srcId="{2F7DA765-0AB4-4B7D-B101-FDDF4B6463AA}" destId="{55F9AEE9-6461-4CCF-B874-936104697EB0}" srcOrd="0" destOrd="0" presId="urn:microsoft.com/office/officeart/2018/2/layout/IconVerticalSolidList"/>
    <dgm:cxn modelId="{9141C757-D8EB-42F7-B99C-00ED7FEECF60}" type="presOf" srcId="{3B94CDBB-F67A-4059-9AAF-13F2C7AAA628}" destId="{F32D47BE-4DED-412D-879B-FB187FFCA8ED}" srcOrd="0" destOrd="0" presId="urn:microsoft.com/office/officeart/2018/2/layout/IconVerticalSolidList"/>
    <dgm:cxn modelId="{D1203060-377D-4552-9CDB-7C89113340FB}" type="presOf" srcId="{0924C685-6A3C-4D28-8A8C-282837A0AC5E}" destId="{40BAC88D-549D-4E41-814F-FA67384924FF}" srcOrd="0" destOrd="0" presId="urn:microsoft.com/office/officeart/2018/2/layout/IconVerticalSolidList"/>
    <dgm:cxn modelId="{F4347F63-C603-4E52-922A-AEC571EE4A5C}" srcId="{3B94CDBB-F67A-4059-9AAF-13F2C7AAA628}" destId="{D4D1DB0E-5AE5-4F6C-8AAE-D3198E9CA8A5}" srcOrd="4" destOrd="0" parTransId="{BE85BA69-A151-4964-B46C-56F177C2ECB2}" sibTransId="{0F69E6B7-BCEC-4904-A2E2-47CF92963A7E}"/>
    <dgm:cxn modelId="{AC32BA66-E757-4D60-B9CB-F80EF6C6243E}" srcId="{3B94CDBB-F67A-4059-9AAF-13F2C7AAA628}" destId="{7F77F4B6-49A0-472E-80D8-0813C5797C51}" srcOrd="2" destOrd="0" parTransId="{4C3E7494-9F89-45AE-B9C9-EA1E512EDB3A}" sibTransId="{469FE234-6561-49BB-A3A8-FEEACB3BA54D}"/>
    <dgm:cxn modelId="{FE435A7F-F794-43C1-A6FB-819D790AC8EA}" type="presOf" srcId="{084D1BDA-0B47-4A39-A5B6-15310F04BB6B}" destId="{B908E8EC-9AD0-4686-8A45-85FC495A5C87}" srcOrd="0" destOrd="0" presId="urn:microsoft.com/office/officeart/2018/2/layout/IconVerticalSolidList"/>
    <dgm:cxn modelId="{8A544F97-3045-4657-8166-5C19DDCDDF2B}" srcId="{3B94CDBB-F67A-4059-9AAF-13F2C7AAA628}" destId="{0924C685-6A3C-4D28-8A8C-282837A0AC5E}" srcOrd="3" destOrd="0" parTransId="{24865E57-8546-417A-B078-7A3E30E2C423}" sibTransId="{6053D073-D191-402C-9204-F5F7E672E6D8}"/>
    <dgm:cxn modelId="{12DEB09B-C34D-4E63-B704-98D9BDD54CE7}" type="presOf" srcId="{D4D1DB0E-5AE5-4F6C-8AAE-D3198E9CA8A5}" destId="{9E92BF33-9747-41D4-9D07-EA4BF18E595B}" srcOrd="0" destOrd="0" presId="urn:microsoft.com/office/officeart/2018/2/layout/IconVerticalSolidList"/>
    <dgm:cxn modelId="{00D8C1BB-EEE2-40AE-B31D-B83A0461C35F}" type="presOf" srcId="{7F77F4B6-49A0-472E-80D8-0813C5797C51}" destId="{15C7DB55-4464-402B-B8EA-BAFC9B2DC59A}" srcOrd="0" destOrd="0" presId="urn:microsoft.com/office/officeart/2018/2/layout/IconVerticalSolidList"/>
    <dgm:cxn modelId="{33C5D6EC-833E-4912-95A1-34D4B72715F7}" srcId="{3B94CDBB-F67A-4059-9AAF-13F2C7AAA628}" destId="{2F7DA765-0AB4-4B7D-B101-FDDF4B6463AA}" srcOrd="0" destOrd="0" parTransId="{9B9495E7-CB8C-4F56-BFA2-6BD5C33710CC}" sibTransId="{CDD01098-93DD-48A2-A8E4-F2CD86948E98}"/>
    <dgm:cxn modelId="{8A0C1389-DC58-4DD9-88BF-816B03709CB8}" type="presParOf" srcId="{F32D47BE-4DED-412D-879B-FB187FFCA8ED}" destId="{DD449C43-9050-4095-ABB2-3DA9BBE1AD36}" srcOrd="0" destOrd="0" presId="urn:microsoft.com/office/officeart/2018/2/layout/IconVerticalSolidList"/>
    <dgm:cxn modelId="{A6166BFB-7E49-4142-B2E6-FF35A2399C6D}" type="presParOf" srcId="{DD449C43-9050-4095-ABB2-3DA9BBE1AD36}" destId="{87640102-8C58-4A28-B6F2-5D0432B29FBF}" srcOrd="0" destOrd="0" presId="urn:microsoft.com/office/officeart/2018/2/layout/IconVerticalSolidList"/>
    <dgm:cxn modelId="{462CAF12-B34F-4FE7-AE65-2A9E1FF1E952}" type="presParOf" srcId="{DD449C43-9050-4095-ABB2-3DA9BBE1AD36}" destId="{8CE5F85A-5A1A-4274-BAC1-6B92D7139EF9}" srcOrd="1" destOrd="0" presId="urn:microsoft.com/office/officeart/2018/2/layout/IconVerticalSolidList"/>
    <dgm:cxn modelId="{84D6BF65-5D3F-4B20-B496-87D461B5B5F4}" type="presParOf" srcId="{DD449C43-9050-4095-ABB2-3DA9BBE1AD36}" destId="{62C77FC5-A7B3-4065-A9C2-0740320C9632}" srcOrd="2" destOrd="0" presId="urn:microsoft.com/office/officeart/2018/2/layout/IconVerticalSolidList"/>
    <dgm:cxn modelId="{22E8ED0E-D9EB-4758-B018-0A2970428BE2}" type="presParOf" srcId="{DD449C43-9050-4095-ABB2-3DA9BBE1AD36}" destId="{55F9AEE9-6461-4CCF-B874-936104697EB0}" srcOrd="3" destOrd="0" presId="urn:microsoft.com/office/officeart/2018/2/layout/IconVerticalSolidList"/>
    <dgm:cxn modelId="{B67FF7C1-85AF-4F4F-BC1F-E933796601D3}" type="presParOf" srcId="{F32D47BE-4DED-412D-879B-FB187FFCA8ED}" destId="{ABCE9C28-A218-4DF1-91B4-BA131DA51EC6}" srcOrd="1" destOrd="0" presId="urn:microsoft.com/office/officeart/2018/2/layout/IconVerticalSolidList"/>
    <dgm:cxn modelId="{AF4F285C-6913-44A8-83E4-6869FCD6487C}" type="presParOf" srcId="{F32D47BE-4DED-412D-879B-FB187FFCA8ED}" destId="{2AB903F7-BB02-45DB-8C1B-5334A4FC6A33}" srcOrd="2" destOrd="0" presId="urn:microsoft.com/office/officeart/2018/2/layout/IconVerticalSolidList"/>
    <dgm:cxn modelId="{8E4AF600-0861-49C2-9118-C841C8C397BE}" type="presParOf" srcId="{2AB903F7-BB02-45DB-8C1B-5334A4FC6A33}" destId="{BF5EB49F-1335-479B-AFB5-5B81B249B8DA}" srcOrd="0" destOrd="0" presId="urn:microsoft.com/office/officeart/2018/2/layout/IconVerticalSolidList"/>
    <dgm:cxn modelId="{A0C41081-D35C-404E-B8EB-F9226353B74F}" type="presParOf" srcId="{2AB903F7-BB02-45DB-8C1B-5334A4FC6A33}" destId="{30AFBDCA-7F9A-46F2-BDDC-5209C0334223}" srcOrd="1" destOrd="0" presId="urn:microsoft.com/office/officeart/2018/2/layout/IconVerticalSolidList"/>
    <dgm:cxn modelId="{B05D287E-82F3-4313-96AF-A20F3D4F4FD9}" type="presParOf" srcId="{2AB903F7-BB02-45DB-8C1B-5334A4FC6A33}" destId="{C07D129B-739C-46DC-93CB-77BDC2DADE2F}" srcOrd="2" destOrd="0" presId="urn:microsoft.com/office/officeart/2018/2/layout/IconVerticalSolidList"/>
    <dgm:cxn modelId="{62E0E0F6-DC82-49F0-9E79-D836CBE8B975}" type="presParOf" srcId="{2AB903F7-BB02-45DB-8C1B-5334A4FC6A33}" destId="{B908E8EC-9AD0-4686-8A45-85FC495A5C87}" srcOrd="3" destOrd="0" presId="urn:microsoft.com/office/officeart/2018/2/layout/IconVerticalSolidList"/>
    <dgm:cxn modelId="{00D81CF2-A72B-4D79-B6E4-D034D804F016}" type="presParOf" srcId="{F32D47BE-4DED-412D-879B-FB187FFCA8ED}" destId="{B9585BE3-A19E-4CC7-940E-5BA5B5088513}" srcOrd="3" destOrd="0" presId="urn:microsoft.com/office/officeart/2018/2/layout/IconVerticalSolidList"/>
    <dgm:cxn modelId="{95D85591-895A-4DE9-B8A4-3E9C8C5F3589}" type="presParOf" srcId="{F32D47BE-4DED-412D-879B-FB187FFCA8ED}" destId="{1BBF9F24-0857-4AE7-B8D4-09003203F044}" srcOrd="4" destOrd="0" presId="urn:microsoft.com/office/officeart/2018/2/layout/IconVerticalSolidList"/>
    <dgm:cxn modelId="{ACDBB6EB-470F-40CD-8062-8C0E1C94F27B}" type="presParOf" srcId="{1BBF9F24-0857-4AE7-B8D4-09003203F044}" destId="{7B25A68D-AC7C-4806-AAA9-AF0A0CC35526}" srcOrd="0" destOrd="0" presId="urn:microsoft.com/office/officeart/2018/2/layout/IconVerticalSolidList"/>
    <dgm:cxn modelId="{08518E60-CC12-4CF3-85EF-B3CD0930501F}" type="presParOf" srcId="{1BBF9F24-0857-4AE7-B8D4-09003203F044}" destId="{933F3440-E9B4-4C91-BC23-60F6E2046E6C}" srcOrd="1" destOrd="0" presId="urn:microsoft.com/office/officeart/2018/2/layout/IconVerticalSolidList"/>
    <dgm:cxn modelId="{2CDAABEE-E75C-4BDF-9D67-4A90D9BCB31B}" type="presParOf" srcId="{1BBF9F24-0857-4AE7-B8D4-09003203F044}" destId="{B06BC28E-A5A0-4108-A085-A154F55C78DF}" srcOrd="2" destOrd="0" presId="urn:microsoft.com/office/officeart/2018/2/layout/IconVerticalSolidList"/>
    <dgm:cxn modelId="{3E765793-DB07-4CEC-B878-47D56A628F3F}" type="presParOf" srcId="{1BBF9F24-0857-4AE7-B8D4-09003203F044}" destId="{15C7DB55-4464-402B-B8EA-BAFC9B2DC59A}" srcOrd="3" destOrd="0" presId="urn:microsoft.com/office/officeart/2018/2/layout/IconVerticalSolidList"/>
    <dgm:cxn modelId="{1870587A-10C3-4323-95C2-491176F6411E}" type="presParOf" srcId="{F32D47BE-4DED-412D-879B-FB187FFCA8ED}" destId="{AFBDE735-99DE-4511-B132-FFB7B842E9A4}" srcOrd="5" destOrd="0" presId="urn:microsoft.com/office/officeart/2018/2/layout/IconVerticalSolidList"/>
    <dgm:cxn modelId="{9D3B83EC-39D2-4A81-A133-EC03CC4E3EE4}" type="presParOf" srcId="{F32D47BE-4DED-412D-879B-FB187FFCA8ED}" destId="{4B5F36A0-C580-4F57-AA50-1E23C32FC00C}" srcOrd="6" destOrd="0" presId="urn:microsoft.com/office/officeart/2018/2/layout/IconVerticalSolidList"/>
    <dgm:cxn modelId="{7C1CA227-6E50-4F0E-AF5F-9AFE8D3A05F6}" type="presParOf" srcId="{4B5F36A0-C580-4F57-AA50-1E23C32FC00C}" destId="{808BA6E0-F064-4C92-83FB-BF7FEECD838B}" srcOrd="0" destOrd="0" presId="urn:microsoft.com/office/officeart/2018/2/layout/IconVerticalSolidList"/>
    <dgm:cxn modelId="{BD758DAE-D479-46FD-ADF6-5BD295617A97}" type="presParOf" srcId="{4B5F36A0-C580-4F57-AA50-1E23C32FC00C}" destId="{E78B71D9-89AC-4F5F-B9C3-95FA3AD5D536}" srcOrd="1" destOrd="0" presId="urn:microsoft.com/office/officeart/2018/2/layout/IconVerticalSolidList"/>
    <dgm:cxn modelId="{34E83432-0C8D-4F01-866F-6A5F7B2A1AF4}" type="presParOf" srcId="{4B5F36A0-C580-4F57-AA50-1E23C32FC00C}" destId="{EB65CF0B-ECF9-4AF0-9A68-977CB5190E5D}" srcOrd="2" destOrd="0" presId="urn:microsoft.com/office/officeart/2018/2/layout/IconVerticalSolidList"/>
    <dgm:cxn modelId="{7A3B1B77-96A7-4119-9E46-F610D22E64D7}" type="presParOf" srcId="{4B5F36A0-C580-4F57-AA50-1E23C32FC00C}" destId="{40BAC88D-549D-4E41-814F-FA67384924FF}" srcOrd="3" destOrd="0" presId="urn:microsoft.com/office/officeart/2018/2/layout/IconVerticalSolidList"/>
    <dgm:cxn modelId="{A643CED0-902E-4F00-9C7B-EE7E82962CC4}" type="presParOf" srcId="{F32D47BE-4DED-412D-879B-FB187FFCA8ED}" destId="{FBA0F479-139A-406F-8D49-5FC4638FAD4C}" srcOrd="7" destOrd="0" presId="urn:microsoft.com/office/officeart/2018/2/layout/IconVerticalSolidList"/>
    <dgm:cxn modelId="{9616FAC6-E377-4970-9B5A-26022EBA49A3}" type="presParOf" srcId="{F32D47BE-4DED-412D-879B-FB187FFCA8ED}" destId="{1BBB30BD-C174-4D80-BC9C-8EEFF0853675}" srcOrd="8" destOrd="0" presId="urn:microsoft.com/office/officeart/2018/2/layout/IconVerticalSolidList"/>
    <dgm:cxn modelId="{0E01E41C-9E39-443A-91AA-A2DB7B1D1B65}" type="presParOf" srcId="{1BBB30BD-C174-4D80-BC9C-8EEFF0853675}" destId="{4DB5E4E4-F5EC-4949-920B-E2702414E15E}" srcOrd="0" destOrd="0" presId="urn:microsoft.com/office/officeart/2018/2/layout/IconVerticalSolidList"/>
    <dgm:cxn modelId="{6030FF07-65B6-45D5-AB54-DE15CB1F5C1D}" type="presParOf" srcId="{1BBB30BD-C174-4D80-BC9C-8EEFF0853675}" destId="{3A1BC3AE-D231-4228-87DF-83E990F8C2B8}" srcOrd="1" destOrd="0" presId="urn:microsoft.com/office/officeart/2018/2/layout/IconVerticalSolidList"/>
    <dgm:cxn modelId="{B6F7E17D-4917-46CC-97C1-EE0C3B68AA8B}" type="presParOf" srcId="{1BBB30BD-C174-4D80-BC9C-8EEFF0853675}" destId="{DD69BC12-7647-44A7-950D-7D6F4702C149}" srcOrd="2" destOrd="0" presId="urn:microsoft.com/office/officeart/2018/2/layout/IconVerticalSolidList"/>
    <dgm:cxn modelId="{E4E1A08E-E62F-48CB-A16B-C820432F31B7}" type="presParOf" srcId="{1BBB30BD-C174-4D80-BC9C-8EEFF0853675}" destId="{9E92BF33-9747-41D4-9D07-EA4BF18E595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94CDBB-F67A-4059-9AAF-13F2C7AAA628}"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2F7DA765-0AB4-4B7D-B101-FDDF4B6463AA}">
      <dgm:prSet/>
      <dgm:spPr/>
      <dgm:t>
        <a:bodyPr/>
        <a:lstStyle/>
        <a:p>
          <a:pPr>
            <a:lnSpc>
              <a:spcPct val="100000"/>
            </a:lnSpc>
          </a:pPr>
          <a:r>
            <a:rPr lang="en-US" dirty="0"/>
            <a:t>Flow</a:t>
          </a:r>
        </a:p>
      </dgm:t>
    </dgm:pt>
    <dgm:pt modelId="{9B9495E7-CB8C-4F56-BFA2-6BD5C33710CC}" type="parTrans" cxnId="{33C5D6EC-833E-4912-95A1-34D4B72715F7}">
      <dgm:prSet/>
      <dgm:spPr/>
      <dgm:t>
        <a:bodyPr/>
        <a:lstStyle/>
        <a:p>
          <a:endParaRPr lang="en-US"/>
        </a:p>
      </dgm:t>
    </dgm:pt>
    <dgm:pt modelId="{CDD01098-93DD-48A2-A8E4-F2CD86948E98}" type="sibTrans" cxnId="{33C5D6EC-833E-4912-95A1-34D4B72715F7}">
      <dgm:prSet/>
      <dgm:spPr/>
      <dgm:t>
        <a:bodyPr/>
        <a:lstStyle/>
        <a:p>
          <a:endParaRPr lang="en-US"/>
        </a:p>
      </dgm:t>
    </dgm:pt>
    <dgm:pt modelId="{7F77F4B6-49A0-472E-80D8-0813C5797C51}">
      <dgm:prSet/>
      <dgm:spPr/>
      <dgm:t>
        <a:bodyPr/>
        <a:lstStyle/>
        <a:p>
          <a:pPr>
            <a:lnSpc>
              <a:spcPct val="100000"/>
            </a:lnSpc>
          </a:pPr>
          <a:r>
            <a:rPr lang="en-US" dirty="0"/>
            <a:t>Process Automation</a:t>
          </a:r>
        </a:p>
      </dgm:t>
    </dgm:pt>
    <dgm:pt modelId="{4C3E7494-9F89-45AE-B9C9-EA1E512EDB3A}" type="parTrans" cxnId="{AC32BA66-E757-4D60-B9CB-F80EF6C6243E}">
      <dgm:prSet/>
      <dgm:spPr/>
      <dgm:t>
        <a:bodyPr/>
        <a:lstStyle/>
        <a:p>
          <a:endParaRPr lang="en-US"/>
        </a:p>
      </dgm:t>
    </dgm:pt>
    <dgm:pt modelId="{469FE234-6561-49BB-A3A8-FEEACB3BA54D}" type="sibTrans" cxnId="{AC32BA66-E757-4D60-B9CB-F80EF6C6243E}">
      <dgm:prSet/>
      <dgm:spPr/>
      <dgm:t>
        <a:bodyPr/>
        <a:lstStyle/>
        <a:p>
          <a:endParaRPr lang="en-US"/>
        </a:p>
      </dgm:t>
    </dgm:pt>
    <dgm:pt modelId="{0924C685-6A3C-4D28-8A8C-282837A0AC5E}">
      <dgm:prSet/>
      <dgm:spPr/>
      <dgm:t>
        <a:bodyPr/>
        <a:lstStyle/>
        <a:p>
          <a:pPr>
            <a:lnSpc>
              <a:spcPct val="100000"/>
            </a:lnSpc>
          </a:pPr>
          <a:r>
            <a:rPr lang="en-US"/>
            <a:t>Conversations</a:t>
          </a:r>
          <a:endParaRPr lang="en-US" dirty="0"/>
        </a:p>
      </dgm:t>
    </dgm:pt>
    <dgm:pt modelId="{24865E57-8546-417A-B078-7A3E30E2C423}" type="parTrans" cxnId="{8A544F97-3045-4657-8166-5C19DDCDDF2B}">
      <dgm:prSet/>
      <dgm:spPr/>
      <dgm:t>
        <a:bodyPr/>
        <a:lstStyle/>
        <a:p>
          <a:endParaRPr lang="en-US"/>
        </a:p>
      </dgm:t>
    </dgm:pt>
    <dgm:pt modelId="{6053D073-D191-402C-9204-F5F7E672E6D8}" type="sibTrans" cxnId="{8A544F97-3045-4657-8166-5C19DDCDDF2B}">
      <dgm:prSet/>
      <dgm:spPr/>
      <dgm:t>
        <a:bodyPr/>
        <a:lstStyle/>
        <a:p>
          <a:endParaRPr lang="en-US"/>
        </a:p>
      </dgm:t>
    </dgm:pt>
    <dgm:pt modelId="{F32D47BE-4DED-412D-879B-FB187FFCA8ED}" type="pres">
      <dgm:prSet presAssocID="{3B94CDBB-F67A-4059-9AAF-13F2C7AAA628}" presName="root" presStyleCnt="0">
        <dgm:presLayoutVars>
          <dgm:dir/>
          <dgm:resizeHandles val="exact"/>
        </dgm:presLayoutVars>
      </dgm:prSet>
      <dgm:spPr/>
    </dgm:pt>
    <dgm:pt modelId="{4B5F36A0-C580-4F57-AA50-1E23C32FC00C}" type="pres">
      <dgm:prSet presAssocID="{0924C685-6A3C-4D28-8A8C-282837A0AC5E}" presName="compNode" presStyleCnt="0"/>
      <dgm:spPr/>
    </dgm:pt>
    <dgm:pt modelId="{808BA6E0-F064-4C92-83FB-BF7FEECD838B}" type="pres">
      <dgm:prSet presAssocID="{0924C685-6A3C-4D28-8A8C-282837A0AC5E}" presName="bgRect" presStyleLbl="bgShp" presStyleIdx="0" presStyleCnt="3"/>
      <dgm:spPr/>
    </dgm:pt>
    <dgm:pt modelId="{E78B71D9-89AC-4F5F-B9C3-95FA3AD5D536}" type="pres">
      <dgm:prSet presAssocID="{0924C685-6A3C-4D28-8A8C-282837A0AC5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lk"/>
        </a:ext>
      </dgm:extLst>
    </dgm:pt>
    <dgm:pt modelId="{EB65CF0B-ECF9-4AF0-9A68-977CB5190E5D}" type="pres">
      <dgm:prSet presAssocID="{0924C685-6A3C-4D28-8A8C-282837A0AC5E}" presName="spaceRect" presStyleCnt="0"/>
      <dgm:spPr/>
    </dgm:pt>
    <dgm:pt modelId="{40BAC88D-549D-4E41-814F-FA67384924FF}" type="pres">
      <dgm:prSet presAssocID="{0924C685-6A3C-4D28-8A8C-282837A0AC5E}" presName="parTx" presStyleLbl="revTx" presStyleIdx="0" presStyleCnt="3">
        <dgm:presLayoutVars>
          <dgm:chMax val="0"/>
          <dgm:chPref val="0"/>
        </dgm:presLayoutVars>
      </dgm:prSet>
      <dgm:spPr/>
    </dgm:pt>
    <dgm:pt modelId="{86FF034E-1C59-0A49-91BA-9FC881ED9001}" type="pres">
      <dgm:prSet presAssocID="{6053D073-D191-402C-9204-F5F7E672E6D8}" presName="sibTrans" presStyleCnt="0"/>
      <dgm:spPr/>
    </dgm:pt>
    <dgm:pt modelId="{DD449C43-9050-4095-ABB2-3DA9BBE1AD36}" type="pres">
      <dgm:prSet presAssocID="{2F7DA765-0AB4-4B7D-B101-FDDF4B6463AA}" presName="compNode" presStyleCnt="0"/>
      <dgm:spPr/>
    </dgm:pt>
    <dgm:pt modelId="{87640102-8C58-4A28-B6F2-5D0432B29FBF}" type="pres">
      <dgm:prSet presAssocID="{2F7DA765-0AB4-4B7D-B101-FDDF4B6463AA}" presName="bgRect" presStyleLbl="bgShp" presStyleIdx="1" presStyleCnt="3"/>
      <dgm:spPr/>
    </dgm:pt>
    <dgm:pt modelId="{8CE5F85A-5A1A-4274-BAC1-6B92D7139EF9}" type="pres">
      <dgm:prSet presAssocID="{2F7DA765-0AB4-4B7D-B101-FDDF4B6463A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uck"/>
        </a:ext>
      </dgm:extLst>
    </dgm:pt>
    <dgm:pt modelId="{62C77FC5-A7B3-4065-A9C2-0740320C9632}" type="pres">
      <dgm:prSet presAssocID="{2F7DA765-0AB4-4B7D-B101-FDDF4B6463AA}" presName="spaceRect" presStyleCnt="0"/>
      <dgm:spPr/>
    </dgm:pt>
    <dgm:pt modelId="{55F9AEE9-6461-4CCF-B874-936104697EB0}" type="pres">
      <dgm:prSet presAssocID="{2F7DA765-0AB4-4B7D-B101-FDDF4B6463AA}" presName="parTx" presStyleLbl="revTx" presStyleIdx="1" presStyleCnt="3">
        <dgm:presLayoutVars>
          <dgm:chMax val="0"/>
          <dgm:chPref val="0"/>
        </dgm:presLayoutVars>
      </dgm:prSet>
      <dgm:spPr/>
    </dgm:pt>
    <dgm:pt modelId="{ABCE9C28-A218-4DF1-91B4-BA131DA51EC6}" type="pres">
      <dgm:prSet presAssocID="{CDD01098-93DD-48A2-A8E4-F2CD86948E98}" presName="sibTrans" presStyleCnt="0"/>
      <dgm:spPr/>
    </dgm:pt>
    <dgm:pt modelId="{1BBF9F24-0857-4AE7-B8D4-09003203F044}" type="pres">
      <dgm:prSet presAssocID="{7F77F4B6-49A0-472E-80D8-0813C5797C51}" presName="compNode" presStyleCnt="0"/>
      <dgm:spPr/>
    </dgm:pt>
    <dgm:pt modelId="{7B25A68D-AC7C-4806-AAA9-AF0A0CC35526}" type="pres">
      <dgm:prSet presAssocID="{7F77F4B6-49A0-472E-80D8-0813C5797C51}" presName="bgRect" presStyleLbl="bgShp" presStyleIdx="2" presStyleCnt="3"/>
      <dgm:spPr/>
    </dgm:pt>
    <dgm:pt modelId="{933F3440-E9B4-4C91-BC23-60F6E2046E6C}" type="pres">
      <dgm:prSet presAssocID="{7F77F4B6-49A0-472E-80D8-0813C5797C5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B06BC28E-A5A0-4108-A085-A154F55C78DF}" type="pres">
      <dgm:prSet presAssocID="{7F77F4B6-49A0-472E-80D8-0813C5797C51}" presName="spaceRect" presStyleCnt="0"/>
      <dgm:spPr/>
    </dgm:pt>
    <dgm:pt modelId="{15C7DB55-4464-402B-B8EA-BAFC9B2DC59A}" type="pres">
      <dgm:prSet presAssocID="{7F77F4B6-49A0-472E-80D8-0813C5797C51}" presName="parTx" presStyleLbl="revTx" presStyleIdx="2" presStyleCnt="3">
        <dgm:presLayoutVars>
          <dgm:chMax val="0"/>
          <dgm:chPref val="0"/>
        </dgm:presLayoutVars>
      </dgm:prSet>
      <dgm:spPr/>
    </dgm:pt>
  </dgm:ptLst>
  <dgm:cxnLst>
    <dgm:cxn modelId="{4CC1A702-047D-5449-91F1-5F0BDD7D2927}" type="presOf" srcId="{0924C685-6A3C-4D28-8A8C-282837A0AC5E}" destId="{40BAC88D-549D-4E41-814F-FA67384924FF}" srcOrd="0" destOrd="0" presId="urn:microsoft.com/office/officeart/2018/2/layout/IconVerticalSolidList"/>
    <dgm:cxn modelId="{9141C757-D8EB-42F7-B99C-00ED7FEECF60}" type="presOf" srcId="{3B94CDBB-F67A-4059-9AAF-13F2C7AAA628}" destId="{F32D47BE-4DED-412D-879B-FB187FFCA8ED}" srcOrd="0" destOrd="0" presId="urn:microsoft.com/office/officeart/2018/2/layout/IconVerticalSolidList"/>
    <dgm:cxn modelId="{AC32BA66-E757-4D60-B9CB-F80EF6C6243E}" srcId="{3B94CDBB-F67A-4059-9AAF-13F2C7AAA628}" destId="{7F77F4B6-49A0-472E-80D8-0813C5797C51}" srcOrd="2" destOrd="0" parTransId="{4C3E7494-9F89-45AE-B9C9-EA1E512EDB3A}" sibTransId="{469FE234-6561-49BB-A3A8-FEEACB3BA54D}"/>
    <dgm:cxn modelId="{C8642F8F-B4F7-C14B-88D2-9F201681D124}" type="presOf" srcId="{2F7DA765-0AB4-4B7D-B101-FDDF4B6463AA}" destId="{55F9AEE9-6461-4CCF-B874-936104697EB0}" srcOrd="0" destOrd="0" presId="urn:microsoft.com/office/officeart/2018/2/layout/IconVerticalSolidList"/>
    <dgm:cxn modelId="{8A544F97-3045-4657-8166-5C19DDCDDF2B}" srcId="{3B94CDBB-F67A-4059-9AAF-13F2C7AAA628}" destId="{0924C685-6A3C-4D28-8A8C-282837A0AC5E}" srcOrd="0" destOrd="0" parTransId="{24865E57-8546-417A-B078-7A3E30E2C423}" sibTransId="{6053D073-D191-402C-9204-F5F7E672E6D8}"/>
    <dgm:cxn modelId="{33C5D6EC-833E-4912-95A1-34D4B72715F7}" srcId="{3B94CDBB-F67A-4059-9AAF-13F2C7AAA628}" destId="{2F7DA765-0AB4-4B7D-B101-FDDF4B6463AA}" srcOrd="1" destOrd="0" parTransId="{9B9495E7-CB8C-4F56-BFA2-6BD5C33710CC}" sibTransId="{CDD01098-93DD-48A2-A8E4-F2CD86948E98}"/>
    <dgm:cxn modelId="{D74310F7-D67F-1E4B-84F5-26413C9BDF2B}" type="presOf" srcId="{7F77F4B6-49A0-472E-80D8-0813C5797C51}" destId="{15C7DB55-4464-402B-B8EA-BAFC9B2DC59A}" srcOrd="0" destOrd="0" presId="urn:microsoft.com/office/officeart/2018/2/layout/IconVerticalSolidList"/>
    <dgm:cxn modelId="{7DCCBE3B-DDF9-8142-9248-E0AD524A2BD5}" type="presParOf" srcId="{F32D47BE-4DED-412D-879B-FB187FFCA8ED}" destId="{4B5F36A0-C580-4F57-AA50-1E23C32FC00C}" srcOrd="0" destOrd="0" presId="urn:microsoft.com/office/officeart/2018/2/layout/IconVerticalSolidList"/>
    <dgm:cxn modelId="{7FD822EC-7B20-074D-9BD1-2122562665F9}" type="presParOf" srcId="{4B5F36A0-C580-4F57-AA50-1E23C32FC00C}" destId="{808BA6E0-F064-4C92-83FB-BF7FEECD838B}" srcOrd="0" destOrd="0" presId="urn:microsoft.com/office/officeart/2018/2/layout/IconVerticalSolidList"/>
    <dgm:cxn modelId="{0E347A53-5F58-D04D-A8AC-D4E3E6AEC709}" type="presParOf" srcId="{4B5F36A0-C580-4F57-AA50-1E23C32FC00C}" destId="{E78B71D9-89AC-4F5F-B9C3-95FA3AD5D536}" srcOrd="1" destOrd="0" presId="urn:microsoft.com/office/officeart/2018/2/layout/IconVerticalSolidList"/>
    <dgm:cxn modelId="{749020FA-EE5E-E943-A747-B47044DBDF10}" type="presParOf" srcId="{4B5F36A0-C580-4F57-AA50-1E23C32FC00C}" destId="{EB65CF0B-ECF9-4AF0-9A68-977CB5190E5D}" srcOrd="2" destOrd="0" presId="urn:microsoft.com/office/officeart/2018/2/layout/IconVerticalSolidList"/>
    <dgm:cxn modelId="{B4BB7D93-960A-0247-8B53-27B4479901E1}" type="presParOf" srcId="{4B5F36A0-C580-4F57-AA50-1E23C32FC00C}" destId="{40BAC88D-549D-4E41-814F-FA67384924FF}" srcOrd="3" destOrd="0" presId="urn:microsoft.com/office/officeart/2018/2/layout/IconVerticalSolidList"/>
    <dgm:cxn modelId="{5FD171F3-C112-054F-9B49-EB0A0F6366AE}" type="presParOf" srcId="{F32D47BE-4DED-412D-879B-FB187FFCA8ED}" destId="{86FF034E-1C59-0A49-91BA-9FC881ED9001}" srcOrd="1" destOrd="0" presId="urn:microsoft.com/office/officeart/2018/2/layout/IconVerticalSolidList"/>
    <dgm:cxn modelId="{6F7AEBA6-4351-AC4F-8AD8-E3DC61102D02}" type="presParOf" srcId="{F32D47BE-4DED-412D-879B-FB187FFCA8ED}" destId="{DD449C43-9050-4095-ABB2-3DA9BBE1AD36}" srcOrd="2" destOrd="0" presId="urn:microsoft.com/office/officeart/2018/2/layout/IconVerticalSolidList"/>
    <dgm:cxn modelId="{2502ECA6-EDCC-954E-AA3E-537308D50548}" type="presParOf" srcId="{DD449C43-9050-4095-ABB2-3DA9BBE1AD36}" destId="{87640102-8C58-4A28-B6F2-5D0432B29FBF}" srcOrd="0" destOrd="0" presId="urn:microsoft.com/office/officeart/2018/2/layout/IconVerticalSolidList"/>
    <dgm:cxn modelId="{A1E6527C-0620-F641-82DD-996D54137505}" type="presParOf" srcId="{DD449C43-9050-4095-ABB2-3DA9BBE1AD36}" destId="{8CE5F85A-5A1A-4274-BAC1-6B92D7139EF9}" srcOrd="1" destOrd="0" presId="urn:microsoft.com/office/officeart/2018/2/layout/IconVerticalSolidList"/>
    <dgm:cxn modelId="{E378357B-65BF-1C4D-86A4-188E8AAF10B8}" type="presParOf" srcId="{DD449C43-9050-4095-ABB2-3DA9BBE1AD36}" destId="{62C77FC5-A7B3-4065-A9C2-0740320C9632}" srcOrd="2" destOrd="0" presId="urn:microsoft.com/office/officeart/2018/2/layout/IconVerticalSolidList"/>
    <dgm:cxn modelId="{B6D6E81B-BE49-DA4B-9ECE-CDBDF098741F}" type="presParOf" srcId="{DD449C43-9050-4095-ABB2-3DA9BBE1AD36}" destId="{55F9AEE9-6461-4CCF-B874-936104697EB0}" srcOrd="3" destOrd="0" presId="urn:microsoft.com/office/officeart/2018/2/layout/IconVerticalSolidList"/>
    <dgm:cxn modelId="{D05994F2-6F75-C44C-A1B7-E8EE81607433}" type="presParOf" srcId="{F32D47BE-4DED-412D-879B-FB187FFCA8ED}" destId="{ABCE9C28-A218-4DF1-91B4-BA131DA51EC6}" srcOrd="3" destOrd="0" presId="urn:microsoft.com/office/officeart/2018/2/layout/IconVerticalSolidList"/>
    <dgm:cxn modelId="{2E48C18A-3313-9F4C-8B40-8FB441297674}" type="presParOf" srcId="{F32D47BE-4DED-412D-879B-FB187FFCA8ED}" destId="{1BBF9F24-0857-4AE7-B8D4-09003203F044}" srcOrd="4" destOrd="0" presId="urn:microsoft.com/office/officeart/2018/2/layout/IconVerticalSolidList"/>
    <dgm:cxn modelId="{8DB41E3F-16E7-5847-9F3F-1A8AAB32E8E8}" type="presParOf" srcId="{1BBF9F24-0857-4AE7-B8D4-09003203F044}" destId="{7B25A68D-AC7C-4806-AAA9-AF0A0CC35526}" srcOrd="0" destOrd="0" presId="urn:microsoft.com/office/officeart/2018/2/layout/IconVerticalSolidList"/>
    <dgm:cxn modelId="{FFB0E10D-365F-774C-AA7C-CF17D9AC285A}" type="presParOf" srcId="{1BBF9F24-0857-4AE7-B8D4-09003203F044}" destId="{933F3440-E9B4-4C91-BC23-60F6E2046E6C}" srcOrd="1" destOrd="0" presId="urn:microsoft.com/office/officeart/2018/2/layout/IconVerticalSolidList"/>
    <dgm:cxn modelId="{53D99B65-4C33-2B47-824D-1CD99B103BE8}" type="presParOf" srcId="{1BBF9F24-0857-4AE7-B8D4-09003203F044}" destId="{B06BC28E-A5A0-4108-A085-A154F55C78DF}" srcOrd="2" destOrd="0" presId="urn:microsoft.com/office/officeart/2018/2/layout/IconVerticalSolidList"/>
    <dgm:cxn modelId="{65B8A5F7-6500-7649-A34A-87B3BCE728D9}" type="presParOf" srcId="{1BBF9F24-0857-4AE7-B8D4-09003203F044}" destId="{15C7DB55-4464-402B-B8EA-BAFC9B2DC59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A1432D-2B0C-4EF4-A515-5645706E41E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F79E385-BB80-4377-9017-658F3ADD5E10}">
      <dgm:prSet/>
      <dgm:spPr/>
      <dgm:t>
        <a:bodyPr/>
        <a:lstStyle/>
        <a:p>
          <a:pPr>
            <a:lnSpc>
              <a:spcPct val="100000"/>
            </a:lnSpc>
          </a:pPr>
          <a:r>
            <a:rPr lang="en-US"/>
            <a:t>You will need to be able to write code with an editor/IDE of your choice. </a:t>
          </a:r>
        </a:p>
      </dgm:t>
    </dgm:pt>
    <dgm:pt modelId="{1ECBB326-D702-4212-A054-320B4EA15D8D}" type="parTrans" cxnId="{D8C2EAAB-88F5-4596-897C-5D9338BCB1A3}">
      <dgm:prSet/>
      <dgm:spPr/>
      <dgm:t>
        <a:bodyPr/>
        <a:lstStyle/>
        <a:p>
          <a:endParaRPr lang="en-US"/>
        </a:p>
      </dgm:t>
    </dgm:pt>
    <dgm:pt modelId="{7B46C818-343F-4737-B2F6-927298E9894C}" type="sibTrans" cxnId="{D8C2EAAB-88F5-4596-897C-5D9338BCB1A3}">
      <dgm:prSet/>
      <dgm:spPr/>
      <dgm:t>
        <a:bodyPr/>
        <a:lstStyle/>
        <a:p>
          <a:endParaRPr lang="en-US"/>
        </a:p>
      </dgm:t>
    </dgm:pt>
    <dgm:pt modelId="{368F404C-3604-47FB-A657-D127CF92A294}">
      <dgm:prSet/>
      <dgm:spPr/>
      <dgm:t>
        <a:bodyPr/>
        <a:lstStyle/>
        <a:p>
          <a:pPr>
            <a:lnSpc>
              <a:spcPct val="100000"/>
            </a:lnSpc>
          </a:pPr>
          <a:r>
            <a:rPr lang="en-US"/>
            <a:t>You can choose from: C#; Java; Python; Go; JavaScript</a:t>
          </a:r>
        </a:p>
      </dgm:t>
    </dgm:pt>
    <dgm:pt modelId="{29DCDD9D-62BE-42D0-BA7D-5F7BC87CFA35}" type="parTrans" cxnId="{66AD70DB-26F8-4BCB-B8C8-8B49B2F0627A}">
      <dgm:prSet/>
      <dgm:spPr/>
      <dgm:t>
        <a:bodyPr/>
        <a:lstStyle/>
        <a:p>
          <a:endParaRPr lang="en-US"/>
        </a:p>
      </dgm:t>
    </dgm:pt>
    <dgm:pt modelId="{D41999EE-58D5-4A9C-9743-BCF4D4DA5E90}" type="sibTrans" cxnId="{66AD70DB-26F8-4BCB-B8C8-8B49B2F0627A}">
      <dgm:prSet/>
      <dgm:spPr/>
      <dgm:t>
        <a:bodyPr/>
        <a:lstStyle/>
        <a:p>
          <a:endParaRPr lang="en-US"/>
        </a:p>
      </dgm:t>
    </dgm:pt>
    <dgm:pt modelId="{7CC24768-991E-4E52-B24A-783A5ACE5C52}" type="pres">
      <dgm:prSet presAssocID="{D0A1432D-2B0C-4EF4-A515-5645706E41E4}" presName="root" presStyleCnt="0">
        <dgm:presLayoutVars>
          <dgm:dir/>
          <dgm:resizeHandles val="exact"/>
        </dgm:presLayoutVars>
      </dgm:prSet>
      <dgm:spPr/>
    </dgm:pt>
    <dgm:pt modelId="{0D2AD4B3-C551-4D54-94F7-DF93368549C0}" type="pres">
      <dgm:prSet presAssocID="{9F79E385-BB80-4377-9017-658F3ADD5E10}" presName="compNode" presStyleCnt="0"/>
      <dgm:spPr/>
    </dgm:pt>
    <dgm:pt modelId="{D4B7E7EF-7B56-4E71-BCB5-6426D51A6C90}" type="pres">
      <dgm:prSet presAssocID="{9F79E385-BB80-4377-9017-658F3ADD5E10}" presName="bgRect" presStyleLbl="bgShp" presStyleIdx="0" presStyleCnt="2"/>
      <dgm:spPr/>
    </dgm:pt>
    <dgm:pt modelId="{13BC9827-6856-4C6C-A0F7-C72DFBED8199}" type="pres">
      <dgm:prSet presAssocID="{9F79E385-BB80-4377-9017-658F3ADD5E1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mployee Badge"/>
        </a:ext>
      </dgm:extLst>
    </dgm:pt>
    <dgm:pt modelId="{0DEBBB6A-A57A-4DB9-A196-AA67F7934462}" type="pres">
      <dgm:prSet presAssocID="{9F79E385-BB80-4377-9017-658F3ADD5E10}" presName="spaceRect" presStyleCnt="0"/>
      <dgm:spPr/>
    </dgm:pt>
    <dgm:pt modelId="{A7B132F0-5FC6-43CD-B5FF-4007CD2B1D93}" type="pres">
      <dgm:prSet presAssocID="{9F79E385-BB80-4377-9017-658F3ADD5E10}" presName="parTx" presStyleLbl="revTx" presStyleIdx="0" presStyleCnt="2">
        <dgm:presLayoutVars>
          <dgm:chMax val="0"/>
          <dgm:chPref val="0"/>
        </dgm:presLayoutVars>
      </dgm:prSet>
      <dgm:spPr/>
    </dgm:pt>
    <dgm:pt modelId="{FD2CBAE0-204F-4B81-9104-876C29611DDC}" type="pres">
      <dgm:prSet presAssocID="{7B46C818-343F-4737-B2F6-927298E9894C}" presName="sibTrans" presStyleCnt="0"/>
      <dgm:spPr/>
    </dgm:pt>
    <dgm:pt modelId="{2BFD4098-BF71-46D2-9FB0-8B17D1CB4A2F}" type="pres">
      <dgm:prSet presAssocID="{368F404C-3604-47FB-A657-D127CF92A294}" presName="compNode" presStyleCnt="0"/>
      <dgm:spPr/>
    </dgm:pt>
    <dgm:pt modelId="{674EB1A7-9289-4267-86C3-4170B932D53A}" type="pres">
      <dgm:prSet presAssocID="{368F404C-3604-47FB-A657-D127CF92A294}" presName="bgRect" presStyleLbl="bgShp" presStyleIdx="1" presStyleCnt="2"/>
      <dgm:spPr/>
    </dgm:pt>
    <dgm:pt modelId="{9C83C85C-AC4C-4AC6-B44F-A3398311588E}" type="pres">
      <dgm:prSet presAssocID="{368F404C-3604-47FB-A657-D127CF92A29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grammer"/>
        </a:ext>
      </dgm:extLst>
    </dgm:pt>
    <dgm:pt modelId="{BD974378-E5F7-4FA0-B235-B8C89B675327}" type="pres">
      <dgm:prSet presAssocID="{368F404C-3604-47FB-A657-D127CF92A294}" presName="spaceRect" presStyleCnt="0"/>
      <dgm:spPr/>
    </dgm:pt>
    <dgm:pt modelId="{2B1246F8-F11E-4760-8EDD-09F5BADE9940}" type="pres">
      <dgm:prSet presAssocID="{368F404C-3604-47FB-A657-D127CF92A294}" presName="parTx" presStyleLbl="revTx" presStyleIdx="1" presStyleCnt="2">
        <dgm:presLayoutVars>
          <dgm:chMax val="0"/>
          <dgm:chPref val="0"/>
        </dgm:presLayoutVars>
      </dgm:prSet>
      <dgm:spPr/>
    </dgm:pt>
  </dgm:ptLst>
  <dgm:cxnLst>
    <dgm:cxn modelId="{FC4A481A-B992-4E2F-98C6-B9C02F108CDF}" type="presOf" srcId="{368F404C-3604-47FB-A657-D127CF92A294}" destId="{2B1246F8-F11E-4760-8EDD-09F5BADE9940}" srcOrd="0" destOrd="0" presId="urn:microsoft.com/office/officeart/2018/2/layout/IconVerticalSolidList"/>
    <dgm:cxn modelId="{D8C2EAAB-88F5-4596-897C-5D9338BCB1A3}" srcId="{D0A1432D-2B0C-4EF4-A515-5645706E41E4}" destId="{9F79E385-BB80-4377-9017-658F3ADD5E10}" srcOrd="0" destOrd="0" parTransId="{1ECBB326-D702-4212-A054-320B4EA15D8D}" sibTransId="{7B46C818-343F-4737-B2F6-927298E9894C}"/>
    <dgm:cxn modelId="{DE0C6FCF-2548-45C3-9B7D-9F7BABA45D23}" type="presOf" srcId="{9F79E385-BB80-4377-9017-658F3ADD5E10}" destId="{A7B132F0-5FC6-43CD-B5FF-4007CD2B1D93}" srcOrd="0" destOrd="0" presId="urn:microsoft.com/office/officeart/2018/2/layout/IconVerticalSolidList"/>
    <dgm:cxn modelId="{66AD70DB-26F8-4BCB-B8C8-8B49B2F0627A}" srcId="{D0A1432D-2B0C-4EF4-A515-5645706E41E4}" destId="{368F404C-3604-47FB-A657-D127CF92A294}" srcOrd="1" destOrd="0" parTransId="{29DCDD9D-62BE-42D0-BA7D-5F7BC87CFA35}" sibTransId="{D41999EE-58D5-4A9C-9743-BCF4D4DA5E90}"/>
    <dgm:cxn modelId="{2AC0B4E1-D109-4543-A145-1F4A19F091F2}" type="presOf" srcId="{D0A1432D-2B0C-4EF4-A515-5645706E41E4}" destId="{7CC24768-991E-4E52-B24A-783A5ACE5C52}" srcOrd="0" destOrd="0" presId="urn:microsoft.com/office/officeart/2018/2/layout/IconVerticalSolidList"/>
    <dgm:cxn modelId="{2921D07A-9ADD-4BBC-AF78-FA43A5950609}" type="presParOf" srcId="{7CC24768-991E-4E52-B24A-783A5ACE5C52}" destId="{0D2AD4B3-C551-4D54-94F7-DF93368549C0}" srcOrd="0" destOrd="0" presId="urn:microsoft.com/office/officeart/2018/2/layout/IconVerticalSolidList"/>
    <dgm:cxn modelId="{C37A5BCA-5677-486B-8085-30169018DC19}" type="presParOf" srcId="{0D2AD4B3-C551-4D54-94F7-DF93368549C0}" destId="{D4B7E7EF-7B56-4E71-BCB5-6426D51A6C90}" srcOrd="0" destOrd="0" presId="urn:microsoft.com/office/officeart/2018/2/layout/IconVerticalSolidList"/>
    <dgm:cxn modelId="{FD9415EC-F1B0-4EDD-9FAB-E39501BD1FAE}" type="presParOf" srcId="{0D2AD4B3-C551-4D54-94F7-DF93368549C0}" destId="{13BC9827-6856-4C6C-A0F7-C72DFBED8199}" srcOrd="1" destOrd="0" presId="urn:microsoft.com/office/officeart/2018/2/layout/IconVerticalSolidList"/>
    <dgm:cxn modelId="{6802F3CA-129B-429A-B972-FC3AE062869A}" type="presParOf" srcId="{0D2AD4B3-C551-4D54-94F7-DF93368549C0}" destId="{0DEBBB6A-A57A-4DB9-A196-AA67F7934462}" srcOrd="2" destOrd="0" presId="urn:microsoft.com/office/officeart/2018/2/layout/IconVerticalSolidList"/>
    <dgm:cxn modelId="{0B043B0D-287A-48D2-9314-AF9E42BB3258}" type="presParOf" srcId="{0D2AD4B3-C551-4D54-94F7-DF93368549C0}" destId="{A7B132F0-5FC6-43CD-B5FF-4007CD2B1D93}" srcOrd="3" destOrd="0" presId="urn:microsoft.com/office/officeart/2018/2/layout/IconVerticalSolidList"/>
    <dgm:cxn modelId="{07B12BFE-8953-4327-939C-37276A4D7836}" type="presParOf" srcId="{7CC24768-991E-4E52-B24A-783A5ACE5C52}" destId="{FD2CBAE0-204F-4B81-9104-876C29611DDC}" srcOrd="1" destOrd="0" presId="urn:microsoft.com/office/officeart/2018/2/layout/IconVerticalSolidList"/>
    <dgm:cxn modelId="{8B57BB09-3D1D-41BB-9959-05AB90E72598}" type="presParOf" srcId="{7CC24768-991E-4E52-B24A-783A5ACE5C52}" destId="{2BFD4098-BF71-46D2-9FB0-8B17D1CB4A2F}" srcOrd="2" destOrd="0" presId="urn:microsoft.com/office/officeart/2018/2/layout/IconVerticalSolidList"/>
    <dgm:cxn modelId="{302B962A-0C30-49F9-9A32-D79E5788045F}" type="presParOf" srcId="{2BFD4098-BF71-46D2-9FB0-8B17D1CB4A2F}" destId="{674EB1A7-9289-4267-86C3-4170B932D53A}" srcOrd="0" destOrd="0" presId="urn:microsoft.com/office/officeart/2018/2/layout/IconVerticalSolidList"/>
    <dgm:cxn modelId="{9EFC2B76-7C25-45EF-A112-D7EFFE3666F3}" type="presParOf" srcId="{2BFD4098-BF71-46D2-9FB0-8B17D1CB4A2F}" destId="{9C83C85C-AC4C-4AC6-B44F-A3398311588E}" srcOrd="1" destOrd="0" presId="urn:microsoft.com/office/officeart/2018/2/layout/IconVerticalSolidList"/>
    <dgm:cxn modelId="{FCBEBE1B-6DC1-4B68-B03D-B62C04284636}" type="presParOf" srcId="{2BFD4098-BF71-46D2-9FB0-8B17D1CB4A2F}" destId="{BD974378-E5F7-4FA0-B235-B8C89B675327}" srcOrd="2" destOrd="0" presId="urn:microsoft.com/office/officeart/2018/2/layout/IconVerticalSolidList"/>
    <dgm:cxn modelId="{04AFE4C2-7757-440A-A629-37D54748D306}" type="presParOf" srcId="{2BFD4098-BF71-46D2-9FB0-8B17D1CB4A2F}" destId="{2B1246F8-F11E-4760-8EDD-09F5BADE994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640102-8C58-4A28-B6F2-5D0432B29FBF}">
      <dsp:nvSpPr>
        <dsp:cNvPr id="0" name=""/>
        <dsp:cNvSpPr/>
      </dsp:nvSpPr>
      <dsp:spPr>
        <a:xfrm>
          <a:off x="0" y="3218"/>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E5F85A-5A1A-4274-BAC1-6B92D7139EF9}">
      <dsp:nvSpPr>
        <dsp:cNvPr id="0" name=""/>
        <dsp:cNvSpPr/>
      </dsp:nvSpPr>
      <dsp:spPr>
        <a:xfrm>
          <a:off x="207350" y="157445"/>
          <a:ext cx="377000" cy="377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F9AEE9-6461-4CCF-B874-936104697EB0}">
      <dsp:nvSpPr>
        <dsp:cNvPr id="0" name=""/>
        <dsp:cNvSpPr/>
      </dsp:nvSpPr>
      <dsp:spPr>
        <a:xfrm>
          <a:off x="791701" y="3218"/>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Distribution</a:t>
          </a:r>
        </a:p>
      </dsp:txBody>
      <dsp:txXfrm>
        <a:off x="791701" y="3218"/>
        <a:ext cx="4243462" cy="685455"/>
      </dsp:txXfrm>
    </dsp:sp>
    <dsp:sp modelId="{BF5EB49F-1335-479B-AFB5-5B81B249B8DA}">
      <dsp:nvSpPr>
        <dsp:cNvPr id="0" name=""/>
        <dsp:cNvSpPr/>
      </dsp:nvSpPr>
      <dsp:spPr>
        <a:xfrm>
          <a:off x="0" y="860038"/>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AFBDCA-7F9A-46F2-BDDC-5209C0334223}">
      <dsp:nvSpPr>
        <dsp:cNvPr id="0" name=""/>
        <dsp:cNvSpPr/>
      </dsp:nvSpPr>
      <dsp:spPr>
        <a:xfrm>
          <a:off x="207350" y="1014265"/>
          <a:ext cx="377000" cy="377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08E8EC-9AD0-4686-8A45-85FC495A5C87}">
      <dsp:nvSpPr>
        <dsp:cNvPr id="0" name=""/>
        <dsp:cNvSpPr/>
      </dsp:nvSpPr>
      <dsp:spPr>
        <a:xfrm>
          <a:off x="791701" y="860038"/>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Integration Styles</a:t>
          </a:r>
        </a:p>
      </dsp:txBody>
      <dsp:txXfrm>
        <a:off x="791701" y="860038"/>
        <a:ext cx="4243462" cy="685455"/>
      </dsp:txXfrm>
    </dsp:sp>
    <dsp:sp modelId="{7B25A68D-AC7C-4806-AAA9-AF0A0CC35526}">
      <dsp:nvSpPr>
        <dsp:cNvPr id="0" name=""/>
        <dsp:cNvSpPr/>
      </dsp:nvSpPr>
      <dsp:spPr>
        <a:xfrm>
          <a:off x="0" y="1716858"/>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F3440-E9B4-4C91-BC23-60F6E2046E6C}">
      <dsp:nvSpPr>
        <dsp:cNvPr id="0" name=""/>
        <dsp:cNvSpPr/>
      </dsp:nvSpPr>
      <dsp:spPr>
        <a:xfrm>
          <a:off x="207350" y="1871085"/>
          <a:ext cx="377000" cy="377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C7DB55-4464-402B-B8EA-BAFC9B2DC59A}">
      <dsp:nvSpPr>
        <dsp:cNvPr id="0" name=""/>
        <dsp:cNvSpPr/>
      </dsp:nvSpPr>
      <dsp:spPr>
        <a:xfrm>
          <a:off x="791701" y="1716858"/>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Messaging Patterns</a:t>
          </a:r>
        </a:p>
      </dsp:txBody>
      <dsp:txXfrm>
        <a:off x="791701" y="1716858"/>
        <a:ext cx="4243462" cy="685455"/>
      </dsp:txXfrm>
    </dsp:sp>
    <dsp:sp modelId="{808BA6E0-F064-4C92-83FB-BF7FEECD838B}">
      <dsp:nvSpPr>
        <dsp:cNvPr id="0" name=""/>
        <dsp:cNvSpPr/>
      </dsp:nvSpPr>
      <dsp:spPr>
        <a:xfrm>
          <a:off x="0" y="2573677"/>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B71D9-89AC-4F5F-B9C3-95FA3AD5D536}">
      <dsp:nvSpPr>
        <dsp:cNvPr id="0" name=""/>
        <dsp:cNvSpPr/>
      </dsp:nvSpPr>
      <dsp:spPr>
        <a:xfrm>
          <a:off x="207350" y="2727905"/>
          <a:ext cx="377000" cy="377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BAC88D-549D-4E41-814F-FA67384924FF}">
      <dsp:nvSpPr>
        <dsp:cNvPr id="0" name=""/>
        <dsp:cNvSpPr/>
      </dsp:nvSpPr>
      <dsp:spPr>
        <a:xfrm>
          <a:off x="791701" y="2573677"/>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Queues and Streams</a:t>
          </a:r>
        </a:p>
      </dsp:txBody>
      <dsp:txXfrm>
        <a:off x="791701" y="2573677"/>
        <a:ext cx="4243462" cy="685455"/>
      </dsp:txXfrm>
    </dsp:sp>
    <dsp:sp modelId="{4DB5E4E4-F5EC-4949-920B-E2702414E15E}">
      <dsp:nvSpPr>
        <dsp:cNvPr id="0" name=""/>
        <dsp:cNvSpPr/>
      </dsp:nvSpPr>
      <dsp:spPr>
        <a:xfrm>
          <a:off x="0" y="3430497"/>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BC3AE-D231-4228-87DF-83E990F8C2B8}">
      <dsp:nvSpPr>
        <dsp:cNvPr id="0" name=""/>
        <dsp:cNvSpPr/>
      </dsp:nvSpPr>
      <dsp:spPr>
        <a:xfrm>
          <a:off x="207350" y="3584725"/>
          <a:ext cx="377000" cy="377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92BF33-9747-41D4-9D07-EA4BF18E595B}">
      <dsp:nvSpPr>
        <dsp:cNvPr id="0" name=""/>
        <dsp:cNvSpPr/>
      </dsp:nvSpPr>
      <dsp:spPr>
        <a:xfrm>
          <a:off x="791701" y="3430497"/>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Managing Asynchronous Architectures</a:t>
          </a:r>
        </a:p>
      </dsp:txBody>
      <dsp:txXfrm>
        <a:off x="791701" y="3430497"/>
        <a:ext cx="4243462" cy="6854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8BA6E0-F064-4C92-83FB-BF7FEECD838B}">
      <dsp:nvSpPr>
        <dsp:cNvPr id="0" name=""/>
        <dsp:cNvSpPr/>
      </dsp:nvSpPr>
      <dsp:spPr>
        <a:xfrm>
          <a:off x="0" y="502"/>
          <a:ext cx="5035164" cy="1176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B71D9-89AC-4F5F-B9C3-95FA3AD5D536}">
      <dsp:nvSpPr>
        <dsp:cNvPr id="0" name=""/>
        <dsp:cNvSpPr/>
      </dsp:nvSpPr>
      <dsp:spPr>
        <a:xfrm>
          <a:off x="355927" y="265242"/>
          <a:ext cx="647140" cy="6471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BAC88D-549D-4E41-814F-FA67384924FF}">
      <dsp:nvSpPr>
        <dsp:cNvPr id="0" name=""/>
        <dsp:cNvSpPr/>
      </dsp:nvSpPr>
      <dsp:spPr>
        <a:xfrm>
          <a:off x="1358994" y="502"/>
          <a:ext cx="3676169" cy="1176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26" tIns="124526" rIns="124526" bIns="124526" numCol="1" spcCol="1270" anchor="ctr" anchorCtr="0">
          <a:noAutofit/>
        </a:bodyPr>
        <a:lstStyle/>
        <a:p>
          <a:pPr marL="0" lvl="0" indent="0" algn="l" defTabSz="1111250">
            <a:lnSpc>
              <a:spcPct val="100000"/>
            </a:lnSpc>
            <a:spcBef>
              <a:spcPct val="0"/>
            </a:spcBef>
            <a:spcAft>
              <a:spcPct val="35000"/>
            </a:spcAft>
            <a:buNone/>
          </a:pPr>
          <a:r>
            <a:rPr lang="en-US" sz="2500" kern="1200"/>
            <a:t>Conversations</a:t>
          </a:r>
          <a:endParaRPr lang="en-US" sz="2500" kern="1200" dirty="0"/>
        </a:p>
      </dsp:txBody>
      <dsp:txXfrm>
        <a:off x="1358994" y="502"/>
        <a:ext cx="3676169" cy="1176618"/>
      </dsp:txXfrm>
    </dsp:sp>
    <dsp:sp modelId="{87640102-8C58-4A28-B6F2-5D0432B29FBF}">
      <dsp:nvSpPr>
        <dsp:cNvPr id="0" name=""/>
        <dsp:cNvSpPr/>
      </dsp:nvSpPr>
      <dsp:spPr>
        <a:xfrm>
          <a:off x="0" y="1471276"/>
          <a:ext cx="5035164" cy="1176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E5F85A-5A1A-4274-BAC1-6B92D7139EF9}">
      <dsp:nvSpPr>
        <dsp:cNvPr id="0" name=""/>
        <dsp:cNvSpPr/>
      </dsp:nvSpPr>
      <dsp:spPr>
        <a:xfrm>
          <a:off x="355927" y="1736015"/>
          <a:ext cx="647140" cy="6471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F9AEE9-6461-4CCF-B874-936104697EB0}">
      <dsp:nvSpPr>
        <dsp:cNvPr id="0" name=""/>
        <dsp:cNvSpPr/>
      </dsp:nvSpPr>
      <dsp:spPr>
        <a:xfrm>
          <a:off x="1358994" y="1471276"/>
          <a:ext cx="3676169" cy="1176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26" tIns="124526" rIns="124526" bIns="124526" numCol="1" spcCol="1270" anchor="ctr" anchorCtr="0">
          <a:noAutofit/>
        </a:bodyPr>
        <a:lstStyle/>
        <a:p>
          <a:pPr marL="0" lvl="0" indent="0" algn="l" defTabSz="1111250">
            <a:lnSpc>
              <a:spcPct val="100000"/>
            </a:lnSpc>
            <a:spcBef>
              <a:spcPct val="0"/>
            </a:spcBef>
            <a:spcAft>
              <a:spcPct val="35000"/>
            </a:spcAft>
            <a:buNone/>
          </a:pPr>
          <a:r>
            <a:rPr lang="en-US" sz="2500" kern="1200" dirty="0"/>
            <a:t>Flow</a:t>
          </a:r>
        </a:p>
      </dsp:txBody>
      <dsp:txXfrm>
        <a:off x="1358994" y="1471276"/>
        <a:ext cx="3676169" cy="1176618"/>
      </dsp:txXfrm>
    </dsp:sp>
    <dsp:sp modelId="{7B25A68D-AC7C-4806-AAA9-AF0A0CC35526}">
      <dsp:nvSpPr>
        <dsp:cNvPr id="0" name=""/>
        <dsp:cNvSpPr/>
      </dsp:nvSpPr>
      <dsp:spPr>
        <a:xfrm>
          <a:off x="0" y="2942050"/>
          <a:ext cx="5035164" cy="1176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F3440-E9B4-4C91-BC23-60F6E2046E6C}">
      <dsp:nvSpPr>
        <dsp:cNvPr id="0" name=""/>
        <dsp:cNvSpPr/>
      </dsp:nvSpPr>
      <dsp:spPr>
        <a:xfrm>
          <a:off x="355927" y="3206789"/>
          <a:ext cx="647140" cy="6471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C7DB55-4464-402B-B8EA-BAFC9B2DC59A}">
      <dsp:nvSpPr>
        <dsp:cNvPr id="0" name=""/>
        <dsp:cNvSpPr/>
      </dsp:nvSpPr>
      <dsp:spPr>
        <a:xfrm>
          <a:off x="1358994" y="2942050"/>
          <a:ext cx="3676169" cy="1176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26" tIns="124526" rIns="124526" bIns="124526" numCol="1" spcCol="1270" anchor="ctr" anchorCtr="0">
          <a:noAutofit/>
        </a:bodyPr>
        <a:lstStyle/>
        <a:p>
          <a:pPr marL="0" lvl="0" indent="0" algn="l" defTabSz="1111250">
            <a:lnSpc>
              <a:spcPct val="100000"/>
            </a:lnSpc>
            <a:spcBef>
              <a:spcPct val="0"/>
            </a:spcBef>
            <a:spcAft>
              <a:spcPct val="35000"/>
            </a:spcAft>
            <a:buNone/>
          </a:pPr>
          <a:r>
            <a:rPr lang="en-US" sz="2500" kern="1200" dirty="0"/>
            <a:t>Process Automation</a:t>
          </a:r>
        </a:p>
      </dsp:txBody>
      <dsp:txXfrm>
        <a:off x="1358994" y="2942050"/>
        <a:ext cx="3676169" cy="11766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B7E7EF-7B56-4E71-BCB5-6426D51A6C90}">
      <dsp:nvSpPr>
        <dsp:cNvPr id="0" name=""/>
        <dsp:cNvSpPr/>
      </dsp:nvSpPr>
      <dsp:spPr>
        <a:xfrm>
          <a:off x="0" y="309901"/>
          <a:ext cx="8098077" cy="5721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BC9827-6856-4C6C-A0F7-C72DFBED8199}">
      <dsp:nvSpPr>
        <dsp:cNvPr id="0" name=""/>
        <dsp:cNvSpPr/>
      </dsp:nvSpPr>
      <dsp:spPr>
        <a:xfrm>
          <a:off x="173068" y="438630"/>
          <a:ext cx="314669" cy="3146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B132F0-5FC6-43CD-B5FF-4007CD2B1D93}">
      <dsp:nvSpPr>
        <dsp:cNvPr id="0" name=""/>
        <dsp:cNvSpPr/>
      </dsp:nvSpPr>
      <dsp:spPr>
        <a:xfrm>
          <a:off x="660805" y="309901"/>
          <a:ext cx="7437271" cy="572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550" tIns="60550" rIns="60550" bIns="60550" numCol="1" spcCol="1270" anchor="ctr" anchorCtr="0">
          <a:noAutofit/>
        </a:bodyPr>
        <a:lstStyle/>
        <a:p>
          <a:pPr marL="0" lvl="0" indent="0" algn="l" defTabSz="844550">
            <a:lnSpc>
              <a:spcPct val="100000"/>
            </a:lnSpc>
            <a:spcBef>
              <a:spcPct val="0"/>
            </a:spcBef>
            <a:spcAft>
              <a:spcPct val="35000"/>
            </a:spcAft>
            <a:buNone/>
          </a:pPr>
          <a:r>
            <a:rPr lang="en-US" sz="1900" kern="1200"/>
            <a:t>You will need to be able to write code with an editor/IDE of your choice. </a:t>
          </a:r>
        </a:p>
      </dsp:txBody>
      <dsp:txXfrm>
        <a:off x="660805" y="309901"/>
        <a:ext cx="7437271" cy="572126"/>
      </dsp:txXfrm>
    </dsp:sp>
    <dsp:sp modelId="{674EB1A7-9289-4267-86C3-4170B932D53A}">
      <dsp:nvSpPr>
        <dsp:cNvPr id="0" name=""/>
        <dsp:cNvSpPr/>
      </dsp:nvSpPr>
      <dsp:spPr>
        <a:xfrm>
          <a:off x="0" y="1025059"/>
          <a:ext cx="8098077" cy="5721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83C85C-AC4C-4AC6-B44F-A3398311588E}">
      <dsp:nvSpPr>
        <dsp:cNvPr id="0" name=""/>
        <dsp:cNvSpPr/>
      </dsp:nvSpPr>
      <dsp:spPr>
        <a:xfrm>
          <a:off x="173068" y="1153787"/>
          <a:ext cx="314669" cy="3146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1246F8-F11E-4760-8EDD-09F5BADE9940}">
      <dsp:nvSpPr>
        <dsp:cNvPr id="0" name=""/>
        <dsp:cNvSpPr/>
      </dsp:nvSpPr>
      <dsp:spPr>
        <a:xfrm>
          <a:off x="660805" y="1025059"/>
          <a:ext cx="7437271" cy="572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550" tIns="60550" rIns="60550" bIns="60550" numCol="1" spcCol="1270" anchor="ctr" anchorCtr="0">
          <a:noAutofit/>
        </a:bodyPr>
        <a:lstStyle/>
        <a:p>
          <a:pPr marL="0" lvl="0" indent="0" algn="l" defTabSz="844550">
            <a:lnSpc>
              <a:spcPct val="100000"/>
            </a:lnSpc>
            <a:spcBef>
              <a:spcPct val="0"/>
            </a:spcBef>
            <a:spcAft>
              <a:spcPct val="35000"/>
            </a:spcAft>
            <a:buNone/>
          </a:pPr>
          <a:r>
            <a:rPr lang="en-US" sz="1900" kern="1200"/>
            <a:t>You can choose from: C#; Java; Python; Go; JavaScript</a:t>
          </a:r>
        </a:p>
      </dsp:txBody>
      <dsp:txXfrm>
        <a:off x="660805" y="1025059"/>
        <a:ext cx="7437271" cy="57212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3674DE-9C4F-3842-ACFD-279DBF9975E3}" type="datetimeFigureOut">
              <a:rPr lang="en-US" smtClean="0"/>
              <a:pPr/>
              <a:t>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49CB24-BEAC-6A41-9A10-BFD56146B867}" type="slidenum">
              <a:rPr lang="en-US" smtClean="0"/>
              <a:pPr/>
              <a:t>‹#›</a:t>
            </a:fld>
            <a:endParaRPr lang="en-US"/>
          </a:p>
        </p:txBody>
      </p:sp>
    </p:spTree>
    <p:extLst>
      <p:ext uri="{BB962C8B-B14F-4D97-AF65-F5344CB8AC3E}">
        <p14:creationId xmlns:p14="http://schemas.microsoft.com/office/powerpoint/2010/main" val="313824491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s://en.wikipedia.org/wiki/Sun_Microsystems" TargetMode="External"/><Relationship Id="rId13" Type="http://schemas.openxmlformats.org/officeDocument/2006/relationships/hyperlink" Target="https://en.wikipedia.org/wiki/Fallacies_of_distributed_computing#cite_note-Fallacies-10-years-after-3" TargetMode="External"/><Relationship Id="rId3" Type="http://schemas.openxmlformats.org/officeDocument/2006/relationships/hyperlink" Target="https://en.wikipedia.org/wiki/Packet_loss" TargetMode="External"/><Relationship Id="rId7" Type="http://schemas.openxmlformats.org/officeDocument/2006/relationships/hyperlink" Target="https://en.wikipedia.org/wiki/Subnetwork" TargetMode="External"/><Relationship Id="rId12" Type="http://schemas.openxmlformats.org/officeDocument/2006/relationships/hyperlink" Target="https://en.wikipedia.org/wiki/Bill_Joy" TargetMode="External"/><Relationship Id="rId2" Type="http://schemas.openxmlformats.org/officeDocument/2006/relationships/slide" Target="../slides/slide25.xml"/><Relationship Id="rId16" Type="http://schemas.openxmlformats.org/officeDocument/2006/relationships/hyperlink" Target="https://en.wikipedia.org/wiki/Java_(programming_language)" TargetMode="External"/><Relationship Id="rId1" Type="http://schemas.openxmlformats.org/officeDocument/2006/relationships/notesMaster" Target="../notesMasters/notesMaster1.xml"/><Relationship Id="rId6" Type="http://schemas.openxmlformats.org/officeDocument/2006/relationships/hyperlink" Target="https://en.wikipedia.org/wiki/Network_topology" TargetMode="External"/><Relationship Id="rId11" Type="http://schemas.openxmlformats.org/officeDocument/2006/relationships/hyperlink" Target="https://en.wikipedia.org/wiki/Wikipedia:Manual_of_Style/Words_to_watch#Unsupported_attributions" TargetMode="External"/><Relationship Id="rId5" Type="http://schemas.openxmlformats.org/officeDocument/2006/relationships/hyperlink" Target="https://en.wikipedia.org/wiki/Fallacies_of_distributed_computing#cite_note-Malware-techniques-will-evolve-2" TargetMode="External"/><Relationship Id="rId15" Type="http://schemas.openxmlformats.org/officeDocument/2006/relationships/hyperlink" Target="https://en.wikipedia.org/wiki/James_Gosling" TargetMode="External"/><Relationship Id="rId10" Type="http://schemas.openxmlformats.org/officeDocument/2006/relationships/hyperlink" Target="https://en.wikipedia.org/wiki/Fellow" TargetMode="External"/><Relationship Id="rId4" Type="http://schemas.openxmlformats.org/officeDocument/2006/relationships/hyperlink" Target="https://en.wikipedia.org/wiki/Frequency-division_multiplexing" TargetMode="External"/><Relationship Id="rId9" Type="http://schemas.openxmlformats.org/officeDocument/2006/relationships/hyperlink" Target="https://en.wikipedia.org/wiki/L._Peter_Deutsch" TargetMode="External"/><Relationship Id="rId14" Type="http://schemas.openxmlformats.org/officeDocument/2006/relationships/hyperlink" Target="https://en.wikipedia.org/wiki/Wikipedia:Please_clarify"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n.wikipedia.org/wiki/Loose_coupling" TargetMode="External"/><Relationship Id="rId7" Type="http://schemas.openxmlformats.org/officeDocument/2006/relationships/hyperlink" Target="https://en.wikipedia.org/wiki/Latent_semantic_indexing" TargetMode="External"/><Relationship Id="rId2" Type="http://schemas.openxmlformats.org/officeDocument/2006/relationships/slide" Target="../slides/slide27.xml"/><Relationship Id="rId1" Type="http://schemas.openxmlformats.org/officeDocument/2006/relationships/notesMaster" Target="../notesMasters/notesMaster1.xml"/><Relationship Id="rId6" Type="http://schemas.openxmlformats.org/officeDocument/2006/relationships/hyperlink" Target="https://en.wikipedia.org/wiki/Coupling_(computer_programming)#cite_note-Arisholm_2004-6" TargetMode="External"/><Relationship Id="rId5" Type="http://schemas.openxmlformats.org/officeDocument/2006/relationships/hyperlink" Target="https://en.wikipedia.org/wiki/Coupling_(computer_programming)#cite_note-Beck_2011-5" TargetMode="External"/><Relationship Id="rId4" Type="http://schemas.openxmlformats.org/officeDocument/2006/relationships/hyperlink" Target="https://en.wikipedia.org/wiki/Information_hiding"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1</a:t>
            </a:fld>
            <a:endParaRPr lang="en-US"/>
          </a:p>
        </p:txBody>
      </p:sp>
    </p:spTree>
    <p:extLst>
      <p:ext uri="{BB962C8B-B14F-4D97-AF65-F5344CB8AC3E}">
        <p14:creationId xmlns:p14="http://schemas.microsoft.com/office/powerpoint/2010/main" val="2360661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8D454BB1-5AB5-DF45-A819-95464E74CBE3}" type="slidenum">
              <a:rPr lang="en-US" smtClean="0"/>
              <a:t>2</a:t>
            </a:fld>
            <a:endParaRPr lang="en-US"/>
          </a:p>
        </p:txBody>
      </p:sp>
    </p:spTree>
    <p:extLst>
      <p:ext uri="{BB962C8B-B14F-4D97-AF65-F5344CB8AC3E}">
        <p14:creationId xmlns:p14="http://schemas.microsoft.com/office/powerpoint/2010/main" val="1984934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49CB24-BEAC-6A41-9A10-BFD56146B867}" type="slidenum">
              <a:rPr lang="en-US" smtClean="0"/>
              <a:pPr/>
              <a:t>6</a:t>
            </a:fld>
            <a:endParaRPr lang="en-US"/>
          </a:p>
        </p:txBody>
      </p:sp>
    </p:spTree>
    <p:extLst>
      <p:ext uri="{BB962C8B-B14F-4D97-AF65-F5344CB8AC3E}">
        <p14:creationId xmlns:p14="http://schemas.microsoft.com/office/powerpoint/2010/main" val="1998846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05B70-F407-FA76-D22E-CD451B931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12513-CDE5-AB22-A889-46DD334BEE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125CAE-7E5A-6F80-E768-4632D061E8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417C5-36CE-0513-8F45-2F6FA8163D4E}"/>
              </a:ext>
            </a:extLst>
          </p:cNvPr>
          <p:cNvSpPr>
            <a:spLocks noGrp="1"/>
          </p:cNvSpPr>
          <p:nvPr>
            <p:ph type="sldNum" sz="quarter" idx="10"/>
          </p:nvPr>
        </p:nvSpPr>
        <p:spPr/>
        <p:txBody>
          <a:bodyPr/>
          <a:lstStyle/>
          <a:p>
            <a:fld id="{F949CB24-BEAC-6A41-9A10-BFD56146B867}" type="slidenum">
              <a:rPr lang="en-US" smtClean="0"/>
              <a:pPr/>
              <a:t>7</a:t>
            </a:fld>
            <a:endParaRPr lang="en-US"/>
          </a:p>
        </p:txBody>
      </p:sp>
    </p:spTree>
    <p:extLst>
      <p:ext uri="{BB962C8B-B14F-4D97-AF65-F5344CB8AC3E}">
        <p14:creationId xmlns:p14="http://schemas.microsoft.com/office/powerpoint/2010/main" val="2934490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8</a:t>
            </a:fld>
            <a:endParaRPr lang="en-US"/>
          </a:p>
        </p:txBody>
      </p:sp>
    </p:spTree>
    <p:extLst>
      <p:ext uri="{BB962C8B-B14F-4D97-AF65-F5344CB8AC3E}">
        <p14:creationId xmlns:p14="http://schemas.microsoft.com/office/powerpoint/2010/main" val="1376128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Distributed Systems 5m</a:t>
            </a:r>
          </a:p>
          <a:p>
            <a:r>
              <a:rPr lang="en-US" dirty="0"/>
              <a:t>Once upon a time computer systems were stand-alone, they ran on one-machine. But modern design tends to be distributed with parts running on different computing nodes. Why?</a:t>
            </a:r>
          </a:p>
          <a:p>
            <a:endParaRPr lang="en-US" dirty="0"/>
          </a:p>
          <a:p>
            <a:r>
              <a:rPr lang="en-US" dirty="0"/>
              <a:t>Performance and scalability: As systems become successful it becomes necessary to scale them to meet demand with adequate performance. With a distributed system we can scale-out by introducing new nodes and spread load, and we can also scale up parts of our offering to improve performance by making more expensive hardware available.</a:t>
            </a:r>
          </a:p>
          <a:p>
            <a:endParaRPr lang="en-US" dirty="0"/>
          </a:p>
          <a:p>
            <a:r>
              <a:rPr lang="en-US" dirty="0"/>
              <a:t>Availability: The problem of 'one' plagues computing. If I have 'one' computing node then failure stops my system running. But if we have redundant computing nodes we can rely on those nodes to provide service - perhaps degraded, until we can replace the node. This makes systems fault tolerant.</a:t>
            </a:r>
          </a:p>
          <a:p>
            <a:endParaRPr lang="en-US" dirty="0"/>
          </a:p>
          <a:p>
            <a:r>
              <a:rPr lang="en-US" dirty="0"/>
              <a:t>Maintainability: It becomes hard to maintain large monolithic systems: if you have to test the whole system in order to release it testing becomes an obstacle to release, often slowing release schedules and creating inventory waste; developers find it hard to grasp the 'whole', it's too big to reason about effectively. This often creates a 'banyan tree' anti-pattern with multiple solutions to the same problem, duplication, and if coupling is bad a 'big ball of mud'. Splitting a system into parts creates components that can be developed, QA'd and released independently reducing the problem of complexity to a more manageable size, improving our ability to reason about software, shortening the time to QA software and reducing inventory waste. </a:t>
            </a:r>
          </a:p>
          <a:p>
            <a:endParaRPr lang="en-US" dirty="0"/>
          </a:p>
          <a:p>
            <a:r>
              <a:rPr lang="en-US" dirty="0"/>
              <a:t>Inherent distribution: Some applications are inherently distributed such as business systems that span company divisions in multiple regions of the world, peer-to-peer content sharing etc.</a:t>
            </a:r>
          </a:p>
        </p:txBody>
      </p:sp>
      <p:sp>
        <p:nvSpPr>
          <p:cNvPr id="4" name="Slide Number Placeholder 3"/>
          <p:cNvSpPr>
            <a:spLocks noGrp="1"/>
          </p:cNvSpPr>
          <p:nvPr>
            <p:ph type="sldNum" sz="quarter" idx="10"/>
          </p:nvPr>
        </p:nvSpPr>
        <p:spPr/>
        <p:txBody>
          <a:bodyPr/>
          <a:lstStyle/>
          <a:p>
            <a:fld id="{F949CB24-BEAC-6A41-9A10-BFD56146B867}" type="slidenum">
              <a:rPr lang="en-US" smtClean="0"/>
              <a:pPr/>
              <a:t>12</a:t>
            </a:fld>
            <a:endParaRPr lang="en-US"/>
          </a:p>
        </p:txBody>
      </p:sp>
    </p:spTree>
    <p:extLst>
      <p:ext uri="{BB962C8B-B14F-4D97-AF65-F5344CB8AC3E}">
        <p14:creationId xmlns:p14="http://schemas.microsoft.com/office/powerpoint/2010/main" val="811288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Task Queue</a:t>
            </a:r>
          </a:p>
        </p:txBody>
      </p:sp>
    </p:spTree>
    <p:extLst>
      <p:ext uri="{BB962C8B-B14F-4D97-AF65-F5344CB8AC3E}">
        <p14:creationId xmlns:p14="http://schemas.microsoft.com/office/powerpoint/2010/main" val="396140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5e7275df55_0_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5e7275df5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Adrian points out that Continuous Delivery is now “table stakes” for digital companies. You can no longer beat the competition if you have a slow release schedule. We want to ship features as soon as they are done, done! Anything else is inventory waste.</a:t>
            </a:r>
            <a:endParaRPr/>
          </a:p>
          <a:p>
            <a:pPr marL="0" lvl="0" indent="0" algn="l" rtl="0">
              <a:spcBef>
                <a:spcPts val="0"/>
              </a:spcBef>
              <a:spcAft>
                <a:spcPts val="0"/>
              </a:spcAft>
              <a:buNone/>
            </a:pPr>
            <a:endParaRPr/>
          </a:p>
          <a:p>
            <a:pPr marL="0" lvl="0" indent="0" algn="l" rtl="0">
              <a:spcBef>
                <a:spcPts val="0"/>
              </a:spcBef>
              <a:spcAft>
                <a:spcPts val="0"/>
              </a:spcAft>
              <a:buNone/>
            </a:pPr>
            <a:r>
              <a:rPr lang="en-GB"/>
              <a:t>To achieve that, we are going to have to build microservices, once we get beyond a single “two-pizza” team</a:t>
            </a:r>
            <a:endParaRPr/>
          </a:p>
          <a:p>
            <a:pPr marL="0" lvl="0" indent="0" algn="l" rtl="0">
              <a:spcBef>
                <a:spcPts val="0"/>
              </a:spcBef>
              <a:spcAft>
                <a:spcPts val="0"/>
              </a:spcAft>
              <a:buNone/>
            </a:pPr>
            <a:endParaRPr/>
          </a:p>
          <a:p>
            <a:pPr marL="0" lvl="0" indent="0" algn="l" rtl="0">
              <a:spcBef>
                <a:spcPts val="0"/>
              </a:spcBef>
              <a:spcAft>
                <a:spcPts val="0"/>
              </a:spcAft>
              <a:buNone/>
            </a:pPr>
            <a:r>
              <a:rPr lang="en-GB"/>
              <a:t>Although microservices offer a range of benefits, the focus of this deck is how alignment with business capabilities gives us greater productivity, which is the justification for expenditure on the effort required to partition a system into microservices.</a:t>
            </a:r>
            <a:endParaRPr/>
          </a:p>
        </p:txBody>
      </p:sp>
    </p:spTree>
    <p:extLst>
      <p:ext uri="{BB962C8B-B14F-4D97-AF65-F5344CB8AC3E}">
        <p14:creationId xmlns:p14="http://schemas.microsoft.com/office/powerpoint/2010/main" val="546070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5e7275df5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5e7275df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Monoliths suffer when an organization grows to many teams. Each team has its own backlog, and to avoid contention with other teams changes will branch the repository. When they wish to release, they need to agree with other teams that they will release on a given date, and merge their branch in. Frequently this collides with other teams release schedules, and rather than queue behind each other, they go together. This is because the teams in the rear will have to merge any upstream changes and regression test, before they can release, so to avoid this cost they tend to jump onto the release.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Once all the teams that will join the release are lined up, they merge into the master branch. We then resolve all the conflicts.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More features means more bugs, means greater cost and schedule overruns. If we assume a 30% rework cost, then 30% of 10 days development is 3 days overrun, of 2 days is ½ day.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We must then re-test everything because we have merged potentially incompatible changes.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All the teams now wait on any fixes, even if they belong to another team.</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We may be able to drop their changes safely, due to a feature switch, but this can be difficult where they have database changes (a monolith has a shared schema).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Eventually, everyone is ready and we can release, but typically this process takes a couple of weeks. It distracts teams from day-to-day work.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Rollback is also complicated, because we force everyone out. Feature switches and ‘no rollback only roll forward’ become frequent issues.</a:t>
            </a: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935923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5e7275df55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5e7275df5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By decomposing software into microservices, oriented around smaller, team-sized units, we can remove these difficulties. Each team only has to negotiate internally to decide on a release candidate.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Typically a team should develop on master behind a feature switch for each story so that they reduce the incidence of any integration costs, and can go straight to production.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Delivery time can be in hours, not weeks.</a:t>
            </a:r>
            <a:endParaRPr dirty="0"/>
          </a:p>
        </p:txBody>
      </p:sp>
    </p:spTree>
    <p:extLst>
      <p:ext uri="{BB962C8B-B14F-4D97-AF65-F5344CB8AC3E}">
        <p14:creationId xmlns:p14="http://schemas.microsoft.com/office/powerpoint/2010/main" val="20228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5f1c3d74e7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5f1c3d74e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 Product mode we allocate resources to products, with a backlog of work for that product, and deliver in an incremental and iterative fashion. There is no end date. Prioritisation is by next highest item. Success is defined by improvement of a metric aligned to a business outcome.</a:t>
            </a:r>
            <a:endParaRPr/>
          </a:p>
          <a:p>
            <a:pPr marL="0" lvl="0" indent="0" algn="l" rtl="0">
              <a:spcBef>
                <a:spcPts val="0"/>
              </a:spcBef>
              <a:spcAft>
                <a:spcPts val="0"/>
              </a:spcAft>
              <a:buNone/>
            </a:pPr>
            <a:endParaRPr/>
          </a:p>
          <a:p>
            <a:pPr marL="0" lvl="0" indent="0" algn="l" rtl="0">
              <a:spcBef>
                <a:spcPts val="0"/>
              </a:spcBef>
              <a:spcAft>
                <a:spcPts val="0"/>
              </a:spcAft>
              <a:buNone/>
            </a:pPr>
            <a:r>
              <a:rPr lang="en-GB"/>
              <a:t>For microservices this means allocating resources to a process, with a backlog of work for that process, which we can deliver on in an incremental and iterative fashion.</a:t>
            </a:r>
            <a:endParaRPr/>
          </a:p>
          <a:p>
            <a:pPr marL="0" lvl="0" indent="0" algn="l" rtl="0">
              <a:spcBef>
                <a:spcPts val="0"/>
              </a:spcBef>
              <a:spcAft>
                <a:spcPts val="0"/>
              </a:spcAft>
              <a:buNone/>
            </a:pPr>
            <a:endParaRPr/>
          </a:p>
          <a:p>
            <a:pPr marL="0" lvl="0" indent="0" algn="l" rtl="0">
              <a:spcBef>
                <a:spcPts val="0"/>
              </a:spcBef>
              <a:spcAft>
                <a:spcPts val="0"/>
              </a:spcAft>
              <a:buNone/>
            </a:pPr>
            <a:r>
              <a:rPr lang="en-GB"/>
              <a:t>In project mode we organise around an item of work that has an end date. Teams work across multiple services to deliver the requirements of the project. Projects are more waterfall than agile as they have significant up-front requirements, and tend to have a long-tail of QA when all the parts must be integrated. Success is defined by ‘keeping to the plan.’ As such projects often conflict with agile methods.</a:t>
            </a:r>
            <a:endParaRPr/>
          </a:p>
          <a:p>
            <a:pPr marL="0" lvl="0" indent="0" algn="l" rtl="0">
              <a:spcBef>
                <a:spcPts val="0"/>
              </a:spcBef>
              <a:spcAft>
                <a:spcPts val="0"/>
              </a:spcAft>
              <a:buNone/>
            </a:pPr>
            <a:endParaRPr/>
          </a:p>
          <a:p>
            <a:pPr marL="0" lvl="0" indent="0" algn="l" rtl="0">
              <a:spcBef>
                <a:spcPts val="0"/>
              </a:spcBef>
              <a:spcAft>
                <a:spcPts val="0"/>
              </a:spcAft>
              <a:buNone/>
            </a:pPr>
            <a:r>
              <a:rPr lang="en-GB"/>
              <a:t>In project mode we have project managers, in product mode we have product owners.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243501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C5524F1-E465-6A4E-BED4-BE347F5AC9D2}" type="slidenum">
              <a:rPr lang="en-US" smtClean="0"/>
              <a:t>21</a:t>
            </a:fld>
            <a:endParaRPr lang="en-US"/>
          </a:p>
        </p:txBody>
      </p:sp>
    </p:spTree>
    <p:extLst>
      <p:ext uri="{BB962C8B-B14F-4D97-AF65-F5344CB8AC3E}">
        <p14:creationId xmlns:p14="http://schemas.microsoft.com/office/powerpoint/2010/main" val="2443483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Networks are Unreliable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800" kern="1200" dirty="0">
              <a:solidFill>
                <a:schemeClr val="tx1"/>
              </a:solidFill>
              <a:effectLst/>
              <a:latin typeface="+mn-lt"/>
              <a:ea typeface="+mn-ea"/>
              <a:cs typeface="+mn-cs"/>
            </a:endParaRPr>
          </a:p>
          <a:p>
            <a:r>
              <a:rPr lang="en-US" sz="1800" b="1" dirty="0"/>
              <a:t>The effects of the fallacies</a:t>
            </a:r>
          </a:p>
          <a:p>
            <a:r>
              <a:rPr lang="en-US" sz="1800" dirty="0"/>
              <a:t>Software applications are written with little error-handling on networking errors. During a network outage, such applications may stall or infinitely wait for an answer packet, permanently consuming memory or other resources. When the failed network becomes available, those applications may also fail to retry any stalled operations or require a (manual) restart.</a:t>
            </a:r>
          </a:p>
          <a:p>
            <a:r>
              <a:rPr lang="en-US" sz="1800" dirty="0"/>
              <a:t>Ignorance of network latency, and of the </a:t>
            </a:r>
            <a:r>
              <a:rPr lang="en-US" sz="1800" dirty="0">
                <a:hlinkClick r:id="rId3" tooltip="Packet loss"/>
              </a:rPr>
              <a:t>packet loss</a:t>
            </a:r>
            <a:r>
              <a:rPr lang="en-US" sz="1800" dirty="0"/>
              <a:t> it can cause, induces application- and transport-layer developers to allow unbounded traffic, greatly increasing dropped packets and wasting bandwidth.</a:t>
            </a:r>
          </a:p>
          <a:p>
            <a:r>
              <a:rPr lang="en-US" sz="1800" dirty="0"/>
              <a:t>Ignorance of bandwidth limits on the part of traffic senders can result in bottlenecks over </a:t>
            </a:r>
            <a:r>
              <a:rPr lang="en-US" sz="1800" dirty="0">
                <a:hlinkClick r:id="rId4" tooltip="Frequency-division multiplexing"/>
              </a:rPr>
              <a:t>frequency-multiplexed</a:t>
            </a:r>
            <a:r>
              <a:rPr lang="en-US" sz="1800" dirty="0"/>
              <a:t> media.</a:t>
            </a:r>
          </a:p>
          <a:p>
            <a:r>
              <a:rPr lang="en-US" sz="1800" dirty="0"/>
              <a:t>Complacency regarding network security results in being blindsided by malicious users and programs that continually adapt to security measures.</a:t>
            </a:r>
            <a:r>
              <a:rPr lang="en-US" sz="1800" baseline="30000" dirty="0">
                <a:hlinkClick r:id="rId5"/>
              </a:rPr>
              <a:t>[2]</a:t>
            </a:r>
            <a:endParaRPr lang="en-US" sz="1800" dirty="0"/>
          </a:p>
          <a:p>
            <a:r>
              <a:rPr lang="en-US" sz="1800" dirty="0"/>
              <a:t>Changes in </a:t>
            </a:r>
            <a:r>
              <a:rPr lang="en-US" sz="1800" dirty="0">
                <a:hlinkClick r:id="rId6" tooltip="Network topology"/>
              </a:rPr>
              <a:t>network topology</a:t>
            </a:r>
            <a:r>
              <a:rPr lang="en-US" sz="1800" dirty="0"/>
              <a:t> can have effects on both bandwidth and latency issues, and therefore similar problems.</a:t>
            </a:r>
          </a:p>
          <a:p>
            <a:r>
              <a:rPr lang="en-US" sz="1800" dirty="0"/>
              <a:t>Multiple administrators, as with </a:t>
            </a:r>
            <a:r>
              <a:rPr lang="en-US" sz="1800" dirty="0">
                <a:hlinkClick r:id="rId7" tooltip="Subnetwork"/>
              </a:rPr>
              <a:t>subnets</a:t>
            </a:r>
            <a:r>
              <a:rPr lang="en-US" sz="1800" dirty="0"/>
              <a:t> for rival companies, may institute conflicting policies of which senders of network traffic must be aware in order to complete their desired paths.</a:t>
            </a:r>
          </a:p>
          <a:p>
            <a:r>
              <a:rPr lang="en-US" sz="1800" dirty="0"/>
              <a:t>The "hidden" costs of building and maintaining a network or subnet are non-negligible and must consequently be noted in budgets to avoid vast shortfalls.</a:t>
            </a:r>
          </a:p>
          <a:p>
            <a:r>
              <a:rPr lang="en-US" sz="1800" dirty="0"/>
              <a:t>If a system assumes a homogeneous network, then it can lead to the same problems that result from the first three fallacies.</a:t>
            </a:r>
          </a:p>
          <a:p>
            <a:r>
              <a:rPr lang="en-US" sz="1800" b="1" dirty="0"/>
              <a:t>History</a:t>
            </a:r>
          </a:p>
          <a:p>
            <a:pPr marL="0" marR="0" indent="0" algn="l" defTabSz="457200" rtl="0" eaLnBrk="1" fontAlgn="auto" latinLnBrk="0" hangingPunct="1">
              <a:lnSpc>
                <a:spcPct val="100000"/>
              </a:lnSpc>
              <a:spcBef>
                <a:spcPts val="0"/>
              </a:spcBef>
              <a:spcAft>
                <a:spcPts val="0"/>
              </a:spcAft>
              <a:buClrTx/>
              <a:buSzTx/>
              <a:buFontTx/>
              <a:buNone/>
              <a:tabLst/>
              <a:defRPr/>
            </a:pPr>
            <a:r>
              <a:rPr lang="en-US" sz="1800" dirty="0"/>
              <a:t>The list of fallacies generally came about at </a:t>
            </a:r>
            <a:r>
              <a:rPr lang="en-US" sz="1800" dirty="0">
                <a:hlinkClick r:id="rId8" tooltip="Sun Microsystems"/>
              </a:rPr>
              <a:t>Sun Microsystems</a:t>
            </a:r>
            <a:r>
              <a:rPr lang="en-US" sz="1800" dirty="0"/>
              <a:t>. </a:t>
            </a:r>
            <a:r>
              <a:rPr lang="en-US" sz="1800" dirty="0">
                <a:hlinkClick r:id="rId9" tooltip="L. Peter Deutsch"/>
              </a:rPr>
              <a:t>L. Peter Deutsch</a:t>
            </a:r>
            <a:r>
              <a:rPr lang="en-US" sz="1800" dirty="0"/>
              <a:t>, one of the original Sun "</a:t>
            </a:r>
            <a:r>
              <a:rPr lang="en-US" sz="1800" dirty="0">
                <a:hlinkClick r:id="rId10" tooltip="Fellow"/>
              </a:rPr>
              <a:t>Fellows</a:t>
            </a:r>
            <a:r>
              <a:rPr lang="en-US" sz="1800" dirty="0"/>
              <a:t>", is credited</a:t>
            </a:r>
            <a:r>
              <a:rPr lang="en-US" sz="1800" baseline="30000" dirty="0">
                <a:effectLst/>
              </a:rPr>
              <a:t>[</a:t>
            </a:r>
            <a:r>
              <a:rPr lang="en-US" sz="1800" i="1" baseline="30000" dirty="0">
                <a:effectLst/>
                <a:hlinkClick r:id="rId11" tooltip="Wikipedia:Manual of Style/Words to watch"/>
              </a:rPr>
              <a:t>by whom?</a:t>
            </a:r>
            <a:r>
              <a:rPr lang="en-US" sz="1800" baseline="30000" dirty="0">
                <a:effectLst/>
              </a:rPr>
              <a:t>]</a:t>
            </a:r>
            <a:r>
              <a:rPr lang="en-US" sz="1800" dirty="0"/>
              <a:t> with penning the first seven fallacies in 1994; however, </a:t>
            </a:r>
            <a:r>
              <a:rPr lang="en-US" sz="1800" dirty="0">
                <a:hlinkClick r:id="rId12" tooltip="Bill Joy"/>
              </a:rPr>
              <a:t>Bill Joy</a:t>
            </a:r>
            <a:r>
              <a:rPr lang="en-US" sz="1800" dirty="0"/>
              <a:t> and Tom Lyon had already identified the first four as "The Fallacies of Networked Computing"</a:t>
            </a:r>
            <a:r>
              <a:rPr lang="en-US" sz="1800" baseline="30000" dirty="0">
                <a:hlinkClick r:id="rId13"/>
              </a:rPr>
              <a:t>[3]</a:t>
            </a:r>
            <a:r>
              <a:rPr lang="en-US" sz="1800" dirty="0"/>
              <a:t> (the article claims "Dave Lyon", but this is a mistake</a:t>
            </a:r>
            <a:r>
              <a:rPr lang="en-US" sz="1800" baseline="30000" dirty="0">
                <a:effectLst/>
              </a:rPr>
              <a:t>[</a:t>
            </a:r>
            <a:r>
              <a:rPr lang="en-US" sz="1800" i="1" baseline="30000" dirty="0">
                <a:effectLst/>
                <a:hlinkClick r:id="rId14" tooltip="Wikipedia:Please clarify"/>
              </a:rPr>
              <a:t>why?</a:t>
            </a:r>
            <a:r>
              <a:rPr lang="en-US" sz="1800" baseline="30000" dirty="0">
                <a:effectLst/>
              </a:rPr>
              <a:t>]</a:t>
            </a:r>
            <a:r>
              <a:rPr lang="en-US" sz="1800" dirty="0"/>
              <a:t>). Around 1997, </a:t>
            </a:r>
            <a:r>
              <a:rPr lang="en-US" sz="1800" dirty="0">
                <a:hlinkClick r:id="rId15" tooltip="James Gosling"/>
              </a:rPr>
              <a:t>James Gosling</a:t>
            </a:r>
            <a:r>
              <a:rPr lang="en-US" sz="1800" dirty="0"/>
              <a:t>, another Sun Fellow and the inventor of </a:t>
            </a:r>
            <a:r>
              <a:rPr lang="en-US" sz="1800" dirty="0">
                <a:hlinkClick r:id="rId16" tooltip="Java (programming language)"/>
              </a:rPr>
              <a:t>Java</a:t>
            </a:r>
            <a:r>
              <a:rPr lang="en-US" sz="1800" dirty="0"/>
              <a:t>, added the eighth fallacy.</a:t>
            </a:r>
            <a:r>
              <a:rPr lang="en-US" sz="1800" baseline="30000" dirty="0">
                <a:hlinkClick r:id="rId13"/>
              </a:rPr>
              <a:t>[3]</a:t>
            </a:r>
            <a:endParaRPr lang="en-US" sz="1800" dirty="0"/>
          </a:p>
          <a:p>
            <a:endParaRPr lang="en-US" sz="1800"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25</a:t>
            </a:fld>
            <a:endParaRPr lang="en-US"/>
          </a:p>
        </p:txBody>
      </p:sp>
    </p:spTree>
    <p:extLst>
      <p:ext uri="{BB962C8B-B14F-4D97-AF65-F5344CB8AC3E}">
        <p14:creationId xmlns:p14="http://schemas.microsoft.com/office/powerpoint/2010/main" val="3678268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Types of coupling</a:t>
            </a:r>
          </a:p>
          <a:p>
            <a:r>
              <a:rPr lang="en-GB" dirty="0">
                <a:effectLst/>
              </a:rPr>
              <a:t>Conceptual model of coupling</a:t>
            </a:r>
          </a:p>
          <a:p>
            <a:r>
              <a:rPr lang="en-GB" dirty="0"/>
              <a:t>Coupling can be "low" (also "</a:t>
            </a:r>
            <a:r>
              <a:rPr lang="en-GB" dirty="0">
                <a:hlinkClick r:id="rId3" tooltip="Loose coupling"/>
              </a:rPr>
              <a:t>loose</a:t>
            </a:r>
            <a:r>
              <a:rPr lang="en-GB" dirty="0"/>
              <a:t>" and "weak") or "high" (also "tight" and "strong"). Some types of coupling, in order of highest to lowest coupling, are as follows: </a:t>
            </a:r>
          </a:p>
          <a:p>
            <a:r>
              <a:rPr lang="en-GB" b="1" dirty="0"/>
              <a:t>Procedural programming</a:t>
            </a:r>
          </a:p>
          <a:p>
            <a:r>
              <a:rPr lang="en-GB" dirty="0"/>
              <a:t>A module here refers to a subroutine of any kind, i.e. a set of one or more statements having a name and preferably its own set of variable names. </a:t>
            </a:r>
          </a:p>
          <a:p>
            <a:r>
              <a:rPr lang="en-GB" b="1" dirty="0"/>
              <a:t>Content coupling</a:t>
            </a:r>
            <a:r>
              <a:rPr lang="en-GB" dirty="0"/>
              <a:t> (high) Content coupling is said to occur when one module uses the code of another module, for instance a branch. This violates </a:t>
            </a:r>
            <a:r>
              <a:rPr lang="en-GB" dirty="0">
                <a:hlinkClick r:id="rId4" tooltip="Information hiding"/>
              </a:rPr>
              <a:t>information hiding</a:t>
            </a:r>
            <a:r>
              <a:rPr lang="en-GB" dirty="0"/>
              <a:t> – a basic software design concept. </a:t>
            </a:r>
          </a:p>
          <a:p>
            <a:r>
              <a:rPr lang="en-GB" b="1" dirty="0"/>
              <a:t>Common coupling</a:t>
            </a:r>
            <a:r>
              <a:rPr lang="en-GB" dirty="0"/>
              <a:t>: Common coupling is said to occur when several modules have access to the same global data. But it can lead to uncontrolled error propagation and unforeseen side-effects when changes are made.</a:t>
            </a:r>
          </a:p>
          <a:p>
            <a:r>
              <a:rPr lang="en-GB" b="1" dirty="0"/>
              <a:t>Control coupling</a:t>
            </a:r>
            <a:r>
              <a:rPr lang="en-GB" dirty="0"/>
              <a:t>: Control coupling is one module controlling the flow of another, by passing it information on what to do (e.g., passing a what-to-do flag). </a:t>
            </a:r>
          </a:p>
          <a:p>
            <a:r>
              <a:rPr lang="en-GB" b="1" dirty="0"/>
              <a:t>Stamp coupling</a:t>
            </a:r>
            <a:r>
              <a:rPr lang="en-GB" dirty="0"/>
              <a:t>: (data-structured coupling) Stamp coupling occurs when modules share a composite data structure and use only parts of it, possibly different parts (e.g., passing a whole record to a function that needs only one field of it). In this situation, a modification in a field that a module does not need may lead to changing the way the module reads the record. </a:t>
            </a:r>
          </a:p>
          <a:p>
            <a:r>
              <a:rPr lang="en-GB" b="1" dirty="0"/>
              <a:t>Data coupling</a:t>
            </a:r>
            <a:r>
              <a:rPr lang="en-GB" dirty="0"/>
              <a:t>: Data coupling occurs when modules share data through, for example, parameters. Each datum is an elementary piece, and these are the only data shared (e.g., passing an integer to a function that computes a square root). </a:t>
            </a:r>
          </a:p>
          <a:p>
            <a:endParaRPr lang="en-GB" b="1" dirty="0"/>
          </a:p>
          <a:p>
            <a:r>
              <a:rPr lang="en-GB" b="1" dirty="0"/>
              <a:t>Object-oriented programming</a:t>
            </a:r>
          </a:p>
          <a:p>
            <a:r>
              <a:rPr lang="en-GB" dirty="0"/>
              <a:t>Subclass coupling Describes the relationship between a child and its parent. The child is connected to its parent, but the parent is not connected to the child. </a:t>
            </a:r>
          </a:p>
          <a:p>
            <a:r>
              <a:rPr lang="en-GB" b="1" dirty="0"/>
              <a:t>Temporal coupling</a:t>
            </a:r>
            <a:r>
              <a:rPr lang="en-GB" dirty="0"/>
              <a:t> </a:t>
            </a:r>
          </a:p>
          <a:p>
            <a:r>
              <a:rPr lang="en-GB" dirty="0"/>
              <a:t>It is when two actions are bundled together into one module just because they happen to occur at the same time. In recent work various other coupling concepts have been investigated and used as indicators for different modularization principles used in practice.</a:t>
            </a:r>
            <a:r>
              <a:rPr lang="en-GB" baseline="30000" dirty="0">
                <a:hlinkClick r:id="rId5"/>
              </a:rPr>
              <a:t>[5]</a:t>
            </a:r>
            <a:r>
              <a:rPr lang="en-GB" dirty="0"/>
              <a:t> </a:t>
            </a:r>
          </a:p>
          <a:p>
            <a:r>
              <a:rPr lang="en-GB" b="1" dirty="0"/>
              <a:t>Dynamic coupling</a:t>
            </a:r>
          </a:p>
          <a:p>
            <a:r>
              <a:rPr lang="en-GB" dirty="0"/>
              <a:t>The goal of this type of coupling is to provide a run-time evaluation of a software system. It has been argued that static coupling metrics lose precision when dealing with an intensive use of dynamic binding or inheritance.</a:t>
            </a:r>
            <a:r>
              <a:rPr lang="en-GB" baseline="30000" dirty="0">
                <a:hlinkClick r:id="rId6"/>
              </a:rPr>
              <a:t>[6]</a:t>
            </a:r>
            <a:r>
              <a:rPr lang="en-GB" dirty="0"/>
              <a:t> In the attempt to solve this issue, dynamic coupling measures have been taken into account. </a:t>
            </a:r>
          </a:p>
          <a:p>
            <a:r>
              <a:rPr lang="en-GB" b="1" dirty="0"/>
              <a:t>Semantic coupling</a:t>
            </a:r>
          </a:p>
          <a:p>
            <a:r>
              <a:rPr lang="en-GB" dirty="0"/>
              <a:t>This kind of coupling considers the conceptual similarities between software entities using, for example, comments and identifiers and relying on techniques such as </a:t>
            </a:r>
            <a:r>
              <a:rPr lang="en-GB" dirty="0">
                <a:hlinkClick r:id="rId7" tooltip="Latent semantic indexing"/>
              </a:rPr>
              <a:t>latent semantic indexing</a:t>
            </a:r>
            <a:r>
              <a:rPr lang="en-GB" dirty="0"/>
              <a:t> (LSI). </a:t>
            </a:r>
          </a:p>
          <a:p>
            <a:r>
              <a:rPr lang="en-GB" b="1" dirty="0"/>
              <a:t>Logical coupling</a:t>
            </a:r>
          </a:p>
          <a:p>
            <a:r>
              <a:rPr lang="en-GB" dirty="0"/>
              <a:t>Logical coupling (or evolutionary coupling or change coupling) exploits the release history of a software system to find change patterns among modules or classes: e.g., entities that are likely to be changed together or sequences of changes (a change in a class A is always followed by a change in a class B). </a:t>
            </a:r>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27</a:t>
            </a:fld>
            <a:endParaRPr lang="en-US"/>
          </a:p>
        </p:txBody>
      </p:sp>
    </p:spTree>
    <p:extLst>
      <p:ext uri="{BB962C8B-B14F-4D97-AF65-F5344CB8AC3E}">
        <p14:creationId xmlns:p14="http://schemas.microsoft.com/office/powerpoint/2010/main" val="2457134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27741-19C7-6048-9070-E50F61F51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2A851-A1F9-504F-E964-D5C489923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AB99D-C32B-E35D-E23A-2D85B1177A3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3EEABC3-1707-6A37-D757-86C3371A0AAB}"/>
              </a:ext>
            </a:extLst>
          </p:cNvPr>
          <p:cNvSpPr>
            <a:spLocks noGrp="1"/>
          </p:cNvSpPr>
          <p:nvPr>
            <p:ph type="sldNum" sz="quarter" idx="5"/>
          </p:nvPr>
        </p:nvSpPr>
        <p:spPr/>
        <p:txBody>
          <a:bodyPr/>
          <a:lstStyle/>
          <a:p>
            <a:fld id="{F949CB24-BEAC-6A41-9A10-BFD56146B867}" type="slidenum">
              <a:rPr lang="en-US" smtClean="0"/>
              <a:pPr/>
              <a:t>30</a:t>
            </a:fld>
            <a:endParaRPr lang="en-US"/>
          </a:p>
        </p:txBody>
      </p:sp>
    </p:spTree>
    <p:extLst>
      <p:ext uri="{BB962C8B-B14F-4D97-AF65-F5344CB8AC3E}">
        <p14:creationId xmlns:p14="http://schemas.microsoft.com/office/powerpoint/2010/main" val="769250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49CB24-BEAC-6A41-9A10-BFD56146B867}" type="slidenum">
              <a:rPr lang="en-US" smtClean="0"/>
              <a:pPr/>
              <a:t>36</a:t>
            </a:fld>
            <a:endParaRPr lang="en-US"/>
          </a:p>
        </p:txBody>
      </p:sp>
    </p:spTree>
    <p:extLst>
      <p:ext uri="{BB962C8B-B14F-4D97-AF65-F5344CB8AC3E}">
        <p14:creationId xmlns:p14="http://schemas.microsoft.com/office/powerpoint/2010/main" val="2456031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Two processes communicating need to copy the data between processes - usually as a stream of bytes. We need to break up this stream into discrete units so that we can tell when a message on the channel begins and ends. Otherwise we could not use competing consumers to read messages from the stream or publish to multiple subscribers</a:t>
            </a:r>
          </a:p>
          <a:p>
            <a:endParaRPr lang="en-US" dirty="0"/>
          </a:p>
          <a:p>
            <a:r>
              <a:rPr lang="en-US" dirty="0"/>
              <a:t>A message has a header, how to process and a body, the content</a:t>
            </a:r>
          </a:p>
          <a:p>
            <a:endParaRPr lang="en-US" dirty="0"/>
          </a:p>
          <a:p>
            <a:r>
              <a:rPr lang="en-US" sz="1200" kern="1200" dirty="0">
                <a:solidFill>
                  <a:schemeClr val="tx1"/>
                </a:solidFill>
                <a:effectLst/>
                <a:latin typeface="+mn-lt"/>
                <a:ea typeface="+mn-ea"/>
                <a:cs typeface="+mn-cs"/>
              </a:rPr>
              <a:t>Request-Reply: (Usually Command-Document), tends to use Return Address and Correlation Identifier</a:t>
            </a:r>
            <a:endParaRPr lang="en-US" dirty="0">
              <a:effectLst/>
            </a:endParaRPr>
          </a:p>
          <a:p>
            <a:pPr lvl="1"/>
            <a:r>
              <a:rPr lang="en-US" sz="1200" kern="1200" dirty="0">
                <a:solidFill>
                  <a:schemeClr val="tx1"/>
                </a:solidFill>
                <a:effectLst/>
                <a:latin typeface="+mn-lt"/>
                <a:ea typeface="+mn-ea"/>
                <a:cs typeface="+mn-cs"/>
              </a:rPr>
              <a:t>In essence RPC over messaging</a:t>
            </a:r>
            <a:endParaRPr lang="en-US" dirty="0">
              <a:effectLst/>
            </a:endParaRPr>
          </a:p>
          <a:p>
            <a:r>
              <a:rPr lang="en-US" sz="1200" kern="1200" dirty="0">
                <a:solidFill>
                  <a:schemeClr val="tx1"/>
                </a:solidFill>
                <a:effectLst/>
                <a:latin typeface="+mn-lt"/>
                <a:ea typeface="+mn-ea"/>
                <a:cs typeface="+mn-cs"/>
              </a:rPr>
              <a:t>Break a large message into pieces with Message Sequence</a:t>
            </a:r>
            <a:endParaRPr lang="en-US" dirty="0">
              <a:effectLst/>
            </a:endParaRPr>
          </a:p>
          <a:p>
            <a:r>
              <a:rPr lang="en-US" sz="1200" kern="1200" dirty="0">
                <a:solidFill>
                  <a:schemeClr val="tx1"/>
                </a:solidFill>
                <a:effectLst/>
                <a:latin typeface="+mn-lt"/>
                <a:ea typeface="+mn-ea"/>
                <a:cs typeface="+mn-cs"/>
              </a:rPr>
              <a:t>Slow messages: One way to deal with eventual consistency is to create a Message Expiry, and if a message is not delivered within a time-window delete or add to Dead Letter Queue</a:t>
            </a:r>
          </a:p>
          <a:p>
            <a:endParaRPr lang="en-US" sz="1200" kern="1200" dirty="0">
              <a:solidFill>
                <a:schemeClr val="tx1"/>
              </a:solidFill>
              <a:effectLst/>
              <a:latin typeface="+mn-lt"/>
              <a:ea typeface="+mn-ea"/>
              <a:cs typeface="+mn-cs"/>
            </a:endParaRPr>
          </a:p>
          <a:p>
            <a:r>
              <a:rPr lang="en-US" b="1" dirty="0">
                <a:effectLst/>
              </a:rPr>
              <a:t>Message</a:t>
            </a:r>
            <a:r>
              <a:rPr lang="en-US" dirty="0">
                <a:effectLst/>
              </a:rPr>
              <a:t>: An atomic packet of data transmitted on a  channel </a:t>
            </a:r>
          </a:p>
          <a:p>
            <a:r>
              <a:rPr lang="en-US" sz="1200" kern="1200" dirty="0">
                <a:solidFill>
                  <a:schemeClr val="tx1"/>
                </a:solidFill>
                <a:effectLst/>
                <a:latin typeface="+mn-lt"/>
                <a:ea typeface="+mn-ea"/>
                <a:cs typeface="+mn-cs"/>
              </a:rPr>
              <a:t>Messaging transmits discrete units of data by marshalling the data from the sender and </a:t>
            </a:r>
            <a:r>
              <a:rPr lang="en-US" sz="1200" kern="1200" dirty="0" err="1">
                <a:solidFill>
                  <a:schemeClr val="tx1"/>
                </a:solidFill>
                <a:effectLst/>
                <a:latin typeface="+mn-lt"/>
                <a:ea typeface="+mn-ea"/>
                <a:cs typeface="+mn-cs"/>
              </a:rPr>
              <a:t>unmarshalling</a:t>
            </a:r>
            <a:r>
              <a:rPr lang="en-US" sz="1200" kern="1200" dirty="0">
                <a:solidFill>
                  <a:schemeClr val="tx1"/>
                </a:solidFill>
                <a:effectLst/>
                <a:latin typeface="+mn-lt"/>
                <a:ea typeface="+mn-ea"/>
                <a:cs typeface="+mn-cs"/>
              </a:rPr>
              <a:t> it in the receiver so that the receiver has its own local copy.</a:t>
            </a:r>
            <a:endParaRPr lang="en-US" dirty="0"/>
          </a:p>
          <a:p>
            <a:r>
              <a:rPr lang="en-US" sz="1200" kern="1200" dirty="0">
                <a:solidFill>
                  <a:schemeClr val="tx1"/>
                </a:solidFill>
                <a:effectLst/>
                <a:latin typeface="+mn-lt"/>
                <a:ea typeface="+mn-ea"/>
                <a:cs typeface="+mn-cs"/>
              </a:rPr>
              <a:t>Data to be sent must be converted into one of more messages that can be sent</a:t>
            </a:r>
            <a:endParaRPr lang="en-US" dirty="0"/>
          </a:p>
          <a:p>
            <a:r>
              <a:rPr lang="en-US" sz="1200" kern="1200" dirty="0">
                <a:solidFill>
                  <a:schemeClr val="tx1"/>
                </a:solidFill>
                <a:effectLst/>
                <a:latin typeface="+mn-lt"/>
                <a:ea typeface="+mn-ea"/>
                <a:cs typeface="+mn-cs"/>
              </a:rPr>
              <a:t>A message has two basic parts: header (metadata used by the messaging system); body (the payload used by the receiver).</a:t>
            </a:r>
            <a:endParaRPr lang="en-US" dirty="0"/>
          </a:p>
          <a:p>
            <a:r>
              <a:rPr lang="en-US" sz="1200" kern="1200" dirty="0">
                <a:solidFill>
                  <a:schemeClr val="tx1"/>
                </a:solidFill>
                <a:effectLst/>
                <a:latin typeface="+mn-lt"/>
                <a:ea typeface="+mn-ea"/>
                <a:cs typeface="+mn-cs"/>
              </a:rPr>
              <a:t>Command Message: Invoke a procedure in another application</a:t>
            </a:r>
            <a:endParaRPr lang="en-US" dirty="0"/>
          </a:p>
          <a:p>
            <a:r>
              <a:rPr lang="en-US" sz="1200" kern="1200" dirty="0">
                <a:solidFill>
                  <a:schemeClr val="tx1"/>
                </a:solidFill>
                <a:effectLst/>
                <a:latin typeface="+mn-lt"/>
                <a:ea typeface="+mn-ea"/>
                <a:cs typeface="+mn-cs"/>
              </a:rPr>
              <a:t>Document Message: Pass data to another application</a:t>
            </a:r>
            <a:endParaRPr lang="en-US" dirty="0"/>
          </a:p>
          <a:p>
            <a:r>
              <a:rPr lang="en-US" sz="1200" kern="1200" dirty="0">
                <a:solidFill>
                  <a:schemeClr val="tx1"/>
                </a:solidFill>
                <a:effectLst/>
                <a:latin typeface="+mn-lt"/>
                <a:ea typeface="+mn-ea"/>
                <a:cs typeface="+mn-cs"/>
              </a:rPr>
              <a:t>Event Message: Notify another application about a change</a:t>
            </a:r>
            <a:endParaRPr lang="en-US" dirty="0"/>
          </a:p>
          <a:p>
            <a:r>
              <a:rPr lang="en-US" sz="1200" kern="1200" dirty="0">
                <a:solidFill>
                  <a:schemeClr val="tx1"/>
                </a:solidFill>
                <a:effectLst/>
                <a:latin typeface="+mn-lt"/>
                <a:ea typeface="+mn-ea"/>
                <a:cs typeface="+mn-cs"/>
              </a:rPr>
              <a:t>Request-Reply: The sender expects a reply</a:t>
            </a:r>
            <a:endParaRPr lang="en-US" dirty="0"/>
          </a:p>
          <a:p>
            <a:r>
              <a:rPr lang="en-US" sz="1200" kern="1200" dirty="0">
                <a:solidFill>
                  <a:schemeClr val="tx1"/>
                </a:solidFill>
                <a:effectLst/>
                <a:latin typeface="+mn-lt"/>
                <a:ea typeface="+mn-ea"/>
                <a:cs typeface="+mn-cs"/>
              </a:rPr>
              <a:t>Message Sequence: Split a message into parts; receive before Message Expiration</a:t>
            </a:r>
            <a:endParaRPr lang="en-US" dirty="0"/>
          </a:p>
          <a:p>
            <a:r>
              <a:rPr lang="en-US" sz="1200" kern="1200" dirty="0">
                <a:solidFill>
                  <a:schemeClr val="tx1"/>
                </a:solidFill>
                <a:effectLst/>
                <a:latin typeface="+mn-lt"/>
                <a:ea typeface="+mn-ea"/>
                <a:cs typeface="+mn-cs"/>
              </a:rPr>
              <a:t>Canonical Data Format: The body format to be understood by producer and consumer</a:t>
            </a:r>
          </a:p>
          <a:p>
            <a:endParaRPr lang="en-US" sz="1200" kern="1200" dirty="0">
              <a:solidFill>
                <a:schemeClr val="tx1"/>
              </a:solidFill>
              <a:effectLst/>
              <a:latin typeface="+mn-lt"/>
              <a:ea typeface="+mn-ea"/>
              <a:cs typeface="+mn-cs"/>
            </a:endParaRPr>
          </a:p>
          <a:p>
            <a:r>
              <a:rPr lang="en-US" b="1" dirty="0">
                <a:effectLst/>
              </a:rPr>
              <a:t>Message Sequence:</a:t>
            </a:r>
            <a:r>
              <a:rPr lang="en-US" dirty="0">
                <a:effectLst/>
              </a:rPr>
              <a:t> Whenever a large set of data needs to be broken into message-size chunks, send the data as a Message Sequence and mark each </a:t>
            </a:r>
          </a:p>
          <a:p>
            <a:r>
              <a:rPr lang="en-US" dirty="0"/>
              <a:t>The three Message Sequence identification fields are as follows.  </a:t>
            </a:r>
          </a:p>
          <a:p>
            <a:r>
              <a:rPr lang="en-US" sz="1200" kern="1200" dirty="0">
                <a:solidFill>
                  <a:schemeClr val="tx1"/>
                </a:solidFill>
                <a:effectLst/>
                <a:latin typeface="+mn-lt"/>
                <a:ea typeface="+mn-ea"/>
                <a:cs typeface="+mn-cs"/>
              </a:rPr>
              <a:t>Sequence identifier— Distinguishes this cluster of messages from others. </a:t>
            </a:r>
            <a:endParaRPr lang="en-US" dirty="0"/>
          </a:p>
          <a:p>
            <a:r>
              <a:rPr lang="en-US" sz="1200" kern="1200" dirty="0">
                <a:solidFill>
                  <a:schemeClr val="tx1"/>
                </a:solidFill>
                <a:effectLst/>
                <a:latin typeface="+mn-lt"/>
                <a:ea typeface="+mn-ea"/>
                <a:cs typeface="+mn-cs"/>
              </a:rPr>
              <a:t>Position identifier— Uniquely identifies and sequentially orders each message in a sequence. </a:t>
            </a:r>
            <a:endParaRPr lang="en-US" dirty="0"/>
          </a:p>
          <a:p>
            <a:r>
              <a:rPr lang="en-US" sz="1200" kern="1200" dirty="0">
                <a:solidFill>
                  <a:schemeClr val="tx1"/>
                </a:solidFill>
                <a:effectLst/>
                <a:latin typeface="+mn-lt"/>
                <a:ea typeface="+mn-ea"/>
                <a:cs typeface="+mn-cs"/>
              </a:rPr>
              <a:t>Size or End indicator— Specifies the number of messages in the cluster or marks the last message in the cluster (whose position identifier then specifies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Format Indicator:</a:t>
            </a:r>
            <a:r>
              <a:rPr lang="en-US" dirty="0"/>
              <a:t> </a:t>
            </a:r>
            <a:r>
              <a:rPr lang="en-US" sz="1200" kern="1200" dirty="0">
                <a:solidFill>
                  <a:schemeClr val="tx1"/>
                </a:solidFill>
                <a:effectLst/>
                <a:latin typeface="+mn-lt"/>
                <a:ea typeface="+mn-ea"/>
                <a:cs typeface="+mn-cs"/>
              </a:rPr>
              <a:t>How can a message’s data format be designed to allow for possible future changes? Design a data format that includes a Format Indicator so that the message specifies what format it is using.</a:t>
            </a:r>
            <a:r>
              <a:rPr lang="en-US" dirty="0"/>
              <a:t> </a:t>
            </a:r>
          </a:p>
          <a:p>
            <a:r>
              <a:rPr lang="en-US" sz="1200" kern="1200" dirty="0">
                <a:solidFill>
                  <a:schemeClr val="tx1"/>
                </a:solidFill>
                <a:effectLst/>
                <a:latin typeface="+mn-lt"/>
                <a:ea typeface="+mn-ea"/>
                <a:cs typeface="+mn-cs"/>
              </a:rPr>
              <a:t>Version Number— A number or string that uniquely identifies the format. Both the sender and receiver must agree on which format is designated by a particular indicator. The advantage of this approach is that the sender and receiver do not have to agree on a shared repository for format descriptors, but the drawback is that each must know what descriptor is indicated and where to access it. </a:t>
            </a:r>
            <a:endParaRPr lang="en-US" dirty="0"/>
          </a:p>
          <a:p>
            <a:r>
              <a:rPr lang="en-US" sz="1200" kern="1200" dirty="0">
                <a:solidFill>
                  <a:schemeClr val="tx1"/>
                </a:solidFill>
                <a:effectLst/>
                <a:latin typeface="+mn-lt"/>
                <a:ea typeface="+mn-ea"/>
                <a:cs typeface="+mn-cs"/>
              </a:rPr>
              <a:t>Foreign Key— A unique ID— such as a filename, a database row key, a home primary key, or an Internet URL— that specifies a format document. The sender and receiver must agree on the mapping of keys to documents and the format of the schema document. The advantage of this approach is that the foreign key is very compact and can point to a detailed data format description in a shared repository. The main drawback lies in the fact that each messaging participant has to retrieve the format document from a potentially remote resource.</a:t>
            </a:r>
            <a:endParaRPr lang="en-US" dirty="0"/>
          </a:p>
          <a:p>
            <a:r>
              <a:rPr lang="en-US" sz="1200" kern="1200" dirty="0">
                <a:solidFill>
                  <a:schemeClr val="tx1"/>
                </a:solidFill>
                <a:effectLst/>
                <a:latin typeface="+mn-lt"/>
                <a:ea typeface="+mn-ea"/>
                <a:cs typeface="+mn-cs"/>
              </a:rPr>
              <a:t>Format Document— A schema that describes the data format. The schema document does not have to be retrieved via a foreign key or inferred from a version number; it is embedded in the message. The sender and the receiver must agree on the format of the schema. The advantage of this alternative is that messages are self-contained. However, message traffic increases because each message carries format information that rarely changes.</a:t>
            </a:r>
            <a:endParaRPr lang="en-US" dirty="0"/>
          </a:p>
          <a:p>
            <a:endParaRPr lang="en-US" dirty="0"/>
          </a:p>
          <a:p>
            <a:endParaRPr lang="en-US" dirty="0"/>
          </a:p>
          <a:p>
            <a:endParaRPr lang="en-US" dirty="0">
              <a:effectLst/>
            </a:endParaRPr>
          </a:p>
        </p:txBody>
      </p:sp>
      <p:sp>
        <p:nvSpPr>
          <p:cNvPr id="4" name="Slide Number Placeholder 3"/>
          <p:cNvSpPr>
            <a:spLocks noGrp="1"/>
          </p:cNvSpPr>
          <p:nvPr>
            <p:ph type="sldNum" sz="quarter" idx="10"/>
          </p:nvPr>
        </p:nvSpPr>
        <p:spPr/>
        <p:txBody>
          <a:bodyPr/>
          <a:lstStyle/>
          <a:p>
            <a:fld id="{F949CB24-BEAC-6A41-9A10-BFD56146B867}" type="slidenum">
              <a:rPr lang="en-US" smtClean="0"/>
              <a:pPr/>
              <a:t>39</a:t>
            </a:fld>
            <a:endParaRPr lang="en-US"/>
          </a:p>
        </p:txBody>
      </p:sp>
    </p:spTree>
    <p:extLst>
      <p:ext uri="{BB962C8B-B14F-4D97-AF65-F5344CB8AC3E}">
        <p14:creationId xmlns:p14="http://schemas.microsoft.com/office/powerpoint/2010/main" val="2542354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8CA43-78A3-5B6C-6702-92CF3D47F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2F71C-BE9F-B71C-45C8-EC431F87C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C4AA4-2FC0-6C4D-DE5F-397C9CD9F66E}"/>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Command Message</a:t>
            </a:r>
            <a:r>
              <a:rPr lang="en-US" sz="1200" kern="1200" dirty="0">
                <a:solidFill>
                  <a:schemeClr val="tx1"/>
                </a:solidFill>
                <a:effectLst/>
                <a:latin typeface="+mn-lt"/>
                <a:ea typeface="+mn-ea"/>
                <a:cs typeface="+mn-cs"/>
              </a:rPr>
              <a:t>: Use a Command Message to reliably invoke a procedure in another application. The advantage o   f Remote Procedure Invocation is that it’s synchronous, so the call is performed immediately while the caller’s thread blocks. But that’s also a disadvantage. If the call cannot be executed immediately— either because the network is down or because the remote process isn’t running and listening— then the call doesn’t work. If the call were asynchronous, it could keep trying until the procedure in the remote application is successfully invoked. There’s a well-established pattern for encapsulating a request as an object. The Command pattern [</a:t>
            </a:r>
            <a:r>
              <a:rPr lang="en-US" sz="1200" kern="1200" dirty="0" err="1">
                <a:solidFill>
                  <a:schemeClr val="tx1"/>
                </a:solidFill>
                <a:effectLst/>
                <a:latin typeface="+mn-lt"/>
                <a:ea typeface="+mn-ea"/>
                <a:cs typeface="+mn-cs"/>
              </a:rPr>
              <a:t>GoF</a:t>
            </a:r>
            <a:r>
              <a:rPr lang="en-US" sz="1200" kern="1200" dirty="0">
                <a:solidFill>
                  <a:schemeClr val="tx1"/>
                </a:solidFill>
                <a:effectLst/>
                <a:latin typeface="+mn-lt"/>
                <a:ea typeface="+mn-ea"/>
                <a:cs typeface="+mn-cs"/>
              </a:rPr>
              <a:t>] shows how to turn a request into an object that can be stored and passed around. If this object were a message, then it could be stored in and passed around through a Message Channel (60). Likewise, the command’s state (such as method parameters) can be stored in the message’s state. Usually sent over a Point-to-Point channel as there is only one consumer.</a:t>
            </a:r>
            <a:endParaRPr lang="en-US" dirty="0"/>
          </a:p>
        </p:txBody>
      </p:sp>
      <p:sp>
        <p:nvSpPr>
          <p:cNvPr id="4" name="Slide Number Placeholder 3">
            <a:extLst>
              <a:ext uri="{FF2B5EF4-FFF2-40B4-BE49-F238E27FC236}">
                <a16:creationId xmlns:a16="http://schemas.microsoft.com/office/drawing/2014/main" id="{28170736-55E7-9362-7008-E1E554F121B3}"/>
              </a:ext>
            </a:extLst>
          </p:cNvPr>
          <p:cNvSpPr>
            <a:spLocks noGrp="1"/>
          </p:cNvSpPr>
          <p:nvPr>
            <p:ph type="sldNum" sz="quarter" idx="10"/>
          </p:nvPr>
        </p:nvSpPr>
        <p:spPr/>
        <p:txBody>
          <a:bodyPr/>
          <a:lstStyle/>
          <a:p>
            <a:fld id="{F949CB24-BEAC-6A41-9A10-BFD56146B867}" type="slidenum">
              <a:rPr lang="en-US" smtClean="0"/>
              <a:pPr/>
              <a:t>44</a:t>
            </a:fld>
            <a:endParaRPr lang="en-US"/>
          </a:p>
        </p:txBody>
      </p:sp>
    </p:spTree>
    <p:extLst>
      <p:ext uri="{BB962C8B-B14F-4D97-AF65-F5344CB8AC3E}">
        <p14:creationId xmlns:p14="http://schemas.microsoft.com/office/powerpoint/2010/main" val="3770673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1" dirty="0"/>
              <a:t># Channels #</a:t>
            </a:r>
          </a:p>
          <a:p>
            <a:pPr marL="171450" indent="-171450">
              <a:buFontTx/>
              <a:buChar char="-"/>
            </a:pPr>
            <a:endParaRPr lang="en-US" dirty="0"/>
          </a:p>
          <a:p>
            <a:pPr marL="171450" indent="-171450">
              <a:buFontTx/>
              <a:buChar char="-"/>
            </a:pPr>
            <a:r>
              <a:rPr lang="en-US" dirty="0"/>
              <a:t>A producer and a consumer communicate via a channel. A producer sends to a particular channel and a consumer reads from a particular channel</a:t>
            </a:r>
          </a:p>
          <a:p>
            <a:pPr marL="171450" indent="-171450">
              <a:buFontTx/>
              <a:buChar char="-"/>
            </a:pPr>
            <a:endParaRPr lang="en-US" dirty="0"/>
          </a:p>
          <a:p>
            <a:pPr marL="171450" indent="-171450">
              <a:buFontTx/>
              <a:buChar char="-"/>
            </a:pPr>
            <a:endParaRPr lang="en-US" dirty="0"/>
          </a:p>
          <a:p>
            <a:pPr marL="171450" indent="-171450">
              <a:buFontTx/>
              <a:buChar char="-"/>
            </a:pPr>
            <a:r>
              <a:rPr lang="en-US" dirty="0"/>
              <a:t>When we talk about messaging patterns, a channel is a logical view of the system not a physical one.</a:t>
            </a:r>
          </a:p>
          <a:p>
            <a:pPr marL="171450" indent="-171450">
              <a:buFontTx/>
              <a:buChar char="-"/>
            </a:pPr>
            <a:endParaRPr lang="en-US" dirty="0"/>
          </a:p>
          <a:p>
            <a:pPr marL="171450" indent="-171450">
              <a:buFontTx/>
              <a:buChar char="-"/>
            </a:pPr>
            <a:r>
              <a:rPr lang="en-US" dirty="0"/>
              <a:t>It is the virtual pipe down which messages flow.</a:t>
            </a:r>
          </a:p>
          <a:p>
            <a:pPr marL="171450" indent="-171450">
              <a:buFontTx/>
              <a:buChar char="-"/>
            </a:pPr>
            <a:endParaRPr lang="en-US" dirty="0"/>
          </a:p>
          <a:p>
            <a:pPr marL="171450" indent="-171450">
              <a:buFontTx/>
              <a:buChar char="-"/>
            </a:pPr>
            <a:r>
              <a:rPr lang="en-US" dirty="0"/>
              <a:t>Because the pipe is virtual, it's presence is just a logical address to which messages can be sent, and from which they can be received: this may be called a topic or a routing key, depending on the middleware.</a:t>
            </a:r>
          </a:p>
          <a:p>
            <a:pPr marL="171450" indent="-171450">
              <a:buFontTx/>
              <a:buChar char="-"/>
            </a:pPr>
            <a:endParaRPr lang="en-US" dirty="0"/>
          </a:p>
          <a:p>
            <a:pPr marL="171450" indent="-171450">
              <a:buFontTx/>
              <a:buChar char="-"/>
            </a:pPr>
            <a:r>
              <a:rPr lang="en-US" dirty="0"/>
              <a:t>Different Message Oriented Middleware solutions may provide different physical implementations of channels, such as whether messages are stored on in memory, on sender and receiver, or in a distributed database. </a:t>
            </a:r>
          </a:p>
          <a:p>
            <a:pPr marL="171450" indent="-171450">
              <a:buFontTx/>
              <a:buChar char="-"/>
            </a:pPr>
            <a:endParaRPr lang="en-US" dirty="0"/>
          </a:p>
          <a:p>
            <a:pPr marL="171450" indent="-171450">
              <a:buFontTx/>
              <a:buChar char="-"/>
            </a:pPr>
            <a:r>
              <a:rPr lang="en-US" dirty="0"/>
              <a:t>These details are hidden from producer and consumer who only need to know how to address a channel</a:t>
            </a:r>
          </a:p>
          <a:p>
            <a:pPr marL="171450" indent="-171450">
              <a:buFontTx/>
              <a:buChar char="-"/>
            </a:pPr>
            <a:endParaRPr lang="en-US" dirty="0"/>
          </a:p>
          <a:p>
            <a:pPr marL="171450" indent="-171450">
              <a:buFontTx/>
              <a:buChar char="-"/>
            </a:pPr>
            <a:r>
              <a:rPr lang="en-US" dirty="0"/>
              <a:t>A channel is one-way -- we don't want to consume our own messages. For bi-directional messaging we use two channels, one for the request, and one for the reply (the reply channel is usually communicated by the sender)</a:t>
            </a:r>
          </a:p>
          <a:p>
            <a:pPr marL="171450" indent="-171450">
              <a:buFontTx/>
              <a:buChar char="-"/>
            </a:pPr>
            <a:endParaRPr lang="en-US" dirty="0"/>
          </a:p>
          <a:p>
            <a:pPr marL="171450" indent="-171450">
              <a:buFontTx/>
              <a:buChar char="-"/>
            </a:pPr>
            <a:r>
              <a:rPr lang="en-US" dirty="0"/>
              <a:t>Messaging is  one-to-one (Point-to-point Channel) or one to many (Publish-Subscribe Channel)</a:t>
            </a:r>
          </a:p>
          <a:p>
            <a:pPr marL="171450" indent="-171450">
              <a:buFontTx/>
              <a:buChar char="-"/>
            </a:pPr>
            <a:endParaRPr lang="en-US" dirty="0"/>
          </a:p>
          <a:p>
            <a:pPr marL="171450" indent="-171450">
              <a:buFontTx/>
              <a:buChar char="-"/>
            </a:pPr>
            <a:r>
              <a:rPr lang="en-US" dirty="0"/>
              <a:t>A messaging system is not implemented as a bucket. A receiver knows what type of information it wants, and the sender can identify what it is.</a:t>
            </a:r>
          </a:p>
        </p:txBody>
      </p:sp>
      <p:sp>
        <p:nvSpPr>
          <p:cNvPr id="4" name="Slide Number Placeholder 3"/>
          <p:cNvSpPr>
            <a:spLocks noGrp="1"/>
          </p:cNvSpPr>
          <p:nvPr>
            <p:ph type="sldNum" sz="quarter" idx="10"/>
          </p:nvPr>
        </p:nvSpPr>
        <p:spPr/>
        <p:txBody>
          <a:bodyPr/>
          <a:lstStyle/>
          <a:p>
            <a:fld id="{F949CB24-BEAC-6A41-9A10-BFD56146B867}" type="slidenum">
              <a:rPr lang="en-US" smtClean="0"/>
              <a:pPr/>
              <a:t>48</a:t>
            </a:fld>
            <a:endParaRPr lang="en-US"/>
          </a:p>
        </p:txBody>
      </p:sp>
    </p:spTree>
    <p:extLst>
      <p:ext uri="{BB962C8B-B14F-4D97-AF65-F5344CB8AC3E}">
        <p14:creationId xmlns:p14="http://schemas.microsoft.com/office/powerpoint/2010/main" val="3251289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Point-to-Point Channel #</a:t>
            </a:r>
          </a:p>
          <a:p>
            <a:endParaRPr lang="en-US" b="1" dirty="0"/>
          </a:p>
          <a:p>
            <a:r>
              <a:rPr lang="en-US" b="0" dirty="0"/>
              <a:t>With a Point-to-Point Channel only one consumer receives any message. If the channel has multiple consumers, the channel ensures that only one of them succeeds, so the receivers do not have to coordinate with each other.</a:t>
            </a:r>
          </a:p>
          <a:p>
            <a:endParaRPr lang="en-US" b="0" dirty="0"/>
          </a:p>
          <a:p>
            <a:r>
              <a:rPr lang="en-US" b="0" dirty="0"/>
              <a:t>The channel typically locks a message, either until the locking consumer acks or </a:t>
            </a:r>
            <a:r>
              <a:rPr lang="en-US" b="0" dirty="0" err="1"/>
              <a:t>nacks</a:t>
            </a:r>
            <a:r>
              <a:rPr lang="en-US" b="0" dirty="0"/>
              <a:t> it, or until the consumer times out on responding and the message is made available again.</a:t>
            </a:r>
          </a:p>
          <a:p>
            <a:endParaRPr lang="en-US" b="0" dirty="0"/>
          </a:p>
          <a:p>
            <a:r>
              <a:rPr lang="en-US" b="0" dirty="0"/>
              <a:t>If the message is </a:t>
            </a:r>
            <a:r>
              <a:rPr lang="en-US" b="0" dirty="0" err="1"/>
              <a:t>acked</a:t>
            </a:r>
            <a:r>
              <a:rPr lang="en-US" b="0" dirty="0"/>
              <a:t>, it is deleted from the queue.</a:t>
            </a:r>
          </a:p>
          <a:p>
            <a:endParaRPr lang="en-US" b="0" dirty="0"/>
          </a:p>
          <a:p>
            <a:r>
              <a:rPr lang="en-US" b="0" dirty="0"/>
              <a:t>Whilst the message is locked, other consumers read past the locked message.</a:t>
            </a:r>
          </a:p>
          <a:p>
            <a:endParaRPr lang="en-US" b="0" dirty="0"/>
          </a:p>
          <a:p>
            <a:r>
              <a:rPr lang="en-US" b="0" dirty="0"/>
              <a:t>Thus the application can scale out by having multiple consumers receive messages concurrently, but only a single consumer receives any one message.</a:t>
            </a:r>
          </a:p>
          <a:p>
            <a:endParaRPr lang="en-US" b="0" dirty="0"/>
          </a:p>
          <a:p>
            <a:r>
              <a:rPr lang="en-US" b="0" dirty="0"/>
              <a:t>If the channel chooses to return messages to the channel following a timeout, consumers may have to be prepared to receive duplicate messages, or abandon processing messages, before they time out.</a:t>
            </a:r>
          </a:p>
        </p:txBody>
      </p:sp>
      <p:sp>
        <p:nvSpPr>
          <p:cNvPr id="4" name="Slide Number Placeholder 3"/>
          <p:cNvSpPr>
            <a:spLocks noGrp="1"/>
          </p:cNvSpPr>
          <p:nvPr>
            <p:ph type="sldNum" sz="quarter" idx="10"/>
          </p:nvPr>
        </p:nvSpPr>
        <p:spPr/>
        <p:txBody>
          <a:bodyPr/>
          <a:lstStyle/>
          <a:p>
            <a:fld id="{F949CB24-BEAC-6A41-9A10-BFD56146B867}" type="slidenum">
              <a:rPr lang="en-US" smtClean="0"/>
              <a:pPr/>
              <a:t>49</a:t>
            </a:fld>
            <a:endParaRPr lang="en-US"/>
          </a:p>
        </p:txBody>
      </p:sp>
    </p:spTree>
    <p:extLst>
      <p:ext uri="{BB962C8B-B14F-4D97-AF65-F5344CB8AC3E}">
        <p14:creationId xmlns:p14="http://schemas.microsoft.com/office/powerpoint/2010/main" val="80920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Datatype Channel #</a:t>
            </a:r>
          </a:p>
          <a:p>
            <a:endParaRPr lang="en-US" dirty="0"/>
          </a:p>
          <a:p>
            <a:r>
              <a:rPr lang="en-US" dirty="0"/>
              <a:t>When a producer sends a message, how does the consumer know how to process it?</a:t>
            </a:r>
          </a:p>
          <a:p>
            <a:endParaRPr lang="en-US" dirty="0"/>
          </a:p>
          <a:p>
            <a:r>
              <a:rPr lang="en-US" dirty="0"/>
              <a:t>How does it know what the schema of the message body is, in order to deserialize the content and act upon it?</a:t>
            </a:r>
          </a:p>
          <a:p>
            <a:endParaRPr lang="en-US" dirty="0"/>
          </a:p>
          <a:p>
            <a:r>
              <a:rPr lang="en-US" dirty="0"/>
              <a:t>We can use a separate channel for each separate message schema, so that all messages on a particular channel share the same schema.</a:t>
            </a:r>
          </a:p>
          <a:p>
            <a:endParaRPr lang="en-US" dirty="0"/>
          </a:p>
          <a:p>
            <a:r>
              <a:rPr lang="en-US" dirty="0"/>
              <a:t>The producer, knowing what type the message is, publishes to an appropriate channel serializing the data to the message body.</a:t>
            </a:r>
          </a:p>
          <a:p>
            <a:endParaRPr lang="en-US" dirty="0"/>
          </a:p>
          <a:p>
            <a:r>
              <a:rPr lang="en-US" dirty="0"/>
              <a:t>The consumer, knowing what channel the message was received on, will know what its type is, and can deserialize the message body.</a:t>
            </a:r>
          </a:p>
          <a:p>
            <a:endParaRPr lang="en-US" dirty="0"/>
          </a:p>
          <a:p>
            <a:r>
              <a:rPr lang="en-US" dirty="0"/>
              <a:t>If a Datatype channel is not used, then the consumer will need to inspect the message to determine the type, using metadata in the message header or body, and then lookup how de-serialize messages of that type, before routing them to code that knows how to handle them.</a:t>
            </a:r>
          </a:p>
          <a:p>
            <a:endParaRPr lang="en-US" dirty="0"/>
          </a:p>
          <a:p>
            <a:r>
              <a:rPr lang="en-US" dirty="0"/>
              <a:t>This is unneeded complexity if a separate channel can be used.</a:t>
            </a:r>
          </a:p>
          <a:p>
            <a:endParaRPr lang="en-US" dirty="0"/>
          </a:p>
          <a:p>
            <a:r>
              <a:rPr lang="en-US" dirty="0"/>
              <a:t>The reason not to use a datatype channel is where there are messages that need to be processed in sequence but the messages have different schemas and they cannot be unified under a single schema.</a:t>
            </a:r>
          </a:p>
        </p:txBody>
      </p:sp>
      <p:sp>
        <p:nvSpPr>
          <p:cNvPr id="4" name="Slide Number Placeholder 3"/>
          <p:cNvSpPr>
            <a:spLocks noGrp="1"/>
          </p:cNvSpPr>
          <p:nvPr>
            <p:ph type="sldNum" sz="quarter" idx="10"/>
          </p:nvPr>
        </p:nvSpPr>
        <p:spPr/>
        <p:txBody>
          <a:bodyPr/>
          <a:lstStyle/>
          <a:p>
            <a:fld id="{F949CB24-BEAC-6A41-9A10-BFD56146B867}" type="slidenum">
              <a:rPr lang="en-US" smtClean="0"/>
              <a:pPr/>
              <a:t>50</a:t>
            </a:fld>
            <a:endParaRPr lang="en-US"/>
          </a:p>
        </p:txBody>
      </p:sp>
    </p:spTree>
    <p:extLst>
      <p:ext uri="{BB962C8B-B14F-4D97-AF65-F5344CB8AC3E}">
        <p14:creationId xmlns:p14="http://schemas.microsoft.com/office/powerpoint/2010/main" val="18759375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Publish-Subscribe Channel #</a:t>
            </a:r>
          </a:p>
          <a:p>
            <a:endParaRPr lang="en-US" dirty="0"/>
          </a:p>
          <a:p>
            <a:r>
              <a:rPr lang="en-US" dirty="0"/>
              <a:t>If in a point-to-point channel only one consumer receives a message, how do I broadcast a message so that many consumers receive the same message?</a:t>
            </a:r>
          </a:p>
          <a:p>
            <a:endParaRPr lang="en-US" dirty="0"/>
          </a:p>
          <a:p>
            <a:r>
              <a:rPr lang="en-US" dirty="0"/>
              <a:t>Publish the message on a Publish-Subscribe Channel, which delivers a copy of a particular message to each consumer.</a:t>
            </a:r>
          </a:p>
          <a:p>
            <a:endParaRPr lang="en-US" dirty="0"/>
          </a:p>
          <a:p>
            <a:r>
              <a:rPr lang="en-US" dirty="0"/>
              <a:t>A Publish-Subscribe Channel has a publisher who sends a message to one input channel which is then replicated onto many output channels, each belonging to a separate subscriber.</a:t>
            </a:r>
          </a:p>
          <a:p>
            <a:endParaRPr lang="en-US" dirty="0"/>
          </a:p>
          <a:p>
            <a:r>
              <a:rPr lang="en-US" dirty="0"/>
              <a:t>When an event is published into the channel, the Publish-Subscribe Channel delivers a copy of the message to each of the output channels.</a:t>
            </a:r>
          </a:p>
          <a:p>
            <a:endParaRPr lang="en-US" dirty="0"/>
          </a:p>
          <a:p>
            <a:r>
              <a:rPr lang="en-US" dirty="0"/>
              <a:t>Each output channel functions much as a point-to-point channel. On any output channel, a consumer is only allowed to receive a message once. The middleware must use locking and read past to ensure that with multiple listeners, only one listener consumes the message.</a:t>
            </a:r>
          </a:p>
          <a:p>
            <a:endParaRPr lang="en-US" dirty="0"/>
          </a:p>
          <a:p>
            <a:r>
              <a:rPr lang="en-US" dirty="0"/>
              <a:t>Publish-subscribe allows eavesdropping on a message; a firehose of all channels can act like a message store.</a:t>
            </a:r>
          </a:p>
          <a:p>
            <a:endParaRPr lang="en-US" dirty="0"/>
          </a:p>
          <a:p>
            <a:r>
              <a:rPr lang="en-US" dirty="0"/>
              <a:t>A message may be sent by one publisher and consumed separately by many consumers via a router, which we discuss later. Both the channel and router based approach are often short-handed as publish-subscribe.</a:t>
            </a:r>
          </a:p>
        </p:txBody>
      </p:sp>
      <p:sp>
        <p:nvSpPr>
          <p:cNvPr id="4" name="Slide Number Placeholder 3"/>
          <p:cNvSpPr>
            <a:spLocks noGrp="1"/>
          </p:cNvSpPr>
          <p:nvPr>
            <p:ph type="sldNum" sz="quarter" idx="10"/>
          </p:nvPr>
        </p:nvSpPr>
        <p:spPr/>
        <p:txBody>
          <a:bodyPr/>
          <a:lstStyle/>
          <a:p>
            <a:fld id="{F949CB24-BEAC-6A41-9A10-BFD56146B867}" type="slidenum">
              <a:rPr lang="en-US" smtClean="0"/>
              <a:pPr/>
              <a:t>51</a:t>
            </a:fld>
            <a:endParaRPr lang="en-US"/>
          </a:p>
        </p:txBody>
      </p:sp>
    </p:spTree>
    <p:extLst>
      <p:ext uri="{BB962C8B-B14F-4D97-AF65-F5344CB8AC3E}">
        <p14:creationId xmlns:p14="http://schemas.microsoft.com/office/powerpoint/2010/main" val="15187502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Dead Letter Channel #</a:t>
            </a:r>
          </a:p>
          <a:p>
            <a:endParaRPr lang="en-US" dirty="0"/>
          </a:p>
          <a:p>
            <a:r>
              <a:rPr lang="en-US" dirty="0"/>
              <a:t>What does the middleware do with a message a publisher sends, that it cannot deliver to the intended channel?</a:t>
            </a:r>
          </a:p>
          <a:p>
            <a:endParaRPr lang="en-US" dirty="0"/>
          </a:p>
          <a:p>
            <a:r>
              <a:rPr lang="en-US" dirty="0"/>
              <a:t>It may choose to move the message onto a Dead Letter Channel, which can later be reviewed by the operator. Often, the middleware will attempt redelivery of the message to channel a number of times, before it moves it to a dead letter channel.</a:t>
            </a:r>
          </a:p>
          <a:p>
            <a:endParaRPr lang="en-US" dirty="0"/>
          </a:p>
          <a:p>
            <a:r>
              <a:rPr lang="en-US" dirty="0"/>
              <a:t>Implementations vary. For example, a dead letter channel might be a point-to-point channel that can be read by one consumer, or a publish-subscribe channel that can be read by many consumers.</a:t>
            </a:r>
          </a:p>
          <a:p>
            <a:endParaRPr lang="en-US" dirty="0"/>
          </a:p>
          <a:p>
            <a:r>
              <a:rPr lang="en-US" dirty="0"/>
              <a:t>There is confusion between a dead letter channel, and an invalid message channel (the next pattern we will look at). We will discuss that issue further when considering that pattern.</a:t>
            </a:r>
          </a:p>
        </p:txBody>
      </p:sp>
      <p:sp>
        <p:nvSpPr>
          <p:cNvPr id="4" name="Slide Number Placeholder 3"/>
          <p:cNvSpPr>
            <a:spLocks noGrp="1"/>
          </p:cNvSpPr>
          <p:nvPr>
            <p:ph type="sldNum" sz="quarter" idx="10"/>
          </p:nvPr>
        </p:nvSpPr>
        <p:spPr/>
        <p:txBody>
          <a:bodyPr/>
          <a:lstStyle/>
          <a:p>
            <a:fld id="{F949CB24-BEAC-6A41-9A10-BFD56146B867}" type="slidenum">
              <a:rPr lang="en-US" smtClean="0"/>
              <a:pPr/>
              <a:t>52</a:t>
            </a:fld>
            <a:endParaRPr lang="en-US"/>
          </a:p>
        </p:txBody>
      </p:sp>
    </p:spTree>
    <p:extLst>
      <p:ext uri="{BB962C8B-B14F-4D97-AF65-F5344CB8AC3E}">
        <p14:creationId xmlns:p14="http://schemas.microsoft.com/office/powerpoint/2010/main" val="337892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Invalid Message Channel #</a:t>
            </a:r>
          </a:p>
          <a:p>
            <a:endParaRPr lang="en-US" dirty="0"/>
          </a:p>
          <a:p>
            <a:r>
              <a:rPr lang="en-US" dirty="0"/>
              <a:t>What happens when the message a consumer receives cannot be understood? For example the message is missing headers, or the body has an unexpected content type or does not match the expected schema.</a:t>
            </a:r>
          </a:p>
          <a:p>
            <a:endParaRPr lang="en-US" dirty="0"/>
          </a:p>
          <a:p>
            <a:r>
              <a:rPr lang="en-US" dirty="0"/>
              <a:t>Although the middleware has delivered the message to the receiver it cannot be passed to application code to process.</a:t>
            </a:r>
          </a:p>
          <a:p>
            <a:endParaRPr lang="en-US" dirty="0"/>
          </a:p>
          <a:p>
            <a:r>
              <a:rPr lang="en-US" dirty="0"/>
              <a:t>Further attempts to process the message will continue to result in failure because it is badly formed. The message risks becoming a 'poison pill' as the consumer will continue to try to read it from the channel. If there is a single consumer it will be blocked from reading other messages. If there is more than one consumer, a consumer will continue to 'choke' on that message.</a:t>
            </a:r>
          </a:p>
          <a:p>
            <a:endParaRPr lang="en-US" dirty="0"/>
          </a:p>
          <a:p>
            <a:r>
              <a:rPr lang="en-US" dirty="0"/>
              <a:t>But simply removing the message from the channel, by </a:t>
            </a:r>
            <a:r>
              <a:rPr lang="en-US" dirty="0" err="1"/>
              <a:t>acking</a:t>
            </a:r>
            <a:r>
              <a:rPr lang="en-US" dirty="0"/>
              <a:t> it but discarding it, risks that we will lose data. For example, it might be that a badly configured producer or consumer was using the wrong channel and the message was good.</a:t>
            </a:r>
          </a:p>
          <a:p>
            <a:endParaRPr lang="en-US" dirty="0"/>
          </a:p>
          <a:p>
            <a:r>
              <a:rPr lang="en-US" dirty="0"/>
              <a:t>The consumer  should move the message to an Invalid Message Channel, a special channel for messages that could not be processed by their receivers.</a:t>
            </a:r>
          </a:p>
          <a:p>
            <a:endParaRPr lang="en-US" dirty="0"/>
          </a:p>
          <a:p>
            <a:r>
              <a:rPr lang="en-US" dirty="0"/>
              <a:t> Messages that cause application errors, but are well formed, should not be placed on the Invalid Message Channel, but treated as application errors.</a:t>
            </a:r>
          </a:p>
          <a:p>
            <a:endParaRPr lang="en-US" dirty="0"/>
          </a:p>
          <a:p>
            <a:r>
              <a:rPr lang="en-US" dirty="0"/>
              <a:t> The Dead Letter Channel is for messages that cannot be delivered to the channel, and the Invalid Message Channel is for messages that were delivered, but cannot be understood.</a:t>
            </a:r>
          </a:p>
          <a:p>
            <a:endParaRPr lang="en-US" dirty="0"/>
          </a:p>
          <a:p>
            <a:r>
              <a:rPr lang="en-US" dirty="0"/>
              <a:t> Some middleware, for example RabbitMQ confuses these terms, and uses Dead Letter Channel as an Invalid Message Channel, the destination for messages that the consumer rejects.</a:t>
            </a:r>
          </a:p>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53</a:t>
            </a:fld>
            <a:endParaRPr lang="en-US"/>
          </a:p>
        </p:txBody>
      </p:sp>
    </p:spTree>
    <p:extLst>
      <p:ext uri="{BB962C8B-B14F-4D97-AF65-F5344CB8AC3E}">
        <p14:creationId xmlns:p14="http://schemas.microsoft.com/office/powerpoint/2010/main" val="7375652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Message Endpoint #</a:t>
            </a:r>
          </a:p>
          <a:p>
            <a:endParaRPr lang="en-US" dirty="0"/>
          </a:p>
          <a:p>
            <a:r>
              <a:rPr lang="en-US" dirty="0"/>
              <a:t>How does an application connect to a messaging channel to send and receive messages?</a:t>
            </a:r>
          </a:p>
          <a:p>
            <a:endParaRPr lang="en-US" dirty="0"/>
          </a:p>
          <a:p>
            <a:r>
              <a:rPr lang="en-US" dirty="0"/>
              <a:t>Our preference would be to separate the concerns of messaging, from the concerns of the domain. A developer should not need to understand the details of working with middleware, message formats, messaging channels, or any of the other details of communicating with other applications via messaging.</a:t>
            </a:r>
          </a:p>
          <a:p>
            <a:endParaRPr lang="en-US" dirty="0"/>
          </a:p>
          <a:p>
            <a:r>
              <a:rPr lang="en-US" dirty="0"/>
              <a:t>Application code just knows that it has data to send to another application, or is expecting data from another application.</a:t>
            </a:r>
          </a:p>
          <a:p>
            <a:endParaRPr lang="en-US" dirty="0"/>
          </a:p>
          <a:p>
            <a:r>
              <a:rPr lang="en-US" dirty="0"/>
              <a:t>It is the messaging endpoint code that takes that data, makes it into a message, and sends it on a particular messaging channel. It is the endpoint that receives a message, extracts the contents, and gives them to the application in a meaningful way.</a:t>
            </a:r>
          </a:p>
          <a:p>
            <a:endParaRPr lang="en-US" dirty="0"/>
          </a:p>
          <a:p>
            <a:r>
              <a:rPr lang="en-US" dirty="0"/>
              <a:t>A Message Endpoint abstracts the details of communication with messaging channels when sending or receiving messages. Message Endpoint code is custom to middleware's client API.</a:t>
            </a:r>
          </a:p>
        </p:txBody>
      </p:sp>
      <p:sp>
        <p:nvSpPr>
          <p:cNvPr id="4" name="Slide Number Placeholder 3"/>
          <p:cNvSpPr>
            <a:spLocks noGrp="1"/>
          </p:cNvSpPr>
          <p:nvPr>
            <p:ph type="sldNum" sz="quarter" idx="10"/>
          </p:nvPr>
        </p:nvSpPr>
        <p:spPr/>
        <p:txBody>
          <a:bodyPr/>
          <a:lstStyle/>
          <a:p>
            <a:fld id="{F949CB24-BEAC-6A41-9A10-BFD56146B867}" type="slidenum">
              <a:rPr lang="en-US" smtClean="0"/>
              <a:pPr/>
              <a:t>55</a:t>
            </a:fld>
            <a:endParaRPr lang="en-US"/>
          </a:p>
        </p:txBody>
      </p:sp>
    </p:spTree>
    <p:extLst>
      <p:ext uri="{BB962C8B-B14F-4D97-AF65-F5344CB8AC3E}">
        <p14:creationId xmlns:p14="http://schemas.microsoft.com/office/powerpoint/2010/main" val="17169784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Messaging Gateway #</a:t>
            </a:r>
          </a:p>
          <a:p>
            <a:endParaRPr lang="en-US" dirty="0"/>
          </a:p>
          <a:p>
            <a:r>
              <a:rPr lang="en-US" dirty="0"/>
              <a:t>Within our Message Endpoint, we encapsulate the code that accesses the middleware in a Messaging Gateway. In this way, we isolate all the dependencies on the middleware into one component -- the Gateway. </a:t>
            </a:r>
          </a:p>
          <a:p>
            <a:endParaRPr lang="en-US" dirty="0"/>
          </a:p>
          <a:p>
            <a:r>
              <a:rPr lang="en-US" dirty="0"/>
              <a:t>Our domain code is isolated from messaging concerns.</a:t>
            </a:r>
          </a:p>
          <a:p>
            <a:endParaRPr lang="en-US" dirty="0"/>
          </a:p>
          <a:p>
            <a:r>
              <a:rPr lang="en-US" dirty="0"/>
              <a:t>What is the difference between a Gateway and an Endpoint? The Endpoint contains the Gateway, but may also contain code to run a message pump, to map messages to domain types, call application code in the domain. In this model, the Gateway only abstracts the interaction with middleware, it does not provide the other features of a Message Endpoint.</a:t>
            </a:r>
          </a:p>
          <a:p>
            <a:endParaRPr lang="en-US" dirty="0"/>
          </a:p>
          <a:p>
            <a:r>
              <a:rPr lang="en-US" dirty="0"/>
              <a:t>We might create an endpoint that supports multiple middleware offerings. The gateway abstracts their individual implementation details, so that the endpoint code, which interacts with application code, can switch between different types of middleware, without the application code needing to change.</a:t>
            </a:r>
          </a:p>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56</a:t>
            </a:fld>
            <a:endParaRPr lang="en-US"/>
          </a:p>
        </p:txBody>
      </p:sp>
    </p:spTree>
    <p:extLst>
      <p:ext uri="{BB962C8B-B14F-4D97-AF65-F5344CB8AC3E}">
        <p14:creationId xmlns:p14="http://schemas.microsoft.com/office/powerpoint/2010/main" val="1310449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The Message Pump #</a:t>
            </a:r>
          </a:p>
          <a:p>
            <a:endParaRPr lang="en-US" dirty="0"/>
          </a:p>
          <a:p>
            <a:r>
              <a:rPr lang="en-US" dirty="0"/>
              <a:t>The Message Pump is the name given to the code that takes a message from a channel and delivers it to application code. The pump runs in a loop, until cancelled.</a:t>
            </a:r>
          </a:p>
          <a:p>
            <a:endParaRPr lang="en-US" dirty="0"/>
          </a:p>
          <a:p>
            <a:r>
              <a:rPr lang="en-US" dirty="0"/>
              <a:t>The loop takes messages from the channel, and then translates the data in the message body into a type that can be understood by the application code.</a:t>
            </a:r>
          </a:p>
          <a:p>
            <a:endParaRPr lang="en-US" dirty="0"/>
          </a:p>
          <a:p>
            <a:r>
              <a:rPr lang="en-US" dirty="0"/>
              <a:t>The pump then looks up application code registered to handle messages of that type, and sends the translated message to that application code to be handled.</a:t>
            </a:r>
          </a:p>
          <a:p>
            <a:endParaRPr lang="en-US" dirty="0"/>
          </a:p>
          <a:p>
            <a:r>
              <a:rPr lang="en-US" dirty="0"/>
              <a:t>Control passes from the Message Endpoint to application code, which executes in response to receipt of the message and handles it.</a:t>
            </a:r>
          </a:p>
          <a:p>
            <a:endParaRPr lang="en-US" dirty="0"/>
          </a:p>
          <a:p>
            <a:r>
              <a:rPr lang="en-US" dirty="0"/>
              <a:t>When errors occur in the middleware, whilst attempting to deliver the message to the endpoint, the message can be moved to a Dead-Letter Channel.</a:t>
            </a:r>
          </a:p>
          <a:p>
            <a:endParaRPr lang="en-US" dirty="0"/>
          </a:p>
          <a:p>
            <a:r>
              <a:rPr lang="en-US" dirty="0"/>
              <a:t>When errors occur translating a message, then the message can be moved to an Invalid Message Channel.</a:t>
            </a:r>
          </a:p>
          <a:p>
            <a:endParaRPr lang="en-US" dirty="0"/>
          </a:p>
          <a:p>
            <a:r>
              <a:rPr lang="en-US" dirty="0"/>
              <a:t>If errors occur dispatching a message to application code, it should be logged, and an exception thrown, as the application has been incorrectly configured. The message should not be </a:t>
            </a:r>
            <a:r>
              <a:rPr lang="en-US" dirty="0" err="1"/>
              <a:t>acked</a:t>
            </a:r>
            <a:r>
              <a:rPr lang="en-US" dirty="0"/>
              <a:t> and the application should be shut down, to avoid losing data.</a:t>
            </a:r>
          </a:p>
          <a:p>
            <a:endParaRPr lang="en-US" dirty="0"/>
          </a:p>
          <a:p>
            <a:r>
              <a:rPr lang="en-US" dirty="0"/>
              <a:t>If errors occur in the application code, and those errors are not recoverable, then the message should be </a:t>
            </a:r>
            <a:r>
              <a:rPr lang="en-US" dirty="0" err="1"/>
              <a:t>acked</a:t>
            </a:r>
            <a:r>
              <a:rPr lang="en-US" dirty="0"/>
              <a:t> to remove it from the channel, as replaying it would have the same consequences, and the error should be logged. Processing may be able to continue with subsequent messages.</a:t>
            </a:r>
          </a:p>
          <a:p>
            <a:endParaRPr lang="en-US" dirty="0"/>
          </a:p>
          <a:p>
            <a:r>
              <a:rPr lang="en-US" dirty="0"/>
              <a:t>If the message could be retried, because the condition causing the error is transient, then the message can be put back onto channel (usually with a delay) to retry. An upper limit on the number of retries is usually placed, to avoid poison pill messages. Ideally, messages that exceed the retry limit, should be handled the same way as an unrecoverable exception</a:t>
            </a:r>
          </a:p>
          <a:p>
            <a:endParaRPr lang="en-US" dirty="0"/>
          </a:p>
        </p:txBody>
      </p:sp>
      <p:sp>
        <p:nvSpPr>
          <p:cNvPr id="4" name="Slide Number Placeholder 3"/>
          <p:cNvSpPr>
            <a:spLocks noGrp="1"/>
          </p:cNvSpPr>
          <p:nvPr>
            <p:ph type="sldNum" sz="quarter" idx="5"/>
          </p:nvPr>
        </p:nvSpPr>
        <p:spPr/>
        <p:txBody>
          <a:bodyPr/>
          <a:lstStyle/>
          <a:p>
            <a:fld id="{F949CB24-BEAC-6A41-9A10-BFD56146B867}" type="slidenum">
              <a:rPr lang="en-US" smtClean="0"/>
              <a:pPr/>
              <a:t>58</a:t>
            </a:fld>
            <a:endParaRPr lang="en-US"/>
          </a:p>
        </p:txBody>
      </p:sp>
    </p:spTree>
    <p:extLst>
      <p:ext uri="{BB962C8B-B14F-4D97-AF65-F5344CB8AC3E}">
        <p14:creationId xmlns:p14="http://schemas.microsoft.com/office/powerpoint/2010/main" val="5353085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A Messaging Mapper converts domain objects into a message as required by the messaging channel.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It also provides the reverse capability, create or update a domain objects based on an incoming messages.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Because of this mediator, the domain does not need to know about messaging formats and vice-versa</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Typically, the endpoint allows registration of message mappers for channels, and uses a data type channel.</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The application code that executes in response to a message it typically called a handler. Typically, handlers are subscribed to channels that the endpoint is configured to listen on.</a:t>
            </a:r>
          </a:p>
          <a:p>
            <a:endParaRPr lang="en-US" dirty="0"/>
          </a:p>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59</a:t>
            </a:fld>
            <a:endParaRPr lang="en-US"/>
          </a:p>
        </p:txBody>
      </p:sp>
    </p:spTree>
    <p:extLst>
      <p:ext uri="{BB962C8B-B14F-4D97-AF65-F5344CB8AC3E}">
        <p14:creationId xmlns:p14="http://schemas.microsoft.com/office/powerpoint/2010/main" val="9176861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Polling Consumer #</a:t>
            </a:r>
          </a:p>
          <a:p>
            <a:endParaRPr lang="en-US" dirty="0"/>
          </a:p>
          <a:p>
            <a:r>
              <a:rPr lang="en-US" dirty="0"/>
              <a:t>In a Polling Consumer, the message pump makes an explicit call to check for the availability of messages to consume. This consumes a thread in the application, even if no messages are ready, but does not require a connection to be held open to the middleware.</a:t>
            </a:r>
          </a:p>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60</a:t>
            </a:fld>
            <a:endParaRPr lang="en-US"/>
          </a:p>
        </p:txBody>
      </p:sp>
    </p:spTree>
    <p:extLst>
      <p:ext uri="{BB962C8B-B14F-4D97-AF65-F5344CB8AC3E}">
        <p14:creationId xmlns:p14="http://schemas.microsoft.com/office/powerpoint/2010/main" val="3608338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Event Driven Consumer #</a:t>
            </a:r>
          </a:p>
          <a:p>
            <a:endParaRPr lang="en-US" dirty="0"/>
          </a:p>
          <a:p>
            <a:r>
              <a:rPr lang="en-US" dirty="0"/>
              <a:t>In an Event Driven consumer, the message pump registers a callback with the middleware, and it is called when a message is available to be read, and passed the message. This does not consume a thread in the application, but it does require the connection between the client and the middleware server to be held open or for the application to serve requests from the middleware.</a:t>
            </a:r>
          </a:p>
        </p:txBody>
      </p:sp>
      <p:sp>
        <p:nvSpPr>
          <p:cNvPr id="4" name="Slide Number Placeholder 3"/>
          <p:cNvSpPr>
            <a:spLocks noGrp="1"/>
          </p:cNvSpPr>
          <p:nvPr>
            <p:ph type="sldNum" sz="quarter" idx="10"/>
          </p:nvPr>
        </p:nvSpPr>
        <p:spPr/>
        <p:txBody>
          <a:bodyPr/>
          <a:lstStyle/>
          <a:p>
            <a:fld id="{F949CB24-BEAC-6A41-9A10-BFD56146B867}" type="slidenum">
              <a:rPr lang="en-US" smtClean="0"/>
              <a:pPr/>
              <a:t>61</a:t>
            </a:fld>
            <a:endParaRPr lang="en-US"/>
          </a:p>
        </p:txBody>
      </p:sp>
    </p:spTree>
    <p:extLst>
      <p:ext uri="{BB962C8B-B14F-4D97-AF65-F5344CB8AC3E}">
        <p14:creationId xmlns:p14="http://schemas.microsoft.com/office/powerpoint/2010/main" val="7039442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The Service Activator #</a:t>
            </a:r>
          </a:p>
          <a:p>
            <a:endParaRPr lang="en-US" dirty="0"/>
          </a:p>
          <a:p>
            <a:r>
              <a:rPr lang="en-US" dirty="0"/>
              <a:t>Whilst the message pump outlined directs calls to application code in response to messages, it is valuable for that code to be invoked by other callers. This is particularly useful to support writing developer tests against the handler, but can also allow the same code to service requests received via different protocols for example HTTP or GRPC.</a:t>
            </a:r>
          </a:p>
          <a:p>
            <a:endParaRPr lang="en-US" dirty="0"/>
          </a:p>
          <a:p>
            <a:r>
              <a:rPr lang="en-US" dirty="0"/>
              <a:t>A Service Activator is the pattern by which the endpoint code invokes application code to handle the message, but that application code is independent of the messaging endpoint. This can be synchronous and non-remote a method call - usually exposed by a service layer. The activator can be hard-coded to always invoke the same service, or can use reflection to invoke the service indicated by the message. The activator handles all of the messaging details and invokes the service like any other client, such that the service doesn’t know it’s being invoked through messaging.</a:t>
            </a:r>
          </a:p>
          <a:p>
            <a:endParaRPr lang="en-US" dirty="0"/>
          </a:p>
          <a:p>
            <a:r>
              <a:rPr lang="en-US" dirty="0"/>
              <a:t>A Service Activator can be one-way (request only) or two-way (Request-Reply).</a:t>
            </a:r>
          </a:p>
        </p:txBody>
      </p:sp>
      <p:sp>
        <p:nvSpPr>
          <p:cNvPr id="4" name="Slide Number Placeholder 3"/>
          <p:cNvSpPr>
            <a:spLocks noGrp="1"/>
          </p:cNvSpPr>
          <p:nvPr>
            <p:ph type="sldNum" sz="quarter" idx="10"/>
          </p:nvPr>
        </p:nvSpPr>
        <p:spPr/>
        <p:txBody>
          <a:bodyPr/>
          <a:lstStyle/>
          <a:p>
            <a:fld id="{F949CB24-BEAC-6A41-9A10-BFD56146B867}" type="slidenum">
              <a:rPr lang="en-US" smtClean="0"/>
              <a:pPr/>
              <a:t>62</a:t>
            </a:fld>
            <a:endParaRPr lang="en-US"/>
          </a:p>
        </p:txBody>
      </p:sp>
    </p:spTree>
    <p:extLst>
      <p:ext uri="{BB962C8B-B14F-4D97-AF65-F5344CB8AC3E}">
        <p14:creationId xmlns:p14="http://schemas.microsoft.com/office/powerpoint/2010/main" val="9222661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GB" sz="2800" dirty="0"/>
              <a:t># Competing Consumers #</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GB" sz="2800" dirty="0"/>
          </a:p>
          <a:p>
            <a:pPr marL="0" marR="0" lvl="1" indent="0" algn="l" defTabSz="457200" rtl="0" eaLnBrk="1" fontAlgn="auto" latinLnBrk="0" hangingPunct="1">
              <a:lnSpc>
                <a:spcPct val="100000"/>
              </a:lnSpc>
              <a:spcBef>
                <a:spcPts val="0"/>
              </a:spcBef>
              <a:spcAft>
                <a:spcPts val="0"/>
              </a:spcAft>
              <a:buClrTx/>
              <a:buSzTx/>
              <a:buFontTx/>
              <a:buNone/>
              <a:tabLst/>
              <a:defRPr/>
            </a:pPr>
            <a:r>
              <a:rPr lang="en-GB" sz="2800" dirty="0"/>
              <a:t>If we wish to avoid a channel backing up, we must consume messages from the channel faster than they arrive. A simple algorithm helps with this. We compare the rate of arrival of messages with the rate of consumption of messages - how long before we ack or </a:t>
            </a:r>
            <a:r>
              <a:rPr lang="en-GB" sz="2800" dirty="0" err="1"/>
              <a:t>nack</a:t>
            </a:r>
            <a:r>
              <a:rPr lang="en-GB" sz="2800" dirty="0"/>
              <a:t> that message. If the rate of arrival exceeds the rate of consumption, we will back up. If this is not a burst of messages, and if we do not have a rate of consumption greater than that of arrival, we will not be able to eat our way through any backlog; we will now never catch up.</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GB" sz="2800" dirty="0"/>
          </a:p>
          <a:p>
            <a:pPr marL="0" marR="0" lvl="1" indent="0" algn="l" defTabSz="457200" rtl="0" eaLnBrk="1" fontAlgn="auto" latinLnBrk="0" hangingPunct="1">
              <a:lnSpc>
                <a:spcPct val="100000"/>
              </a:lnSpc>
              <a:spcBef>
                <a:spcPts val="0"/>
              </a:spcBef>
              <a:spcAft>
                <a:spcPts val="0"/>
              </a:spcAft>
              <a:buClrTx/>
              <a:buSzTx/>
              <a:buFontTx/>
              <a:buNone/>
              <a:tabLst/>
              <a:defRPr/>
            </a:pPr>
            <a:r>
              <a:rPr lang="en-GB" sz="2800" dirty="0"/>
              <a:t>We may also need to process the message within a certain period from when they are published. If those messages come in bursts, but the processing of individual messages in the burst takes too long, we might not be able to process within that period.</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GB" sz="2800" dirty="0"/>
          </a:p>
          <a:p>
            <a:pPr marL="0" marR="0" lvl="1" indent="0" algn="l" defTabSz="457200" rtl="0" eaLnBrk="1" fontAlgn="auto" latinLnBrk="0" hangingPunct="1">
              <a:lnSpc>
                <a:spcPct val="100000"/>
              </a:lnSpc>
              <a:spcBef>
                <a:spcPts val="0"/>
              </a:spcBef>
              <a:spcAft>
                <a:spcPts val="0"/>
              </a:spcAft>
              <a:buClrTx/>
              <a:buSzTx/>
              <a:buFontTx/>
              <a:buNone/>
              <a:tabLst/>
              <a:defRPr/>
            </a:pPr>
            <a:r>
              <a:rPr lang="en-GB" sz="2800" dirty="0"/>
              <a:t>The solution to both of these issues is to increase the number of consumers reading messages from the channel. The message queue must hand a message to only one consumer, so it must lock the message on the channel whilst it is being processed, and unlock it if it is returned to the channel. For example if the consumer fails. It must allow waiting consumers to read messages further down the channel if the message at the front is locked.</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GB" sz="2800" dirty="0"/>
          </a:p>
          <a:p>
            <a:pPr marL="0" marR="0" lvl="1" indent="0" algn="l" defTabSz="457200" rtl="0" eaLnBrk="1" fontAlgn="auto" latinLnBrk="0" hangingPunct="1">
              <a:lnSpc>
                <a:spcPct val="100000"/>
              </a:lnSpc>
              <a:spcBef>
                <a:spcPts val="0"/>
              </a:spcBef>
              <a:spcAft>
                <a:spcPts val="0"/>
              </a:spcAft>
              <a:buClrTx/>
              <a:buSzTx/>
              <a:buFontTx/>
              <a:buNone/>
              <a:tabLst/>
              <a:defRPr/>
            </a:pPr>
            <a:r>
              <a:rPr lang="en-GB" sz="2800" dirty="0"/>
              <a:t>Competing consumers can create a problem with messages that need to be processed in sequence. Due to the requirement to lock and read past, consumers will not be able to guarantee that they will process messages on a channel in sequence. Indeed they may undo any sequence that the channel has already. In this case you cannot use competing consumers. </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GB" sz="2800" dirty="0"/>
          </a:p>
          <a:p>
            <a:pPr marL="0" marR="0" lvl="1" indent="0" algn="l" defTabSz="457200" rtl="0" eaLnBrk="1" fontAlgn="auto" latinLnBrk="0" hangingPunct="1">
              <a:lnSpc>
                <a:spcPct val="100000"/>
              </a:lnSpc>
              <a:spcBef>
                <a:spcPts val="0"/>
              </a:spcBef>
              <a:spcAft>
                <a:spcPts val="0"/>
              </a:spcAft>
              <a:buClrTx/>
              <a:buSzTx/>
              <a:buFontTx/>
              <a:buNone/>
              <a:tabLst/>
              <a:defRPr/>
            </a:pPr>
            <a:r>
              <a:rPr lang="en-GB" sz="2800" dirty="0"/>
              <a:t>Instead, if the rate of arrival exceeds the rate of consumption you must partition the messages using a consistent hashing algorithm such that you can preserve order within a partition and ensure that the rate of arrival of messages on a partition does not exceed the rate of consumption of messages from a single consumer of that partition.</a:t>
            </a:r>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63</a:t>
            </a:fld>
            <a:endParaRPr lang="en-US"/>
          </a:p>
        </p:txBody>
      </p:sp>
    </p:spTree>
    <p:extLst>
      <p:ext uri="{BB962C8B-B14F-4D97-AF65-F5344CB8AC3E}">
        <p14:creationId xmlns:p14="http://schemas.microsoft.com/office/powerpoint/2010/main" val="40971997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Pipes and Filters #</a:t>
            </a:r>
          </a:p>
          <a:p>
            <a:endParaRPr lang="en-US" dirty="0"/>
          </a:p>
          <a:p>
            <a:r>
              <a:rPr lang="en-US" dirty="0"/>
              <a:t>When we publish a message, we may need to do work before the eventual subscriber of that message takes action against our domain. We might need to encrypt/decrypt a message, we might need to enrich the content of the message from other data stores,  or we might need to transform the message from one format to another.</a:t>
            </a:r>
          </a:p>
          <a:p>
            <a:endParaRPr lang="en-US" dirty="0"/>
          </a:p>
          <a:p>
            <a:r>
              <a:rPr lang="en-US" dirty="0"/>
              <a:t>Pipes and filters is a pattern for dividing the transformation of data between origin and destination into steps that can be combined together. A data source at the head of the pipe begins the flow, and a data sink at the tail of the pipe receives the transformed output. Filters transform the data as it flows through the pipe.</a:t>
            </a:r>
          </a:p>
          <a:p>
            <a:endParaRPr lang="en-US" dirty="0"/>
          </a:p>
          <a:p>
            <a:r>
              <a:rPr lang="en-US" dirty="0"/>
              <a:t>We can treat the publisher as the data source, the final consumer as the data sink. and consumers that read, transformed, and publish that message before it reaches the sink as filters.</a:t>
            </a:r>
          </a:p>
          <a:p>
            <a:endParaRPr lang="en-US" dirty="0"/>
          </a:p>
          <a:p>
            <a:r>
              <a:rPr lang="en-US" dirty="0"/>
              <a:t>The structure of pipes and filters is straightforward. Each filter receives a message on an inbound channel and publishes it on an outbound channel. The pipe connects one filter to the next, sending output messages from one filter to the next.  Because each filter uses the same approach they can be composed into a chain. This allows simple, easily testable filters to be composed into arbitrarily complex applications.</a:t>
            </a:r>
          </a:p>
          <a:p>
            <a:endParaRPr lang="en-US" dirty="0"/>
          </a:p>
          <a:p>
            <a:r>
              <a:rPr lang="en-US" dirty="0"/>
              <a:t>A processing pipeline lets us work in parallel, because a filter can take more work off the queue to process when done, instead of blocking whilst the rest of the pipeline completes. This is known as a processing pipeline because messages flow through the filters like liquid through a pipe. A processing pipeline helps to increase throughput. A processing pipeline's throughput is limited by the slowest point in the chain. We could use multi-threading within that filter, but the alternative is to use competing consumers to parallelize the work of a stage. This allows one of many consumers to complete the work of that stage and is simpler to program and debug than using multi-threading. </a:t>
            </a:r>
          </a:p>
        </p:txBody>
      </p:sp>
      <p:sp>
        <p:nvSpPr>
          <p:cNvPr id="4" name="Slide Number Placeholder 3"/>
          <p:cNvSpPr>
            <a:spLocks noGrp="1"/>
          </p:cNvSpPr>
          <p:nvPr>
            <p:ph type="sldNum" sz="quarter" idx="10"/>
          </p:nvPr>
        </p:nvSpPr>
        <p:spPr/>
        <p:txBody>
          <a:bodyPr/>
          <a:lstStyle/>
          <a:p>
            <a:fld id="{F949CB24-BEAC-6A41-9A10-BFD56146B867}" type="slidenum">
              <a:rPr lang="en-US" smtClean="0"/>
              <a:pPr/>
              <a:t>65</a:t>
            </a:fld>
            <a:endParaRPr lang="en-US"/>
          </a:p>
        </p:txBody>
      </p:sp>
    </p:spTree>
    <p:extLst>
      <p:ext uri="{BB962C8B-B14F-4D97-AF65-F5344CB8AC3E}">
        <p14:creationId xmlns:p14="http://schemas.microsoft.com/office/powerpoint/2010/main" val="15920568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Content Based Router #</a:t>
            </a:r>
          </a:p>
          <a:p>
            <a:endParaRPr lang="en-US" dirty="0"/>
          </a:p>
          <a:p>
            <a:r>
              <a:rPr lang="en-US" dirty="0"/>
              <a:t>We may need a pipeline to branch. The condition that determines which path to take, may be based on the content of the message.</a:t>
            </a:r>
          </a:p>
          <a:p>
            <a:endParaRPr lang="en-US" dirty="0"/>
          </a:p>
          <a:p>
            <a:r>
              <a:rPr lang="en-US" dirty="0"/>
              <a:t>A Content-Based Router examines the message content and routes the message onto a different channel based on data contained in the message. The routing can be based on a number of criteria, such as existence of fields, specific field values, and so on.</a:t>
            </a:r>
          </a:p>
          <a:p>
            <a:endParaRPr lang="en-US" dirty="0"/>
          </a:p>
          <a:p>
            <a:r>
              <a:rPr lang="en-US" dirty="0"/>
              <a:t>The routing function should be easy to maintain, as the router can become a point of frequent maintenance. Some middleware provide configurable rules-engines to support complex routing decisions or topologies. Be wary of moving too much decision making into middleware as this can become difficult to maintain or test.</a:t>
            </a:r>
          </a:p>
        </p:txBody>
      </p:sp>
      <p:sp>
        <p:nvSpPr>
          <p:cNvPr id="4" name="Slide Number Placeholder 3"/>
          <p:cNvSpPr>
            <a:spLocks noGrp="1"/>
          </p:cNvSpPr>
          <p:nvPr>
            <p:ph type="sldNum" sz="quarter" idx="10"/>
          </p:nvPr>
        </p:nvSpPr>
        <p:spPr/>
        <p:txBody>
          <a:bodyPr/>
          <a:lstStyle/>
          <a:p>
            <a:fld id="{F949CB24-BEAC-6A41-9A10-BFD56146B867}" type="slidenum">
              <a:rPr lang="en-US" smtClean="0"/>
              <a:pPr/>
              <a:t>66</a:t>
            </a:fld>
            <a:endParaRPr lang="en-US"/>
          </a:p>
        </p:txBody>
      </p:sp>
    </p:spTree>
    <p:extLst>
      <p:ext uri="{BB962C8B-B14F-4D97-AF65-F5344CB8AC3E}">
        <p14:creationId xmlns:p14="http://schemas.microsoft.com/office/powerpoint/2010/main" val="3821921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Dynamic Router #</a:t>
            </a:r>
          </a:p>
          <a:p>
            <a:endParaRPr lang="en-US" dirty="0"/>
          </a:p>
          <a:p>
            <a:r>
              <a:rPr lang="en-US" dirty="0"/>
              <a:t>A content-based router can be difficult to maintain, because the router has to know about the possible branches in the path, thus creating a need to re-configure that router if the topology of the system changes.</a:t>
            </a:r>
          </a:p>
          <a:p>
            <a:endParaRPr lang="en-US" dirty="0"/>
          </a:p>
          <a:p>
            <a:r>
              <a:rPr lang="en-US" dirty="0"/>
              <a:t>A dynamic routers solves this problem by using a rules-engine to send messages to destinations which can be configured at run time.</a:t>
            </a:r>
          </a:p>
          <a:p>
            <a:endParaRPr lang="en-US" dirty="0"/>
          </a:p>
          <a:p>
            <a:r>
              <a:rPr lang="en-US" dirty="0"/>
              <a:t>A control channel allows configuration of the routing to be set by consumers. As a consumer starts up, it registers with the router to indicate the rules under which it should be sent messages. The Dynamic Router runs the rules over a message on receipt and determines the destination.  </a:t>
            </a:r>
          </a:p>
          <a:p>
            <a:endParaRPr lang="en-US" dirty="0"/>
          </a:p>
          <a:p>
            <a:r>
              <a:rPr lang="en-US" dirty="0"/>
              <a:t>Because consumers supply the rules under which the message should be routed to them, the dynamic router must determine what happens if two rules conflict, indicating that a message should be forwarded to more than one channel. Common strategies include last one wins. It is possible to route to all valid routes, but this is often actually another pattern: the recipient list.</a:t>
            </a:r>
          </a:p>
          <a:p>
            <a:endParaRPr lang="en-US" dirty="0"/>
          </a:p>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67</a:t>
            </a:fld>
            <a:endParaRPr lang="en-US"/>
          </a:p>
        </p:txBody>
      </p:sp>
    </p:spTree>
    <p:extLst>
      <p:ext uri="{BB962C8B-B14F-4D97-AF65-F5344CB8AC3E}">
        <p14:creationId xmlns:p14="http://schemas.microsoft.com/office/powerpoint/2010/main" val="38576404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Recipient List #</a:t>
            </a:r>
          </a:p>
          <a:p>
            <a:endParaRPr lang="en-US" dirty="0"/>
          </a:p>
          <a:p>
            <a:r>
              <a:rPr lang="en-US" dirty="0"/>
              <a:t>In a content-based router, the properties of the message determine which branch a message takes. We may want the publisher to be able to explicitly decide which branches to take, by means of a recipient list of which paths should receive the message.</a:t>
            </a:r>
          </a:p>
          <a:p>
            <a:endParaRPr lang="en-US" dirty="0"/>
          </a:p>
          <a:p>
            <a:r>
              <a:rPr lang="en-US" dirty="0"/>
              <a:t>A metaphor here is the To list of an email - we indicate the recipients of the email and it is routed to them.</a:t>
            </a:r>
          </a:p>
          <a:p>
            <a:endParaRPr lang="en-US" dirty="0"/>
          </a:p>
          <a:p>
            <a:r>
              <a:rPr lang="en-US" dirty="0"/>
              <a:t>We define a channel for each recipient. The Recipient List inspects an incoming message, determine the list of desired recipients, and forwards the message to all channels associated with recipients in the list.</a:t>
            </a:r>
          </a:p>
          <a:p>
            <a:endParaRPr lang="en-US" dirty="0"/>
          </a:p>
          <a:p>
            <a:r>
              <a:rPr lang="en-US" dirty="0"/>
              <a:t>It is possible to invert the recipient list to give control to the consumers. In a dynamic recipient list, consumers send a list of messages they wish to subscribe to, via a control channel, to the Recipient List. This allows them to filter the messages that they wish to receive. </a:t>
            </a:r>
          </a:p>
          <a:p>
            <a:endParaRPr lang="en-US" dirty="0"/>
          </a:p>
          <a:p>
            <a:r>
              <a:rPr lang="en-US" dirty="0"/>
              <a:t>A dynamic Recipient List can be used to implement a Publish-Subscribe Channel if a messaging system provides only Point-to-Point Channels but no Publish-Subscribe Channels. The Recipient List would keep a list of all Point-to-Point Channels that are subscribed to a topic. The publisher indicates the topic when sending the message, and the Recipient List routes the message to channels subscribed to that topic. This can be used to provide control, such as authorization, of subscriptions to a topic</a:t>
            </a:r>
          </a:p>
          <a:p>
            <a:endParaRPr lang="en-US" dirty="0"/>
          </a:p>
          <a:p>
            <a:r>
              <a:rPr lang="en-US" dirty="0"/>
              <a:t>Exchanges in RabbitMQ and SNS subscriptions in AWS are examples of dynamic recipient lists.</a:t>
            </a:r>
          </a:p>
        </p:txBody>
      </p:sp>
      <p:sp>
        <p:nvSpPr>
          <p:cNvPr id="4" name="Slide Number Placeholder 3"/>
          <p:cNvSpPr>
            <a:spLocks noGrp="1"/>
          </p:cNvSpPr>
          <p:nvPr>
            <p:ph type="sldNum" sz="quarter" idx="10"/>
          </p:nvPr>
        </p:nvSpPr>
        <p:spPr/>
        <p:txBody>
          <a:bodyPr/>
          <a:lstStyle/>
          <a:p>
            <a:fld id="{F949CB24-BEAC-6A41-9A10-BFD56146B867}" type="slidenum">
              <a:rPr lang="en-US" smtClean="0"/>
              <a:pPr/>
              <a:t>68</a:t>
            </a:fld>
            <a:endParaRPr lang="en-US"/>
          </a:p>
        </p:txBody>
      </p:sp>
    </p:spTree>
    <p:extLst>
      <p:ext uri="{BB962C8B-B14F-4D97-AF65-F5344CB8AC3E}">
        <p14:creationId xmlns:p14="http://schemas.microsoft.com/office/powerpoint/2010/main" val="35625096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Splitter #</a:t>
            </a:r>
          </a:p>
          <a:p>
            <a:endParaRPr lang="en-US" dirty="0"/>
          </a:p>
          <a:p>
            <a:r>
              <a:rPr lang="en-US" dirty="0"/>
              <a:t>It may be that filters in the pipeline correspond to parts of a message, and it may be more efficient to split a message into multiple messages, derived from those dependencies, and send those new messages to those filters.</a:t>
            </a:r>
          </a:p>
          <a:p>
            <a:endParaRPr lang="en-US" dirty="0"/>
          </a:p>
          <a:p>
            <a:r>
              <a:rPr lang="en-US" dirty="0"/>
              <a:t>A splitter takes one input message, and breaks it into multiple output messages.</a:t>
            </a:r>
          </a:p>
          <a:p>
            <a:endParaRPr lang="en-US" dirty="0"/>
          </a:p>
          <a:p>
            <a:r>
              <a:rPr lang="en-US" dirty="0"/>
              <a:t>For example, different line items in an order, may need be handled by different consumers, and a splitter can route each line item in the order to the correct consumer.</a:t>
            </a:r>
          </a:p>
          <a:p>
            <a:endParaRPr lang="en-US" dirty="0"/>
          </a:p>
          <a:p>
            <a:r>
              <a:rPr lang="en-US" dirty="0"/>
              <a:t>It may also be useful where there is a batch of work in the original message. It can be difficult to observe the progress of a batch, it is either all waiting to be done, or done. Splitting the batch up allows us to observe the progress on the parts of the batch more easily, by the simple expedient of monitoring the number of messages waiting to be processed in the channel.</a:t>
            </a:r>
          </a:p>
          <a:p>
            <a:endParaRPr lang="en-US" dirty="0"/>
          </a:p>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69</a:t>
            </a:fld>
            <a:endParaRPr lang="en-US"/>
          </a:p>
        </p:txBody>
      </p:sp>
    </p:spTree>
    <p:extLst>
      <p:ext uri="{BB962C8B-B14F-4D97-AF65-F5344CB8AC3E}">
        <p14:creationId xmlns:p14="http://schemas.microsoft.com/office/powerpoint/2010/main" val="26173890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Aggregator #</a:t>
            </a:r>
          </a:p>
          <a:p>
            <a:endParaRPr lang="en-US" dirty="0"/>
          </a:p>
          <a:p>
            <a:r>
              <a:rPr lang="en-US" dirty="0"/>
              <a:t>A Splitter lets us break out a single message into parts, multiple messages that can be processed individually. It may be necessary to recombine these parts for further processing.</a:t>
            </a:r>
          </a:p>
          <a:p>
            <a:endParaRPr lang="en-US" dirty="0"/>
          </a:p>
          <a:p>
            <a:r>
              <a:rPr lang="en-US" dirty="0"/>
              <a:t>For example, when we use a Splitter to break up a batch job, we want to know when the batch completes, because all of the parts of the batch have completed. We also want to know if some parts of a batch completed, but others did not. </a:t>
            </a:r>
          </a:p>
          <a:p>
            <a:endParaRPr lang="en-US" dirty="0"/>
          </a:p>
          <a:p>
            <a:r>
              <a:rPr lang="en-US" dirty="0"/>
              <a:t>An Aggregator collects and stores individual messages until a complete set of related messages has been received. Then, the Aggregator publishes a single message distilled from the individual messages.</a:t>
            </a:r>
          </a:p>
          <a:p>
            <a:endParaRPr lang="en-US" dirty="0"/>
          </a:p>
          <a:p>
            <a:r>
              <a:rPr lang="en-US" dirty="0"/>
              <a:t>An Aggregator depends on being able to correlate messages, usually by adding a correlation id to the message headers, to easily allow messages to be recombined. With a batch, it can also be useful for the aggregator to know how many messages were </a:t>
            </a:r>
            <a:r>
              <a:rPr lang="en-US" dirty="0" err="1"/>
              <a:t>i</a:t>
            </a:r>
            <a:r>
              <a:rPr lang="en-US" dirty="0"/>
              <a:t> the batch, so that the aggregator knows when it has seen all the messages.</a:t>
            </a:r>
          </a:p>
        </p:txBody>
      </p:sp>
      <p:sp>
        <p:nvSpPr>
          <p:cNvPr id="4" name="Slide Number Placeholder 3"/>
          <p:cNvSpPr>
            <a:spLocks noGrp="1"/>
          </p:cNvSpPr>
          <p:nvPr>
            <p:ph type="sldNum" sz="quarter" idx="10"/>
          </p:nvPr>
        </p:nvSpPr>
        <p:spPr/>
        <p:txBody>
          <a:bodyPr/>
          <a:lstStyle/>
          <a:p>
            <a:fld id="{F949CB24-BEAC-6A41-9A10-BFD56146B867}" type="slidenum">
              <a:rPr lang="en-US" smtClean="0"/>
              <a:pPr/>
              <a:t>70</a:t>
            </a:fld>
            <a:endParaRPr lang="en-US"/>
          </a:p>
        </p:txBody>
      </p:sp>
    </p:spTree>
    <p:extLst>
      <p:ext uri="{BB962C8B-B14F-4D97-AF65-F5344CB8AC3E}">
        <p14:creationId xmlns:p14="http://schemas.microsoft.com/office/powerpoint/2010/main" val="30680904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r>
              <a:rPr lang="en-US" b="1" dirty="0" err="1"/>
              <a:t>Resequencer</a:t>
            </a:r>
            <a:r>
              <a:rPr lang="en-US" b="1" dirty="0"/>
              <a:t> #</a:t>
            </a:r>
          </a:p>
          <a:p>
            <a:endParaRPr lang="en-US" dirty="0"/>
          </a:p>
          <a:p>
            <a:r>
              <a:rPr lang="en-US" dirty="0"/>
              <a:t>If the pipeline has conditional or parallel filter steps, some messages may complete the pipeline before others. If the messages were published in order, that order may now be lost. </a:t>
            </a:r>
          </a:p>
          <a:p>
            <a:endParaRPr lang="en-US" dirty="0"/>
          </a:p>
          <a:p>
            <a:r>
              <a:rPr lang="en-US" dirty="0"/>
              <a:t>In the presence of errors, a filter step might be retried, which may move the retried message out of order.</a:t>
            </a:r>
          </a:p>
          <a:p>
            <a:endParaRPr lang="en-US" dirty="0"/>
          </a:p>
          <a:p>
            <a:r>
              <a:rPr lang="en-US" dirty="0"/>
              <a:t>If we have competing consumers reading from a channel, they will de-order the messages arriving on that channel.</a:t>
            </a:r>
          </a:p>
          <a:p>
            <a:endParaRPr lang="en-US" dirty="0"/>
          </a:p>
          <a:p>
            <a:r>
              <a:rPr lang="en-US" dirty="0"/>
              <a:t>If we need to re-order messages we can use a </a:t>
            </a:r>
            <a:r>
              <a:rPr lang="en-US" dirty="0" err="1"/>
              <a:t>Resequencer</a:t>
            </a:r>
            <a:r>
              <a:rPr lang="en-US" dirty="0"/>
              <a:t>. A </a:t>
            </a:r>
            <a:r>
              <a:rPr lang="en-US" dirty="0" err="1"/>
              <a:t>Resequencer</a:t>
            </a:r>
            <a:r>
              <a:rPr lang="en-US" dirty="0"/>
              <a:t> uses an internal buffer to store out-of-sequence messages until a complete sequence is obtained. The in-sequence messages are then published to the output channel. </a:t>
            </a:r>
          </a:p>
          <a:p>
            <a:endParaRPr lang="en-US" dirty="0"/>
          </a:p>
          <a:p>
            <a:r>
              <a:rPr lang="en-US" dirty="0"/>
              <a:t>The </a:t>
            </a:r>
            <a:r>
              <a:rPr lang="en-US" dirty="0" err="1"/>
              <a:t>Resequencer</a:t>
            </a:r>
            <a:r>
              <a:rPr lang="en-US" dirty="0"/>
              <a:t> needs to store the sequence number of the next expected message. A </a:t>
            </a:r>
            <a:r>
              <a:rPr lang="en-US" dirty="0" err="1"/>
              <a:t>Resequencer</a:t>
            </a:r>
            <a:r>
              <a:rPr lang="en-US" dirty="0"/>
              <a:t> first looks in its own buffer, to see if it has already read that message from the channel. If not, it reads another message from the channel. If that is the expected message it processes it, otherwise it puts it into the buffer. The process then repeats. Eventually, a message waiting in the buffer will be the next message, and will be freed.</a:t>
            </a:r>
          </a:p>
        </p:txBody>
      </p:sp>
      <p:sp>
        <p:nvSpPr>
          <p:cNvPr id="4" name="Slide Number Placeholder 3"/>
          <p:cNvSpPr>
            <a:spLocks noGrp="1"/>
          </p:cNvSpPr>
          <p:nvPr>
            <p:ph type="sldNum" sz="quarter" idx="10"/>
          </p:nvPr>
        </p:nvSpPr>
        <p:spPr/>
        <p:txBody>
          <a:bodyPr/>
          <a:lstStyle/>
          <a:p>
            <a:fld id="{F949CB24-BEAC-6A41-9A10-BFD56146B867}" type="slidenum">
              <a:rPr lang="en-US" smtClean="0"/>
              <a:pPr/>
              <a:t>71</a:t>
            </a:fld>
            <a:endParaRPr lang="en-US"/>
          </a:p>
        </p:txBody>
      </p:sp>
    </p:spTree>
    <p:extLst>
      <p:ext uri="{BB962C8B-B14F-4D97-AF65-F5344CB8AC3E}">
        <p14:creationId xmlns:p14="http://schemas.microsoft.com/office/powerpoint/2010/main" val="23526008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Message Translator #</a:t>
            </a:r>
          </a:p>
          <a:p>
            <a:endParaRPr lang="en-US" dirty="0"/>
          </a:p>
          <a:p>
            <a:r>
              <a:rPr lang="en-US" dirty="0"/>
              <a:t>The publisher may not use a format for a message that is understood by all consumers. This may be a version issue -- a downstream consumer may not be ready to receive a message whose format has a breaking change. It may be an issue with schemas that are not under control of the engineering team, such as external system or legacy code.  </a:t>
            </a:r>
          </a:p>
          <a:p>
            <a:endParaRPr lang="en-US" dirty="0"/>
          </a:p>
          <a:p>
            <a:r>
              <a:rPr lang="en-US" dirty="0"/>
              <a:t>A message translator is a filter step that converts a message from one schema to another, so that the output can be received by consumers that accept the alternative format.</a:t>
            </a:r>
          </a:p>
          <a:p>
            <a:endParaRPr lang="en-US" dirty="0"/>
          </a:p>
          <a:p>
            <a:r>
              <a:rPr lang="en-US" dirty="0"/>
              <a:t>In many cases a translator is temporary, once the consumer can accept the schema of the publisher then the translator can be retired.</a:t>
            </a:r>
          </a:p>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73</a:t>
            </a:fld>
            <a:endParaRPr lang="en-US"/>
          </a:p>
        </p:txBody>
      </p:sp>
    </p:spTree>
    <p:extLst>
      <p:ext uri="{BB962C8B-B14F-4D97-AF65-F5344CB8AC3E}">
        <p14:creationId xmlns:p14="http://schemas.microsoft.com/office/powerpoint/2010/main" val="33913965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Content Enricher #</a:t>
            </a:r>
          </a:p>
          <a:p>
            <a:endParaRPr lang="en-US" dirty="0"/>
          </a:p>
          <a:p>
            <a:r>
              <a:rPr lang="en-US" dirty="0"/>
              <a:t>The data source in a pipeline, the publisher, may not have all the data that the data sink, the consumer, needs to process the message.</a:t>
            </a:r>
          </a:p>
          <a:p>
            <a:endParaRPr lang="en-US" dirty="0"/>
          </a:p>
          <a:p>
            <a:r>
              <a:rPr lang="en-US" dirty="0"/>
              <a:t>Imagine that the publisher sends a new order with an account id, but to ship the order we need the customer's address details, which are held on their account. The shipping consumer needs the customer's address to be added to the order message, before it can process the message.</a:t>
            </a:r>
          </a:p>
          <a:p>
            <a:endParaRPr lang="en-US" dirty="0"/>
          </a:p>
          <a:p>
            <a:r>
              <a:rPr lang="en-US" dirty="0"/>
              <a:t>This scenario is particularly common in microservice architectures, where each microservice only holds data that pertains to its area of responsibility and not others, requiring the data in the publisher's message to be joined to data held by other microservices.</a:t>
            </a:r>
          </a:p>
          <a:p>
            <a:endParaRPr lang="en-US" dirty="0"/>
          </a:p>
          <a:p>
            <a:r>
              <a:rPr lang="en-US" dirty="0"/>
              <a:t>A Content Enricher is a filter step that adds the required data to the message. </a:t>
            </a:r>
          </a:p>
          <a:p>
            <a:endParaRPr lang="en-US" dirty="0"/>
          </a:p>
          <a:p>
            <a:r>
              <a:rPr lang="en-US" dirty="0"/>
              <a:t>In the above example, one system publishes the order, a filter step belonging to another system listens to that message and enriches the content with the address data, and the system that handles shipping now has the data that it needs to process the order.</a:t>
            </a:r>
          </a:p>
          <a:p>
            <a:endParaRPr lang="en-US" dirty="0"/>
          </a:p>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74</a:t>
            </a:fld>
            <a:endParaRPr lang="en-US"/>
          </a:p>
        </p:txBody>
      </p:sp>
    </p:spTree>
    <p:extLst>
      <p:ext uri="{BB962C8B-B14F-4D97-AF65-F5344CB8AC3E}">
        <p14:creationId xmlns:p14="http://schemas.microsoft.com/office/powerpoint/2010/main" val="21074765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C8992-2BC4-B9BA-AA83-E8B39DFB7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88D1-B952-BD9E-264B-1AE9BB44938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F3FE48-69CF-2B05-2034-F3A8DAC89D4D}"/>
              </a:ext>
            </a:extLst>
          </p:cNvPr>
          <p:cNvSpPr>
            <a:spLocks noGrp="1"/>
          </p:cNvSpPr>
          <p:nvPr>
            <p:ph type="body" sz="quarter" idx="3"/>
          </p:nvPr>
        </p:nvSpPr>
        <p:spPr/>
        <p:txBody>
          <a:bodyPr/>
          <a:lstStyle/>
          <a:p>
            <a:r>
              <a:t>Explain mapping and transactional outbox. Use slide-09-outbox-pattern.</a:t>
            </a:r>
          </a:p>
        </p:txBody>
      </p:sp>
      <p:sp>
        <p:nvSpPr>
          <p:cNvPr id="4" name="Slide Number Placeholder 3">
            <a:extLst>
              <a:ext uri="{FF2B5EF4-FFF2-40B4-BE49-F238E27FC236}">
                <a16:creationId xmlns:a16="http://schemas.microsoft.com/office/drawing/2014/main" id="{019BE1B2-16A5-0FA6-8CB8-56E4208BE763}"/>
              </a:ext>
            </a:extLst>
          </p:cNvPr>
          <p:cNvSpPr>
            <a:spLocks noGrp="1"/>
          </p:cNvSpPr>
          <p:nvPr>
            <p:ph type="sldNum" sz="quarter" idx="5"/>
          </p:nvPr>
        </p:nvSpPr>
        <p:spPr/>
      </p:sp>
    </p:spTree>
    <p:extLst>
      <p:ext uri="{BB962C8B-B14F-4D97-AF65-F5344CB8AC3E}">
        <p14:creationId xmlns:p14="http://schemas.microsoft.com/office/powerpoint/2010/main" val="29964668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general rule when versioning events is that adding things does not cause a versioning conflict. Adding a new version of an event is therefore not a problem, as long as we don’t break the definition of a new version event; it must be convertible from an old version of the same event. Following these rules, when old versions are read from the store, they can first be converted, or </a:t>
            </a:r>
            <a:r>
              <a:rPr lang="en-US" dirty="0" err="1"/>
              <a:t>upcasted</a:t>
            </a:r>
            <a:r>
              <a:rPr lang="en-US" dirty="0"/>
              <a:t>, to the latest version before handled. This means that an event handler only needs to know how to deal with the latest version, an important benefit if many new versions have been created. To be able to convert an old version of an event when a property has been added to the new version, we use the same principle as when we add a new not nullable column to a database; we use a default value.</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With Additive Changes we can process new messages on old consumers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New Consumers must default missing values from older messages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Might use Enricher.</a:t>
            </a:r>
          </a:p>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100</a:t>
            </a:fld>
            <a:endParaRPr lang="en-US"/>
          </a:p>
        </p:txBody>
      </p:sp>
    </p:spTree>
    <p:extLst>
      <p:ext uri="{BB962C8B-B14F-4D97-AF65-F5344CB8AC3E}">
        <p14:creationId xmlns:p14="http://schemas.microsoft.com/office/powerpoint/2010/main" val="32876008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With Breaking Changes we should create a new message type. </a:t>
            </a:r>
          </a:p>
          <a:p>
            <a:pPr algn="ctr"/>
            <a:endParaRPr lang="en-US" dirty="0"/>
          </a:p>
          <a:p>
            <a:pPr algn="l"/>
            <a:r>
              <a:rPr lang="en-US" dirty="0"/>
              <a:t>Source systems may need to send original and new, or we have to source the missing information in a Message Translator in the pipeline</a:t>
            </a:r>
          </a:p>
          <a:p>
            <a:endParaRPr lang="en-US" dirty="0"/>
          </a:p>
        </p:txBody>
      </p:sp>
      <p:sp>
        <p:nvSpPr>
          <p:cNvPr id="4" name="Slide Number Placeholder 3"/>
          <p:cNvSpPr>
            <a:spLocks noGrp="1"/>
          </p:cNvSpPr>
          <p:nvPr>
            <p:ph type="sldNum" sz="quarter" idx="5"/>
          </p:nvPr>
        </p:nvSpPr>
        <p:spPr/>
        <p:txBody>
          <a:bodyPr/>
          <a:lstStyle/>
          <a:p>
            <a:fld id="{F949CB24-BEAC-6A41-9A10-BFD56146B867}" type="slidenum">
              <a:rPr lang="en-US" smtClean="0"/>
              <a:pPr/>
              <a:t>102</a:t>
            </a:fld>
            <a:endParaRPr lang="en-US"/>
          </a:p>
        </p:txBody>
      </p:sp>
    </p:spTree>
    <p:extLst>
      <p:ext uri="{BB962C8B-B14F-4D97-AF65-F5344CB8AC3E}">
        <p14:creationId xmlns:p14="http://schemas.microsoft.com/office/powerpoint/2010/main" val="35970380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9BF270-F648-CA44-8B20-DE81D7164CE0}" type="slidenum">
              <a:rPr lang="en-US" smtClean="0"/>
              <a:t>108</a:t>
            </a:fld>
            <a:endParaRPr lang="en-US"/>
          </a:p>
        </p:txBody>
      </p:sp>
    </p:spTree>
    <p:extLst>
      <p:ext uri="{BB962C8B-B14F-4D97-AF65-F5344CB8AC3E}">
        <p14:creationId xmlns:p14="http://schemas.microsoft.com/office/powerpoint/2010/main" val="25255769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49CB24-BEAC-6A41-9A10-BFD56146B867}" type="slidenum">
              <a:rPr lang="en-US" smtClean="0"/>
              <a:pPr/>
              <a:t>137</a:t>
            </a:fld>
            <a:endParaRPr lang="en-US"/>
          </a:p>
        </p:txBody>
      </p:sp>
    </p:spTree>
    <p:extLst>
      <p:ext uri="{BB962C8B-B14F-4D97-AF65-F5344CB8AC3E}">
        <p14:creationId xmlns:p14="http://schemas.microsoft.com/office/powerpoint/2010/main" val="3356372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3CB6A83E-D652-C54B-A50F-096988DDD25C}" type="datetime1">
              <a:rPr lang="en-GB" smtClean="0"/>
              <a:t>20/10/2025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31385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E88DC62-2172-1A43-8EE2-61DF955CBF91}" type="datetime1">
              <a:rPr lang="en-GB" smtClean="0"/>
              <a:t>20/10/2025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211252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1069E14-BF8E-DC4C-BB90-E8C65B27ACA5}" type="datetime1">
              <a:rPr lang="en-GB" smtClean="0"/>
              <a:t>20/10/2025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1415229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82222C2E-8629-A14C-9DFC-18E70C87AFAD}" type="datetime1">
              <a:rPr lang="en-GB" smtClean="0"/>
              <a:t>20/10/2025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2832386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A7128E79-2EBB-F54C-A09B-37D5A1219AE5}" type="datetime1">
              <a:rPr lang="en-GB" smtClean="0"/>
              <a:t>20/10/2025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611465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9C1399DE-CDF3-DD41-BAD5-2131DC1952AD}" type="datetime1">
              <a:rPr lang="en-GB" smtClean="0"/>
              <a:t>20/10/2025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3403008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72D9C4-CC2E-E847-A9DE-58F1A0AC8412}" type="datetime1">
              <a:rPr lang="en-GB" smtClean="0"/>
              <a:t>20/10/2025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215191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2FE43D44-BD88-E34F-BC72-4D3B3B30B434}" type="datetime1">
              <a:rPr lang="en-GB" smtClean="0"/>
              <a:t>20/10/2025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29367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0B8D1B1-0863-FE46-BFF3-FFE3A3AC6CBD}" type="datetime1">
              <a:rPr lang="en-GB" smtClean="0"/>
              <a:t>20/10/2025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1274484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F3D214F2-9981-7F40-9126-AD6F46D0B685}" type="datetime1">
              <a:rPr lang="en-GB" smtClean="0"/>
              <a:t>20/10/2025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673098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1FA915E-C581-5542-A5DA-834400B1CCCE}" type="datetime1">
              <a:rPr lang="en-GB" smtClean="0"/>
              <a:t>20/10/2025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4223452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1"/>
        <p:cNvGrpSpPr/>
        <p:nvPr/>
      </p:nvGrpSpPr>
      <p:grpSpPr>
        <a:xfrm>
          <a:off x="0" y="0"/>
          <a:ext cx="0" cy="0"/>
          <a:chOff x="0" y="0"/>
          <a:chExt cx="0" cy="0"/>
        </a:xfrm>
      </p:grpSpPr>
      <p:sp>
        <p:nvSpPr>
          <p:cNvPr id="182" name="Google Shape;182;p39"/>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3" name="Google Shape;183;p39"/>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228600" rtl="0">
              <a:spcBef>
                <a:spcPts val="0"/>
              </a:spcBef>
              <a:spcAft>
                <a:spcPts val="0"/>
              </a:spcAft>
              <a:buSzPts val="1400"/>
              <a:buNone/>
              <a:defRPr/>
            </a:lvl1pPr>
            <a:lvl2pPr marL="914400" lvl="1" indent="-228600" rtl="0">
              <a:spcBef>
                <a:spcPts val="0"/>
              </a:spcBef>
              <a:spcAft>
                <a:spcPts val="0"/>
              </a:spcAft>
              <a:buSzPts val="1400"/>
              <a:buNone/>
              <a:defRPr/>
            </a:lvl2pPr>
            <a:lvl3pPr marL="1371600" lvl="2" indent="-228600" rtl="0">
              <a:spcBef>
                <a:spcPts val="0"/>
              </a:spcBef>
              <a:spcAft>
                <a:spcPts val="0"/>
              </a:spcAft>
              <a:buSzPts val="1400"/>
              <a:buNone/>
              <a:defRPr/>
            </a:lvl3pPr>
            <a:lvl4pPr marL="1828800" lvl="3" indent="-228600" rtl="0">
              <a:spcBef>
                <a:spcPts val="0"/>
              </a:spcBef>
              <a:spcAft>
                <a:spcPts val="0"/>
              </a:spcAft>
              <a:buSzPts val="1400"/>
              <a:buNone/>
              <a:defRPr/>
            </a:lvl4pPr>
            <a:lvl5pPr marL="2286000" lvl="4" indent="-228600" rtl="0">
              <a:spcBef>
                <a:spcPts val="0"/>
              </a:spcBef>
              <a:spcAft>
                <a:spcPts val="0"/>
              </a:spcAft>
              <a:buSzPts val="1400"/>
              <a:buNone/>
              <a:defRPr/>
            </a:lvl5pPr>
            <a:lvl6pPr marL="2743200" lvl="5" indent="-228600" rtl="0">
              <a:spcBef>
                <a:spcPts val="0"/>
              </a:spcBef>
              <a:spcAft>
                <a:spcPts val="0"/>
              </a:spcAft>
              <a:buSzPts val="1400"/>
              <a:buNone/>
              <a:defRPr/>
            </a:lvl6pPr>
            <a:lvl7pPr marL="3200400" lvl="6" indent="-228600" rtl="0">
              <a:spcBef>
                <a:spcPts val="0"/>
              </a:spcBef>
              <a:spcAft>
                <a:spcPts val="0"/>
              </a:spcAft>
              <a:buSzPts val="1400"/>
              <a:buNone/>
              <a:defRPr/>
            </a:lvl7pPr>
            <a:lvl8pPr marL="3657600" lvl="7" indent="-228600" rtl="0">
              <a:spcBef>
                <a:spcPts val="0"/>
              </a:spcBef>
              <a:spcAft>
                <a:spcPts val="0"/>
              </a:spcAft>
              <a:buSzPts val="1400"/>
              <a:buNone/>
              <a:defRPr/>
            </a:lvl8pPr>
            <a:lvl9pPr marL="4114800" lvl="8" indent="-228600" rtl="0">
              <a:spcBef>
                <a:spcPts val="0"/>
              </a:spcBef>
              <a:spcAft>
                <a:spcPts val="0"/>
              </a:spcAft>
              <a:buSzPts val="1400"/>
              <a:buNone/>
              <a:defRPr/>
            </a:lvl9pPr>
          </a:lstStyle>
          <a:p>
            <a:endParaRPr/>
          </a:p>
        </p:txBody>
      </p:sp>
      <p:sp>
        <p:nvSpPr>
          <p:cNvPr id="184" name="Google Shape;184;p39"/>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40870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7147-BF3C-2C4E-B50A-46215F9DA251}" type="datetime1">
              <a:rPr lang="en-GB" smtClean="0"/>
              <a:t>20/10/2025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7D4A06-35AE-BD4A-84A9-613A26F3D41D}" type="slidenum">
              <a:rPr lang="en-US" smtClean="0"/>
              <a:pPr/>
              <a:t>‹#›</a:t>
            </a:fld>
            <a:endParaRPr lang="en-US"/>
          </a:p>
        </p:txBody>
      </p:sp>
    </p:spTree>
    <p:extLst>
      <p:ext uri="{BB962C8B-B14F-4D97-AF65-F5344CB8AC3E}">
        <p14:creationId xmlns:p14="http://schemas.microsoft.com/office/powerpoint/2010/main" val="1091743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iancooper/practical-messagin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iancooper/Practical-Messaging-Sharp" TargetMode="External"/><Relationship Id="rId7" Type="http://schemas.openxmlformats.org/officeDocument/2006/relationships/hyperlink" Target="https://github.com/iancooper/Practical-Messaging-Java/"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github.com/iancooper/Practical-Messaging-Go" TargetMode="External"/><Relationship Id="rId5" Type="http://schemas.openxmlformats.org/officeDocument/2006/relationships/hyperlink" Target="https://github.com/iancooper/Practical-Messaging-JavaScript" TargetMode="External"/><Relationship Id="rId4" Type="http://schemas.openxmlformats.org/officeDocument/2006/relationships/hyperlink" Target="https://github.com/iancooper/Practical-Messaging-Pyth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48.gif"/><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51.gif"/><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svg"/></Relationships>
</file>

<file path=ppt/slides/_rels/slide77.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3.png"/><Relationship Id="rId7" Type="http://schemas.openxmlformats.org/officeDocument/2006/relationships/image" Target="../media/image58.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7.sv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4.svg"/><Relationship Id="rId9" Type="http://schemas.openxmlformats.org/officeDocument/2006/relationships/image" Target="../media/image60.png"/></Relationships>
</file>

<file path=ppt/slides/_rels/slide7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svg"/></Relationships>
</file>

<file path=ppt/slides/_rels/slide8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67.svg"/></Relationships>
</file>

<file path=ppt/slides/_rels/slide8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3.png"/><Relationship Id="rId7" Type="http://schemas.openxmlformats.org/officeDocument/2006/relationships/image" Target="../media/image58.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7.sv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4.svg"/><Relationship Id="rId9" Type="http://schemas.openxmlformats.org/officeDocument/2006/relationships/image" Target="../media/image60.png"/></Relationships>
</file>

<file path=ppt/slides/_rels/slide8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slideLayout" Target="../slideLayouts/slideLayout7.xml"/><Relationship Id="rId6" Type="http://schemas.openxmlformats.org/officeDocument/2006/relationships/image" Target="../media/image72.svg"/><Relationship Id="rId5" Type="http://schemas.openxmlformats.org/officeDocument/2006/relationships/image" Target="../media/image71.svg"/><Relationship Id="rId4" Type="http://schemas.openxmlformats.org/officeDocument/2006/relationships/image" Target="../media/image70.png"/></Relationships>
</file>

<file path=ppt/slides/_rels/slide9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hyperlink" Target="https://github.com/brightercommand/greetings/" TargetMode="Externa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49" y="1093788"/>
            <a:ext cx="7879841" cy="2967208"/>
          </a:xfrm>
        </p:spPr>
        <p:txBody>
          <a:bodyPr>
            <a:normAutofit/>
          </a:bodyPr>
          <a:lstStyle/>
          <a:p>
            <a:pPr algn="l"/>
            <a:br>
              <a:rPr lang="en-US" sz="5700" dirty="0">
                <a:latin typeface="Chalkboard" panose="03050602040202020205" pitchFamily="66" charset="77"/>
              </a:rPr>
            </a:br>
            <a:br>
              <a:rPr lang="en-US" sz="5700" dirty="0">
                <a:latin typeface="Chalkboard" panose="03050602040202020205" pitchFamily="66" charset="77"/>
              </a:rPr>
            </a:br>
            <a:r>
              <a:rPr lang="en-US" sz="5700" dirty="0">
                <a:latin typeface="Chalkboard" panose="03050602040202020205" pitchFamily="66" charset="77"/>
              </a:rPr>
              <a:t>Practical Messaging</a:t>
            </a:r>
          </a:p>
        </p:txBody>
      </p:sp>
      <p:sp>
        <p:nvSpPr>
          <p:cNvPr id="3" name="Subtitle 2"/>
          <p:cNvSpPr>
            <a:spLocks noGrp="1"/>
          </p:cNvSpPr>
          <p:nvPr>
            <p:ph type="subTitle" idx="1"/>
          </p:nvPr>
        </p:nvSpPr>
        <p:spPr>
          <a:xfrm>
            <a:off x="506080" y="4635671"/>
            <a:ext cx="4257305" cy="1038225"/>
          </a:xfrm>
        </p:spPr>
        <p:txBody>
          <a:bodyPr>
            <a:normAutofit fontScale="92500"/>
          </a:bodyPr>
          <a:lstStyle/>
          <a:p>
            <a:pPr algn="l">
              <a:lnSpc>
                <a:spcPct val="90000"/>
              </a:lnSpc>
            </a:pPr>
            <a:r>
              <a:rPr lang="en-US" sz="2000" dirty="0">
                <a:latin typeface="Chalkboard" panose="03050602040202020205" pitchFamily="66" charset="77"/>
              </a:rPr>
              <a:t>A 101 guide to messaging</a:t>
            </a:r>
          </a:p>
          <a:p>
            <a:pPr algn="l">
              <a:lnSpc>
                <a:spcPct val="90000"/>
              </a:lnSpc>
            </a:pPr>
            <a:r>
              <a:rPr lang="en-US" sz="2000" dirty="0">
                <a:latin typeface="Chalkboard" panose="03050602040202020205" pitchFamily="66" charset="77"/>
              </a:rPr>
              <a:t>Ian Cooper</a:t>
            </a:r>
          </a:p>
          <a:p>
            <a:pPr algn="l">
              <a:lnSpc>
                <a:spcPct val="90000"/>
              </a:lnSpc>
            </a:pPr>
            <a:r>
              <a:rPr lang="en-US" sz="2000" dirty="0">
                <a:latin typeface="Chalkboard" panose="03050602040202020205" pitchFamily="66" charset="77"/>
              </a:rPr>
              <a:t>X, BlueSky and </a:t>
            </a:r>
            <a:r>
              <a:rPr lang="en-US" sz="2000" dirty="0" err="1">
                <a:latin typeface="Chalkboard" panose="03050602040202020205" pitchFamily="66" charset="77"/>
              </a:rPr>
              <a:t>Hachyderm</a:t>
            </a:r>
            <a:r>
              <a:rPr lang="en-US" sz="2000" dirty="0">
                <a:latin typeface="Chalkboard" panose="03050602040202020205" pitchFamily="66" charset="77"/>
              </a:rPr>
              <a:t>: </a:t>
            </a:r>
            <a:r>
              <a:rPr lang="en-US" sz="2000" dirty="0" err="1">
                <a:latin typeface="Chalkboard" panose="03050602040202020205" pitchFamily="66" charset="77"/>
              </a:rPr>
              <a:t>ICooper</a:t>
            </a:r>
            <a:endParaRPr lang="en-US" sz="2000" dirty="0">
              <a:latin typeface="Chalkboard" panose="03050602040202020205" pitchFamily="66" charset="77"/>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spTree>
    <p:extLst>
      <p:ext uri="{BB962C8B-B14F-4D97-AF65-F5344CB8AC3E}">
        <p14:creationId xmlns:p14="http://schemas.microsoft.com/office/powerpoint/2010/main" val="3749988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664" y="304802"/>
            <a:ext cx="8323012"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76267" y="405575"/>
            <a:ext cx="4822811" cy="1371600"/>
          </a:xfrm>
        </p:spPr>
        <p:txBody>
          <a:bodyPr vert="horz" lIns="91440" tIns="45720" rIns="91440" bIns="45720" rtlCol="0" anchor="ctr">
            <a:normAutofit/>
          </a:bodyPr>
          <a:lstStyle/>
          <a:p>
            <a:pPr algn="l" defTabSz="914400">
              <a:lnSpc>
                <a:spcPct val="90000"/>
              </a:lnSpc>
            </a:pPr>
            <a:r>
              <a:rPr lang="en-US" sz="3500" kern="1200" dirty="0">
                <a:solidFill>
                  <a:schemeClr val="tx1"/>
                </a:solidFill>
                <a:latin typeface="Chalkboard" panose="03050602040202020205" pitchFamily="66" charset="77"/>
              </a:rPr>
              <a:t>Who are you?</a:t>
            </a:r>
          </a:p>
        </p:txBody>
      </p:sp>
      <p:sp>
        <p:nvSpPr>
          <p:cNvPr id="8" name="TextBox 7">
            <a:extLst>
              <a:ext uri="{FF2B5EF4-FFF2-40B4-BE49-F238E27FC236}">
                <a16:creationId xmlns:a16="http://schemas.microsoft.com/office/drawing/2014/main" id="{755CE817-B452-0017-3787-B998E9C9E9A6}"/>
              </a:ext>
            </a:extLst>
          </p:cNvPr>
          <p:cNvSpPr txBox="1"/>
          <p:nvPr/>
        </p:nvSpPr>
        <p:spPr>
          <a:xfrm>
            <a:off x="5943597" y="498698"/>
            <a:ext cx="2170036" cy="1185353"/>
          </a:xfrm>
          <a:prstGeom prst="rect">
            <a:avLst/>
          </a:prstGeom>
        </p:spPr>
        <p:txBody>
          <a:bodyPr vert="horz" lIns="91440" tIns="45720" rIns="91440" bIns="45720" rtlCol="0" anchor="ctr">
            <a:normAutofit/>
          </a:bodyPr>
          <a:lstStyle/>
          <a:p>
            <a:pPr defTabSz="914400">
              <a:lnSpc>
                <a:spcPct val="90000"/>
              </a:lnSpc>
              <a:spcBef>
                <a:spcPts val="1000"/>
              </a:spcBef>
            </a:pPr>
            <a:r>
              <a:rPr lang="en-US" sz="1600" kern="1200">
                <a:solidFill>
                  <a:schemeClr val="tx1"/>
                </a:solidFill>
                <a:latin typeface="+mn-lt"/>
                <a:ea typeface="+mn-ea"/>
                <a:cs typeface="+mn-cs"/>
              </a:rPr>
              <a:t>www.linkedin.com/in/ian-cooper-2b059b</a:t>
            </a:r>
          </a:p>
        </p:txBody>
      </p:sp>
      <p:sp>
        <p:nvSpPr>
          <p:cNvPr id="19" name="Rectangle 18">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088" y="76442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16842" y="1069550"/>
            <a:ext cx="1021458"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0" name="Picture 9" descr="A close-up of a paper&#10;&#10;Description automatically generated">
            <a:extLst>
              <a:ext uri="{FF2B5EF4-FFF2-40B4-BE49-F238E27FC236}">
                <a16:creationId xmlns:a16="http://schemas.microsoft.com/office/drawing/2014/main" id="{239B5CE5-C8C8-6494-29E9-BEE4B607900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793" y="2664862"/>
            <a:ext cx="8323012" cy="3058706"/>
          </a:xfrm>
          <a:prstGeom prst="rect">
            <a:avLst/>
          </a:prstGeom>
        </p:spPr>
      </p:pic>
      <p:sp>
        <p:nvSpPr>
          <p:cNvPr id="6" name="Slide Number Placeholder 5">
            <a:extLst>
              <a:ext uri="{FF2B5EF4-FFF2-40B4-BE49-F238E27FC236}">
                <a16:creationId xmlns:a16="http://schemas.microsoft.com/office/drawing/2014/main" id="{835A5D2C-CEA0-4741-9960-699E8F2A25B6}"/>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B9A0A49B-320C-1A4F-B83C-2E5340668522}" type="slidenum">
              <a:rPr lang="en-US" sz="1000">
                <a:solidFill>
                  <a:schemeClr val="tx1">
                    <a:lumMod val="50000"/>
                    <a:lumOff val="50000"/>
                  </a:schemeClr>
                </a:solidFill>
              </a:rPr>
              <a:pPr defTabSz="914400">
                <a:spcAft>
                  <a:spcPts val="600"/>
                </a:spcAft>
              </a:pPr>
              <a:t>2</a:t>
            </a:fld>
            <a:endParaRPr lang="en-US" sz="1000">
              <a:solidFill>
                <a:schemeClr val="tx1">
                  <a:lumMod val="50000"/>
                  <a:lumOff val="50000"/>
                </a:schemeClr>
              </a:solidFill>
            </a:endParaRPr>
          </a:p>
        </p:txBody>
      </p:sp>
    </p:spTree>
    <p:extLst>
      <p:ext uri="{BB962C8B-B14F-4D97-AF65-F5344CB8AC3E}">
        <p14:creationId xmlns:p14="http://schemas.microsoft.com/office/powerpoint/2010/main" val="4233551162"/>
      </p:ext>
    </p:extLst>
  </p:cSld>
  <p:clrMapOvr>
    <a:masterClrMapping/>
  </p:clrMapOvr>
  <mc:AlternateContent xmlns:mc="http://schemas.openxmlformats.org/markup-compatibility/2006" xmlns:p14="http://schemas.microsoft.com/office/powerpoint/2010/main">
    <mc:Choice Requires="p14">
      <p:transition spd="slow" p14:dur="2000" advTm="29606"/>
    </mc:Choice>
    <mc:Fallback xmlns="">
      <p:transition spd="slow" advTm="2960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7845966-6EFC-468A-9CC7-BAB4B9585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0"/>
          </a:xfrm>
          <a:prstGeom prst="rect">
            <a:avLst/>
          </a:prstGeom>
          <a:solidFill>
            <a:srgbClr val="5B5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2" name="Picture 11">
            <a:extLst>
              <a:ext uri="{FF2B5EF4-FFF2-40B4-BE49-F238E27FC236}">
                <a16:creationId xmlns:a16="http://schemas.microsoft.com/office/drawing/2014/main" id="{75554383-98AF-4A47-BB65-705FAAA4BE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a:ext>
            </a:extLst>
          </a:blip>
          <a:srcRect l="12500" r="12500"/>
          <a:stretch/>
        </p:blipFill>
        <p:spPr>
          <a:xfrm>
            <a:off x="0" y="0"/>
            <a:ext cx="9144000" cy="6858000"/>
          </a:xfrm>
          <a:prstGeom prst="rect">
            <a:avLst/>
          </a:prstGeom>
        </p:spPr>
      </p:pic>
      <p:sp>
        <p:nvSpPr>
          <p:cNvPr id="2" name="Slide Number Placeholder 1"/>
          <p:cNvSpPr>
            <a:spLocks noGrp="1"/>
          </p:cNvSpPr>
          <p:nvPr>
            <p:ph type="sldNum" sz="quarter" idx="12"/>
          </p:nvPr>
        </p:nvSpPr>
        <p:spPr>
          <a:xfrm>
            <a:off x="6457950" y="6356351"/>
            <a:ext cx="2057400" cy="365125"/>
          </a:xfrm>
        </p:spPr>
        <p:txBody>
          <a:bodyPr>
            <a:normAutofit/>
          </a:bodyPr>
          <a:lstStyle/>
          <a:p>
            <a:pPr>
              <a:spcAft>
                <a:spcPts val="600"/>
              </a:spcAft>
            </a:pPr>
            <a:fld id="{AA792DF1-A555-43FA-AD2F-E7EC51E120F1}" type="slidenum">
              <a:rPr lang="en-GB" sz="1050"/>
              <a:pPr>
                <a:spcAft>
                  <a:spcPts val="600"/>
                </a:spcAft>
              </a:pPr>
              <a:t>3</a:t>
            </a:fld>
            <a:endParaRPr lang="en-GB" sz="1050"/>
          </a:p>
        </p:txBody>
      </p:sp>
      <p:sp>
        <p:nvSpPr>
          <p:cNvPr id="14" name="Freeform: Shape 13">
            <a:extLst>
              <a:ext uri="{FF2B5EF4-FFF2-40B4-BE49-F238E27FC236}">
                <a16:creationId xmlns:a16="http://schemas.microsoft.com/office/drawing/2014/main" id="{ADAD1991-FFD1-4E94-ABAB-7560D3300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410" y="-3970"/>
            <a:ext cx="7748362" cy="6874811"/>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18858" y="2053303"/>
            <a:ext cx="5421465" cy="2751394"/>
          </a:xfrm>
          <a:prstGeom prst="rect">
            <a:avLst/>
          </a:prstGeom>
        </p:spPr>
      </p:pic>
    </p:spTree>
    <p:extLst>
      <p:ext uri="{BB962C8B-B14F-4D97-AF65-F5344CB8AC3E}">
        <p14:creationId xmlns:p14="http://schemas.microsoft.com/office/powerpoint/2010/main" val="2050174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369" y="238539"/>
            <a:ext cx="8263890" cy="1434415"/>
          </a:xfrm>
        </p:spPr>
        <p:txBody>
          <a:bodyPr anchor="b">
            <a:normAutofit/>
          </a:bodyPr>
          <a:lstStyle/>
          <a:p>
            <a:r>
              <a:rPr lang="en-US" sz="4700">
                <a:latin typeface="Chalkboard" panose="03050602040202020205" pitchFamily="66" charset="77"/>
              </a:rPr>
              <a:t>Day One Messaging</a:t>
            </a:r>
          </a:p>
        </p:txBody>
      </p:sp>
      <p:sp>
        <p:nvSpPr>
          <p:cNvPr id="4" name="Slide Number Placeholder 3"/>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4</a:t>
            </a:fld>
            <a:endParaRPr lang="en-US"/>
          </a:p>
        </p:txBody>
      </p:sp>
      <p:graphicFrame>
        <p:nvGraphicFramePr>
          <p:cNvPr id="6" name="Content Placeholder 2">
            <a:extLst>
              <a:ext uri="{FF2B5EF4-FFF2-40B4-BE49-F238E27FC236}">
                <a16:creationId xmlns:a16="http://schemas.microsoft.com/office/drawing/2014/main" id="{25B056CB-9F71-73D8-B130-10346D0656A2}"/>
              </a:ext>
            </a:extLst>
          </p:cNvPr>
          <p:cNvGraphicFramePr>
            <a:graphicFrameLocks noGrp="1"/>
          </p:cNvGraphicFramePr>
          <p:nvPr>
            <p:ph idx="1"/>
          </p:nvPr>
        </p:nvGraphicFramePr>
        <p:xfrm>
          <a:off x="429369" y="2071316"/>
          <a:ext cx="5035164" cy="4119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3787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5</a:t>
            </a:fld>
            <a:endParaRPr lang="en-US"/>
          </a:p>
        </p:txBody>
      </p:sp>
      <p:sp>
        <p:nvSpPr>
          <p:cNvPr id="5" name="Title 1">
            <a:extLst>
              <a:ext uri="{FF2B5EF4-FFF2-40B4-BE49-F238E27FC236}">
                <a16:creationId xmlns:a16="http://schemas.microsoft.com/office/drawing/2014/main" id="{BBBDF385-0C20-1FEA-A14C-A64A9A05CE2B}"/>
              </a:ext>
            </a:extLst>
          </p:cNvPr>
          <p:cNvSpPr txBox="1">
            <a:spLocks/>
          </p:cNvSpPr>
          <p:nvPr/>
        </p:nvSpPr>
        <p:spPr>
          <a:xfrm>
            <a:off x="251460" y="247129"/>
            <a:ext cx="8263890" cy="1434415"/>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700" dirty="0">
                <a:latin typeface="Chalkboard" panose="03050602040202020205" pitchFamily="66" charset="77"/>
              </a:rPr>
              <a:t>Day Two Conversations</a:t>
            </a:r>
          </a:p>
        </p:txBody>
      </p:sp>
      <p:graphicFrame>
        <p:nvGraphicFramePr>
          <p:cNvPr id="7" name="Content Placeholder 2">
            <a:extLst>
              <a:ext uri="{FF2B5EF4-FFF2-40B4-BE49-F238E27FC236}">
                <a16:creationId xmlns:a16="http://schemas.microsoft.com/office/drawing/2014/main" id="{1815262C-C60A-7441-A8FE-812225CD8623}"/>
              </a:ext>
            </a:extLst>
          </p:cNvPr>
          <p:cNvGraphicFramePr>
            <a:graphicFrameLocks/>
          </p:cNvGraphicFramePr>
          <p:nvPr/>
        </p:nvGraphicFramePr>
        <p:xfrm>
          <a:off x="251460" y="2079906"/>
          <a:ext cx="5035164" cy="4119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5961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Prerequisites</a:t>
            </a:r>
          </a:p>
        </p:txBody>
      </p:sp>
      <p:sp>
        <p:nvSpPr>
          <p:cNvPr id="3" name="Content Placeholder 2"/>
          <p:cNvSpPr>
            <a:spLocks noGrp="1"/>
          </p:cNvSpPr>
          <p:nvPr>
            <p:ph idx="1"/>
          </p:nvPr>
        </p:nvSpPr>
        <p:spPr>
          <a:xfrm>
            <a:off x="522961" y="1689179"/>
            <a:ext cx="8098077" cy="1907087"/>
          </a:xfrm>
        </p:spPr>
        <p:txBody>
          <a:bodyPr>
            <a:normAutofit/>
          </a:bodyPr>
          <a:lstStyle/>
          <a:p>
            <a:pPr marL="0" indent="0" algn="ctr">
              <a:buNone/>
            </a:pPr>
            <a:r>
              <a:rPr lang="en-US" sz="2400" dirty="0">
                <a:latin typeface="Chalkboard" panose="03050602040202020205" pitchFamily="66" charset="77"/>
              </a:rPr>
              <a:t>We will use Rabbit MQ and Kafka for examples. You should have Docker (or an equivalent) installed on your machine, as exercises provide a Docker Compose file to spin up RMQ and Kafka.</a:t>
            </a:r>
          </a:p>
        </p:txBody>
      </p:sp>
      <p:sp>
        <p:nvSpPr>
          <p:cNvPr id="4" name="Slide Number Placeholder 3"/>
          <p:cNvSpPr>
            <a:spLocks noGrp="1"/>
          </p:cNvSpPr>
          <p:nvPr>
            <p:ph type="sldNum" sz="quarter" idx="12"/>
          </p:nvPr>
        </p:nvSpPr>
        <p:spPr/>
        <p:txBody>
          <a:bodyPr/>
          <a:lstStyle/>
          <a:p>
            <a:fld id="{867D4A06-35AE-BD4A-84A9-613A26F3D41D}" type="slidenum">
              <a:rPr lang="en-US" smtClean="0"/>
              <a:pPr/>
              <a:t>6</a:t>
            </a:fld>
            <a:endParaRPr lang="en-US"/>
          </a:p>
        </p:txBody>
      </p:sp>
      <p:graphicFrame>
        <p:nvGraphicFramePr>
          <p:cNvPr id="7" name="Content Placeholder 2">
            <a:extLst>
              <a:ext uri="{FF2B5EF4-FFF2-40B4-BE49-F238E27FC236}">
                <a16:creationId xmlns:a16="http://schemas.microsoft.com/office/drawing/2014/main" id="{3B7779F3-11DB-A9CB-B52D-04B1C4FE4D63}"/>
              </a:ext>
            </a:extLst>
          </p:cNvPr>
          <p:cNvGraphicFramePr/>
          <p:nvPr/>
        </p:nvGraphicFramePr>
        <p:xfrm>
          <a:off x="588723" y="3867807"/>
          <a:ext cx="8098077" cy="19070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98264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1E75F4-A58C-9138-E000-CC24200AD8A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A24E6F-E38A-3F4E-7E9A-462FB565086B}"/>
              </a:ext>
            </a:extLst>
          </p:cNvPr>
          <p:cNvSpPr>
            <a:spLocks noGrp="1"/>
          </p:cNvSpPr>
          <p:nvPr>
            <p:ph type="title"/>
          </p:nvPr>
        </p:nvSpPr>
        <p:spPr>
          <a:xfrm>
            <a:off x="836676" y="548640"/>
            <a:ext cx="7626096" cy="1179576"/>
          </a:xfrm>
        </p:spPr>
        <p:txBody>
          <a:bodyPr>
            <a:normAutofit/>
          </a:bodyPr>
          <a:lstStyle/>
          <a:p>
            <a:r>
              <a:rPr lang="en-US" sz="3500">
                <a:latin typeface="Chalkboard" panose="03050602040202020205" pitchFamily="66" charset="77"/>
              </a:rPr>
              <a:t>Course Content</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940F4E4-D446-CC71-8188-BC1D054BC83D}"/>
              </a:ext>
            </a:extLst>
          </p:cNvPr>
          <p:cNvSpPr>
            <a:spLocks noGrp="1"/>
          </p:cNvSpPr>
          <p:nvPr>
            <p:ph idx="1"/>
          </p:nvPr>
        </p:nvSpPr>
        <p:spPr>
          <a:xfrm>
            <a:off x="836676" y="2481943"/>
            <a:ext cx="7626096" cy="3695020"/>
          </a:xfrm>
        </p:spPr>
        <p:txBody>
          <a:bodyPr>
            <a:normAutofit/>
          </a:bodyPr>
          <a:lstStyle/>
          <a:p>
            <a:pPr marL="0" indent="0">
              <a:buNone/>
            </a:pPr>
            <a:r>
              <a:rPr lang="en-US" sz="1900">
                <a:hlinkClick r:id="rId3"/>
              </a:rPr>
              <a:t>https://github.com/iancooper/practical-messaging</a:t>
            </a:r>
            <a:endParaRPr lang="en-US" sz="1900"/>
          </a:p>
          <a:p>
            <a:endParaRPr lang="en-US" sz="1900"/>
          </a:p>
        </p:txBody>
      </p:sp>
      <p:sp>
        <p:nvSpPr>
          <p:cNvPr id="4" name="Slide Number Placeholder 3">
            <a:extLst>
              <a:ext uri="{FF2B5EF4-FFF2-40B4-BE49-F238E27FC236}">
                <a16:creationId xmlns:a16="http://schemas.microsoft.com/office/drawing/2014/main" id="{FD54F930-8565-B23B-39D2-39D1412D88F1}"/>
              </a:ext>
            </a:extLst>
          </p:cNvPr>
          <p:cNvSpPr>
            <a:spLocks noGrp="1"/>
          </p:cNvSpPr>
          <p:nvPr>
            <p:ph type="sldNum" sz="quarter" idx="12"/>
          </p:nvPr>
        </p:nvSpPr>
        <p:spPr>
          <a:xfrm>
            <a:off x="6405372" y="6356350"/>
            <a:ext cx="2057400" cy="365125"/>
          </a:xfrm>
        </p:spPr>
        <p:txBody>
          <a:bodyPr>
            <a:normAutofit/>
          </a:bodyPr>
          <a:lstStyle/>
          <a:p>
            <a:pPr>
              <a:spcAft>
                <a:spcPts val="600"/>
              </a:spcAft>
            </a:pPr>
            <a:fld id="{867D4A06-35AE-BD4A-84A9-613A26F3D41D}" type="slidenum">
              <a:rPr lang="en-US">
                <a:solidFill>
                  <a:schemeClr val="tx1">
                    <a:lumMod val="50000"/>
                    <a:lumOff val="50000"/>
                  </a:schemeClr>
                </a:solidFill>
              </a:rPr>
              <a:pPr>
                <a:spcAft>
                  <a:spcPts val="600"/>
                </a:spcAft>
              </a:pPr>
              <a:t>7</a:t>
            </a:fld>
            <a:endParaRPr lang="en-US">
              <a:solidFill>
                <a:schemeClr val="tx1">
                  <a:lumMod val="50000"/>
                  <a:lumOff val="50000"/>
                </a:schemeClr>
              </a:solidFill>
            </a:endParaRPr>
          </a:p>
        </p:txBody>
      </p:sp>
    </p:spTree>
    <p:extLst>
      <p:ext uri="{BB962C8B-B14F-4D97-AF65-F5344CB8AC3E}">
        <p14:creationId xmlns:p14="http://schemas.microsoft.com/office/powerpoint/2010/main" val="1108356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6676" y="548640"/>
            <a:ext cx="7626096" cy="1179576"/>
          </a:xfrm>
        </p:spPr>
        <p:txBody>
          <a:bodyPr>
            <a:normAutofit/>
          </a:bodyPr>
          <a:lstStyle/>
          <a:p>
            <a:r>
              <a:rPr lang="en-US" sz="3500">
                <a:latin typeface="Chalkboard" panose="03050602040202020205" pitchFamily="66" charset="77"/>
              </a:rPr>
              <a:t>Exercise Code</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836676" y="2481943"/>
            <a:ext cx="7626096" cy="3695020"/>
          </a:xfrm>
        </p:spPr>
        <p:txBody>
          <a:bodyPr>
            <a:normAutofit/>
          </a:bodyPr>
          <a:lstStyle/>
          <a:p>
            <a:pPr marL="0" indent="0">
              <a:buNone/>
            </a:pPr>
            <a:r>
              <a:rPr lang="en-US" sz="1900" dirty="0">
                <a:hlinkClick r:id="rId3"/>
              </a:rPr>
              <a:t>https://github.com/iancooper/Practical-Messaging-Sharp</a:t>
            </a:r>
            <a:endParaRPr lang="en-US" sz="1900" dirty="0"/>
          </a:p>
          <a:p>
            <a:pPr marL="0" indent="0">
              <a:buNone/>
            </a:pPr>
            <a:r>
              <a:rPr lang="en-US" sz="1900" dirty="0">
                <a:hlinkClick r:id="rId4"/>
              </a:rPr>
              <a:t>https://github.com/iancooper/Practical-Messaging-Python</a:t>
            </a:r>
            <a:endParaRPr lang="en-US" sz="1900" dirty="0"/>
          </a:p>
          <a:p>
            <a:pPr marL="0" indent="0">
              <a:buNone/>
            </a:pPr>
            <a:r>
              <a:rPr lang="en-US" sz="1900" dirty="0">
                <a:hlinkClick r:id="rId5"/>
              </a:rPr>
              <a:t>https://github.com/iancooper/Practical-Messaging-JavaScript</a:t>
            </a:r>
            <a:endParaRPr lang="en-US" sz="1900" dirty="0"/>
          </a:p>
          <a:p>
            <a:pPr marL="0" indent="0">
              <a:buNone/>
            </a:pPr>
            <a:r>
              <a:rPr lang="en-US" sz="1900" dirty="0">
                <a:hlinkClick r:id="rId6"/>
              </a:rPr>
              <a:t>https://github.com/iancooper/Practical-Messaging-Go</a:t>
            </a:r>
            <a:endParaRPr lang="en-US" sz="1900" dirty="0"/>
          </a:p>
          <a:p>
            <a:pPr marL="0" indent="0">
              <a:buNone/>
            </a:pPr>
            <a:r>
              <a:rPr lang="en-US" sz="1900" dirty="0">
                <a:hlinkClick r:id="rId7"/>
              </a:rPr>
              <a:t>https://github.com/iancooper/Practical-Messaging-Java</a:t>
            </a:r>
            <a:endParaRPr lang="en-US" sz="1900" dirty="0"/>
          </a:p>
          <a:p>
            <a:endParaRPr lang="en-US" sz="1900" dirty="0"/>
          </a:p>
          <a:p>
            <a:endParaRPr lang="en-US" sz="1900" dirty="0"/>
          </a:p>
        </p:txBody>
      </p:sp>
      <p:sp>
        <p:nvSpPr>
          <p:cNvPr id="4" name="Slide Number Placeholder 3"/>
          <p:cNvSpPr>
            <a:spLocks noGrp="1"/>
          </p:cNvSpPr>
          <p:nvPr>
            <p:ph type="sldNum" sz="quarter" idx="12"/>
          </p:nvPr>
        </p:nvSpPr>
        <p:spPr>
          <a:xfrm>
            <a:off x="6405372" y="6356350"/>
            <a:ext cx="2057400" cy="365125"/>
          </a:xfrm>
        </p:spPr>
        <p:txBody>
          <a:bodyPr>
            <a:normAutofit/>
          </a:bodyPr>
          <a:lstStyle/>
          <a:p>
            <a:pPr>
              <a:spcAft>
                <a:spcPts val="600"/>
              </a:spcAft>
            </a:pPr>
            <a:fld id="{867D4A06-35AE-BD4A-84A9-613A26F3D41D}" type="slidenum">
              <a:rPr lang="en-US">
                <a:solidFill>
                  <a:schemeClr val="tx1">
                    <a:lumMod val="50000"/>
                    <a:lumOff val="50000"/>
                  </a:schemeClr>
                </a:solidFill>
              </a:rPr>
              <a:pPr>
                <a:spcAft>
                  <a:spcPts val="600"/>
                </a:spcAft>
              </a:pPr>
              <a:t>8</a:t>
            </a:fld>
            <a:endParaRPr lang="en-US">
              <a:solidFill>
                <a:schemeClr val="tx1">
                  <a:lumMod val="50000"/>
                  <a:lumOff val="50000"/>
                </a:schemeClr>
              </a:solidFill>
            </a:endParaRPr>
          </a:p>
        </p:txBody>
      </p:sp>
    </p:spTree>
    <p:extLst>
      <p:ext uri="{BB962C8B-B14F-4D97-AF65-F5344CB8AC3E}">
        <p14:creationId xmlns:p14="http://schemas.microsoft.com/office/powerpoint/2010/main" val="350435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28649" y="1093788"/>
            <a:ext cx="7879841" cy="2967208"/>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7000" kern="1200" dirty="0">
                <a:solidFill>
                  <a:schemeClr val="tx1"/>
                </a:solidFill>
                <a:latin typeface="Chalkboard" panose="03050602040202020205" pitchFamily="66" charset="77"/>
                <a:ea typeface="+mj-ea"/>
                <a:cs typeface="+mj-cs"/>
              </a:rPr>
              <a:t>Day One</a:t>
            </a: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9</a:t>
            </a:fld>
            <a:endParaRPr lang="en-US">
              <a:solidFill>
                <a:schemeClr val="tx1">
                  <a:lumMod val="50000"/>
                  <a:lumOff val="50000"/>
                </a:schemeClr>
              </a:solidFill>
            </a:endParaRPr>
          </a:p>
        </p:txBody>
      </p:sp>
    </p:spTree>
    <p:extLst>
      <p:ext uri="{BB962C8B-B14F-4D97-AF65-F5344CB8AC3E}">
        <p14:creationId xmlns:p14="http://schemas.microsoft.com/office/powerpoint/2010/main" val="1358124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Distributed Systems</a:t>
            </a:r>
          </a:p>
        </p:txBody>
      </p:sp>
      <p:sp>
        <p:nvSpPr>
          <p:cNvPr id="5" name="Text Placeholder 4"/>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r>
              <a:rPr lang="en-US" sz="2400" kern="1200">
                <a:solidFill>
                  <a:schemeClr val="tx1"/>
                </a:solidFill>
                <a:latin typeface="+mn-lt"/>
                <a:ea typeface="+mn-ea"/>
                <a:cs typeface="+mn-cs"/>
              </a:rPr>
              <a:t>What is driving messaging</a:t>
            </a:r>
          </a:p>
        </p:txBody>
      </p:sp>
      <p:sp>
        <p:nvSpPr>
          <p:cNvPr id="13" name="Rectangle 12">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10</a:t>
            </a:fld>
            <a:endParaRPr lang="en-US">
              <a:solidFill>
                <a:schemeClr val="tx1">
                  <a:lumMod val="50000"/>
                  <a:lumOff val="50000"/>
                </a:schemeClr>
              </a:solidFill>
            </a:endParaRPr>
          </a:p>
        </p:txBody>
      </p:sp>
      <p:sp>
        <p:nvSpPr>
          <p:cNvPr id="6" name="Rectangle 5">
            <a:extLst>
              <a:ext uri="{FF2B5EF4-FFF2-40B4-BE49-F238E27FC236}">
                <a16:creationId xmlns:a16="http://schemas.microsoft.com/office/drawing/2014/main" id="{BD1EEB74-D740-5D44-947F-21C0925614B9}"/>
              </a:ext>
            </a:extLst>
          </p:cNvPr>
          <p:cNvSpPr/>
          <p:nvPr/>
        </p:nvSpPr>
        <p:spPr>
          <a:xfrm>
            <a:off x="4453217" y="3244334"/>
            <a:ext cx="343364" cy="369332"/>
          </a:xfrm>
          <a:prstGeom prst="rect">
            <a:avLst/>
          </a:prstGeom>
        </p:spPr>
        <p:txBody>
          <a:bodyPr wrap="none">
            <a:spAutoFit/>
          </a:bodyPr>
          <a:lstStyle/>
          <a:p>
            <a:pPr>
              <a:spcAft>
                <a:spcPts val="600"/>
              </a:spcAft>
            </a:pPr>
            <a:r>
              <a:rPr lang="en-GB" dirty="0"/>
              <a:t>   </a:t>
            </a:r>
            <a:endParaRPr lang="en-US"/>
          </a:p>
        </p:txBody>
      </p:sp>
    </p:spTree>
    <p:extLst>
      <p:ext uri="{BB962C8B-B14F-4D97-AF65-F5344CB8AC3E}">
        <p14:creationId xmlns:p14="http://schemas.microsoft.com/office/powerpoint/2010/main" val="383062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D7CBDAEA-C659-1E4C-BA31-EB98B9B58B9A}"/>
              </a:ext>
            </a:extLst>
          </p:cNvPr>
          <p:cNvSpPr>
            <a:spLocks noGrp="1"/>
          </p:cNvSpPr>
          <p:nvPr>
            <p:ph type="ctrTitle"/>
          </p:nvPr>
        </p:nvSpPr>
        <p:spPr>
          <a:xfrm>
            <a:off x="628649" y="1093788"/>
            <a:ext cx="7879841" cy="2967208"/>
          </a:xfrm>
        </p:spPr>
        <p:txBody>
          <a:bodyPr>
            <a:normAutofit/>
          </a:bodyPr>
          <a:lstStyle/>
          <a:p>
            <a:pPr algn="l"/>
            <a:r>
              <a:rPr lang="en-US" sz="7000">
                <a:latin typeface="Chalkboard" panose="03050602040202020205" pitchFamily="66" charset="77"/>
              </a:rPr>
              <a:t>Why Distribute?</a:t>
            </a:r>
          </a:p>
        </p:txBody>
      </p:sp>
      <p:sp>
        <p:nvSpPr>
          <p:cNvPr id="12" name="Rectangle 11">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FC6DF0D-C01E-6745-BDFD-E1E51012A329}"/>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a:solidFill>
                  <a:schemeClr val="tx1">
                    <a:lumMod val="50000"/>
                    <a:lumOff val="50000"/>
                  </a:schemeClr>
                </a:solidFill>
              </a:rPr>
              <a:pPr>
                <a:spcAft>
                  <a:spcPts val="600"/>
                </a:spcAft>
              </a:pPr>
              <a:t>11</a:t>
            </a:fld>
            <a:endParaRPr lang="en-US">
              <a:solidFill>
                <a:schemeClr val="tx1">
                  <a:lumMod val="50000"/>
                  <a:lumOff val="50000"/>
                </a:schemeClr>
              </a:solidFill>
            </a:endParaRPr>
          </a:p>
        </p:txBody>
      </p:sp>
    </p:spTree>
    <p:extLst>
      <p:ext uri="{BB962C8B-B14F-4D97-AF65-F5344CB8AC3E}">
        <p14:creationId xmlns:p14="http://schemas.microsoft.com/office/powerpoint/2010/main" val="1644371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928"/>
            <a:ext cx="8229600" cy="647095"/>
          </a:xfrm>
        </p:spPr>
        <p:txBody>
          <a:bodyPr>
            <a:normAutofit/>
          </a:bodyPr>
          <a:lstStyle/>
          <a:p>
            <a:pPr marL="0" indent="0" algn="ctr">
              <a:buNone/>
            </a:pPr>
            <a:r>
              <a:rPr lang="en-US" sz="2800" dirty="0">
                <a:latin typeface="Chalkboard" panose="03050602040202020205" pitchFamily="66" charset="77"/>
              </a:rPr>
              <a:t>Performance and Scalability</a:t>
            </a:r>
          </a:p>
        </p:txBody>
      </p:sp>
      <p:sp>
        <p:nvSpPr>
          <p:cNvPr id="4" name="Rectangle 3"/>
          <p:cNvSpPr/>
          <p:nvPr/>
        </p:nvSpPr>
        <p:spPr>
          <a:xfrm>
            <a:off x="2285999" y="4563185"/>
            <a:ext cx="4572000" cy="523220"/>
          </a:xfrm>
          <a:prstGeom prst="rect">
            <a:avLst/>
          </a:prstGeom>
        </p:spPr>
        <p:txBody>
          <a:bodyPr>
            <a:spAutoFit/>
          </a:bodyPr>
          <a:lstStyle/>
          <a:p>
            <a:pPr algn="ctr"/>
            <a:r>
              <a:rPr lang="en-US" sz="2800" dirty="0">
                <a:latin typeface="Chalkboard" panose="03050602040202020205" pitchFamily="66" charset="77"/>
              </a:rPr>
              <a:t>Inherent Distribution</a:t>
            </a:r>
          </a:p>
        </p:txBody>
      </p:sp>
      <p:sp>
        <p:nvSpPr>
          <p:cNvPr id="5" name="Rectangle 4"/>
          <p:cNvSpPr/>
          <p:nvPr/>
        </p:nvSpPr>
        <p:spPr>
          <a:xfrm>
            <a:off x="3688713" y="2588675"/>
            <a:ext cx="1919628" cy="523220"/>
          </a:xfrm>
          <a:prstGeom prst="rect">
            <a:avLst/>
          </a:prstGeom>
        </p:spPr>
        <p:txBody>
          <a:bodyPr wrap="none">
            <a:spAutoFit/>
          </a:bodyPr>
          <a:lstStyle/>
          <a:p>
            <a:r>
              <a:rPr lang="en-US" sz="2800" dirty="0">
                <a:latin typeface="Chalkboard" panose="03050602040202020205" pitchFamily="66" charset="77"/>
              </a:rPr>
              <a:t>Availability</a:t>
            </a:r>
          </a:p>
        </p:txBody>
      </p:sp>
      <p:sp>
        <p:nvSpPr>
          <p:cNvPr id="6" name="Rectangle 5"/>
          <p:cNvSpPr/>
          <p:nvPr/>
        </p:nvSpPr>
        <p:spPr>
          <a:xfrm>
            <a:off x="3382956" y="3575930"/>
            <a:ext cx="2526269" cy="523220"/>
          </a:xfrm>
          <a:prstGeom prst="rect">
            <a:avLst/>
          </a:prstGeom>
        </p:spPr>
        <p:txBody>
          <a:bodyPr wrap="none">
            <a:spAutoFit/>
          </a:bodyPr>
          <a:lstStyle/>
          <a:p>
            <a:r>
              <a:rPr lang="en-US" sz="2800" dirty="0">
                <a:latin typeface="Chalkboard" panose="03050602040202020205" pitchFamily="66" charset="77"/>
              </a:rPr>
              <a:t>Maintainability</a:t>
            </a:r>
          </a:p>
        </p:txBody>
      </p:sp>
      <p:sp>
        <p:nvSpPr>
          <p:cNvPr id="7" name="Slide Number Placeholder 6"/>
          <p:cNvSpPr>
            <a:spLocks noGrp="1"/>
          </p:cNvSpPr>
          <p:nvPr>
            <p:ph type="sldNum" sz="quarter" idx="12"/>
          </p:nvPr>
        </p:nvSpPr>
        <p:spPr>
          <a:xfrm>
            <a:off x="6710855" y="5952939"/>
            <a:ext cx="2133600" cy="365125"/>
          </a:xfrm>
        </p:spPr>
        <p:txBody>
          <a:bodyPr/>
          <a:lstStyle/>
          <a:p>
            <a:fld id="{867D4A06-35AE-BD4A-84A9-613A26F3D41D}" type="slidenum">
              <a:rPr lang="en-US" smtClean="0"/>
              <a:pPr/>
              <a:t>12</a:t>
            </a:fld>
            <a:endParaRPr lang="en-US"/>
          </a:p>
        </p:txBody>
      </p:sp>
    </p:spTree>
    <p:extLst>
      <p:ext uri="{BB962C8B-B14F-4D97-AF65-F5344CB8AC3E}">
        <p14:creationId xmlns:p14="http://schemas.microsoft.com/office/powerpoint/2010/main" val="353174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463EB0A-3D7C-4AA5-BFA5-8EE5B4BA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D7CBDAEA-C659-1E4C-BA31-EB98B9B58B9A}"/>
              </a:ext>
            </a:extLst>
          </p:cNvPr>
          <p:cNvSpPr>
            <a:spLocks noGrp="1"/>
          </p:cNvSpPr>
          <p:nvPr>
            <p:ph type="ctrTitle"/>
          </p:nvPr>
        </p:nvSpPr>
        <p:spPr>
          <a:xfrm>
            <a:off x="433988" y="1122363"/>
            <a:ext cx="8276021" cy="3174690"/>
          </a:xfrm>
        </p:spPr>
        <p:txBody>
          <a:bodyPr>
            <a:normAutofit/>
          </a:bodyPr>
          <a:lstStyle/>
          <a:p>
            <a:pPr algn="l"/>
            <a:r>
              <a:rPr lang="en-US" sz="7000">
                <a:latin typeface="Chalkboard" panose="03050602040202020205" pitchFamily="66" charset="77"/>
              </a:rPr>
              <a:t>Example: Task Queues</a:t>
            </a:r>
          </a:p>
        </p:txBody>
      </p:sp>
      <p:sp>
        <p:nvSpPr>
          <p:cNvPr id="12" name="Rectangle 11">
            <a:extLst>
              <a:ext uri="{FF2B5EF4-FFF2-40B4-BE49-F238E27FC236}">
                <a16:creationId xmlns:a16="http://schemas.microsoft.com/office/drawing/2014/main" id="{7945AD00-F967-454D-A4B2-39ABA5C8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4870"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9BC5B79-B912-427C-8219-E3E50943F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433989" y="4501201"/>
            <a:ext cx="827602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CFC6DF0D-C01E-6745-BDFD-E1E51012A329}"/>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a:solidFill>
                  <a:schemeClr val="tx1">
                    <a:lumMod val="50000"/>
                    <a:lumOff val="50000"/>
                  </a:schemeClr>
                </a:solidFill>
              </a:rPr>
              <a:pPr>
                <a:spcAft>
                  <a:spcPts val="600"/>
                </a:spcAft>
              </a:pPr>
              <a:t>13</a:t>
            </a:fld>
            <a:endParaRPr lang="en-US">
              <a:solidFill>
                <a:schemeClr val="tx1">
                  <a:lumMod val="50000"/>
                  <a:lumOff val="50000"/>
                </a:schemeClr>
              </a:solidFill>
            </a:endParaRPr>
          </a:p>
        </p:txBody>
      </p:sp>
    </p:spTree>
    <p:extLst>
      <p:ext uri="{BB962C8B-B14F-4D97-AF65-F5344CB8AC3E}">
        <p14:creationId xmlns:p14="http://schemas.microsoft.com/office/powerpoint/2010/main" val="1640831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DB1CE4-2F31-A240-BF4D-7DF7F867FEC4}"/>
              </a:ext>
            </a:extLst>
          </p:cNvPr>
          <p:cNvSpPr>
            <a:spLocks noGrp="1"/>
          </p:cNvSpPr>
          <p:nvPr>
            <p:ph type="sldNum" sz="quarter" idx="12"/>
          </p:nvPr>
        </p:nvSpPr>
        <p:spPr/>
        <p:txBody>
          <a:bodyPr/>
          <a:lstStyle/>
          <a:p>
            <a:fld id="{867D4A06-35AE-BD4A-84A9-613A26F3D41D}" type="slidenum">
              <a:rPr lang="en-US" smtClean="0"/>
              <a:pPr/>
              <a:t>14</a:t>
            </a:fld>
            <a:endParaRPr lang="en-US"/>
          </a:p>
        </p:txBody>
      </p:sp>
      <p:sp>
        <p:nvSpPr>
          <p:cNvPr id="7" name="TextBox 6">
            <a:extLst>
              <a:ext uri="{FF2B5EF4-FFF2-40B4-BE49-F238E27FC236}">
                <a16:creationId xmlns:a16="http://schemas.microsoft.com/office/drawing/2014/main" id="{43295BE6-F7A2-2749-824D-B5E2D40BD261}"/>
              </a:ext>
            </a:extLst>
          </p:cNvPr>
          <p:cNvSpPr txBox="1"/>
          <p:nvPr/>
        </p:nvSpPr>
        <p:spPr>
          <a:xfrm>
            <a:off x="1328207" y="855305"/>
            <a:ext cx="3641726" cy="307777"/>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The web server puts the work on a queue</a:t>
            </a:r>
          </a:p>
        </p:txBody>
      </p:sp>
      <p:cxnSp>
        <p:nvCxnSpPr>
          <p:cNvPr id="8" name="Straight Arrow Connector 7">
            <a:extLst>
              <a:ext uri="{FF2B5EF4-FFF2-40B4-BE49-F238E27FC236}">
                <a16:creationId xmlns:a16="http://schemas.microsoft.com/office/drawing/2014/main" id="{6B053328-06F8-A047-B908-BA83DBDFADCE}"/>
              </a:ext>
            </a:extLst>
          </p:cNvPr>
          <p:cNvCxnSpPr>
            <a:cxnSpLocks/>
            <a:stCxn id="7" idx="2"/>
            <a:endCxn id="3" idx="0"/>
          </p:cNvCxnSpPr>
          <p:nvPr/>
        </p:nvCxnSpPr>
        <p:spPr>
          <a:xfrm>
            <a:off x="3149070" y="1163082"/>
            <a:ext cx="1313202" cy="1022843"/>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C862AC6-BB9A-F746-8019-F0AFB9DDB3EF}"/>
              </a:ext>
            </a:extLst>
          </p:cNvPr>
          <p:cNvSpPr txBox="1"/>
          <p:nvPr/>
        </p:nvSpPr>
        <p:spPr>
          <a:xfrm>
            <a:off x="836988" y="4981133"/>
            <a:ext cx="3286125" cy="738664"/>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The queue stores work until we are ready to consume it. We can </a:t>
            </a:r>
            <a:r>
              <a:rPr lang="en-US" sz="1400" i="1" dirty="0">
                <a:latin typeface="Chalkboard" panose="03050602040202020205" pitchFamily="66" charset="77"/>
              </a:rPr>
              <a:t>throttle</a:t>
            </a:r>
            <a:r>
              <a:rPr lang="en-US" sz="1400" dirty="0">
                <a:latin typeface="Chalkboard" panose="03050602040202020205" pitchFamily="66" charset="77"/>
              </a:rPr>
              <a:t> to prevent surges.</a:t>
            </a:r>
          </a:p>
        </p:txBody>
      </p:sp>
      <p:cxnSp>
        <p:nvCxnSpPr>
          <p:cNvPr id="12" name="Straight Arrow Connector 11">
            <a:extLst>
              <a:ext uri="{FF2B5EF4-FFF2-40B4-BE49-F238E27FC236}">
                <a16:creationId xmlns:a16="http://schemas.microsoft.com/office/drawing/2014/main" id="{A432D342-0B70-D74A-93E9-53BA90574673}"/>
              </a:ext>
            </a:extLst>
          </p:cNvPr>
          <p:cNvCxnSpPr>
            <a:cxnSpLocks/>
            <a:stCxn id="11" idx="0"/>
          </p:cNvCxnSpPr>
          <p:nvPr/>
        </p:nvCxnSpPr>
        <p:spPr>
          <a:xfrm flipV="1">
            <a:off x="2480051" y="3141133"/>
            <a:ext cx="2244349" cy="184000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2DEA9063-7402-DE4B-9580-8FE9D04312D6}"/>
              </a:ext>
            </a:extLst>
          </p:cNvPr>
          <p:cNvSpPr txBox="1"/>
          <p:nvPr/>
        </p:nvSpPr>
        <p:spPr>
          <a:xfrm>
            <a:off x="5417608" y="697098"/>
            <a:ext cx="3286125" cy="954107"/>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A backend application can perform long-running or CPU intensive work, allowing the web server to service new requests.</a:t>
            </a:r>
          </a:p>
        </p:txBody>
      </p:sp>
      <p:cxnSp>
        <p:nvCxnSpPr>
          <p:cNvPr id="16" name="Straight Arrow Connector 15">
            <a:extLst>
              <a:ext uri="{FF2B5EF4-FFF2-40B4-BE49-F238E27FC236}">
                <a16:creationId xmlns:a16="http://schemas.microsoft.com/office/drawing/2014/main" id="{7631DD15-C82E-4C42-BA11-798E3CA4E774}"/>
              </a:ext>
            </a:extLst>
          </p:cNvPr>
          <p:cNvCxnSpPr>
            <a:cxnSpLocks/>
            <a:stCxn id="15" idx="2"/>
          </p:cNvCxnSpPr>
          <p:nvPr/>
        </p:nvCxnSpPr>
        <p:spPr>
          <a:xfrm flipH="1">
            <a:off x="6553200" y="1651205"/>
            <a:ext cx="507471" cy="589501"/>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ACCF4E68-68EF-B142-800A-F3262918FEF1}"/>
              </a:ext>
            </a:extLst>
          </p:cNvPr>
          <p:cNvSpPr txBox="1"/>
          <p:nvPr/>
        </p:nvSpPr>
        <p:spPr>
          <a:xfrm>
            <a:off x="5256415" y="5093631"/>
            <a:ext cx="3286125" cy="954107"/>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We can scale out the backend services using a competing consumers approach, to ensure the queue does not backup.</a:t>
            </a:r>
          </a:p>
        </p:txBody>
      </p:sp>
      <p:cxnSp>
        <p:nvCxnSpPr>
          <p:cNvPr id="21" name="Straight Arrow Connector 20">
            <a:extLst>
              <a:ext uri="{FF2B5EF4-FFF2-40B4-BE49-F238E27FC236}">
                <a16:creationId xmlns:a16="http://schemas.microsoft.com/office/drawing/2014/main" id="{73C4B89F-D66B-9C4B-9C11-EC362BD12AEA}"/>
              </a:ext>
            </a:extLst>
          </p:cNvPr>
          <p:cNvCxnSpPr>
            <a:cxnSpLocks/>
          </p:cNvCxnSpPr>
          <p:nvPr/>
        </p:nvCxnSpPr>
        <p:spPr>
          <a:xfrm flipV="1">
            <a:off x="6636328" y="3263549"/>
            <a:ext cx="0" cy="1675784"/>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pic>
        <p:nvPicPr>
          <p:cNvPr id="3" name="Picture 2" descr="A screenshot of a video game&#10;&#10;AI-generated content may be incorrect.">
            <a:extLst>
              <a:ext uri="{FF2B5EF4-FFF2-40B4-BE49-F238E27FC236}">
                <a16:creationId xmlns:a16="http://schemas.microsoft.com/office/drawing/2014/main" id="{0476F7DF-9DC6-98F9-7A48-9CA8EBD64CAB}"/>
              </a:ext>
            </a:extLst>
          </p:cNvPr>
          <p:cNvPicPr>
            <a:picLocks noChangeAspect="1"/>
          </p:cNvPicPr>
          <p:nvPr/>
        </p:nvPicPr>
        <p:blipFill>
          <a:blip r:embed="rId2"/>
          <a:stretch>
            <a:fillRect/>
          </a:stretch>
        </p:blipFill>
        <p:spPr>
          <a:xfrm>
            <a:off x="576072" y="2185925"/>
            <a:ext cx="7772400" cy="2486149"/>
          </a:xfrm>
          <a:prstGeom prst="rect">
            <a:avLst/>
          </a:prstGeom>
        </p:spPr>
      </p:pic>
    </p:spTree>
    <p:extLst>
      <p:ext uri="{BB962C8B-B14F-4D97-AF65-F5344CB8AC3E}">
        <p14:creationId xmlns:p14="http://schemas.microsoft.com/office/powerpoint/2010/main" val="84605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5"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video game&#10;&#10;AI-generated content may be incorrect.">
            <a:extLst>
              <a:ext uri="{FF2B5EF4-FFF2-40B4-BE49-F238E27FC236}">
                <a16:creationId xmlns:a16="http://schemas.microsoft.com/office/drawing/2014/main" id="{333FADBA-578A-9894-BE0E-E760A992C504}"/>
              </a:ext>
            </a:extLst>
          </p:cNvPr>
          <p:cNvPicPr>
            <a:picLocks noChangeAspect="1"/>
          </p:cNvPicPr>
          <p:nvPr/>
        </p:nvPicPr>
        <p:blipFill>
          <a:blip r:embed="rId3"/>
          <a:stretch>
            <a:fillRect/>
          </a:stretch>
        </p:blipFill>
        <p:spPr>
          <a:xfrm>
            <a:off x="576072" y="2185925"/>
            <a:ext cx="7772400" cy="2486149"/>
          </a:xfrm>
          <a:prstGeom prst="rect">
            <a:avLst/>
          </a:prstGeom>
        </p:spPr>
      </p:pic>
      <p:sp>
        <p:nvSpPr>
          <p:cNvPr id="6" name="TextBox 5">
            <a:extLst>
              <a:ext uri="{FF2B5EF4-FFF2-40B4-BE49-F238E27FC236}">
                <a16:creationId xmlns:a16="http://schemas.microsoft.com/office/drawing/2014/main" id="{97B08165-B28B-84BD-D72B-3DFED7C006D8}"/>
              </a:ext>
            </a:extLst>
          </p:cNvPr>
          <p:cNvSpPr txBox="1"/>
          <p:nvPr/>
        </p:nvSpPr>
        <p:spPr>
          <a:xfrm>
            <a:off x="1140037" y="1301596"/>
            <a:ext cx="3143250" cy="523220"/>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We return 202 Accepted – we have your work request, and won’t lost it.</a:t>
            </a:r>
          </a:p>
        </p:txBody>
      </p:sp>
      <p:cxnSp>
        <p:nvCxnSpPr>
          <p:cNvPr id="7" name="Straight Arrow Connector 6">
            <a:extLst>
              <a:ext uri="{FF2B5EF4-FFF2-40B4-BE49-F238E27FC236}">
                <a16:creationId xmlns:a16="http://schemas.microsoft.com/office/drawing/2014/main" id="{A156F034-F8AB-7BDC-88D8-C72B1C6CD0D4}"/>
              </a:ext>
            </a:extLst>
          </p:cNvPr>
          <p:cNvCxnSpPr>
            <a:stCxn id="6" idx="2"/>
          </p:cNvCxnSpPr>
          <p:nvPr/>
        </p:nvCxnSpPr>
        <p:spPr>
          <a:xfrm flipH="1">
            <a:off x="1930612" y="1824816"/>
            <a:ext cx="781050" cy="476905"/>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FA18D78-50D5-E221-B5CD-14D4801D3279}"/>
              </a:ext>
            </a:extLst>
          </p:cNvPr>
          <p:cNvSpPr txBox="1"/>
          <p:nvPr/>
        </p:nvSpPr>
        <p:spPr>
          <a:xfrm>
            <a:off x="4573194" y="1301596"/>
            <a:ext cx="3143250" cy="523220"/>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We enqueue  a work item for the request.</a:t>
            </a:r>
          </a:p>
        </p:txBody>
      </p:sp>
      <p:cxnSp>
        <p:nvCxnSpPr>
          <p:cNvPr id="9" name="Straight Arrow Connector 8">
            <a:extLst>
              <a:ext uri="{FF2B5EF4-FFF2-40B4-BE49-F238E27FC236}">
                <a16:creationId xmlns:a16="http://schemas.microsoft.com/office/drawing/2014/main" id="{B0286440-EA32-693B-7073-434FE99FA616}"/>
              </a:ext>
            </a:extLst>
          </p:cNvPr>
          <p:cNvCxnSpPr>
            <a:cxnSpLocks/>
            <a:stCxn id="8" idx="2"/>
          </p:cNvCxnSpPr>
          <p:nvPr/>
        </p:nvCxnSpPr>
        <p:spPr>
          <a:xfrm flipH="1">
            <a:off x="4745736" y="1824816"/>
            <a:ext cx="1399083" cy="54348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D910DDA-6A5E-6CA3-1C4F-DB4B11576F8F}"/>
              </a:ext>
            </a:extLst>
          </p:cNvPr>
          <p:cNvSpPr txBox="1"/>
          <p:nvPr/>
        </p:nvSpPr>
        <p:spPr>
          <a:xfrm>
            <a:off x="574598" y="4845566"/>
            <a:ext cx="3143250" cy="523220"/>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We return a Location header, so you can monitor progress. </a:t>
            </a:r>
          </a:p>
        </p:txBody>
      </p:sp>
      <p:cxnSp>
        <p:nvCxnSpPr>
          <p:cNvPr id="11" name="Straight Arrow Connector 10">
            <a:extLst>
              <a:ext uri="{FF2B5EF4-FFF2-40B4-BE49-F238E27FC236}">
                <a16:creationId xmlns:a16="http://schemas.microsoft.com/office/drawing/2014/main" id="{1DF3C3E8-815D-EC39-77CF-757E40B32DCF}"/>
              </a:ext>
            </a:extLst>
          </p:cNvPr>
          <p:cNvCxnSpPr>
            <a:cxnSpLocks/>
          </p:cNvCxnSpPr>
          <p:nvPr/>
        </p:nvCxnSpPr>
        <p:spPr>
          <a:xfrm flipV="1">
            <a:off x="1084604" y="2956489"/>
            <a:ext cx="0" cy="272312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0132DC8-9F49-9708-9DB9-DC78C2A87304}"/>
              </a:ext>
            </a:extLst>
          </p:cNvPr>
          <p:cNvSpPr txBox="1"/>
          <p:nvPr/>
        </p:nvSpPr>
        <p:spPr>
          <a:xfrm>
            <a:off x="574598" y="5679609"/>
            <a:ext cx="3143250" cy="523220"/>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Link to Resource – 404 until created</a:t>
            </a:r>
          </a:p>
        </p:txBody>
      </p:sp>
      <p:cxnSp>
        <p:nvCxnSpPr>
          <p:cNvPr id="13" name="Straight Arrow Connector 12">
            <a:extLst>
              <a:ext uri="{FF2B5EF4-FFF2-40B4-BE49-F238E27FC236}">
                <a16:creationId xmlns:a16="http://schemas.microsoft.com/office/drawing/2014/main" id="{6221D628-A984-C2DB-A976-B08EE9FD9098}"/>
              </a:ext>
            </a:extLst>
          </p:cNvPr>
          <p:cNvCxnSpPr>
            <a:cxnSpLocks/>
          </p:cNvCxnSpPr>
          <p:nvPr/>
        </p:nvCxnSpPr>
        <p:spPr>
          <a:xfrm flipH="1" flipV="1">
            <a:off x="1059230" y="2956489"/>
            <a:ext cx="501174" cy="1889077"/>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FBD3E23-7FDB-FDA7-EE29-97ED26A2AD61}"/>
              </a:ext>
            </a:extLst>
          </p:cNvPr>
          <p:cNvSpPr txBox="1"/>
          <p:nvPr/>
        </p:nvSpPr>
        <p:spPr>
          <a:xfrm>
            <a:off x="4090189" y="4714018"/>
            <a:ext cx="3143250" cy="523220"/>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Link to a progress page, backed by a KV store where we note progress</a:t>
            </a:r>
          </a:p>
        </p:txBody>
      </p:sp>
      <p:cxnSp>
        <p:nvCxnSpPr>
          <p:cNvPr id="15" name="Straight Arrow Connector 14">
            <a:extLst>
              <a:ext uri="{FF2B5EF4-FFF2-40B4-BE49-F238E27FC236}">
                <a16:creationId xmlns:a16="http://schemas.microsoft.com/office/drawing/2014/main" id="{D3C88FFC-7E5A-F629-6CCE-17D8EB124BD8}"/>
              </a:ext>
            </a:extLst>
          </p:cNvPr>
          <p:cNvCxnSpPr>
            <a:cxnSpLocks/>
          </p:cNvCxnSpPr>
          <p:nvPr/>
        </p:nvCxnSpPr>
        <p:spPr>
          <a:xfrm flipH="1" flipV="1">
            <a:off x="2321137" y="4190798"/>
            <a:ext cx="3340677" cy="478342"/>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9F07019-27CA-5CEC-0DFF-950333409181}"/>
              </a:ext>
            </a:extLst>
          </p:cNvPr>
          <p:cNvCxnSpPr>
            <a:cxnSpLocks/>
            <a:stCxn id="14" idx="0"/>
          </p:cNvCxnSpPr>
          <p:nvPr/>
        </p:nvCxnSpPr>
        <p:spPr>
          <a:xfrm flipH="1" flipV="1">
            <a:off x="1560404" y="2956489"/>
            <a:ext cx="4101410" cy="1757529"/>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20E05BD-6367-FC4A-88CE-952CEDAD81B1}"/>
              </a:ext>
            </a:extLst>
          </p:cNvPr>
          <p:cNvSpPr txBox="1"/>
          <p:nvPr/>
        </p:nvSpPr>
        <p:spPr>
          <a:xfrm>
            <a:off x="5874452" y="3830762"/>
            <a:ext cx="3143250" cy="738664"/>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Backend app does work at sustainable pace, and updates KV store if required.</a:t>
            </a:r>
          </a:p>
        </p:txBody>
      </p:sp>
      <p:cxnSp>
        <p:nvCxnSpPr>
          <p:cNvPr id="19" name="Straight Arrow Connector 18">
            <a:extLst>
              <a:ext uri="{FF2B5EF4-FFF2-40B4-BE49-F238E27FC236}">
                <a16:creationId xmlns:a16="http://schemas.microsoft.com/office/drawing/2014/main" id="{8C936EBA-B151-65CA-79E8-86E689C091B3}"/>
              </a:ext>
            </a:extLst>
          </p:cNvPr>
          <p:cNvCxnSpPr>
            <a:cxnSpLocks/>
            <a:stCxn id="17" idx="0"/>
          </p:cNvCxnSpPr>
          <p:nvPr/>
        </p:nvCxnSpPr>
        <p:spPr>
          <a:xfrm flipH="1" flipV="1">
            <a:off x="6768099" y="3089704"/>
            <a:ext cx="677978" cy="741058"/>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82997A51-0A5F-617E-2494-DFE0F00E1649}"/>
              </a:ext>
            </a:extLst>
          </p:cNvPr>
          <p:cNvSpPr txBox="1"/>
          <p:nvPr/>
        </p:nvSpPr>
        <p:spPr>
          <a:xfrm>
            <a:off x="3383838" y="393094"/>
            <a:ext cx="2156867" cy="523220"/>
          </a:xfrm>
          <a:prstGeom prst="rect">
            <a:avLst/>
          </a:prstGeom>
          <a:noFill/>
        </p:spPr>
        <p:txBody>
          <a:bodyPr wrap="square" rtlCol="0">
            <a:spAutoFit/>
          </a:bodyPr>
          <a:lstStyle/>
          <a:p>
            <a:r>
              <a:rPr lang="en-US" sz="2800" dirty="0">
                <a:latin typeface="Chalkboard" panose="03050602040202020205" pitchFamily="66" charset="77"/>
              </a:rPr>
              <a:t>Task Queue</a:t>
            </a:r>
          </a:p>
        </p:txBody>
      </p:sp>
    </p:spTree>
    <p:extLst>
      <p:ext uri="{BB962C8B-B14F-4D97-AF65-F5344CB8AC3E}">
        <p14:creationId xmlns:p14="http://schemas.microsoft.com/office/powerpoint/2010/main" val="61687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D7CBDAEA-C659-1E4C-BA31-EB98B9B58B9A}"/>
              </a:ext>
            </a:extLst>
          </p:cNvPr>
          <p:cNvSpPr>
            <a:spLocks noGrp="1"/>
          </p:cNvSpPr>
          <p:nvPr>
            <p:ph type="ctrTitle"/>
          </p:nvPr>
        </p:nvSpPr>
        <p:spPr>
          <a:xfrm>
            <a:off x="628649" y="1093788"/>
            <a:ext cx="7879841" cy="2967208"/>
          </a:xfrm>
        </p:spPr>
        <p:txBody>
          <a:bodyPr>
            <a:normAutofit/>
          </a:bodyPr>
          <a:lstStyle/>
          <a:p>
            <a:pPr algn="l"/>
            <a:r>
              <a:rPr lang="en-US" sz="7000">
                <a:latin typeface="Chalkboard" panose="03050602040202020205" pitchFamily="66" charset="77"/>
              </a:rPr>
              <a:t>Example: Microservices</a:t>
            </a:r>
          </a:p>
        </p:txBody>
      </p:sp>
      <p:sp>
        <p:nvSpPr>
          <p:cNvPr id="12" name="Rectangle 11">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FC6DF0D-C01E-6745-BDFD-E1E51012A329}"/>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a:solidFill>
                  <a:schemeClr val="tx1">
                    <a:lumMod val="50000"/>
                    <a:lumOff val="50000"/>
                  </a:schemeClr>
                </a:solidFill>
              </a:rPr>
              <a:pPr>
                <a:spcAft>
                  <a:spcPts val="600"/>
                </a:spcAft>
              </a:pPr>
              <a:t>16</a:t>
            </a:fld>
            <a:endParaRPr lang="en-US">
              <a:solidFill>
                <a:schemeClr val="tx1">
                  <a:lumMod val="50000"/>
                  <a:lumOff val="50000"/>
                </a:schemeClr>
              </a:solidFill>
            </a:endParaRPr>
          </a:p>
        </p:txBody>
      </p:sp>
    </p:spTree>
    <p:extLst>
      <p:ext uri="{BB962C8B-B14F-4D97-AF65-F5344CB8AC3E}">
        <p14:creationId xmlns:p14="http://schemas.microsoft.com/office/powerpoint/2010/main" val="340880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89"/>
        <p:cNvGrpSpPr/>
        <p:nvPr/>
      </p:nvGrpSpPr>
      <p:grpSpPr>
        <a:xfrm>
          <a:off x="0" y="0"/>
          <a:ext cx="0" cy="0"/>
          <a:chOff x="0" y="0"/>
          <a:chExt cx="0" cy="0"/>
        </a:xfrm>
      </p:grpSpPr>
      <p:sp useBgFill="1">
        <p:nvSpPr>
          <p:cNvPr id="396" name="Rectangle 39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8" name="Rectangle 39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00" name="Rectangle 399">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0" name="Google Shape;390;p78"/>
          <p:cNvSpPr txBox="1">
            <a:spLocks noGrp="1"/>
          </p:cNvSpPr>
          <p:nvPr>
            <p:ph type="title"/>
          </p:nvPr>
        </p:nvSpPr>
        <p:spPr>
          <a:xfrm>
            <a:off x="836676" y="548640"/>
            <a:ext cx="7626096" cy="1179576"/>
          </a:xfrm>
          <a:prstGeom prst="rect">
            <a:avLst/>
          </a:prstGeom>
        </p:spPr>
        <p:txBody>
          <a:bodyPr spcFirstLastPara="1" vert="horz" lIns="91440" tIns="45720" rIns="91440" bIns="45720" rtlCol="0" anchor="ctr" anchorCtr="0">
            <a:normAutofit/>
          </a:bodyPr>
          <a:lstStyle/>
          <a:p>
            <a:pPr algn="l" defTabSz="914400">
              <a:lnSpc>
                <a:spcPct val="90000"/>
              </a:lnSpc>
              <a:spcBef>
                <a:spcPct val="0"/>
              </a:spcBef>
            </a:pPr>
            <a:r>
              <a:rPr lang="en-US" sz="3500" kern="1200" dirty="0">
                <a:solidFill>
                  <a:schemeClr val="tx1"/>
                </a:solidFill>
                <a:latin typeface="Chalkboard" panose="03050602040202020205" pitchFamily="66" charset="77"/>
              </a:rPr>
              <a:t>It’s all about velocity!!!</a:t>
            </a:r>
          </a:p>
        </p:txBody>
      </p:sp>
      <p:sp>
        <p:nvSpPr>
          <p:cNvPr id="402" name="Rectangle 401">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91" name="Google Shape;391;p78"/>
          <p:cNvSpPr txBox="1">
            <a:spLocks noGrp="1"/>
          </p:cNvSpPr>
          <p:nvPr>
            <p:ph type="body" idx="1"/>
          </p:nvPr>
        </p:nvSpPr>
        <p:spPr>
          <a:xfrm>
            <a:off x="836676" y="2481943"/>
            <a:ext cx="7626096" cy="3695020"/>
          </a:xfrm>
          <a:prstGeom prst="rect">
            <a:avLst/>
          </a:prstGeom>
        </p:spPr>
        <p:txBody>
          <a:bodyPr spcFirstLastPara="1" vert="horz" lIns="91440" tIns="45720" rIns="91440" bIns="45720" rtlCol="0" anchorCtr="0">
            <a:normAutofit/>
          </a:bodyPr>
          <a:lstStyle/>
          <a:p>
            <a:pPr marL="0" defTabSz="914400">
              <a:lnSpc>
                <a:spcPct val="90000"/>
              </a:lnSpc>
              <a:spcAft>
                <a:spcPts val="600"/>
              </a:spcAft>
              <a:buFont typeface="Arial" panose="020B0604020202020204" pitchFamily="34" charset="0"/>
              <a:buChar char="•"/>
            </a:pPr>
            <a:r>
              <a:rPr lang="en-US" sz="1900"/>
              <a:t>“Speed wins in the marketplace”</a:t>
            </a:r>
          </a:p>
          <a:p>
            <a:pPr marL="914400" defTabSz="914400">
              <a:lnSpc>
                <a:spcPct val="90000"/>
              </a:lnSpc>
              <a:spcAft>
                <a:spcPts val="600"/>
              </a:spcAft>
              <a:buFont typeface="Arial" panose="020B0604020202020204" pitchFamily="34" charset="0"/>
              <a:buChar char="•"/>
            </a:pPr>
            <a:r>
              <a:rPr lang="en-US" sz="1900"/>
              <a:t>Adrian Cockcroft, former lead architect at Netflix</a:t>
            </a:r>
          </a:p>
        </p:txBody>
      </p:sp>
    </p:spTree>
    <p:extLst>
      <p:ext uri="{BB962C8B-B14F-4D97-AF65-F5344CB8AC3E}">
        <p14:creationId xmlns:p14="http://schemas.microsoft.com/office/powerpoint/2010/main" val="716226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95"/>
        <p:cNvGrpSpPr/>
        <p:nvPr/>
      </p:nvGrpSpPr>
      <p:grpSpPr>
        <a:xfrm>
          <a:off x="0" y="0"/>
          <a:ext cx="0" cy="0"/>
          <a:chOff x="0" y="0"/>
          <a:chExt cx="0" cy="0"/>
        </a:xfrm>
      </p:grpSpPr>
      <p:sp useBgFill="1">
        <p:nvSpPr>
          <p:cNvPr id="402" name="Rectangle 401">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04" name="Rectangle 403">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664" y="304802"/>
            <a:ext cx="8323012"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6" name="Google Shape;396;p79"/>
          <p:cNvSpPr txBox="1">
            <a:spLocks noGrp="1"/>
          </p:cNvSpPr>
          <p:nvPr>
            <p:ph type="title"/>
          </p:nvPr>
        </p:nvSpPr>
        <p:spPr>
          <a:xfrm>
            <a:off x="676267" y="405575"/>
            <a:ext cx="4822811" cy="1371600"/>
          </a:xfrm>
          <a:prstGeom prst="rect">
            <a:avLst/>
          </a:prstGeom>
        </p:spPr>
        <p:txBody>
          <a:bodyPr spcFirstLastPara="1" vert="horz" lIns="91440" tIns="45720" rIns="91440" bIns="45720" rtlCol="0" anchor="ctr" anchorCtr="0">
            <a:normAutofit/>
          </a:bodyPr>
          <a:lstStyle/>
          <a:p>
            <a:pPr algn="l" defTabSz="914400">
              <a:lnSpc>
                <a:spcPct val="90000"/>
              </a:lnSpc>
              <a:spcBef>
                <a:spcPct val="0"/>
              </a:spcBef>
            </a:pPr>
            <a:r>
              <a:rPr lang="en-US" sz="3500" kern="1200" dirty="0">
                <a:solidFill>
                  <a:schemeClr val="tx1"/>
                </a:solidFill>
                <a:latin typeface="Chalkboard" panose="03050602040202020205" pitchFamily="66" charset="77"/>
              </a:rPr>
              <a:t>Monoliths Do Not Scale To Many Teams!</a:t>
            </a:r>
          </a:p>
        </p:txBody>
      </p:sp>
      <p:sp>
        <p:nvSpPr>
          <p:cNvPr id="406" name="Rectangle 40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088" y="76442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08" name="Rectangle 407">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16842" y="1069550"/>
            <a:ext cx="1021458"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97" name="Google Shape;397;p79"/>
          <p:cNvPicPr preferRelativeResize="0"/>
          <p:nvPr/>
        </p:nvPicPr>
        <p:blipFill>
          <a:blip r:embed="rId3"/>
          <a:stretch>
            <a:fillRect/>
          </a:stretch>
        </p:blipFill>
        <p:spPr>
          <a:xfrm>
            <a:off x="605147" y="2091095"/>
            <a:ext cx="7936304" cy="4206240"/>
          </a:xfrm>
          <a:prstGeom prst="rect">
            <a:avLst/>
          </a:prstGeom>
          <a:noFill/>
        </p:spPr>
      </p:pic>
    </p:spTree>
    <p:extLst>
      <p:ext uri="{BB962C8B-B14F-4D97-AF65-F5344CB8AC3E}">
        <p14:creationId xmlns:p14="http://schemas.microsoft.com/office/powerpoint/2010/main" val="178230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01"/>
        <p:cNvGrpSpPr/>
        <p:nvPr/>
      </p:nvGrpSpPr>
      <p:grpSpPr>
        <a:xfrm>
          <a:off x="0" y="0"/>
          <a:ext cx="0" cy="0"/>
          <a:chOff x="0" y="0"/>
          <a:chExt cx="0" cy="0"/>
        </a:xfrm>
      </p:grpSpPr>
      <p:sp useBgFill="1">
        <p:nvSpPr>
          <p:cNvPr id="407" name="Rectangle 406">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09" name="Rectangle 408">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664" y="304802"/>
            <a:ext cx="8323012"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2" name="Google Shape;402;p80"/>
          <p:cNvSpPr txBox="1">
            <a:spLocks noGrp="1"/>
          </p:cNvSpPr>
          <p:nvPr>
            <p:ph type="title"/>
          </p:nvPr>
        </p:nvSpPr>
        <p:spPr>
          <a:xfrm>
            <a:off x="676267" y="405575"/>
            <a:ext cx="4822811" cy="1371600"/>
          </a:xfrm>
          <a:prstGeom prst="rect">
            <a:avLst/>
          </a:prstGeom>
        </p:spPr>
        <p:txBody>
          <a:bodyPr spcFirstLastPara="1" vert="horz" lIns="91440" tIns="45720" rIns="91440" bIns="45720" rtlCol="0" anchor="ctr" anchorCtr="0">
            <a:normAutofit/>
          </a:bodyPr>
          <a:lstStyle/>
          <a:p>
            <a:pPr algn="l" defTabSz="914400">
              <a:lnSpc>
                <a:spcPct val="90000"/>
              </a:lnSpc>
              <a:spcBef>
                <a:spcPct val="0"/>
              </a:spcBef>
            </a:pPr>
            <a:r>
              <a:rPr lang="en-US" sz="3500" kern="1200" dirty="0">
                <a:solidFill>
                  <a:schemeClr val="tx1"/>
                </a:solidFill>
                <a:latin typeface="Chalkboard" panose="03050602040202020205" pitchFamily="66" charset="77"/>
              </a:rPr>
              <a:t>Microservices let us scale an </a:t>
            </a:r>
            <a:r>
              <a:rPr lang="en-US" sz="3500" kern="1200" dirty="0" err="1">
                <a:solidFill>
                  <a:schemeClr val="tx1"/>
                </a:solidFill>
                <a:latin typeface="Chalkboard" panose="03050602040202020205" pitchFamily="66" charset="77"/>
              </a:rPr>
              <a:t>organisation</a:t>
            </a:r>
            <a:endParaRPr lang="en-US" sz="3500" kern="1200" dirty="0">
              <a:solidFill>
                <a:schemeClr val="tx1"/>
              </a:solidFill>
              <a:latin typeface="Chalkboard" panose="03050602040202020205" pitchFamily="66" charset="77"/>
            </a:endParaRPr>
          </a:p>
        </p:txBody>
      </p:sp>
      <p:sp>
        <p:nvSpPr>
          <p:cNvPr id="411" name="Rectangle 410">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088" y="76442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3" name="Rectangle 412">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16842" y="1069550"/>
            <a:ext cx="1021458"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B50B5B73-ACE0-A244-8DD7-CB3B6B8C9673}"/>
              </a:ext>
            </a:extLst>
          </p:cNvPr>
          <p:cNvPicPr>
            <a:picLocks noChangeAspect="1"/>
          </p:cNvPicPr>
          <p:nvPr/>
        </p:nvPicPr>
        <p:blipFill>
          <a:blip r:embed="rId3"/>
          <a:stretch>
            <a:fillRect/>
          </a:stretch>
        </p:blipFill>
        <p:spPr>
          <a:xfrm>
            <a:off x="411793" y="2467191"/>
            <a:ext cx="8323012" cy="3454048"/>
          </a:xfrm>
          <a:prstGeom prst="rect">
            <a:avLst/>
          </a:prstGeom>
        </p:spPr>
      </p:pic>
    </p:spTree>
    <p:extLst>
      <p:ext uri="{BB962C8B-B14F-4D97-AF65-F5344CB8AC3E}">
        <p14:creationId xmlns:p14="http://schemas.microsoft.com/office/powerpoint/2010/main" val="2959098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23"/>
        <p:cNvGrpSpPr/>
        <p:nvPr/>
      </p:nvGrpSpPr>
      <p:grpSpPr>
        <a:xfrm>
          <a:off x="0" y="0"/>
          <a:ext cx="0" cy="0"/>
          <a:chOff x="0" y="0"/>
          <a:chExt cx="0" cy="0"/>
        </a:xfrm>
      </p:grpSpPr>
      <p:sp useBgFill="1">
        <p:nvSpPr>
          <p:cNvPr id="630" name="Rectangle 629">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32" name="Rectangle 63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664" y="304802"/>
            <a:ext cx="8323012"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4" name="Google Shape;624;p117"/>
          <p:cNvSpPr txBox="1">
            <a:spLocks noGrp="1"/>
          </p:cNvSpPr>
          <p:nvPr>
            <p:ph type="title"/>
          </p:nvPr>
        </p:nvSpPr>
        <p:spPr>
          <a:xfrm>
            <a:off x="676267" y="405575"/>
            <a:ext cx="4822811" cy="1371600"/>
          </a:xfrm>
          <a:prstGeom prst="rect">
            <a:avLst/>
          </a:prstGeom>
        </p:spPr>
        <p:txBody>
          <a:bodyPr spcFirstLastPara="1" vert="horz" lIns="91440" tIns="45720" rIns="91440" bIns="45720" rtlCol="0" anchor="ctr" anchorCtr="0">
            <a:normAutofit/>
          </a:bodyPr>
          <a:lstStyle/>
          <a:p>
            <a:pPr algn="l" defTabSz="914400">
              <a:lnSpc>
                <a:spcPct val="90000"/>
              </a:lnSpc>
              <a:spcBef>
                <a:spcPct val="0"/>
              </a:spcBef>
            </a:pPr>
            <a:r>
              <a:rPr lang="en-US" sz="3500" kern="1200" dirty="0">
                <a:solidFill>
                  <a:schemeClr val="tx1"/>
                </a:solidFill>
                <a:latin typeface="Chalkboard" panose="03050602040202020205" pitchFamily="66" charset="77"/>
              </a:rPr>
              <a:t>Product Mode </a:t>
            </a:r>
          </a:p>
        </p:txBody>
      </p:sp>
      <p:sp>
        <p:nvSpPr>
          <p:cNvPr id="634" name="Rectangle 633">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088" y="76442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36" name="Rectangle 635">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16842" y="1069550"/>
            <a:ext cx="1021458"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25" name="Google Shape;625;p117"/>
          <p:cNvPicPr preferRelativeResize="0"/>
          <p:nvPr/>
        </p:nvPicPr>
        <p:blipFill>
          <a:blip r:embed="rId3"/>
          <a:stretch>
            <a:fillRect/>
          </a:stretch>
        </p:blipFill>
        <p:spPr>
          <a:xfrm>
            <a:off x="1386753" y="2091095"/>
            <a:ext cx="6373092" cy="4206240"/>
          </a:xfrm>
          <a:prstGeom prst="rect">
            <a:avLst/>
          </a:prstGeom>
          <a:noFill/>
        </p:spPr>
      </p:pic>
    </p:spTree>
    <p:extLst>
      <p:ext uri="{BB962C8B-B14F-4D97-AF65-F5344CB8AC3E}">
        <p14:creationId xmlns:p14="http://schemas.microsoft.com/office/powerpoint/2010/main" val="4088124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A963C4-C641-7F7C-AC49-B1A983749DF4}"/>
              </a:ext>
            </a:extLst>
          </p:cNvPr>
          <p:cNvSpPr txBox="1"/>
          <p:nvPr/>
        </p:nvSpPr>
        <p:spPr>
          <a:xfrm>
            <a:off x="3497974" y="1229235"/>
            <a:ext cx="4572000" cy="577081"/>
          </a:xfrm>
          <a:prstGeom prst="rect">
            <a:avLst/>
          </a:prstGeom>
          <a:solidFill>
            <a:schemeClr val="accent2">
              <a:lumMod val="40000"/>
              <a:lumOff val="60000"/>
            </a:schemeClr>
          </a:solidFill>
          <a:ln>
            <a:solidFill>
              <a:schemeClr val="accent2">
                <a:lumMod val="75000"/>
              </a:schemeClr>
            </a:solidFill>
          </a:ln>
        </p:spPr>
        <p:txBody>
          <a:bodyPr wrap="square">
            <a:spAutoFit/>
          </a:bodyPr>
          <a:lstStyle/>
          <a:p>
            <a:pPr algn="ctr"/>
            <a:r>
              <a:rPr lang="en-GB" sz="1050" dirty="0">
                <a:latin typeface="Chalkboard" panose="03050602040202020205" pitchFamily="66" charset="77"/>
              </a:rPr>
              <a:t>The only way to complete tasks within a service is by sending a message. Each service has its own accepted message types and specific data requirements for partners submitting work. </a:t>
            </a:r>
          </a:p>
        </p:txBody>
      </p:sp>
      <p:sp>
        <p:nvSpPr>
          <p:cNvPr id="6" name="Title 1">
            <a:extLst>
              <a:ext uri="{FF2B5EF4-FFF2-40B4-BE49-F238E27FC236}">
                <a16:creationId xmlns:a16="http://schemas.microsoft.com/office/drawing/2014/main" id="{790F3D80-C87B-DEC1-D5CB-0C80418B8142}"/>
              </a:ext>
            </a:extLst>
          </p:cNvPr>
          <p:cNvSpPr>
            <a:spLocks noGrp="1"/>
          </p:cNvSpPr>
          <p:nvPr>
            <p:ph type="title"/>
          </p:nvPr>
        </p:nvSpPr>
        <p:spPr>
          <a:xfrm>
            <a:off x="154516" y="928664"/>
            <a:ext cx="2894725" cy="601142"/>
          </a:xfrm>
        </p:spPr>
        <p:txBody>
          <a:bodyPr>
            <a:normAutofit fontScale="90000"/>
          </a:bodyPr>
          <a:lstStyle/>
          <a:p>
            <a:r>
              <a:rPr lang="en-US" dirty="0"/>
              <a:t>Microservice</a:t>
            </a:r>
          </a:p>
        </p:txBody>
      </p:sp>
      <p:pic>
        <p:nvPicPr>
          <p:cNvPr id="11" name="Picture 10" descr="A black background with white lines&#10;&#10;AI-generated content may be incorrect.">
            <a:extLst>
              <a:ext uri="{FF2B5EF4-FFF2-40B4-BE49-F238E27FC236}">
                <a16:creationId xmlns:a16="http://schemas.microsoft.com/office/drawing/2014/main" id="{729B22D2-59D9-B937-A0CD-6CF208371399}"/>
              </a:ext>
            </a:extLst>
          </p:cNvPr>
          <p:cNvPicPr>
            <a:picLocks noChangeAspect="1"/>
          </p:cNvPicPr>
          <p:nvPr/>
        </p:nvPicPr>
        <p:blipFill>
          <a:blip r:embed="rId3"/>
          <a:stretch>
            <a:fillRect/>
          </a:stretch>
        </p:blipFill>
        <p:spPr>
          <a:xfrm>
            <a:off x="441319" y="2387826"/>
            <a:ext cx="8261363" cy="2272615"/>
          </a:xfrm>
          <a:prstGeom prst="rect">
            <a:avLst/>
          </a:prstGeom>
        </p:spPr>
      </p:pic>
      <p:cxnSp>
        <p:nvCxnSpPr>
          <p:cNvPr id="14" name="Straight Arrow Connector 13">
            <a:extLst>
              <a:ext uri="{FF2B5EF4-FFF2-40B4-BE49-F238E27FC236}">
                <a16:creationId xmlns:a16="http://schemas.microsoft.com/office/drawing/2014/main" id="{D15FE6D2-5709-3953-B37A-3F0CCD0D6D6C}"/>
              </a:ext>
            </a:extLst>
          </p:cNvPr>
          <p:cNvCxnSpPr/>
          <p:nvPr/>
        </p:nvCxnSpPr>
        <p:spPr>
          <a:xfrm flipH="1">
            <a:off x="4745421" y="1850478"/>
            <a:ext cx="1038553" cy="537349"/>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29F6AB0-AE83-A595-B975-9E08BCB5E0C7}"/>
              </a:ext>
            </a:extLst>
          </p:cNvPr>
          <p:cNvSpPr txBox="1"/>
          <p:nvPr/>
        </p:nvSpPr>
        <p:spPr>
          <a:xfrm>
            <a:off x="2459421" y="4842159"/>
            <a:ext cx="4572000" cy="415498"/>
          </a:xfrm>
          <a:prstGeom prst="rect">
            <a:avLst/>
          </a:prstGeom>
          <a:solidFill>
            <a:schemeClr val="accent2">
              <a:lumMod val="40000"/>
              <a:lumOff val="60000"/>
            </a:schemeClr>
          </a:solidFill>
          <a:ln>
            <a:solidFill>
              <a:schemeClr val="accent2">
                <a:lumMod val="75000"/>
              </a:schemeClr>
            </a:solidFill>
          </a:ln>
        </p:spPr>
        <p:txBody>
          <a:bodyPr wrap="square">
            <a:spAutoFit/>
          </a:bodyPr>
          <a:lstStyle/>
          <a:p>
            <a:pPr algn="ctr"/>
            <a:r>
              <a:rPr lang="en-GB" sz="1050" dirty="0">
                <a:latin typeface="Chalkboard" panose="03050602040202020205" pitchFamily="66" charset="77"/>
              </a:rPr>
              <a:t>Encapsulated within the service is private data. </a:t>
            </a:r>
          </a:p>
          <a:p>
            <a:pPr algn="ctr"/>
            <a:r>
              <a:rPr lang="en-GB" sz="1050" dirty="0">
                <a:latin typeface="Chalkboard" panose="03050602040202020205" pitchFamily="66" charset="77"/>
              </a:rPr>
              <a:t>Requests to the service do not describe the shape of internal data</a:t>
            </a:r>
          </a:p>
        </p:txBody>
      </p:sp>
      <p:cxnSp>
        <p:nvCxnSpPr>
          <p:cNvPr id="16" name="Straight Arrow Connector 15">
            <a:extLst>
              <a:ext uri="{FF2B5EF4-FFF2-40B4-BE49-F238E27FC236}">
                <a16:creationId xmlns:a16="http://schemas.microsoft.com/office/drawing/2014/main" id="{C6831B19-60C6-BD48-E1D3-6F8B6FFB79E9}"/>
              </a:ext>
            </a:extLst>
          </p:cNvPr>
          <p:cNvCxnSpPr>
            <a:cxnSpLocks/>
          </p:cNvCxnSpPr>
          <p:nvPr/>
        </p:nvCxnSpPr>
        <p:spPr>
          <a:xfrm flipH="1" flipV="1">
            <a:off x="1773621" y="4317781"/>
            <a:ext cx="2971800" cy="449318"/>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95510C5-2A3C-2F34-4D71-C3B82D7E60AF}"/>
              </a:ext>
            </a:extLst>
          </p:cNvPr>
          <p:cNvCxnSpPr>
            <a:cxnSpLocks/>
          </p:cNvCxnSpPr>
          <p:nvPr/>
        </p:nvCxnSpPr>
        <p:spPr>
          <a:xfrm flipV="1">
            <a:off x="4887310" y="4120907"/>
            <a:ext cx="2483069" cy="646191"/>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986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A206D-744C-A0C9-15C7-4F5F1A0D63D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B33F8C9-EF6D-6F26-45C5-EE1479DCB6B7}"/>
              </a:ext>
            </a:extLst>
          </p:cNvPr>
          <p:cNvSpPr>
            <a:spLocks noGrp="1"/>
          </p:cNvSpPr>
          <p:nvPr>
            <p:ph type="title"/>
          </p:nvPr>
        </p:nvSpPr>
        <p:spPr>
          <a:xfrm>
            <a:off x="338959" y="1008569"/>
            <a:ext cx="2869324" cy="740039"/>
          </a:xfrm>
        </p:spPr>
        <p:txBody>
          <a:bodyPr>
            <a:normAutofit fontScale="90000"/>
          </a:bodyPr>
          <a:lstStyle/>
          <a:p>
            <a:r>
              <a:rPr lang="en-US" dirty="0"/>
              <a:t>Microservice</a:t>
            </a:r>
          </a:p>
        </p:txBody>
      </p:sp>
      <p:pic>
        <p:nvPicPr>
          <p:cNvPr id="3" name="Picture 2" descr="A black background with white lines&#10;&#10;AI-generated content may be incorrect.">
            <a:extLst>
              <a:ext uri="{FF2B5EF4-FFF2-40B4-BE49-F238E27FC236}">
                <a16:creationId xmlns:a16="http://schemas.microsoft.com/office/drawing/2014/main" id="{B3E99909-0E87-A113-9ED3-7BA3DC055124}"/>
              </a:ext>
            </a:extLst>
          </p:cNvPr>
          <p:cNvPicPr>
            <a:picLocks noChangeAspect="1"/>
          </p:cNvPicPr>
          <p:nvPr/>
        </p:nvPicPr>
        <p:blipFill>
          <a:blip r:embed="rId2"/>
          <a:stretch>
            <a:fillRect/>
          </a:stretch>
        </p:blipFill>
        <p:spPr>
          <a:xfrm>
            <a:off x="441319" y="2387826"/>
            <a:ext cx="8261363" cy="2272615"/>
          </a:xfrm>
          <a:prstGeom prst="rect">
            <a:avLst/>
          </a:prstGeom>
        </p:spPr>
      </p:pic>
      <p:sp>
        <p:nvSpPr>
          <p:cNvPr id="7" name="TextBox 6">
            <a:extLst>
              <a:ext uri="{FF2B5EF4-FFF2-40B4-BE49-F238E27FC236}">
                <a16:creationId xmlns:a16="http://schemas.microsoft.com/office/drawing/2014/main" id="{7038C25B-FE08-598A-F35D-3B02EC3794FA}"/>
              </a:ext>
            </a:extLst>
          </p:cNvPr>
          <p:cNvSpPr txBox="1"/>
          <p:nvPr/>
        </p:nvSpPr>
        <p:spPr>
          <a:xfrm>
            <a:off x="3497974" y="1229235"/>
            <a:ext cx="4572000" cy="1061829"/>
          </a:xfrm>
          <a:prstGeom prst="rect">
            <a:avLst/>
          </a:prstGeom>
          <a:solidFill>
            <a:schemeClr val="accent2">
              <a:lumMod val="40000"/>
              <a:lumOff val="60000"/>
            </a:schemeClr>
          </a:solidFill>
          <a:ln>
            <a:solidFill>
              <a:schemeClr val="accent2">
                <a:lumMod val="75000"/>
              </a:schemeClr>
            </a:solidFill>
          </a:ln>
        </p:spPr>
        <p:txBody>
          <a:bodyPr wrap="square">
            <a:spAutoFit/>
          </a:bodyPr>
          <a:lstStyle/>
          <a:p>
            <a:pPr algn="ctr"/>
            <a:r>
              <a:rPr lang="en-GB" sz="1050" dirty="0">
                <a:latin typeface="Chalkboard" panose="03050602040202020205" pitchFamily="66" charset="77"/>
              </a:rPr>
              <a:t>Transactions cannot occur between different services. If you operate independently from your business partners, you won’t exchange transactions with them. Cross-organizational transactions are avoided to prevent potential lockup of YOUR database if the OTHER organization makes a mistake. Without transactions, you need to communicate through multiple messages over time.</a:t>
            </a:r>
          </a:p>
        </p:txBody>
      </p:sp>
      <p:cxnSp>
        <p:nvCxnSpPr>
          <p:cNvPr id="8" name="Straight Arrow Connector 7">
            <a:extLst>
              <a:ext uri="{FF2B5EF4-FFF2-40B4-BE49-F238E27FC236}">
                <a16:creationId xmlns:a16="http://schemas.microsoft.com/office/drawing/2014/main" id="{71F7E4CB-A8A1-5669-BD1E-EB6B1BA7F742}"/>
              </a:ext>
            </a:extLst>
          </p:cNvPr>
          <p:cNvCxnSpPr>
            <a:cxnSpLocks/>
          </p:cNvCxnSpPr>
          <p:nvPr/>
        </p:nvCxnSpPr>
        <p:spPr>
          <a:xfrm flipH="1">
            <a:off x="1615966" y="2267981"/>
            <a:ext cx="3852698" cy="1758138"/>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7F4B866-8567-EA38-0BB4-7F14FB0BB906}"/>
              </a:ext>
            </a:extLst>
          </p:cNvPr>
          <p:cNvCxnSpPr>
            <a:cxnSpLocks/>
          </p:cNvCxnSpPr>
          <p:nvPr/>
        </p:nvCxnSpPr>
        <p:spPr>
          <a:xfrm>
            <a:off x="5468664" y="2267982"/>
            <a:ext cx="2351033" cy="1884262"/>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E11998EA-B711-F24C-CFD9-91667CA78645}"/>
              </a:ext>
            </a:extLst>
          </p:cNvPr>
          <p:cNvSpPr txBox="1"/>
          <p:nvPr/>
        </p:nvSpPr>
        <p:spPr>
          <a:xfrm>
            <a:off x="2459421" y="4842159"/>
            <a:ext cx="4572000" cy="253916"/>
          </a:xfrm>
          <a:prstGeom prst="rect">
            <a:avLst/>
          </a:prstGeom>
          <a:solidFill>
            <a:schemeClr val="accent2">
              <a:lumMod val="40000"/>
              <a:lumOff val="60000"/>
            </a:schemeClr>
          </a:solidFill>
          <a:ln>
            <a:solidFill>
              <a:schemeClr val="accent2">
                <a:lumMod val="75000"/>
              </a:schemeClr>
            </a:solidFill>
          </a:ln>
        </p:spPr>
        <p:txBody>
          <a:bodyPr wrap="square">
            <a:spAutoFit/>
          </a:bodyPr>
          <a:lstStyle/>
          <a:p>
            <a:pPr algn="ctr"/>
            <a:r>
              <a:rPr lang="en-GB" sz="1050" dirty="0">
                <a:latin typeface="Chalkboard" panose="03050602040202020205" pitchFamily="66" charset="77"/>
              </a:rPr>
              <a:t>Transactions, including 2PC, may occur within microservices</a:t>
            </a:r>
          </a:p>
        </p:txBody>
      </p:sp>
      <p:cxnSp>
        <p:nvCxnSpPr>
          <p:cNvPr id="15" name="Straight Arrow Connector 14">
            <a:extLst>
              <a:ext uri="{FF2B5EF4-FFF2-40B4-BE49-F238E27FC236}">
                <a16:creationId xmlns:a16="http://schemas.microsoft.com/office/drawing/2014/main" id="{65F97D21-D6E8-1690-C05D-4F47DF843A6B}"/>
              </a:ext>
            </a:extLst>
          </p:cNvPr>
          <p:cNvCxnSpPr>
            <a:cxnSpLocks/>
          </p:cNvCxnSpPr>
          <p:nvPr/>
        </p:nvCxnSpPr>
        <p:spPr>
          <a:xfrm flipH="1" flipV="1">
            <a:off x="1773621" y="4317781"/>
            <a:ext cx="2971800" cy="449318"/>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93E75B6-B5B7-5EF6-F6E8-D8A618DD6E22}"/>
              </a:ext>
            </a:extLst>
          </p:cNvPr>
          <p:cNvCxnSpPr>
            <a:cxnSpLocks/>
          </p:cNvCxnSpPr>
          <p:nvPr/>
        </p:nvCxnSpPr>
        <p:spPr>
          <a:xfrm flipV="1">
            <a:off x="4887310" y="4120907"/>
            <a:ext cx="2483069" cy="646191"/>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4349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B7706E-BA0D-21C1-C032-F73EF2526819}"/>
              </a:ext>
            </a:extLst>
          </p:cNvPr>
          <p:cNvSpPr>
            <a:spLocks noGrp="1"/>
          </p:cNvSpPr>
          <p:nvPr>
            <p:ph type="title"/>
          </p:nvPr>
        </p:nvSpPr>
        <p:spPr>
          <a:xfrm>
            <a:off x="184004" y="755588"/>
            <a:ext cx="2990996" cy="1129412"/>
          </a:xfrm>
        </p:spPr>
        <p:txBody>
          <a:bodyPr vert="horz" lIns="68580" tIns="34290" rIns="68580" bIns="34290" rtlCol="0" anchor="ctr">
            <a:normAutofit fontScale="90000"/>
          </a:bodyPr>
          <a:lstStyle/>
          <a:p>
            <a:r>
              <a:rPr lang="en-US" kern="1200" dirty="0">
                <a:solidFill>
                  <a:schemeClr val="tx1"/>
                </a:solidFill>
                <a:latin typeface="+mj-lt"/>
                <a:ea typeface="+mj-ea"/>
                <a:cs typeface="+mj-cs"/>
              </a:rPr>
              <a:t>Collaboration</a:t>
            </a:r>
          </a:p>
        </p:txBody>
      </p:sp>
      <p:pic>
        <p:nvPicPr>
          <p:cNvPr id="8" name="Picture 7" descr="A black background with white lines&#10;&#10;AI-generated content may be incorrect.">
            <a:extLst>
              <a:ext uri="{FF2B5EF4-FFF2-40B4-BE49-F238E27FC236}">
                <a16:creationId xmlns:a16="http://schemas.microsoft.com/office/drawing/2014/main" id="{0E91FF5B-24DD-AF33-6878-40BF93AF4979}"/>
              </a:ext>
            </a:extLst>
          </p:cNvPr>
          <p:cNvPicPr>
            <a:picLocks noChangeAspect="1"/>
          </p:cNvPicPr>
          <p:nvPr/>
        </p:nvPicPr>
        <p:blipFill>
          <a:blip r:embed="rId2"/>
          <a:stretch>
            <a:fillRect/>
          </a:stretch>
        </p:blipFill>
        <p:spPr>
          <a:xfrm>
            <a:off x="628650" y="2125266"/>
            <a:ext cx="7761442" cy="2886198"/>
          </a:xfrm>
          <a:prstGeom prst="rect">
            <a:avLst/>
          </a:prstGeom>
        </p:spPr>
      </p:pic>
      <p:sp>
        <p:nvSpPr>
          <p:cNvPr id="9" name="TextBox 8">
            <a:extLst>
              <a:ext uri="{FF2B5EF4-FFF2-40B4-BE49-F238E27FC236}">
                <a16:creationId xmlns:a16="http://schemas.microsoft.com/office/drawing/2014/main" id="{2B0FDC57-6DAD-9202-E2D7-876B771493AE}"/>
              </a:ext>
            </a:extLst>
          </p:cNvPr>
          <p:cNvSpPr txBox="1"/>
          <p:nvPr/>
        </p:nvSpPr>
        <p:spPr>
          <a:xfrm>
            <a:off x="3497974" y="1229235"/>
            <a:ext cx="4572000" cy="415498"/>
          </a:xfrm>
          <a:prstGeom prst="rect">
            <a:avLst/>
          </a:prstGeom>
          <a:solidFill>
            <a:schemeClr val="accent2">
              <a:lumMod val="40000"/>
              <a:lumOff val="60000"/>
            </a:schemeClr>
          </a:solidFill>
          <a:ln>
            <a:solidFill>
              <a:schemeClr val="accent2">
                <a:lumMod val="75000"/>
              </a:schemeClr>
            </a:solidFill>
          </a:ln>
        </p:spPr>
        <p:txBody>
          <a:bodyPr wrap="square">
            <a:spAutoFit/>
          </a:bodyPr>
          <a:lstStyle/>
          <a:p>
            <a:pPr algn="ctr"/>
            <a:r>
              <a:rPr lang="en-GB" sz="1050" dirty="0">
                <a:latin typeface="Chalkboard" panose="03050602040202020205" pitchFamily="66" charset="77"/>
              </a:rPr>
              <a:t>As services are independent of each other, a collaboration comprises orchestrations (handlers, sagas, or workflows) within the services</a:t>
            </a:r>
          </a:p>
        </p:txBody>
      </p:sp>
      <p:cxnSp>
        <p:nvCxnSpPr>
          <p:cNvPr id="10" name="Straight Arrow Connector 9">
            <a:extLst>
              <a:ext uri="{FF2B5EF4-FFF2-40B4-BE49-F238E27FC236}">
                <a16:creationId xmlns:a16="http://schemas.microsoft.com/office/drawing/2014/main" id="{032B81B9-F79B-889D-6EC4-A1F4343D87BF}"/>
              </a:ext>
            </a:extLst>
          </p:cNvPr>
          <p:cNvCxnSpPr>
            <a:cxnSpLocks/>
          </p:cNvCxnSpPr>
          <p:nvPr/>
        </p:nvCxnSpPr>
        <p:spPr>
          <a:xfrm flipH="1">
            <a:off x="1978573" y="2267982"/>
            <a:ext cx="3490091" cy="835855"/>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1A9C24B-8239-E118-244A-C21BB5C19AAE}"/>
              </a:ext>
            </a:extLst>
          </p:cNvPr>
          <p:cNvCxnSpPr>
            <a:cxnSpLocks/>
          </p:cNvCxnSpPr>
          <p:nvPr/>
        </p:nvCxnSpPr>
        <p:spPr>
          <a:xfrm>
            <a:off x="5468663" y="2267981"/>
            <a:ext cx="1728296" cy="859503"/>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3483F09-63D6-21A9-E32F-02A3066729AF}"/>
              </a:ext>
            </a:extLst>
          </p:cNvPr>
          <p:cNvSpPr txBox="1"/>
          <p:nvPr/>
        </p:nvSpPr>
        <p:spPr>
          <a:xfrm>
            <a:off x="3013184" y="5075274"/>
            <a:ext cx="4572000" cy="415498"/>
          </a:xfrm>
          <a:prstGeom prst="rect">
            <a:avLst/>
          </a:prstGeom>
          <a:solidFill>
            <a:schemeClr val="accent2">
              <a:lumMod val="40000"/>
              <a:lumOff val="60000"/>
            </a:schemeClr>
          </a:solidFill>
          <a:ln>
            <a:solidFill>
              <a:schemeClr val="accent2">
                <a:lumMod val="75000"/>
              </a:schemeClr>
            </a:solidFill>
          </a:ln>
        </p:spPr>
        <p:txBody>
          <a:bodyPr wrap="square">
            <a:spAutoFit/>
          </a:bodyPr>
          <a:lstStyle/>
          <a:p>
            <a:pPr algn="ctr"/>
            <a:r>
              <a:rPr lang="en-GB" sz="1050" dirty="0">
                <a:latin typeface="Chalkboard" panose="03050602040202020205" pitchFamily="66" charset="77"/>
              </a:rPr>
              <a:t>A collaboration is also the flow of messages, the choreography, between our services</a:t>
            </a:r>
          </a:p>
        </p:txBody>
      </p:sp>
      <p:cxnSp>
        <p:nvCxnSpPr>
          <p:cNvPr id="18" name="Straight Arrow Connector 17">
            <a:extLst>
              <a:ext uri="{FF2B5EF4-FFF2-40B4-BE49-F238E27FC236}">
                <a16:creationId xmlns:a16="http://schemas.microsoft.com/office/drawing/2014/main" id="{0B3009EC-D109-3EB9-5842-5F938E4F96F1}"/>
              </a:ext>
            </a:extLst>
          </p:cNvPr>
          <p:cNvCxnSpPr>
            <a:cxnSpLocks/>
          </p:cNvCxnSpPr>
          <p:nvPr/>
        </p:nvCxnSpPr>
        <p:spPr>
          <a:xfrm flipH="1" flipV="1">
            <a:off x="4367048" y="3429000"/>
            <a:ext cx="906518" cy="1361747"/>
          </a:xfrm>
          <a:prstGeom prst="straightConnector1">
            <a:avLst/>
          </a:prstGeom>
          <a:ln w="41275">
            <a:solidFill>
              <a:schemeClr val="accent2">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350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D7CBDAEA-C659-1E4C-BA31-EB98B9B58B9A}"/>
              </a:ext>
            </a:extLst>
          </p:cNvPr>
          <p:cNvSpPr>
            <a:spLocks noGrp="1"/>
          </p:cNvSpPr>
          <p:nvPr>
            <p:ph type="ctrTitle"/>
          </p:nvPr>
        </p:nvSpPr>
        <p:spPr>
          <a:xfrm>
            <a:off x="628649" y="1093788"/>
            <a:ext cx="7879841" cy="2967208"/>
          </a:xfrm>
        </p:spPr>
        <p:txBody>
          <a:bodyPr>
            <a:normAutofit/>
          </a:bodyPr>
          <a:lstStyle/>
          <a:p>
            <a:pPr algn="l"/>
            <a:r>
              <a:rPr lang="en-US" sz="7000">
                <a:latin typeface="Chalkboard" panose="03050602040202020205" pitchFamily="66" charset="77"/>
              </a:rPr>
              <a:t>The Price of Distribution</a:t>
            </a:r>
          </a:p>
        </p:txBody>
      </p:sp>
      <p:sp>
        <p:nvSpPr>
          <p:cNvPr id="12" name="Rectangle 11">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FC6DF0D-C01E-6745-BDFD-E1E51012A329}"/>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a:solidFill>
                  <a:schemeClr val="tx1">
                    <a:lumMod val="50000"/>
                    <a:lumOff val="50000"/>
                  </a:schemeClr>
                </a:solidFill>
              </a:rPr>
              <a:pPr>
                <a:spcAft>
                  <a:spcPts val="600"/>
                </a:spcAft>
              </a:pPr>
              <a:t>24</a:t>
            </a:fld>
            <a:endParaRPr lang="en-US">
              <a:solidFill>
                <a:schemeClr val="tx1">
                  <a:lumMod val="50000"/>
                  <a:lumOff val="50000"/>
                </a:schemeClr>
              </a:solidFill>
            </a:endParaRPr>
          </a:p>
        </p:txBody>
      </p:sp>
    </p:spTree>
    <p:extLst>
      <p:ext uri="{BB962C8B-B14F-4D97-AF65-F5344CB8AC3E}">
        <p14:creationId xmlns:p14="http://schemas.microsoft.com/office/powerpoint/2010/main" val="235226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97321" y="6033922"/>
            <a:ext cx="3867546" cy="400110"/>
          </a:xfrm>
          <a:prstGeom prst="rect">
            <a:avLst/>
          </a:prstGeom>
          <a:noFill/>
        </p:spPr>
        <p:txBody>
          <a:bodyPr wrap="square" rtlCol="0">
            <a:spAutoFit/>
          </a:bodyPr>
          <a:lstStyle/>
          <a:p>
            <a:r>
              <a:rPr lang="en-GB" sz="2000" dirty="0">
                <a:latin typeface="Chalkboard" panose="03050602040202020205" pitchFamily="66" charset="77"/>
              </a:rPr>
              <a:t>The network is homogeneous.</a:t>
            </a:r>
          </a:p>
        </p:txBody>
      </p:sp>
      <p:sp>
        <p:nvSpPr>
          <p:cNvPr id="3" name="Rectangle 2"/>
          <p:cNvSpPr/>
          <p:nvPr/>
        </p:nvSpPr>
        <p:spPr>
          <a:xfrm>
            <a:off x="3036006" y="1187575"/>
            <a:ext cx="2922018" cy="400110"/>
          </a:xfrm>
          <a:prstGeom prst="rect">
            <a:avLst/>
          </a:prstGeom>
        </p:spPr>
        <p:txBody>
          <a:bodyPr wrap="none">
            <a:spAutoFit/>
          </a:bodyPr>
          <a:lstStyle/>
          <a:p>
            <a:r>
              <a:rPr lang="en-GB" sz="2000" dirty="0">
                <a:latin typeface="Chalkboard" panose="03050602040202020205" pitchFamily="66" charset="77"/>
              </a:rPr>
              <a:t>The network is reliable.</a:t>
            </a:r>
          </a:p>
        </p:txBody>
      </p:sp>
      <p:sp>
        <p:nvSpPr>
          <p:cNvPr id="4" name="Rectangle 3"/>
          <p:cNvSpPr/>
          <p:nvPr/>
        </p:nvSpPr>
        <p:spPr>
          <a:xfrm>
            <a:off x="3461539" y="1879910"/>
            <a:ext cx="1993687" cy="400110"/>
          </a:xfrm>
          <a:prstGeom prst="rect">
            <a:avLst/>
          </a:prstGeom>
        </p:spPr>
        <p:txBody>
          <a:bodyPr wrap="none">
            <a:spAutoFit/>
          </a:bodyPr>
          <a:lstStyle/>
          <a:p>
            <a:r>
              <a:rPr lang="en-GB" sz="2000" dirty="0">
                <a:latin typeface="Chalkboard" panose="03050602040202020205" pitchFamily="66" charset="77"/>
              </a:rPr>
              <a:t>Latency is zero.</a:t>
            </a:r>
          </a:p>
        </p:txBody>
      </p:sp>
      <p:sp>
        <p:nvSpPr>
          <p:cNvPr id="5" name="Rectangle 4"/>
          <p:cNvSpPr/>
          <p:nvPr/>
        </p:nvSpPr>
        <p:spPr>
          <a:xfrm>
            <a:off x="3258118" y="2572245"/>
            <a:ext cx="2625975" cy="400110"/>
          </a:xfrm>
          <a:prstGeom prst="rect">
            <a:avLst/>
          </a:prstGeom>
        </p:spPr>
        <p:txBody>
          <a:bodyPr wrap="none">
            <a:spAutoFit/>
          </a:bodyPr>
          <a:lstStyle/>
          <a:p>
            <a:r>
              <a:rPr lang="en-GB" sz="2000" dirty="0">
                <a:latin typeface="Chalkboard" panose="03050602040202020205" pitchFamily="66" charset="77"/>
              </a:rPr>
              <a:t>Bandwidth is infinite.</a:t>
            </a:r>
          </a:p>
        </p:txBody>
      </p:sp>
      <p:sp>
        <p:nvSpPr>
          <p:cNvPr id="6" name="Rectangle 5"/>
          <p:cNvSpPr/>
          <p:nvPr/>
        </p:nvSpPr>
        <p:spPr>
          <a:xfrm>
            <a:off x="3258118" y="3264580"/>
            <a:ext cx="2836097" cy="400110"/>
          </a:xfrm>
          <a:prstGeom prst="rect">
            <a:avLst/>
          </a:prstGeom>
        </p:spPr>
        <p:txBody>
          <a:bodyPr wrap="none">
            <a:spAutoFit/>
          </a:bodyPr>
          <a:lstStyle/>
          <a:p>
            <a:r>
              <a:rPr lang="en-GB" sz="2000" dirty="0">
                <a:latin typeface="Chalkboard" panose="03050602040202020205" pitchFamily="66" charset="77"/>
              </a:rPr>
              <a:t>The network is secure.</a:t>
            </a:r>
          </a:p>
        </p:txBody>
      </p:sp>
      <p:sp>
        <p:nvSpPr>
          <p:cNvPr id="7" name="Rectangle 6"/>
          <p:cNvSpPr/>
          <p:nvPr/>
        </p:nvSpPr>
        <p:spPr>
          <a:xfrm>
            <a:off x="3109905" y="3956915"/>
            <a:ext cx="3045642" cy="400110"/>
          </a:xfrm>
          <a:prstGeom prst="rect">
            <a:avLst/>
          </a:prstGeom>
        </p:spPr>
        <p:txBody>
          <a:bodyPr wrap="none">
            <a:spAutoFit/>
          </a:bodyPr>
          <a:lstStyle/>
          <a:p>
            <a:r>
              <a:rPr lang="en-GB" sz="2000" dirty="0">
                <a:latin typeface="Chalkboard" panose="03050602040202020205" pitchFamily="66" charset="77"/>
              </a:rPr>
              <a:t>Topology doesn't change.</a:t>
            </a:r>
          </a:p>
        </p:txBody>
      </p:sp>
      <p:sp>
        <p:nvSpPr>
          <p:cNvPr id="8" name="Rectangle 7"/>
          <p:cNvSpPr/>
          <p:nvPr/>
        </p:nvSpPr>
        <p:spPr>
          <a:xfrm>
            <a:off x="3036006" y="4649250"/>
            <a:ext cx="3278141" cy="400110"/>
          </a:xfrm>
          <a:prstGeom prst="rect">
            <a:avLst/>
          </a:prstGeom>
        </p:spPr>
        <p:txBody>
          <a:bodyPr wrap="none">
            <a:spAutoFit/>
          </a:bodyPr>
          <a:lstStyle/>
          <a:p>
            <a:r>
              <a:rPr lang="en-GB" sz="2000" dirty="0">
                <a:latin typeface="Chalkboard" panose="03050602040202020205" pitchFamily="66" charset="77"/>
              </a:rPr>
              <a:t>There is one administrator.</a:t>
            </a:r>
          </a:p>
        </p:txBody>
      </p:sp>
      <p:sp>
        <p:nvSpPr>
          <p:cNvPr id="9" name="Rectangle 8"/>
          <p:cNvSpPr/>
          <p:nvPr/>
        </p:nvSpPr>
        <p:spPr>
          <a:xfrm>
            <a:off x="3296621" y="5341585"/>
            <a:ext cx="2770887" cy="400110"/>
          </a:xfrm>
          <a:prstGeom prst="rect">
            <a:avLst/>
          </a:prstGeom>
        </p:spPr>
        <p:txBody>
          <a:bodyPr wrap="none">
            <a:spAutoFit/>
          </a:bodyPr>
          <a:lstStyle/>
          <a:p>
            <a:r>
              <a:rPr lang="en-GB" sz="2000" dirty="0">
                <a:latin typeface="Chalkboard" panose="03050602040202020205" pitchFamily="66" charset="77"/>
              </a:rPr>
              <a:t>Transport cost is zero.</a:t>
            </a:r>
          </a:p>
        </p:txBody>
      </p:sp>
      <p:sp>
        <p:nvSpPr>
          <p:cNvPr id="10" name="Slide Number Placeholder 9"/>
          <p:cNvSpPr>
            <a:spLocks noGrp="1"/>
          </p:cNvSpPr>
          <p:nvPr>
            <p:ph type="sldNum" sz="quarter" idx="12"/>
          </p:nvPr>
        </p:nvSpPr>
        <p:spPr>
          <a:xfrm>
            <a:off x="6578252" y="6233977"/>
            <a:ext cx="2133600" cy="365125"/>
          </a:xfrm>
        </p:spPr>
        <p:txBody>
          <a:bodyPr/>
          <a:lstStyle/>
          <a:p>
            <a:fld id="{867D4A06-35AE-BD4A-84A9-613A26F3D41D}" type="slidenum">
              <a:rPr lang="en-US" sz="2000" smtClean="0"/>
              <a:pPr/>
              <a:t>25</a:t>
            </a:fld>
            <a:endParaRPr lang="en-US" sz="2000"/>
          </a:p>
        </p:txBody>
      </p:sp>
      <p:sp>
        <p:nvSpPr>
          <p:cNvPr id="11" name="Title 1">
            <a:extLst>
              <a:ext uri="{FF2B5EF4-FFF2-40B4-BE49-F238E27FC236}">
                <a16:creationId xmlns:a16="http://schemas.microsoft.com/office/drawing/2014/main" id="{A4F01642-14F6-484D-8B4D-CB39EB8AE0C6}"/>
              </a:ext>
            </a:extLst>
          </p:cNvPr>
          <p:cNvSpPr txBox="1">
            <a:spLocks/>
          </p:cNvSpPr>
          <p:nvPr/>
        </p:nvSpPr>
        <p:spPr>
          <a:xfrm>
            <a:off x="457200" y="274638"/>
            <a:ext cx="8073025" cy="539554"/>
          </a:xfrm>
          <a:prstGeom prst="rect">
            <a:avLst/>
          </a:prstGeom>
        </p:spPr>
        <p:txBody>
          <a:bodyP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800" dirty="0">
                <a:latin typeface="Chalkboard" panose="03050602040202020205" pitchFamily="66" charset="77"/>
              </a:rPr>
              <a:t>Fallacies of Distributed Computing</a:t>
            </a:r>
          </a:p>
        </p:txBody>
      </p:sp>
    </p:spTree>
    <p:extLst>
      <p:ext uri="{BB962C8B-B14F-4D97-AF65-F5344CB8AC3E}">
        <p14:creationId xmlns:p14="http://schemas.microsoft.com/office/powerpoint/2010/main" val="193792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Coupling</a:t>
            </a:r>
          </a:p>
        </p:txBody>
      </p:sp>
      <p:sp>
        <p:nvSpPr>
          <p:cNvPr id="5" name="Text Placeholder 4"/>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r>
              <a:rPr lang="en-US" sz="2200" kern="1200" dirty="0">
                <a:solidFill>
                  <a:schemeClr val="tx1"/>
                </a:solidFill>
                <a:latin typeface="Chalkboard" panose="03050602040202020205" pitchFamily="66" charset="77"/>
              </a:rPr>
              <a:t>What architectural risks do we face from interoperability?</a:t>
            </a:r>
          </a:p>
        </p:txBody>
      </p:sp>
      <p:sp>
        <p:nvSpPr>
          <p:cNvPr id="12" name="Rectangle 11">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26</a:t>
            </a:fld>
            <a:endParaRPr lang="en-US">
              <a:solidFill>
                <a:schemeClr val="tx1">
                  <a:lumMod val="50000"/>
                  <a:lumOff val="50000"/>
                </a:schemeClr>
              </a:solidFill>
            </a:endParaRPr>
          </a:p>
        </p:txBody>
      </p:sp>
    </p:spTree>
    <p:extLst>
      <p:ext uri="{BB962C8B-B14F-4D97-AF65-F5344CB8AC3E}">
        <p14:creationId xmlns:p14="http://schemas.microsoft.com/office/powerpoint/2010/main" val="2586410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7FCB1B3F-6041-35B5-920C-869780F0A7D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600" y="1977263"/>
            <a:ext cx="8178800" cy="2903472"/>
          </a:xfrm>
          <a:prstGeom prst="rect">
            <a:avLst/>
          </a:prstGeom>
        </p:spPr>
      </p:pic>
      <p:sp>
        <p:nvSpPr>
          <p:cNvPr id="2" name="Slide Number Placeholder 1">
            <a:extLst>
              <a:ext uri="{FF2B5EF4-FFF2-40B4-BE49-F238E27FC236}">
                <a16:creationId xmlns:a16="http://schemas.microsoft.com/office/drawing/2014/main" id="{53BE3D76-E268-0A59-FE34-602DF22E49FE}"/>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27</a:t>
            </a:fld>
            <a:endParaRPr lang="en-US"/>
          </a:p>
        </p:txBody>
      </p:sp>
    </p:spTree>
    <p:extLst>
      <p:ext uri="{BB962C8B-B14F-4D97-AF65-F5344CB8AC3E}">
        <p14:creationId xmlns:p14="http://schemas.microsoft.com/office/powerpoint/2010/main" val="2249917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5ABF1-B6D2-A8CD-C18E-C2235F16582A}"/>
            </a:ext>
          </a:extLst>
        </p:cNvPr>
        <p:cNvGrpSpPr/>
        <p:nvPr/>
      </p:nvGrpSpPr>
      <p:grpSpPr>
        <a:xfrm>
          <a:off x="0" y="0"/>
          <a:ext cx="0" cy="0"/>
          <a:chOff x="0" y="0"/>
          <a:chExt cx="0" cy="0"/>
        </a:xfrm>
      </p:grpSpPr>
      <p:sp>
        <p:nvSpPr>
          <p:cNvPr id="4" name="Google Shape;306;p45">
            <a:extLst>
              <a:ext uri="{FF2B5EF4-FFF2-40B4-BE49-F238E27FC236}">
                <a16:creationId xmlns:a16="http://schemas.microsoft.com/office/drawing/2014/main" id="{E8D2AB0A-F4A8-0180-28E5-4AF7093079EF}"/>
              </a:ext>
            </a:extLst>
          </p:cNvPr>
          <p:cNvSpPr txBox="1"/>
          <p:nvPr/>
        </p:nvSpPr>
        <p:spPr>
          <a:xfrm>
            <a:off x="514809" y="1079913"/>
            <a:ext cx="5930100" cy="346226"/>
          </a:xfrm>
          <a:prstGeom prst="rect">
            <a:avLst/>
          </a:prstGeom>
          <a:noFill/>
          <a:ln>
            <a:noFill/>
          </a:ln>
        </p:spPr>
        <p:txBody>
          <a:bodyPr spcFirstLastPara="1" wrap="square" lIns="68569" tIns="68569" rIns="68569" bIns="68569" anchor="t" anchorCtr="0">
            <a:spAutoFit/>
          </a:bodyPr>
          <a:lstStyle/>
          <a:p>
            <a:pPr>
              <a:buClr>
                <a:schemeClr val="dk1"/>
              </a:buClr>
              <a:buSzPts val="1800"/>
            </a:pPr>
            <a:r>
              <a:rPr lang="en-US" sz="1350" dirty="0">
                <a:latin typeface="Chalkboard" panose="03050602040202020205" pitchFamily="66" charset="77"/>
                <a:ea typeface="Calibri"/>
                <a:cs typeface="Calibri"/>
                <a:sym typeface="Calibri"/>
              </a:rPr>
              <a:t>Synchronous Conversation</a:t>
            </a:r>
            <a:endParaRPr sz="1350" dirty="0">
              <a:latin typeface="Chalkboard" panose="03050602040202020205" pitchFamily="66" charset="77"/>
              <a:ea typeface="Calibri"/>
              <a:cs typeface="Calibri"/>
              <a:sym typeface="Calibri"/>
            </a:endParaRPr>
          </a:p>
        </p:txBody>
      </p:sp>
      <p:sp>
        <p:nvSpPr>
          <p:cNvPr id="5" name="Google Shape;307;p45">
            <a:extLst>
              <a:ext uri="{FF2B5EF4-FFF2-40B4-BE49-F238E27FC236}">
                <a16:creationId xmlns:a16="http://schemas.microsoft.com/office/drawing/2014/main" id="{2CA8E296-C433-798F-8418-F65F62C53F9B}"/>
              </a:ext>
            </a:extLst>
          </p:cNvPr>
          <p:cNvSpPr/>
          <p:nvPr/>
        </p:nvSpPr>
        <p:spPr>
          <a:xfrm>
            <a:off x="2572884" y="3183881"/>
            <a:ext cx="1310418" cy="938628"/>
          </a:xfrm>
          <a:prstGeom prst="cloud">
            <a:avLst/>
          </a:prstGeom>
          <a:solidFill>
            <a:schemeClr val="bg1">
              <a:lumMod val="85000"/>
            </a:schemeClr>
          </a:solidFill>
          <a:ln w="9525" cap="flat" cmpd="sng">
            <a:solidFill>
              <a:schemeClr val="tx1"/>
            </a:solidFill>
            <a:prstDash val="solid"/>
            <a:round/>
            <a:headEnd type="none" w="sm" len="sm"/>
            <a:tailEnd type="none" w="sm" len="sm"/>
          </a:ln>
        </p:spPr>
        <p:txBody>
          <a:bodyPr spcFirstLastPara="1" wrap="square" lIns="68569" tIns="68569" rIns="68569" bIns="68569" anchor="ctr" anchorCtr="0">
            <a:noAutofit/>
          </a:bodyPr>
          <a:lstStyle/>
          <a:p>
            <a:pPr>
              <a:buClr>
                <a:schemeClr val="dk1"/>
              </a:buClr>
              <a:buSzPts val="1800"/>
            </a:pPr>
            <a:endParaRPr sz="1350">
              <a:latin typeface="Calibri"/>
              <a:ea typeface="Calibri"/>
              <a:cs typeface="Calibri"/>
              <a:sym typeface="Calibri"/>
            </a:endParaRPr>
          </a:p>
        </p:txBody>
      </p:sp>
      <p:sp>
        <p:nvSpPr>
          <p:cNvPr id="6" name="Google Shape;308;p45">
            <a:extLst>
              <a:ext uri="{FF2B5EF4-FFF2-40B4-BE49-F238E27FC236}">
                <a16:creationId xmlns:a16="http://schemas.microsoft.com/office/drawing/2014/main" id="{F8806765-7035-FF36-2CFF-9EF9757DC822}"/>
              </a:ext>
            </a:extLst>
          </p:cNvPr>
          <p:cNvSpPr/>
          <p:nvPr/>
        </p:nvSpPr>
        <p:spPr>
          <a:xfrm>
            <a:off x="5479434" y="3183881"/>
            <a:ext cx="1310418" cy="938628"/>
          </a:xfrm>
          <a:prstGeom prst="cloud">
            <a:avLst/>
          </a:prstGeom>
          <a:solidFill>
            <a:schemeClr val="bg1">
              <a:lumMod val="85000"/>
            </a:schemeClr>
          </a:solidFill>
          <a:ln w="9525" cap="flat" cmpd="sng">
            <a:solidFill>
              <a:schemeClr val="tx1"/>
            </a:solidFill>
            <a:prstDash val="solid"/>
            <a:round/>
            <a:headEnd type="none" w="sm" len="sm"/>
            <a:tailEnd type="none" w="sm" len="sm"/>
          </a:ln>
        </p:spPr>
        <p:txBody>
          <a:bodyPr spcFirstLastPara="1" wrap="square" lIns="68569" tIns="68569" rIns="68569" bIns="68569" anchor="ctr" anchorCtr="0">
            <a:noAutofit/>
          </a:bodyPr>
          <a:lstStyle/>
          <a:p>
            <a:pPr>
              <a:buClr>
                <a:schemeClr val="dk1"/>
              </a:buClr>
              <a:buSzPts val="1800"/>
            </a:pPr>
            <a:endParaRPr sz="1350">
              <a:latin typeface="Calibri"/>
              <a:ea typeface="Calibri"/>
              <a:cs typeface="Calibri"/>
              <a:sym typeface="Calibri"/>
            </a:endParaRPr>
          </a:p>
        </p:txBody>
      </p:sp>
      <p:sp>
        <p:nvSpPr>
          <p:cNvPr id="7" name="Google Shape;309;p45">
            <a:extLst>
              <a:ext uri="{FF2B5EF4-FFF2-40B4-BE49-F238E27FC236}">
                <a16:creationId xmlns:a16="http://schemas.microsoft.com/office/drawing/2014/main" id="{80C9635C-491F-F02B-2EDA-2A0939BD4F0C}"/>
              </a:ext>
            </a:extLst>
          </p:cNvPr>
          <p:cNvSpPr txBox="1"/>
          <p:nvPr/>
        </p:nvSpPr>
        <p:spPr>
          <a:xfrm>
            <a:off x="2285833" y="1795540"/>
            <a:ext cx="2137500" cy="623225"/>
          </a:xfrm>
          <a:prstGeom prst="rect">
            <a:avLst/>
          </a:prstGeom>
          <a:noFill/>
          <a:ln w="9525" cap="flat" cmpd="sng">
            <a:solidFill>
              <a:schemeClr val="tx1"/>
            </a:solidFill>
            <a:prstDash val="solid"/>
            <a:round/>
            <a:headEnd type="none" w="sm" len="sm"/>
            <a:tailEnd type="none" w="sm" len="sm"/>
          </a:ln>
        </p:spPr>
        <p:txBody>
          <a:bodyPr spcFirstLastPara="1" wrap="square" lIns="68569" tIns="68569" rIns="68569" bIns="68569" anchor="t" anchorCtr="0">
            <a:spAutoFit/>
          </a:bodyPr>
          <a:lstStyle/>
          <a:p>
            <a:pPr>
              <a:buClr>
                <a:schemeClr val="dk1"/>
              </a:buClr>
              <a:buSzPts val="1400"/>
            </a:pPr>
            <a:r>
              <a:rPr lang="en-US" sz="1050" dirty="0">
                <a:latin typeface="Chalkboard" panose="03050602040202020205" pitchFamily="66" charset="77"/>
                <a:ea typeface="Calibri"/>
                <a:cs typeface="Calibri"/>
                <a:sym typeface="Calibri"/>
              </a:rPr>
              <a:t>In a </a:t>
            </a:r>
            <a:r>
              <a:rPr lang="en-US" sz="1050" b="1" dirty="0">
                <a:latin typeface="Chalkboard" panose="03050602040202020205" pitchFamily="66" charset="77"/>
                <a:ea typeface="Calibri"/>
                <a:cs typeface="Calibri"/>
                <a:sym typeface="Calibri"/>
              </a:rPr>
              <a:t>synchronous conversation</a:t>
            </a:r>
            <a:r>
              <a:rPr lang="en-US" sz="1050" dirty="0">
                <a:latin typeface="Chalkboard" panose="03050602040202020205" pitchFamily="66" charset="77"/>
                <a:ea typeface="Calibri"/>
                <a:cs typeface="Calibri"/>
                <a:sym typeface="Calibri"/>
              </a:rPr>
              <a:t>, both parties must be present for communication to succeed.</a:t>
            </a:r>
            <a:endParaRPr sz="1050" dirty="0">
              <a:latin typeface="Chalkboard" panose="03050602040202020205" pitchFamily="66" charset="77"/>
              <a:ea typeface="Calibri"/>
              <a:cs typeface="Calibri"/>
              <a:sym typeface="Calibri"/>
            </a:endParaRPr>
          </a:p>
        </p:txBody>
      </p:sp>
      <p:cxnSp>
        <p:nvCxnSpPr>
          <p:cNvPr id="8" name="Google Shape;310;p45">
            <a:extLst>
              <a:ext uri="{FF2B5EF4-FFF2-40B4-BE49-F238E27FC236}">
                <a16:creationId xmlns:a16="http://schemas.microsoft.com/office/drawing/2014/main" id="{E0F46690-A360-D34C-6557-3D7A774D7EEC}"/>
              </a:ext>
            </a:extLst>
          </p:cNvPr>
          <p:cNvCxnSpPr/>
          <p:nvPr/>
        </p:nvCxnSpPr>
        <p:spPr>
          <a:xfrm>
            <a:off x="3883302" y="3183881"/>
            <a:ext cx="1641150" cy="8100"/>
          </a:xfrm>
          <a:prstGeom prst="straightConnector1">
            <a:avLst/>
          </a:prstGeom>
          <a:noFill/>
          <a:ln w="9525" cap="flat" cmpd="sng">
            <a:solidFill>
              <a:schemeClr val="tx1"/>
            </a:solidFill>
            <a:prstDash val="lgDash"/>
            <a:round/>
            <a:headEnd type="none" w="sm" len="sm"/>
            <a:tailEnd type="triangle" w="med" len="med"/>
          </a:ln>
          <a:effectLst>
            <a:outerShdw blurRad="57150" dist="19050" dir="5400000" algn="bl" rotWithShape="0">
              <a:srgbClr val="000000">
                <a:alpha val="49803"/>
              </a:srgbClr>
            </a:outerShdw>
          </a:effectLst>
        </p:spPr>
      </p:cxnSp>
      <p:cxnSp>
        <p:nvCxnSpPr>
          <p:cNvPr id="9" name="Google Shape;311;p45">
            <a:extLst>
              <a:ext uri="{FF2B5EF4-FFF2-40B4-BE49-F238E27FC236}">
                <a16:creationId xmlns:a16="http://schemas.microsoft.com/office/drawing/2014/main" id="{026BCAFE-07C3-87AF-5712-85135E211BFE}"/>
              </a:ext>
            </a:extLst>
          </p:cNvPr>
          <p:cNvCxnSpPr/>
          <p:nvPr/>
        </p:nvCxnSpPr>
        <p:spPr>
          <a:xfrm rot="10800000">
            <a:off x="3812898" y="4258420"/>
            <a:ext cx="1745775" cy="0"/>
          </a:xfrm>
          <a:prstGeom prst="straightConnector1">
            <a:avLst/>
          </a:prstGeom>
          <a:noFill/>
          <a:ln w="9525" cap="flat" cmpd="sng">
            <a:solidFill>
              <a:schemeClr val="tx1"/>
            </a:solidFill>
            <a:prstDash val="lgDash"/>
            <a:round/>
            <a:headEnd type="none" w="sm" len="sm"/>
            <a:tailEnd type="triangle" w="med" len="med"/>
          </a:ln>
          <a:effectLst>
            <a:outerShdw blurRad="57150" dist="19050" dir="5400000" algn="bl" rotWithShape="0">
              <a:srgbClr val="000000">
                <a:alpha val="49803"/>
              </a:srgbClr>
            </a:outerShdw>
          </a:effectLst>
        </p:spPr>
      </p:cxnSp>
      <p:sp>
        <p:nvSpPr>
          <p:cNvPr id="10" name="Google Shape;312;p45">
            <a:extLst>
              <a:ext uri="{FF2B5EF4-FFF2-40B4-BE49-F238E27FC236}">
                <a16:creationId xmlns:a16="http://schemas.microsoft.com/office/drawing/2014/main" id="{06E3E046-245B-59D7-1F80-EF67BD60A8E4}"/>
              </a:ext>
            </a:extLst>
          </p:cNvPr>
          <p:cNvSpPr txBox="1"/>
          <p:nvPr/>
        </p:nvSpPr>
        <p:spPr>
          <a:xfrm>
            <a:off x="4474714" y="2885116"/>
            <a:ext cx="422142" cy="230810"/>
          </a:xfrm>
          <a:prstGeom prst="rect">
            <a:avLst/>
          </a:prstGeom>
          <a:noFill/>
          <a:ln>
            <a:solidFill>
              <a:schemeClr val="tx1"/>
            </a:solidFill>
          </a:ln>
        </p:spPr>
        <p:txBody>
          <a:bodyPr spcFirstLastPara="1" wrap="square" lIns="68569" tIns="68569" rIns="68569" bIns="68569" anchor="t" anchorCtr="0">
            <a:spAutoFit/>
          </a:bodyPr>
          <a:lstStyle/>
          <a:p>
            <a:pPr>
              <a:buClr>
                <a:schemeClr val="dk1"/>
              </a:buClr>
              <a:buSzPts val="800"/>
            </a:pPr>
            <a:r>
              <a:rPr lang="en-US" sz="600">
                <a:latin typeface="Calibri"/>
                <a:ea typeface="Calibri"/>
                <a:cs typeface="Calibri"/>
                <a:sym typeface="Calibri"/>
              </a:rPr>
              <a:t>Request</a:t>
            </a:r>
            <a:endParaRPr sz="600">
              <a:latin typeface="Calibri"/>
              <a:ea typeface="Calibri"/>
              <a:cs typeface="Calibri"/>
              <a:sym typeface="Calibri"/>
            </a:endParaRPr>
          </a:p>
        </p:txBody>
      </p:sp>
      <p:sp>
        <p:nvSpPr>
          <p:cNvPr id="11" name="Google Shape;313;p45">
            <a:extLst>
              <a:ext uri="{FF2B5EF4-FFF2-40B4-BE49-F238E27FC236}">
                <a16:creationId xmlns:a16="http://schemas.microsoft.com/office/drawing/2014/main" id="{BD811F41-2ADF-968A-035D-325F2290A8B9}"/>
              </a:ext>
            </a:extLst>
          </p:cNvPr>
          <p:cNvSpPr txBox="1"/>
          <p:nvPr/>
        </p:nvSpPr>
        <p:spPr>
          <a:xfrm>
            <a:off x="4474714" y="4394332"/>
            <a:ext cx="422142" cy="230810"/>
          </a:xfrm>
          <a:prstGeom prst="rect">
            <a:avLst/>
          </a:prstGeom>
          <a:noFill/>
          <a:ln>
            <a:solidFill>
              <a:schemeClr val="tx1"/>
            </a:solidFill>
          </a:ln>
        </p:spPr>
        <p:txBody>
          <a:bodyPr spcFirstLastPara="1" wrap="square" lIns="68569" tIns="68569" rIns="68569" bIns="68569" anchor="t" anchorCtr="0">
            <a:spAutoFit/>
          </a:bodyPr>
          <a:lstStyle/>
          <a:p>
            <a:pPr>
              <a:buClr>
                <a:schemeClr val="dk1"/>
              </a:buClr>
              <a:buSzPts val="800"/>
            </a:pPr>
            <a:r>
              <a:rPr lang="en-US" sz="600">
                <a:latin typeface="Calibri"/>
                <a:ea typeface="Calibri"/>
                <a:cs typeface="Calibri"/>
                <a:sym typeface="Calibri"/>
              </a:rPr>
              <a:t>Reply</a:t>
            </a:r>
            <a:endParaRPr sz="600">
              <a:latin typeface="Calibri"/>
              <a:ea typeface="Calibri"/>
              <a:cs typeface="Calibri"/>
              <a:sym typeface="Calibri"/>
            </a:endParaRPr>
          </a:p>
        </p:txBody>
      </p:sp>
      <p:cxnSp>
        <p:nvCxnSpPr>
          <p:cNvPr id="12" name="Google Shape;314;p45">
            <a:extLst>
              <a:ext uri="{FF2B5EF4-FFF2-40B4-BE49-F238E27FC236}">
                <a16:creationId xmlns:a16="http://schemas.microsoft.com/office/drawing/2014/main" id="{A4279D26-6B4D-509C-7E91-8F622EB335A3}"/>
              </a:ext>
            </a:extLst>
          </p:cNvPr>
          <p:cNvCxnSpPr>
            <a:stCxn id="7" idx="2"/>
            <a:endCxn id="5" idx="3"/>
          </p:cNvCxnSpPr>
          <p:nvPr/>
        </p:nvCxnSpPr>
        <p:spPr>
          <a:xfrm flipH="1">
            <a:off x="3228093" y="2418765"/>
            <a:ext cx="126490" cy="818783"/>
          </a:xfrm>
          <a:prstGeom prst="straightConnector1">
            <a:avLst/>
          </a:prstGeom>
          <a:noFill/>
          <a:ln w="9525" cap="flat" cmpd="sng">
            <a:solidFill>
              <a:schemeClr val="tx1"/>
            </a:solidFill>
            <a:prstDash val="solid"/>
            <a:round/>
            <a:headEnd type="none" w="sm" len="sm"/>
            <a:tailEnd type="triangle" w="med" len="med"/>
          </a:ln>
          <a:effectLst>
            <a:outerShdw blurRad="57150" dist="19050" dir="5400000" algn="bl" rotWithShape="0">
              <a:srgbClr val="000000">
                <a:alpha val="49803"/>
              </a:srgbClr>
            </a:outerShdw>
          </a:effectLst>
        </p:spPr>
      </p:cxnSp>
      <p:cxnSp>
        <p:nvCxnSpPr>
          <p:cNvPr id="13" name="Google Shape;315;p45">
            <a:extLst>
              <a:ext uri="{FF2B5EF4-FFF2-40B4-BE49-F238E27FC236}">
                <a16:creationId xmlns:a16="http://schemas.microsoft.com/office/drawing/2014/main" id="{B42F972D-B42F-A7BD-B09A-FDF4E17AFE7A}"/>
              </a:ext>
            </a:extLst>
          </p:cNvPr>
          <p:cNvCxnSpPr>
            <a:stCxn id="7" idx="2"/>
            <a:endCxn id="6" idx="3"/>
          </p:cNvCxnSpPr>
          <p:nvPr/>
        </p:nvCxnSpPr>
        <p:spPr>
          <a:xfrm>
            <a:off x="3354583" y="2418765"/>
            <a:ext cx="2780060" cy="818783"/>
          </a:xfrm>
          <a:prstGeom prst="straightConnector1">
            <a:avLst/>
          </a:prstGeom>
          <a:noFill/>
          <a:ln w="9525" cap="flat" cmpd="sng">
            <a:solidFill>
              <a:schemeClr val="tx1"/>
            </a:solidFill>
            <a:prstDash val="solid"/>
            <a:round/>
            <a:headEnd type="none" w="sm" len="sm"/>
            <a:tailEnd type="triangle" w="med" len="med"/>
          </a:ln>
          <a:effectLst>
            <a:outerShdw blurRad="57150" dist="19050" dir="5400000" algn="bl" rotWithShape="0">
              <a:srgbClr val="000000">
                <a:alpha val="49803"/>
              </a:srgbClr>
            </a:outerShdw>
          </a:effectLst>
        </p:spPr>
      </p:cxnSp>
      <p:sp>
        <p:nvSpPr>
          <p:cNvPr id="14" name="Google Shape;316;p45">
            <a:extLst>
              <a:ext uri="{FF2B5EF4-FFF2-40B4-BE49-F238E27FC236}">
                <a16:creationId xmlns:a16="http://schemas.microsoft.com/office/drawing/2014/main" id="{E24262FC-83BE-6CB9-858A-88103F412308}"/>
              </a:ext>
            </a:extLst>
          </p:cNvPr>
          <p:cNvSpPr txBox="1"/>
          <p:nvPr/>
        </p:nvSpPr>
        <p:spPr>
          <a:xfrm>
            <a:off x="5847922" y="1935736"/>
            <a:ext cx="1437461" cy="461643"/>
          </a:xfrm>
          <a:prstGeom prst="rect">
            <a:avLst/>
          </a:prstGeom>
          <a:noFill/>
          <a:ln w="9525" cap="flat" cmpd="sng">
            <a:solidFill>
              <a:schemeClr val="tx1"/>
            </a:solidFill>
            <a:prstDash val="solid"/>
            <a:round/>
            <a:headEnd type="none" w="sm" len="sm"/>
            <a:tailEnd type="none" w="sm" len="sm"/>
          </a:ln>
        </p:spPr>
        <p:txBody>
          <a:bodyPr spcFirstLastPara="1" wrap="square" lIns="68569" tIns="68569" rIns="68569" bIns="68569" anchor="t" anchorCtr="0">
            <a:spAutoFit/>
          </a:bodyPr>
          <a:lstStyle/>
          <a:p>
            <a:pPr>
              <a:buClr>
                <a:schemeClr val="dk1"/>
              </a:buClr>
              <a:buSzPts val="1400"/>
            </a:pPr>
            <a:r>
              <a:rPr lang="en-US" sz="1050" i="1" dirty="0">
                <a:latin typeface="Chalkboard" panose="03050602040202020205" pitchFamily="66" charset="77"/>
                <a:ea typeface="Calibri"/>
                <a:cs typeface="Calibri"/>
                <a:sym typeface="Calibri"/>
              </a:rPr>
              <a:t>Example</a:t>
            </a:r>
            <a:r>
              <a:rPr lang="en-US" sz="1050" dirty="0">
                <a:latin typeface="Chalkboard" panose="03050602040202020205" pitchFamily="66" charset="77"/>
                <a:ea typeface="Calibri"/>
                <a:cs typeface="Calibri"/>
                <a:sym typeface="Calibri"/>
              </a:rPr>
              <a:t>: a phone call</a:t>
            </a:r>
            <a:endParaRPr sz="1050" dirty="0">
              <a:latin typeface="Chalkboard" panose="03050602040202020205" pitchFamily="66" charset="77"/>
              <a:ea typeface="Calibri"/>
              <a:cs typeface="Calibri"/>
              <a:sym typeface="Calibri"/>
            </a:endParaRPr>
          </a:p>
        </p:txBody>
      </p:sp>
      <p:sp>
        <p:nvSpPr>
          <p:cNvPr id="15" name="Google Shape;319;p45">
            <a:extLst>
              <a:ext uri="{FF2B5EF4-FFF2-40B4-BE49-F238E27FC236}">
                <a16:creationId xmlns:a16="http://schemas.microsoft.com/office/drawing/2014/main" id="{8420C172-C321-14E5-3B11-BF172B63F65B}"/>
              </a:ext>
            </a:extLst>
          </p:cNvPr>
          <p:cNvSpPr txBox="1"/>
          <p:nvPr/>
        </p:nvSpPr>
        <p:spPr>
          <a:xfrm>
            <a:off x="1135423" y="4625141"/>
            <a:ext cx="4712498" cy="300060"/>
          </a:xfrm>
          <a:prstGeom prst="rect">
            <a:avLst/>
          </a:prstGeom>
          <a:noFill/>
          <a:ln w="9525" cap="flat" cmpd="sng">
            <a:solidFill>
              <a:schemeClr val="tx1"/>
            </a:solidFill>
            <a:prstDash val="solid"/>
            <a:round/>
            <a:headEnd type="none" w="sm" len="sm"/>
            <a:tailEnd type="none" w="sm" len="sm"/>
          </a:ln>
        </p:spPr>
        <p:txBody>
          <a:bodyPr spcFirstLastPara="1" wrap="square" lIns="68569" tIns="68569" rIns="68569" bIns="68569" anchor="t" anchorCtr="0">
            <a:spAutoFit/>
          </a:bodyPr>
          <a:lstStyle/>
          <a:p>
            <a:pPr>
              <a:buClr>
                <a:schemeClr val="dk1"/>
              </a:buClr>
              <a:buSzPts val="1400"/>
            </a:pPr>
            <a:r>
              <a:rPr lang="en-US" sz="1050" i="1">
                <a:latin typeface="Calibri"/>
                <a:ea typeface="Calibri"/>
                <a:cs typeface="Calibri"/>
                <a:sym typeface="Calibri"/>
              </a:rPr>
              <a:t>Many options: OpenAPI, GraphQL, gRPC, Thrift, SOAP etc</a:t>
            </a:r>
            <a:endParaRPr sz="1050">
              <a:latin typeface="Calibri"/>
              <a:ea typeface="Calibri"/>
              <a:cs typeface="Calibri"/>
              <a:sym typeface="Calibri"/>
            </a:endParaRPr>
          </a:p>
        </p:txBody>
      </p:sp>
      <p:sp>
        <p:nvSpPr>
          <p:cNvPr id="2" name="Google Shape;345;p47">
            <a:extLst>
              <a:ext uri="{FF2B5EF4-FFF2-40B4-BE49-F238E27FC236}">
                <a16:creationId xmlns:a16="http://schemas.microsoft.com/office/drawing/2014/main" id="{A485C072-8221-DDFD-1445-2CB9C42FF899}"/>
              </a:ext>
            </a:extLst>
          </p:cNvPr>
          <p:cNvSpPr txBox="1"/>
          <p:nvPr/>
        </p:nvSpPr>
        <p:spPr>
          <a:xfrm>
            <a:off x="150672" y="189345"/>
            <a:ext cx="5930100" cy="630920"/>
          </a:xfrm>
          <a:prstGeom prst="rect">
            <a:avLst/>
          </a:prstGeom>
          <a:noFill/>
          <a:ln>
            <a:noFill/>
          </a:ln>
        </p:spPr>
        <p:txBody>
          <a:bodyPr spcFirstLastPara="1" wrap="square" lIns="68569" tIns="68569" rIns="68569" bIns="68569"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800"/>
            </a:pPr>
            <a:r>
              <a:rPr lang="en-US" sz="3200" dirty="0">
                <a:solidFill>
                  <a:schemeClr val="tx1"/>
                </a:solidFill>
                <a:latin typeface="Chalkboard" panose="03050602040202020205" pitchFamily="66" charset="77"/>
                <a:ea typeface="Calibri"/>
                <a:cs typeface="Calibri"/>
                <a:sym typeface="Calibri"/>
              </a:rPr>
              <a:t>Temporal Coupling</a:t>
            </a:r>
            <a:endParaRPr sz="3200" dirty="0">
              <a:solidFill>
                <a:schemeClr val="tx1"/>
              </a:solidFill>
              <a:latin typeface="Chalkboard" panose="03050602040202020205" pitchFamily="66" charset="77"/>
              <a:ea typeface="Calibri"/>
              <a:cs typeface="Calibri"/>
              <a:sym typeface="Calibri"/>
            </a:endParaRPr>
          </a:p>
        </p:txBody>
      </p:sp>
    </p:spTree>
    <p:extLst>
      <p:ext uri="{BB962C8B-B14F-4D97-AF65-F5344CB8AC3E}">
        <p14:creationId xmlns:p14="http://schemas.microsoft.com/office/powerpoint/2010/main" val="118774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406B1-0473-C3E4-70B5-C04241BD158C}"/>
            </a:ext>
          </a:extLst>
        </p:cNvPr>
        <p:cNvGrpSpPr/>
        <p:nvPr/>
      </p:nvGrpSpPr>
      <p:grpSpPr>
        <a:xfrm>
          <a:off x="0" y="0"/>
          <a:ext cx="0" cy="0"/>
          <a:chOff x="0" y="0"/>
          <a:chExt cx="0" cy="0"/>
        </a:xfrm>
      </p:grpSpPr>
      <p:sp>
        <p:nvSpPr>
          <p:cNvPr id="2" name="Google Shape;325;p46">
            <a:extLst>
              <a:ext uri="{FF2B5EF4-FFF2-40B4-BE49-F238E27FC236}">
                <a16:creationId xmlns:a16="http://schemas.microsoft.com/office/drawing/2014/main" id="{127D4F8A-4265-EEB1-84EB-6A86172F8D4D}"/>
              </a:ext>
            </a:extLst>
          </p:cNvPr>
          <p:cNvSpPr txBox="1"/>
          <p:nvPr/>
        </p:nvSpPr>
        <p:spPr>
          <a:xfrm>
            <a:off x="326270" y="1074003"/>
            <a:ext cx="5930100" cy="346226"/>
          </a:xfrm>
          <a:prstGeom prst="rect">
            <a:avLst/>
          </a:prstGeom>
          <a:noFill/>
          <a:ln>
            <a:noFill/>
          </a:ln>
        </p:spPr>
        <p:txBody>
          <a:bodyPr spcFirstLastPara="1" wrap="square" lIns="68569" tIns="68569" rIns="68569" bIns="68569" anchor="t" anchorCtr="0">
            <a:spAutoFit/>
          </a:bodyPr>
          <a:lstStyle/>
          <a:p>
            <a:pPr>
              <a:buClr>
                <a:schemeClr val="dk1"/>
              </a:buClr>
              <a:buSzPts val="1800"/>
            </a:pPr>
            <a:r>
              <a:rPr lang="en-US" sz="1350" dirty="0">
                <a:latin typeface="Chalkboard" panose="03050602040202020205" pitchFamily="66" charset="77"/>
                <a:ea typeface="Calibri"/>
                <a:cs typeface="Calibri"/>
                <a:sym typeface="Calibri"/>
              </a:rPr>
              <a:t>Asynchronous Conversation</a:t>
            </a:r>
            <a:endParaRPr sz="1350" dirty="0">
              <a:latin typeface="Chalkboard" panose="03050602040202020205" pitchFamily="66" charset="77"/>
              <a:ea typeface="Calibri"/>
              <a:cs typeface="Calibri"/>
              <a:sym typeface="Calibri"/>
            </a:endParaRPr>
          </a:p>
        </p:txBody>
      </p:sp>
      <p:sp>
        <p:nvSpPr>
          <p:cNvPr id="3" name="Google Shape;326;p46">
            <a:extLst>
              <a:ext uri="{FF2B5EF4-FFF2-40B4-BE49-F238E27FC236}">
                <a16:creationId xmlns:a16="http://schemas.microsoft.com/office/drawing/2014/main" id="{10137F9C-6ED5-4AA1-55AD-FA8390061D4E}"/>
              </a:ext>
            </a:extLst>
          </p:cNvPr>
          <p:cNvSpPr/>
          <p:nvPr/>
        </p:nvSpPr>
        <p:spPr>
          <a:xfrm>
            <a:off x="2181428" y="3183881"/>
            <a:ext cx="1310418" cy="938628"/>
          </a:xfrm>
          <a:prstGeom prst="cloud">
            <a:avLst/>
          </a:prstGeom>
          <a:solidFill>
            <a:schemeClr val="bg1">
              <a:lumMod val="85000"/>
            </a:schemeClr>
          </a:solidFill>
          <a:ln w="9525" cap="flat" cmpd="sng">
            <a:solidFill>
              <a:schemeClr val="tx1"/>
            </a:solidFill>
            <a:prstDash val="solid"/>
            <a:round/>
            <a:headEnd type="none" w="sm" len="sm"/>
            <a:tailEnd type="none" w="sm" len="sm"/>
          </a:ln>
        </p:spPr>
        <p:txBody>
          <a:bodyPr spcFirstLastPara="1" wrap="square" lIns="68569" tIns="68569" rIns="68569" bIns="68569" anchor="ctr" anchorCtr="0">
            <a:noAutofit/>
          </a:bodyPr>
          <a:lstStyle/>
          <a:p>
            <a:pPr>
              <a:buClr>
                <a:schemeClr val="dk1"/>
              </a:buClr>
              <a:buSzPts val="1800"/>
            </a:pPr>
            <a:endParaRPr sz="1350">
              <a:latin typeface="Calibri"/>
              <a:ea typeface="Calibri"/>
              <a:cs typeface="Calibri"/>
              <a:sym typeface="Calibri"/>
            </a:endParaRPr>
          </a:p>
        </p:txBody>
      </p:sp>
      <p:sp>
        <p:nvSpPr>
          <p:cNvPr id="4" name="Google Shape;327;p46">
            <a:extLst>
              <a:ext uri="{FF2B5EF4-FFF2-40B4-BE49-F238E27FC236}">
                <a16:creationId xmlns:a16="http://schemas.microsoft.com/office/drawing/2014/main" id="{6C6F3FF3-53A6-8043-97B6-1FADEB26660D}"/>
              </a:ext>
            </a:extLst>
          </p:cNvPr>
          <p:cNvSpPr/>
          <p:nvPr/>
        </p:nvSpPr>
        <p:spPr>
          <a:xfrm>
            <a:off x="5967949" y="3178992"/>
            <a:ext cx="1310418" cy="938628"/>
          </a:xfrm>
          <a:prstGeom prst="cloud">
            <a:avLst/>
          </a:prstGeom>
          <a:solidFill>
            <a:schemeClr val="bg1">
              <a:lumMod val="85000"/>
            </a:schemeClr>
          </a:solidFill>
          <a:ln w="9525" cap="flat" cmpd="sng">
            <a:solidFill>
              <a:schemeClr val="tx1"/>
            </a:solidFill>
            <a:prstDash val="solid"/>
            <a:round/>
            <a:headEnd type="none" w="sm" len="sm"/>
            <a:tailEnd type="none" w="sm" len="sm"/>
          </a:ln>
        </p:spPr>
        <p:txBody>
          <a:bodyPr spcFirstLastPara="1" wrap="square" lIns="68569" tIns="68569" rIns="68569" bIns="68569" anchor="ctr" anchorCtr="0">
            <a:noAutofit/>
          </a:bodyPr>
          <a:lstStyle/>
          <a:p>
            <a:pPr>
              <a:buClr>
                <a:schemeClr val="dk1"/>
              </a:buClr>
              <a:buSzPts val="1800"/>
            </a:pPr>
            <a:endParaRPr sz="1350">
              <a:latin typeface="Calibri"/>
              <a:ea typeface="Calibri"/>
              <a:cs typeface="Calibri"/>
              <a:sym typeface="Calibri"/>
            </a:endParaRPr>
          </a:p>
        </p:txBody>
      </p:sp>
      <p:sp>
        <p:nvSpPr>
          <p:cNvPr id="5" name="Google Shape;328;p46">
            <a:extLst>
              <a:ext uri="{FF2B5EF4-FFF2-40B4-BE49-F238E27FC236}">
                <a16:creationId xmlns:a16="http://schemas.microsoft.com/office/drawing/2014/main" id="{55E9A79E-DF6D-B781-721F-598A4657BA45}"/>
              </a:ext>
            </a:extLst>
          </p:cNvPr>
          <p:cNvSpPr txBox="1"/>
          <p:nvPr/>
        </p:nvSpPr>
        <p:spPr>
          <a:xfrm>
            <a:off x="1779104" y="1795540"/>
            <a:ext cx="2644200" cy="946391"/>
          </a:xfrm>
          <a:prstGeom prst="rect">
            <a:avLst/>
          </a:prstGeom>
          <a:noFill/>
          <a:ln w="9525" cap="flat" cmpd="sng">
            <a:solidFill>
              <a:schemeClr val="tx1"/>
            </a:solidFill>
            <a:prstDash val="solid"/>
            <a:round/>
            <a:headEnd type="none" w="sm" len="sm"/>
            <a:tailEnd type="none" w="sm" len="sm"/>
          </a:ln>
        </p:spPr>
        <p:txBody>
          <a:bodyPr spcFirstLastPara="1" wrap="square" lIns="68569" tIns="68569" rIns="68569" bIns="68569" anchor="t" anchorCtr="0">
            <a:spAutoFit/>
          </a:bodyPr>
          <a:lstStyle/>
          <a:p>
            <a:pPr>
              <a:buClr>
                <a:schemeClr val="dk1"/>
              </a:buClr>
              <a:buSzPts val="1400"/>
            </a:pPr>
            <a:r>
              <a:rPr lang="en-US" sz="1050" dirty="0">
                <a:latin typeface="Chalkboard" panose="03050602040202020205" pitchFamily="66" charset="77"/>
                <a:ea typeface="Calibri"/>
                <a:cs typeface="Calibri"/>
                <a:sym typeface="Calibri"/>
              </a:rPr>
              <a:t>In an a</a:t>
            </a:r>
            <a:r>
              <a:rPr lang="en-US" sz="1050" b="1" dirty="0">
                <a:latin typeface="Chalkboard" panose="03050602040202020205" pitchFamily="66" charset="77"/>
                <a:ea typeface="Calibri"/>
                <a:cs typeface="Calibri"/>
                <a:sym typeface="Calibri"/>
              </a:rPr>
              <a:t>synchronous conversation</a:t>
            </a:r>
            <a:r>
              <a:rPr lang="en-US" sz="1050" dirty="0">
                <a:latin typeface="Chalkboard" panose="03050602040202020205" pitchFamily="66" charset="77"/>
                <a:ea typeface="Calibri"/>
                <a:cs typeface="Calibri"/>
                <a:sym typeface="Calibri"/>
              </a:rPr>
              <a:t>, the </a:t>
            </a:r>
            <a:r>
              <a:rPr lang="en-US" sz="1050" i="1" dirty="0">
                <a:latin typeface="Chalkboard" panose="03050602040202020205" pitchFamily="66" charset="77"/>
                <a:ea typeface="Calibri"/>
                <a:cs typeface="Calibri"/>
                <a:sym typeface="Calibri"/>
              </a:rPr>
              <a:t>receiver</a:t>
            </a:r>
            <a:r>
              <a:rPr lang="en-US" sz="1050" dirty="0">
                <a:latin typeface="Chalkboard" panose="03050602040202020205" pitchFamily="66" charset="77"/>
                <a:ea typeface="Calibri"/>
                <a:cs typeface="Calibri"/>
                <a:sym typeface="Calibri"/>
              </a:rPr>
              <a:t> does not need to be present at the time the </a:t>
            </a:r>
            <a:r>
              <a:rPr lang="en-US" sz="1050" i="1" dirty="0">
                <a:latin typeface="Chalkboard" panose="03050602040202020205" pitchFamily="66" charset="77"/>
                <a:ea typeface="Calibri"/>
                <a:cs typeface="Calibri"/>
                <a:sym typeface="Calibri"/>
              </a:rPr>
              <a:t>sender</a:t>
            </a:r>
            <a:r>
              <a:rPr lang="en-US" sz="1050" dirty="0">
                <a:latin typeface="Chalkboard" panose="03050602040202020205" pitchFamily="66" charset="77"/>
                <a:ea typeface="Calibri"/>
                <a:cs typeface="Calibri"/>
                <a:sym typeface="Calibri"/>
              </a:rPr>
              <a:t> communicates with them, using </a:t>
            </a:r>
            <a:r>
              <a:rPr lang="en-US" sz="1050" b="1" dirty="0">
                <a:latin typeface="Chalkboard" panose="03050602040202020205" pitchFamily="66" charset="77"/>
                <a:ea typeface="Calibri"/>
                <a:cs typeface="Calibri"/>
                <a:sym typeface="Calibri"/>
              </a:rPr>
              <a:t>store and forward</a:t>
            </a:r>
            <a:r>
              <a:rPr lang="en-US" sz="1050" dirty="0">
                <a:latin typeface="Chalkboard" panose="03050602040202020205" pitchFamily="66" charset="77"/>
                <a:ea typeface="Calibri"/>
                <a:cs typeface="Calibri"/>
                <a:sym typeface="Calibri"/>
              </a:rPr>
              <a:t> to pick up the message later.</a:t>
            </a:r>
            <a:endParaRPr sz="1050" dirty="0">
              <a:latin typeface="Chalkboard" panose="03050602040202020205" pitchFamily="66" charset="77"/>
              <a:ea typeface="Calibri"/>
              <a:cs typeface="Calibri"/>
              <a:sym typeface="Calibri"/>
            </a:endParaRPr>
          </a:p>
        </p:txBody>
      </p:sp>
      <p:cxnSp>
        <p:nvCxnSpPr>
          <p:cNvPr id="6" name="Google Shape;329;p46">
            <a:extLst>
              <a:ext uri="{FF2B5EF4-FFF2-40B4-BE49-F238E27FC236}">
                <a16:creationId xmlns:a16="http://schemas.microsoft.com/office/drawing/2014/main" id="{6A9B807F-B8A4-2005-8C0B-D0A9D9BD1ADE}"/>
              </a:ext>
            </a:extLst>
          </p:cNvPr>
          <p:cNvCxnSpPr/>
          <p:nvPr/>
        </p:nvCxnSpPr>
        <p:spPr>
          <a:xfrm>
            <a:off x="3883302" y="3183881"/>
            <a:ext cx="1641150" cy="8100"/>
          </a:xfrm>
          <a:prstGeom prst="straightConnector1">
            <a:avLst/>
          </a:prstGeom>
          <a:noFill/>
          <a:ln w="9525" cap="flat" cmpd="sng">
            <a:solidFill>
              <a:schemeClr val="tx1"/>
            </a:solidFill>
            <a:prstDash val="lgDash"/>
            <a:round/>
            <a:headEnd type="none" w="sm" len="sm"/>
            <a:tailEnd type="triangle" w="med" len="med"/>
          </a:ln>
          <a:effectLst>
            <a:outerShdw blurRad="57150" dist="19050" dir="5400000" algn="bl" rotWithShape="0">
              <a:srgbClr val="000000">
                <a:alpha val="49803"/>
              </a:srgbClr>
            </a:outerShdw>
          </a:effectLst>
        </p:spPr>
      </p:cxnSp>
      <p:cxnSp>
        <p:nvCxnSpPr>
          <p:cNvPr id="7" name="Google Shape;330;p46">
            <a:extLst>
              <a:ext uri="{FF2B5EF4-FFF2-40B4-BE49-F238E27FC236}">
                <a16:creationId xmlns:a16="http://schemas.microsoft.com/office/drawing/2014/main" id="{31AD3DD6-5474-6D3C-901C-33D5E0CF5D30}"/>
              </a:ext>
            </a:extLst>
          </p:cNvPr>
          <p:cNvCxnSpPr/>
          <p:nvPr/>
        </p:nvCxnSpPr>
        <p:spPr>
          <a:xfrm rot="10800000">
            <a:off x="3812898" y="4258420"/>
            <a:ext cx="1745775" cy="0"/>
          </a:xfrm>
          <a:prstGeom prst="straightConnector1">
            <a:avLst/>
          </a:prstGeom>
          <a:noFill/>
          <a:ln w="9525" cap="flat" cmpd="sng">
            <a:solidFill>
              <a:schemeClr val="tx1"/>
            </a:solidFill>
            <a:prstDash val="lgDash"/>
            <a:round/>
            <a:headEnd type="none" w="sm" len="sm"/>
            <a:tailEnd type="triangle" w="med" len="med"/>
          </a:ln>
          <a:effectLst>
            <a:outerShdw blurRad="57150" dist="19050" dir="5400000" algn="bl" rotWithShape="0">
              <a:srgbClr val="000000">
                <a:alpha val="49803"/>
              </a:srgbClr>
            </a:outerShdw>
          </a:effectLst>
        </p:spPr>
      </p:cxnSp>
      <p:sp>
        <p:nvSpPr>
          <p:cNvPr id="8" name="Google Shape;331;p46">
            <a:extLst>
              <a:ext uri="{FF2B5EF4-FFF2-40B4-BE49-F238E27FC236}">
                <a16:creationId xmlns:a16="http://schemas.microsoft.com/office/drawing/2014/main" id="{7FF6B6E0-6706-1A8A-B5F1-D759EA9675C9}"/>
              </a:ext>
            </a:extLst>
          </p:cNvPr>
          <p:cNvSpPr txBox="1"/>
          <p:nvPr/>
        </p:nvSpPr>
        <p:spPr>
          <a:xfrm>
            <a:off x="4474714" y="2885116"/>
            <a:ext cx="422142" cy="230810"/>
          </a:xfrm>
          <a:prstGeom prst="rect">
            <a:avLst/>
          </a:prstGeom>
          <a:noFill/>
          <a:ln>
            <a:solidFill>
              <a:schemeClr val="tx1"/>
            </a:solidFill>
          </a:ln>
        </p:spPr>
        <p:txBody>
          <a:bodyPr spcFirstLastPara="1" wrap="square" lIns="68569" tIns="68569" rIns="68569" bIns="68569" anchor="t" anchorCtr="0">
            <a:spAutoFit/>
          </a:bodyPr>
          <a:lstStyle/>
          <a:p>
            <a:pPr>
              <a:buClr>
                <a:schemeClr val="dk1"/>
              </a:buClr>
              <a:buSzPts val="800"/>
            </a:pPr>
            <a:r>
              <a:rPr lang="en-US" sz="600">
                <a:latin typeface="Calibri"/>
                <a:ea typeface="Calibri"/>
                <a:cs typeface="Calibri"/>
                <a:sym typeface="Calibri"/>
              </a:rPr>
              <a:t>Request</a:t>
            </a:r>
            <a:endParaRPr sz="600">
              <a:latin typeface="Calibri"/>
              <a:ea typeface="Calibri"/>
              <a:cs typeface="Calibri"/>
              <a:sym typeface="Calibri"/>
            </a:endParaRPr>
          </a:p>
        </p:txBody>
      </p:sp>
      <p:sp>
        <p:nvSpPr>
          <p:cNvPr id="9" name="Google Shape;332;p46">
            <a:extLst>
              <a:ext uri="{FF2B5EF4-FFF2-40B4-BE49-F238E27FC236}">
                <a16:creationId xmlns:a16="http://schemas.microsoft.com/office/drawing/2014/main" id="{64039C06-919A-02AB-8141-C1C327DAB190}"/>
              </a:ext>
            </a:extLst>
          </p:cNvPr>
          <p:cNvSpPr txBox="1"/>
          <p:nvPr/>
        </p:nvSpPr>
        <p:spPr>
          <a:xfrm>
            <a:off x="4474714" y="4394332"/>
            <a:ext cx="480896" cy="230810"/>
          </a:xfrm>
          <a:prstGeom prst="rect">
            <a:avLst/>
          </a:prstGeom>
          <a:noFill/>
          <a:ln>
            <a:solidFill>
              <a:schemeClr val="tx1"/>
            </a:solidFill>
          </a:ln>
        </p:spPr>
        <p:txBody>
          <a:bodyPr spcFirstLastPara="1" wrap="square" lIns="68569" tIns="68569" rIns="68569" bIns="68569" anchor="t" anchorCtr="0">
            <a:spAutoFit/>
          </a:bodyPr>
          <a:lstStyle/>
          <a:p>
            <a:pPr>
              <a:buClr>
                <a:schemeClr val="dk1"/>
              </a:buClr>
              <a:buSzPts val="800"/>
            </a:pPr>
            <a:r>
              <a:rPr lang="en-US" sz="600">
                <a:latin typeface="Calibri"/>
                <a:ea typeface="Calibri"/>
                <a:cs typeface="Calibri"/>
                <a:sym typeface="Calibri"/>
              </a:rPr>
              <a:t>Response</a:t>
            </a:r>
            <a:endParaRPr sz="600">
              <a:latin typeface="Calibri"/>
              <a:ea typeface="Calibri"/>
              <a:cs typeface="Calibri"/>
              <a:sym typeface="Calibri"/>
            </a:endParaRPr>
          </a:p>
        </p:txBody>
      </p:sp>
      <p:cxnSp>
        <p:nvCxnSpPr>
          <p:cNvPr id="10" name="Google Shape;333;p46">
            <a:extLst>
              <a:ext uri="{FF2B5EF4-FFF2-40B4-BE49-F238E27FC236}">
                <a16:creationId xmlns:a16="http://schemas.microsoft.com/office/drawing/2014/main" id="{E8585102-66DD-1B3D-253B-811620203C01}"/>
              </a:ext>
            </a:extLst>
          </p:cNvPr>
          <p:cNvCxnSpPr>
            <a:stCxn id="5" idx="2"/>
            <a:endCxn id="13" idx="0"/>
          </p:cNvCxnSpPr>
          <p:nvPr/>
        </p:nvCxnSpPr>
        <p:spPr>
          <a:xfrm>
            <a:off x="3101204" y="2741931"/>
            <a:ext cx="415180" cy="1321702"/>
          </a:xfrm>
          <a:prstGeom prst="straightConnector1">
            <a:avLst/>
          </a:prstGeom>
          <a:noFill/>
          <a:ln w="9525" cap="flat" cmpd="sng">
            <a:solidFill>
              <a:schemeClr val="tx1"/>
            </a:solidFill>
            <a:prstDash val="solid"/>
            <a:round/>
            <a:headEnd type="none" w="sm" len="sm"/>
            <a:tailEnd type="triangle" w="med" len="med"/>
          </a:ln>
          <a:effectLst>
            <a:outerShdw blurRad="57150" dist="19050" dir="5400000" algn="bl" rotWithShape="0">
              <a:srgbClr val="000000">
                <a:alpha val="49803"/>
              </a:srgbClr>
            </a:outerShdw>
          </a:effectLst>
        </p:spPr>
      </p:cxnSp>
      <p:cxnSp>
        <p:nvCxnSpPr>
          <p:cNvPr id="11" name="Google Shape;335;p46">
            <a:extLst>
              <a:ext uri="{FF2B5EF4-FFF2-40B4-BE49-F238E27FC236}">
                <a16:creationId xmlns:a16="http://schemas.microsoft.com/office/drawing/2014/main" id="{1864C185-50F2-34C5-6C22-C55D9A126507}"/>
              </a:ext>
            </a:extLst>
          </p:cNvPr>
          <p:cNvCxnSpPr>
            <a:stCxn id="5" idx="2"/>
            <a:endCxn id="12" idx="0"/>
          </p:cNvCxnSpPr>
          <p:nvPr/>
        </p:nvCxnSpPr>
        <p:spPr>
          <a:xfrm>
            <a:off x="3101204" y="2741931"/>
            <a:ext cx="2690757" cy="236943"/>
          </a:xfrm>
          <a:prstGeom prst="straightConnector1">
            <a:avLst/>
          </a:prstGeom>
          <a:noFill/>
          <a:ln w="9525" cap="flat" cmpd="sng">
            <a:solidFill>
              <a:schemeClr val="tx1"/>
            </a:solidFill>
            <a:prstDash val="solid"/>
            <a:round/>
            <a:headEnd type="none" w="sm" len="sm"/>
            <a:tailEnd type="triangle" w="med" len="med"/>
          </a:ln>
          <a:effectLst>
            <a:outerShdw blurRad="57150" dist="19050" dir="5400000" algn="bl" rotWithShape="0">
              <a:srgbClr val="000000">
                <a:alpha val="49803"/>
              </a:srgbClr>
            </a:outerShdw>
          </a:effectLst>
        </p:spPr>
      </p:cxnSp>
      <p:pic>
        <p:nvPicPr>
          <p:cNvPr id="12" name="Google Shape;336;p46" descr="Mailbox">
            <a:extLst>
              <a:ext uri="{FF2B5EF4-FFF2-40B4-BE49-F238E27FC236}">
                <a16:creationId xmlns:a16="http://schemas.microsoft.com/office/drawing/2014/main" id="{EB1F82EC-9904-0AB0-6F8D-5B125A5DE722}"/>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566897" y="2978874"/>
            <a:ext cx="450127" cy="450127"/>
          </a:xfrm>
          <a:prstGeom prst="rect">
            <a:avLst/>
          </a:prstGeom>
          <a:noFill/>
          <a:ln>
            <a:solidFill>
              <a:schemeClr val="tx1"/>
            </a:solidFill>
          </a:ln>
        </p:spPr>
      </p:pic>
      <p:pic>
        <p:nvPicPr>
          <p:cNvPr id="13" name="Google Shape;334;p46" descr="Mailbox">
            <a:extLst>
              <a:ext uri="{FF2B5EF4-FFF2-40B4-BE49-F238E27FC236}">
                <a16:creationId xmlns:a16="http://schemas.microsoft.com/office/drawing/2014/main" id="{3CDCD34F-C1EC-1C8E-C0CF-2F8A2F9FD45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291320" y="4063633"/>
            <a:ext cx="450127" cy="450127"/>
          </a:xfrm>
          <a:prstGeom prst="rect">
            <a:avLst/>
          </a:prstGeom>
          <a:noFill/>
          <a:ln>
            <a:solidFill>
              <a:schemeClr val="tx1"/>
            </a:solidFill>
          </a:ln>
        </p:spPr>
      </p:pic>
      <p:sp>
        <p:nvSpPr>
          <p:cNvPr id="14" name="Google Shape;337;p46">
            <a:extLst>
              <a:ext uri="{FF2B5EF4-FFF2-40B4-BE49-F238E27FC236}">
                <a16:creationId xmlns:a16="http://schemas.microsoft.com/office/drawing/2014/main" id="{080ADA85-4128-3F66-D544-2A6C9B583B59}"/>
              </a:ext>
            </a:extLst>
          </p:cNvPr>
          <p:cNvSpPr txBox="1"/>
          <p:nvPr/>
        </p:nvSpPr>
        <p:spPr>
          <a:xfrm>
            <a:off x="5847922" y="1935736"/>
            <a:ext cx="1310418" cy="300060"/>
          </a:xfrm>
          <a:prstGeom prst="rect">
            <a:avLst/>
          </a:prstGeom>
          <a:noFill/>
          <a:ln w="9525" cap="flat" cmpd="sng">
            <a:solidFill>
              <a:schemeClr val="tx1"/>
            </a:solidFill>
            <a:prstDash val="solid"/>
            <a:round/>
            <a:headEnd type="none" w="sm" len="sm"/>
            <a:tailEnd type="none" w="sm" len="sm"/>
          </a:ln>
        </p:spPr>
        <p:txBody>
          <a:bodyPr spcFirstLastPara="1" wrap="square" lIns="68569" tIns="68569" rIns="68569" bIns="68569" anchor="t" anchorCtr="0">
            <a:spAutoFit/>
          </a:bodyPr>
          <a:lstStyle/>
          <a:p>
            <a:pPr>
              <a:buClr>
                <a:schemeClr val="dk1"/>
              </a:buClr>
              <a:buSzPts val="1400"/>
            </a:pPr>
            <a:r>
              <a:rPr lang="en-US" sz="1050" i="1" dirty="0">
                <a:latin typeface="Chalkboard" panose="03050602040202020205" pitchFamily="66" charset="77"/>
                <a:ea typeface="Calibri"/>
                <a:cs typeface="Calibri"/>
                <a:sym typeface="Calibri"/>
              </a:rPr>
              <a:t>Example</a:t>
            </a:r>
            <a:r>
              <a:rPr lang="en-US" sz="1050" dirty="0">
                <a:latin typeface="Chalkboard" panose="03050602040202020205" pitchFamily="66" charset="77"/>
                <a:ea typeface="Calibri"/>
                <a:cs typeface="Calibri"/>
                <a:sym typeface="Calibri"/>
              </a:rPr>
              <a:t>: snail mail</a:t>
            </a:r>
            <a:endParaRPr sz="1050" dirty="0">
              <a:latin typeface="Chalkboard" panose="03050602040202020205" pitchFamily="66" charset="77"/>
              <a:ea typeface="Calibri"/>
              <a:cs typeface="Calibri"/>
              <a:sym typeface="Calibri"/>
            </a:endParaRPr>
          </a:p>
        </p:txBody>
      </p:sp>
      <p:sp>
        <p:nvSpPr>
          <p:cNvPr id="15" name="Google Shape;340;p46">
            <a:extLst>
              <a:ext uri="{FF2B5EF4-FFF2-40B4-BE49-F238E27FC236}">
                <a16:creationId xmlns:a16="http://schemas.microsoft.com/office/drawing/2014/main" id="{390F62FF-87A2-3320-2ED8-D1FB7BE6EB59}"/>
              </a:ext>
            </a:extLst>
          </p:cNvPr>
          <p:cNvSpPr txBox="1"/>
          <p:nvPr/>
        </p:nvSpPr>
        <p:spPr>
          <a:xfrm>
            <a:off x="952534" y="4821820"/>
            <a:ext cx="4712498" cy="300060"/>
          </a:xfrm>
          <a:prstGeom prst="rect">
            <a:avLst/>
          </a:prstGeom>
          <a:noFill/>
          <a:ln w="9525" cap="flat" cmpd="sng">
            <a:solidFill>
              <a:schemeClr val="tx1"/>
            </a:solidFill>
            <a:prstDash val="solid"/>
            <a:round/>
            <a:headEnd type="none" w="sm" len="sm"/>
            <a:tailEnd type="none" w="sm" len="sm"/>
          </a:ln>
        </p:spPr>
        <p:txBody>
          <a:bodyPr spcFirstLastPara="1" wrap="square" lIns="68569" tIns="68569" rIns="68569" bIns="68569" anchor="t" anchorCtr="0">
            <a:spAutoFit/>
          </a:bodyPr>
          <a:lstStyle/>
          <a:p>
            <a:r>
              <a:rPr lang="en-US" sz="1050" i="1">
                <a:latin typeface="Calibri"/>
                <a:ea typeface="Calibri"/>
                <a:cs typeface="Calibri"/>
                <a:sym typeface="Calibri"/>
              </a:rPr>
              <a:t>Many options: SQS, Kafka, AMQP 0-9-1 (RMQ), AMQP 1-0, MQTT, S3 </a:t>
            </a:r>
            <a:endParaRPr sz="1050">
              <a:latin typeface="Calibri"/>
              <a:ea typeface="Calibri"/>
              <a:cs typeface="Calibri"/>
              <a:sym typeface="Calibri"/>
            </a:endParaRPr>
          </a:p>
        </p:txBody>
      </p:sp>
      <p:sp>
        <p:nvSpPr>
          <p:cNvPr id="16" name="Google Shape;345;p47">
            <a:extLst>
              <a:ext uri="{FF2B5EF4-FFF2-40B4-BE49-F238E27FC236}">
                <a16:creationId xmlns:a16="http://schemas.microsoft.com/office/drawing/2014/main" id="{C9D67952-822F-4EC2-8F8A-4F4614C30912}"/>
              </a:ext>
            </a:extLst>
          </p:cNvPr>
          <p:cNvSpPr txBox="1"/>
          <p:nvPr/>
        </p:nvSpPr>
        <p:spPr>
          <a:xfrm>
            <a:off x="150672" y="189345"/>
            <a:ext cx="5930100" cy="630920"/>
          </a:xfrm>
          <a:prstGeom prst="rect">
            <a:avLst/>
          </a:prstGeom>
          <a:noFill/>
          <a:ln>
            <a:noFill/>
          </a:ln>
        </p:spPr>
        <p:txBody>
          <a:bodyPr spcFirstLastPara="1" wrap="square" lIns="68569" tIns="68569" rIns="68569" bIns="68569"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800"/>
            </a:pPr>
            <a:r>
              <a:rPr lang="en-US" sz="3200" dirty="0">
                <a:solidFill>
                  <a:schemeClr val="tx1"/>
                </a:solidFill>
                <a:latin typeface="Chalkboard" panose="03050602040202020205" pitchFamily="66" charset="77"/>
                <a:ea typeface="Calibri"/>
                <a:cs typeface="Calibri"/>
                <a:sym typeface="Calibri"/>
              </a:rPr>
              <a:t>Temporal Coupling</a:t>
            </a:r>
            <a:endParaRPr sz="3200" dirty="0">
              <a:solidFill>
                <a:schemeClr val="tx1"/>
              </a:solidFill>
              <a:latin typeface="Chalkboard" panose="03050602040202020205" pitchFamily="66" charset="77"/>
              <a:ea typeface="Calibri"/>
              <a:cs typeface="Calibri"/>
              <a:sym typeface="Calibri"/>
            </a:endParaRPr>
          </a:p>
        </p:txBody>
      </p:sp>
    </p:spTree>
    <p:extLst>
      <p:ext uri="{BB962C8B-B14F-4D97-AF65-F5344CB8AC3E}">
        <p14:creationId xmlns:p14="http://schemas.microsoft.com/office/powerpoint/2010/main" val="231283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21B6D-0639-E9C5-A01B-8F7921B80BA1}"/>
            </a:ext>
          </a:extLst>
        </p:cNvPr>
        <p:cNvGrpSpPr/>
        <p:nvPr/>
      </p:nvGrpSpPr>
      <p:grpSpPr>
        <a:xfrm>
          <a:off x="0" y="0"/>
          <a:ext cx="0" cy="0"/>
          <a:chOff x="0" y="0"/>
          <a:chExt cx="0" cy="0"/>
        </a:xfrm>
      </p:grpSpPr>
      <p:sp>
        <p:nvSpPr>
          <p:cNvPr id="2" name="Google Shape;345;p47">
            <a:extLst>
              <a:ext uri="{FF2B5EF4-FFF2-40B4-BE49-F238E27FC236}">
                <a16:creationId xmlns:a16="http://schemas.microsoft.com/office/drawing/2014/main" id="{CB876599-D5C1-6B86-841E-BCB2E2F66D3E}"/>
              </a:ext>
            </a:extLst>
          </p:cNvPr>
          <p:cNvSpPr txBox="1"/>
          <p:nvPr/>
        </p:nvSpPr>
        <p:spPr>
          <a:xfrm>
            <a:off x="150672" y="189345"/>
            <a:ext cx="5930100" cy="630920"/>
          </a:xfrm>
          <a:prstGeom prst="rect">
            <a:avLst/>
          </a:prstGeom>
          <a:noFill/>
          <a:ln>
            <a:noFill/>
          </a:ln>
        </p:spPr>
        <p:txBody>
          <a:bodyPr spcFirstLastPara="1" wrap="square" lIns="68569" tIns="68569" rIns="68569" bIns="68569"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800"/>
            </a:pPr>
            <a:r>
              <a:rPr lang="en-US" sz="3200" dirty="0">
                <a:solidFill>
                  <a:schemeClr val="tx1"/>
                </a:solidFill>
                <a:latin typeface="Chalkboard" panose="03050602040202020205" pitchFamily="66" charset="77"/>
                <a:ea typeface="Calibri"/>
                <a:cs typeface="Calibri"/>
                <a:sym typeface="Calibri"/>
              </a:rPr>
              <a:t>Temporal Coupling</a:t>
            </a:r>
            <a:endParaRPr sz="3200" dirty="0">
              <a:solidFill>
                <a:schemeClr val="tx1"/>
              </a:solidFill>
              <a:latin typeface="Chalkboard" panose="03050602040202020205" pitchFamily="66" charset="77"/>
              <a:ea typeface="Calibri"/>
              <a:cs typeface="Calibri"/>
              <a:sym typeface="Calibri"/>
            </a:endParaRPr>
          </a:p>
        </p:txBody>
      </p:sp>
      <p:sp>
        <p:nvSpPr>
          <p:cNvPr id="3" name="Google Shape;346;p47">
            <a:extLst>
              <a:ext uri="{FF2B5EF4-FFF2-40B4-BE49-F238E27FC236}">
                <a16:creationId xmlns:a16="http://schemas.microsoft.com/office/drawing/2014/main" id="{66426993-D444-A3DC-2B38-DEE37ABC92B1}"/>
              </a:ext>
            </a:extLst>
          </p:cNvPr>
          <p:cNvSpPr/>
          <p:nvPr/>
        </p:nvSpPr>
        <p:spPr>
          <a:xfrm>
            <a:off x="2917964" y="3797423"/>
            <a:ext cx="1310418" cy="938628"/>
          </a:xfrm>
          <a:prstGeom prst="cloud">
            <a:avLst/>
          </a:prstGeom>
          <a:solidFill>
            <a:schemeClr val="bg1">
              <a:lumMod val="85000"/>
            </a:schemeClr>
          </a:solidFill>
          <a:ln w="9525" cap="flat" cmpd="sng">
            <a:solidFill>
              <a:schemeClr val="tx1"/>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800"/>
            </a:pPr>
            <a:endParaRPr sz="1350">
              <a:solidFill>
                <a:schemeClr val="tx1"/>
              </a:solidFill>
              <a:latin typeface="Calibri"/>
              <a:ea typeface="Calibri"/>
              <a:cs typeface="Calibri"/>
              <a:sym typeface="Calibri"/>
            </a:endParaRPr>
          </a:p>
        </p:txBody>
      </p:sp>
      <p:sp>
        <p:nvSpPr>
          <p:cNvPr id="4" name="Google Shape;347;p47">
            <a:extLst>
              <a:ext uri="{FF2B5EF4-FFF2-40B4-BE49-F238E27FC236}">
                <a16:creationId xmlns:a16="http://schemas.microsoft.com/office/drawing/2014/main" id="{910331C1-8310-AF86-D679-0861E6E3F556}"/>
              </a:ext>
            </a:extLst>
          </p:cNvPr>
          <p:cNvSpPr/>
          <p:nvPr/>
        </p:nvSpPr>
        <p:spPr>
          <a:xfrm>
            <a:off x="5824514" y="3797423"/>
            <a:ext cx="1310418" cy="938628"/>
          </a:xfrm>
          <a:prstGeom prst="cloud">
            <a:avLst/>
          </a:prstGeom>
          <a:solidFill>
            <a:schemeClr val="bg1">
              <a:lumMod val="85000"/>
            </a:schemeClr>
          </a:solidFill>
          <a:ln w="9525" cap="flat" cmpd="sng">
            <a:solidFill>
              <a:schemeClr val="tx1"/>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800"/>
            </a:pPr>
            <a:endParaRPr sz="1350">
              <a:solidFill>
                <a:schemeClr val="tx1"/>
              </a:solidFill>
              <a:latin typeface="Calibri"/>
              <a:ea typeface="Calibri"/>
              <a:cs typeface="Calibri"/>
              <a:sym typeface="Calibri"/>
            </a:endParaRPr>
          </a:p>
        </p:txBody>
      </p:sp>
      <p:cxnSp>
        <p:nvCxnSpPr>
          <p:cNvPr id="5" name="Google Shape;348;p47">
            <a:extLst>
              <a:ext uri="{FF2B5EF4-FFF2-40B4-BE49-F238E27FC236}">
                <a16:creationId xmlns:a16="http://schemas.microsoft.com/office/drawing/2014/main" id="{5183945E-B854-AE6A-5DF6-31E93396614A}"/>
              </a:ext>
            </a:extLst>
          </p:cNvPr>
          <p:cNvCxnSpPr/>
          <p:nvPr/>
        </p:nvCxnSpPr>
        <p:spPr>
          <a:xfrm>
            <a:off x="4228382" y="3797423"/>
            <a:ext cx="1641150" cy="8100"/>
          </a:xfrm>
          <a:prstGeom prst="straightConnector1">
            <a:avLst/>
          </a:prstGeom>
          <a:noFill/>
          <a:ln w="9525" cap="flat" cmpd="sng">
            <a:solidFill>
              <a:schemeClr val="tx1"/>
            </a:solidFill>
            <a:prstDash val="lgDash"/>
            <a:round/>
            <a:headEnd type="none" w="sm" len="sm"/>
            <a:tailEnd type="triangle" w="med" len="med"/>
          </a:ln>
          <a:effectLst>
            <a:outerShdw blurRad="57150" dist="19050" dir="5400000" algn="bl" rotWithShape="0">
              <a:srgbClr val="000000">
                <a:alpha val="49803"/>
              </a:srgbClr>
            </a:outerShdw>
          </a:effectLst>
        </p:spPr>
      </p:cxnSp>
      <p:cxnSp>
        <p:nvCxnSpPr>
          <p:cNvPr id="6" name="Google Shape;349;p47">
            <a:extLst>
              <a:ext uri="{FF2B5EF4-FFF2-40B4-BE49-F238E27FC236}">
                <a16:creationId xmlns:a16="http://schemas.microsoft.com/office/drawing/2014/main" id="{5C1BD500-8E24-2397-223B-0F5CA1A45A84}"/>
              </a:ext>
            </a:extLst>
          </p:cNvPr>
          <p:cNvCxnSpPr/>
          <p:nvPr/>
        </p:nvCxnSpPr>
        <p:spPr>
          <a:xfrm rot="10800000">
            <a:off x="4157978" y="4871963"/>
            <a:ext cx="1745775" cy="0"/>
          </a:xfrm>
          <a:prstGeom prst="straightConnector1">
            <a:avLst/>
          </a:prstGeom>
          <a:noFill/>
          <a:ln w="9525" cap="flat" cmpd="sng">
            <a:solidFill>
              <a:schemeClr val="tx1"/>
            </a:solidFill>
            <a:prstDash val="lgDash"/>
            <a:round/>
            <a:headEnd type="none" w="sm" len="sm"/>
            <a:tailEnd type="triangle" w="med" len="med"/>
          </a:ln>
          <a:effectLst>
            <a:outerShdw blurRad="57150" dist="19050" dir="5400000" algn="bl" rotWithShape="0">
              <a:srgbClr val="000000">
                <a:alpha val="49803"/>
              </a:srgbClr>
            </a:outerShdw>
          </a:effectLst>
        </p:spPr>
      </p:cxnSp>
      <p:sp>
        <p:nvSpPr>
          <p:cNvPr id="7" name="Google Shape;350;p47">
            <a:extLst>
              <a:ext uri="{FF2B5EF4-FFF2-40B4-BE49-F238E27FC236}">
                <a16:creationId xmlns:a16="http://schemas.microsoft.com/office/drawing/2014/main" id="{3DF67185-ED0D-792F-2375-0F9306B45F8C}"/>
              </a:ext>
            </a:extLst>
          </p:cNvPr>
          <p:cNvSpPr txBox="1"/>
          <p:nvPr/>
        </p:nvSpPr>
        <p:spPr>
          <a:xfrm>
            <a:off x="4819794" y="3498659"/>
            <a:ext cx="422142" cy="230810"/>
          </a:xfrm>
          <a:prstGeom prst="rect">
            <a:avLst/>
          </a:prstGeom>
          <a:noFill/>
          <a:ln>
            <a:solidFill>
              <a:schemeClr val="tx1"/>
            </a:solidFill>
          </a:ln>
        </p:spPr>
        <p:txBody>
          <a:bodyPr spcFirstLastPara="1" wrap="square" lIns="68569" tIns="68569" rIns="68569" bIns="68569"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800"/>
            </a:pPr>
            <a:r>
              <a:rPr lang="en-US" sz="600">
                <a:solidFill>
                  <a:schemeClr val="tx1"/>
                </a:solidFill>
                <a:latin typeface="Calibri"/>
                <a:ea typeface="Calibri"/>
                <a:cs typeface="Calibri"/>
                <a:sym typeface="Calibri"/>
              </a:rPr>
              <a:t>Request</a:t>
            </a:r>
            <a:endParaRPr sz="600">
              <a:solidFill>
                <a:schemeClr val="tx1"/>
              </a:solidFill>
              <a:latin typeface="Calibri"/>
              <a:ea typeface="Calibri"/>
              <a:cs typeface="Calibri"/>
              <a:sym typeface="Calibri"/>
            </a:endParaRPr>
          </a:p>
        </p:txBody>
      </p:sp>
      <p:sp>
        <p:nvSpPr>
          <p:cNvPr id="8" name="Google Shape;351;p47">
            <a:extLst>
              <a:ext uri="{FF2B5EF4-FFF2-40B4-BE49-F238E27FC236}">
                <a16:creationId xmlns:a16="http://schemas.microsoft.com/office/drawing/2014/main" id="{90C218CD-E964-BCD0-F152-A3990BF41565}"/>
              </a:ext>
            </a:extLst>
          </p:cNvPr>
          <p:cNvSpPr txBox="1"/>
          <p:nvPr/>
        </p:nvSpPr>
        <p:spPr>
          <a:xfrm>
            <a:off x="4819794" y="5007875"/>
            <a:ext cx="422142" cy="230810"/>
          </a:xfrm>
          <a:prstGeom prst="rect">
            <a:avLst/>
          </a:prstGeom>
          <a:noFill/>
          <a:ln>
            <a:solidFill>
              <a:schemeClr val="tx1"/>
            </a:solidFill>
          </a:ln>
        </p:spPr>
        <p:txBody>
          <a:bodyPr spcFirstLastPara="1" wrap="square" lIns="68569" tIns="68569" rIns="68569" bIns="68569"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800"/>
            </a:pPr>
            <a:r>
              <a:rPr lang="en-US" sz="600">
                <a:solidFill>
                  <a:schemeClr val="tx1"/>
                </a:solidFill>
                <a:latin typeface="Calibri"/>
                <a:ea typeface="Calibri"/>
                <a:cs typeface="Calibri"/>
                <a:sym typeface="Calibri"/>
              </a:rPr>
              <a:t>Reply</a:t>
            </a:r>
            <a:endParaRPr sz="600">
              <a:solidFill>
                <a:schemeClr val="tx1"/>
              </a:solidFill>
              <a:latin typeface="Calibri"/>
              <a:ea typeface="Calibri"/>
              <a:cs typeface="Calibri"/>
              <a:sym typeface="Calibri"/>
            </a:endParaRPr>
          </a:p>
        </p:txBody>
      </p:sp>
      <p:cxnSp>
        <p:nvCxnSpPr>
          <p:cNvPr id="9" name="Google Shape;352;p47">
            <a:extLst>
              <a:ext uri="{FF2B5EF4-FFF2-40B4-BE49-F238E27FC236}">
                <a16:creationId xmlns:a16="http://schemas.microsoft.com/office/drawing/2014/main" id="{002DB56C-5369-A69C-10C0-CCC7B15CCD3C}"/>
              </a:ext>
            </a:extLst>
          </p:cNvPr>
          <p:cNvCxnSpPr>
            <a:endCxn id="3" idx="3"/>
          </p:cNvCxnSpPr>
          <p:nvPr/>
        </p:nvCxnSpPr>
        <p:spPr>
          <a:xfrm flipH="1">
            <a:off x="3573173" y="3032315"/>
            <a:ext cx="126450" cy="818775"/>
          </a:xfrm>
          <a:prstGeom prst="straightConnector1">
            <a:avLst/>
          </a:prstGeom>
          <a:noFill/>
          <a:ln w="9525" cap="flat" cmpd="sng">
            <a:solidFill>
              <a:schemeClr val="tx1"/>
            </a:solidFill>
            <a:prstDash val="solid"/>
            <a:round/>
            <a:headEnd type="none" w="sm" len="sm"/>
            <a:tailEnd type="triangle" w="med" len="med"/>
          </a:ln>
          <a:effectLst>
            <a:outerShdw blurRad="57150" dist="19050" dir="5400000" algn="bl" rotWithShape="0">
              <a:srgbClr val="000000">
                <a:alpha val="49803"/>
              </a:srgbClr>
            </a:outerShdw>
          </a:effectLst>
        </p:spPr>
      </p:cxnSp>
      <p:cxnSp>
        <p:nvCxnSpPr>
          <p:cNvPr id="10" name="Google Shape;353;p47">
            <a:extLst>
              <a:ext uri="{FF2B5EF4-FFF2-40B4-BE49-F238E27FC236}">
                <a16:creationId xmlns:a16="http://schemas.microsoft.com/office/drawing/2014/main" id="{55E941B5-641E-05BA-8309-AF4136265573}"/>
              </a:ext>
            </a:extLst>
          </p:cNvPr>
          <p:cNvCxnSpPr>
            <a:endCxn id="4" idx="3"/>
          </p:cNvCxnSpPr>
          <p:nvPr/>
        </p:nvCxnSpPr>
        <p:spPr>
          <a:xfrm>
            <a:off x="3699623" y="3032315"/>
            <a:ext cx="2780100" cy="818775"/>
          </a:xfrm>
          <a:prstGeom prst="straightConnector1">
            <a:avLst/>
          </a:prstGeom>
          <a:noFill/>
          <a:ln w="9525" cap="flat" cmpd="sng">
            <a:solidFill>
              <a:schemeClr val="tx1"/>
            </a:solidFill>
            <a:prstDash val="solid"/>
            <a:round/>
            <a:headEnd type="none" w="sm" len="sm"/>
            <a:tailEnd type="triangle" w="med" len="med"/>
          </a:ln>
          <a:effectLst>
            <a:outerShdw blurRad="57150" dist="19050" dir="5400000" algn="bl" rotWithShape="0">
              <a:srgbClr val="000000">
                <a:alpha val="49803"/>
              </a:srgbClr>
            </a:outerShdw>
          </a:effectLst>
        </p:spPr>
      </p:cxnSp>
      <p:sp>
        <p:nvSpPr>
          <p:cNvPr id="11" name="Google Shape;356;p47">
            <a:extLst>
              <a:ext uri="{FF2B5EF4-FFF2-40B4-BE49-F238E27FC236}">
                <a16:creationId xmlns:a16="http://schemas.microsoft.com/office/drawing/2014/main" id="{B5DBDA71-0B66-F8F2-570F-28FB83BBD1C7}"/>
              </a:ext>
            </a:extLst>
          </p:cNvPr>
          <p:cNvSpPr txBox="1"/>
          <p:nvPr/>
        </p:nvSpPr>
        <p:spPr>
          <a:xfrm>
            <a:off x="2461839" y="2210177"/>
            <a:ext cx="2780100" cy="784808"/>
          </a:xfrm>
          <a:prstGeom prst="rect">
            <a:avLst/>
          </a:prstGeom>
          <a:noFill/>
          <a:ln w="9525" cap="flat" cmpd="sng">
            <a:solidFill>
              <a:schemeClr val="tx1"/>
            </a:solidFill>
            <a:prstDash val="solid"/>
            <a:round/>
            <a:headEnd type="none" w="sm" len="sm"/>
            <a:tailEnd type="none" w="sm" len="sm"/>
          </a:ln>
        </p:spPr>
        <p:txBody>
          <a:bodyPr spcFirstLastPara="1" wrap="square" lIns="68569" tIns="68569" rIns="68569" bIns="68569"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400"/>
            </a:pPr>
            <a:r>
              <a:rPr lang="en-US" sz="1050" dirty="0">
                <a:solidFill>
                  <a:schemeClr val="tx1"/>
                </a:solidFill>
                <a:latin typeface="Chalkboard" panose="03050602040202020205" pitchFamily="66" charset="77"/>
                <a:ea typeface="Calibri"/>
                <a:cs typeface="Calibri"/>
                <a:sym typeface="Calibri"/>
              </a:rPr>
              <a:t>If both parties must be present to succeed, we say they are </a:t>
            </a:r>
            <a:r>
              <a:rPr lang="en-US" sz="1050" i="1" dirty="0">
                <a:solidFill>
                  <a:schemeClr val="tx1"/>
                </a:solidFill>
                <a:latin typeface="Chalkboard" panose="03050602040202020205" pitchFamily="66" charset="77"/>
                <a:ea typeface="Calibri"/>
                <a:cs typeface="Calibri"/>
                <a:sym typeface="Calibri"/>
              </a:rPr>
              <a:t>temporally coupled. </a:t>
            </a:r>
            <a:r>
              <a:rPr lang="en-US" sz="1050" dirty="0">
                <a:solidFill>
                  <a:schemeClr val="tx1"/>
                </a:solidFill>
                <a:latin typeface="Chalkboard" panose="03050602040202020205" pitchFamily="66" charset="77"/>
                <a:ea typeface="Calibri"/>
                <a:cs typeface="Calibri"/>
                <a:sym typeface="Calibri"/>
              </a:rPr>
              <a:t>The availability of one has an impact on the availability of another.</a:t>
            </a:r>
            <a:endParaRPr sz="1050" dirty="0">
              <a:solidFill>
                <a:schemeClr val="tx1"/>
              </a:solidFill>
              <a:latin typeface="Chalkboard" panose="03050602040202020205" pitchFamily="66" charset="77"/>
              <a:ea typeface="Calibri"/>
              <a:cs typeface="Calibri"/>
              <a:sym typeface="Calibri"/>
            </a:endParaRPr>
          </a:p>
        </p:txBody>
      </p:sp>
    </p:spTree>
    <p:extLst>
      <p:ext uri="{BB962C8B-B14F-4D97-AF65-F5344CB8AC3E}">
        <p14:creationId xmlns:p14="http://schemas.microsoft.com/office/powerpoint/2010/main" val="2186589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2A2E83-C404-9891-7CD2-16171771B69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FE6220-E7BF-B40A-E144-509C86C90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F477415-4AE0-E15C-DB2E-97CC665F094A}"/>
              </a:ext>
            </a:extLst>
          </p:cNvPr>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Integration styles</a:t>
            </a:r>
          </a:p>
        </p:txBody>
      </p:sp>
      <p:sp>
        <p:nvSpPr>
          <p:cNvPr id="5" name="Text Placeholder 4">
            <a:extLst>
              <a:ext uri="{FF2B5EF4-FFF2-40B4-BE49-F238E27FC236}">
                <a16:creationId xmlns:a16="http://schemas.microsoft.com/office/drawing/2014/main" id="{5E05CD43-7144-D3DF-E165-01458E5111CD}"/>
              </a:ext>
            </a:extLst>
          </p:cNvPr>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r>
              <a:rPr lang="en-US" sz="2200" kern="1200" dirty="0">
                <a:solidFill>
                  <a:schemeClr val="tx1"/>
                </a:solidFill>
                <a:latin typeface="Chalkboard" panose="03050602040202020205" pitchFamily="66" charset="77"/>
              </a:rPr>
              <a:t>How do we communicate between microservices?</a:t>
            </a:r>
          </a:p>
        </p:txBody>
      </p:sp>
      <p:sp>
        <p:nvSpPr>
          <p:cNvPr id="12" name="Rectangle 11">
            <a:extLst>
              <a:ext uri="{FF2B5EF4-FFF2-40B4-BE49-F238E27FC236}">
                <a16:creationId xmlns:a16="http://schemas.microsoft.com/office/drawing/2014/main" id="{CACBBB11-8D92-1326-3A26-2664B0F5EF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2379039D-DBD0-8863-17F6-5B5870A064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4C4DDCDE-BD8C-5592-C239-C189FC57FF37}"/>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31</a:t>
            </a:fld>
            <a:endParaRPr lang="en-US">
              <a:solidFill>
                <a:schemeClr val="tx1">
                  <a:lumMod val="50000"/>
                  <a:lumOff val="50000"/>
                </a:schemeClr>
              </a:solidFill>
            </a:endParaRPr>
          </a:p>
        </p:txBody>
      </p:sp>
    </p:spTree>
    <p:extLst>
      <p:ext uri="{BB962C8B-B14F-4D97-AF65-F5344CB8AC3E}">
        <p14:creationId xmlns:p14="http://schemas.microsoft.com/office/powerpoint/2010/main" val="862625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E31AB7D-F395-F84B-A62A-2CE6B6595DBA}"/>
              </a:ext>
            </a:extLst>
          </p:cNvPr>
          <p:cNvPicPr>
            <a:picLocks noChangeAspect="1"/>
          </p:cNvPicPr>
          <p:nvPr/>
        </p:nvPicPr>
        <p:blipFill>
          <a:blip r:embed="rId2"/>
          <a:stretch>
            <a:fillRect/>
          </a:stretch>
        </p:blipFill>
        <p:spPr>
          <a:xfrm>
            <a:off x="1340168" y="1377234"/>
            <a:ext cx="6463664" cy="4280616"/>
          </a:xfrm>
          <a:prstGeom prst="rect">
            <a:avLst/>
          </a:prstGeom>
        </p:spPr>
      </p:pic>
      <p:sp>
        <p:nvSpPr>
          <p:cNvPr id="8" name="TextBox 7">
            <a:extLst>
              <a:ext uri="{FF2B5EF4-FFF2-40B4-BE49-F238E27FC236}">
                <a16:creationId xmlns:a16="http://schemas.microsoft.com/office/drawing/2014/main" id="{12DAFA10-0508-1346-ACF2-87B9A8C13A91}"/>
              </a:ext>
            </a:extLst>
          </p:cNvPr>
          <p:cNvSpPr txBox="1"/>
          <p:nvPr/>
        </p:nvSpPr>
        <p:spPr>
          <a:xfrm>
            <a:off x="244257" y="2144300"/>
            <a:ext cx="1193104" cy="507831"/>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solidFill>
              <a:schemeClr val="tx1"/>
            </a:solidFill>
          </a:ln>
        </p:spPr>
        <p:txBody>
          <a:bodyPr wrap="square" rtlCol="0">
            <a:spAutoFit/>
          </a:bodyPr>
          <a:lstStyle/>
          <a:p>
            <a:r>
              <a:rPr lang="en-US" sz="1350" dirty="0"/>
              <a:t>Asynchronous Conversation</a:t>
            </a:r>
          </a:p>
        </p:txBody>
      </p:sp>
      <p:sp>
        <p:nvSpPr>
          <p:cNvPr id="9" name="TextBox 8">
            <a:extLst>
              <a:ext uri="{FF2B5EF4-FFF2-40B4-BE49-F238E27FC236}">
                <a16:creationId xmlns:a16="http://schemas.microsoft.com/office/drawing/2014/main" id="{E97863E4-5C3B-E246-9869-CB0080B50C8E}"/>
              </a:ext>
            </a:extLst>
          </p:cNvPr>
          <p:cNvSpPr txBox="1"/>
          <p:nvPr/>
        </p:nvSpPr>
        <p:spPr>
          <a:xfrm>
            <a:off x="244257" y="2911365"/>
            <a:ext cx="1193104" cy="30008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solidFill>
              <a:schemeClr val="tx1"/>
            </a:solidFill>
          </a:ln>
        </p:spPr>
        <p:txBody>
          <a:bodyPr wrap="square" rtlCol="0">
            <a:spAutoFit/>
          </a:bodyPr>
          <a:lstStyle/>
          <a:p>
            <a:r>
              <a:rPr lang="en-US" sz="1350" dirty="0"/>
              <a:t>Data Coupling</a:t>
            </a:r>
          </a:p>
        </p:txBody>
      </p:sp>
      <p:sp>
        <p:nvSpPr>
          <p:cNvPr id="10" name="Rectangle 9">
            <a:extLst>
              <a:ext uri="{FF2B5EF4-FFF2-40B4-BE49-F238E27FC236}">
                <a16:creationId xmlns:a16="http://schemas.microsoft.com/office/drawing/2014/main" id="{0529DDF4-290E-B348-BF65-BA93033952A7}"/>
              </a:ext>
            </a:extLst>
          </p:cNvPr>
          <p:cNvSpPr/>
          <p:nvPr/>
        </p:nvSpPr>
        <p:spPr>
          <a:xfrm>
            <a:off x="1176615" y="4522678"/>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Rectangle 10">
            <a:extLst>
              <a:ext uri="{FF2B5EF4-FFF2-40B4-BE49-F238E27FC236}">
                <a16:creationId xmlns:a16="http://schemas.microsoft.com/office/drawing/2014/main" id="{6DB634A2-FCF6-C341-8714-CFF6B50111D5}"/>
              </a:ext>
            </a:extLst>
          </p:cNvPr>
          <p:cNvSpPr/>
          <p:nvPr/>
        </p:nvSpPr>
        <p:spPr>
          <a:xfrm>
            <a:off x="3782976" y="4522678"/>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a:extLst>
              <a:ext uri="{FF2B5EF4-FFF2-40B4-BE49-F238E27FC236}">
                <a16:creationId xmlns:a16="http://schemas.microsoft.com/office/drawing/2014/main" id="{04932B3F-946F-E940-B8BB-5E48096AC32D}"/>
              </a:ext>
            </a:extLst>
          </p:cNvPr>
          <p:cNvSpPr/>
          <p:nvPr/>
        </p:nvSpPr>
        <p:spPr>
          <a:xfrm>
            <a:off x="6152329" y="4522678"/>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a:extLst>
              <a:ext uri="{FF2B5EF4-FFF2-40B4-BE49-F238E27FC236}">
                <a16:creationId xmlns:a16="http://schemas.microsoft.com/office/drawing/2014/main" id="{501F47FF-1BB7-CC4E-A681-E6FC5291E0A1}"/>
              </a:ext>
            </a:extLst>
          </p:cNvPr>
          <p:cNvSpPr/>
          <p:nvPr/>
        </p:nvSpPr>
        <p:spPr>
          <a:xfrm>
            <a:off x="171401" y="2115404"/>
            <a:ext cx="2010428" cy="1402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391528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CB90D21-95CE-AC48-9A35-DA53B225F3ED}"/>
              </a:ext>
            </a:extLst>
          </p:cNvPr>
          <p:cNvPicPr>
            <a:picLocks noChangeAspect="1"/>
          </p:cNvPicPr>
          <p:nvPr/>
        </p:nvPicPr>
        <p:blipFill>
          <a:blip r:embed="rId2"/>
          <a:stretch>
            <a:fillRect/>
          </a:stretch>
        </p:blipFill>
        <p:spPr>
          <a:xfrm>
            <a:off x="1334021" y="1253946"/>
            <a:ext cx="6587683" cy="4350108"/>
          </a:xfrm>
          <a:prstGeom prst="rect">
            <a:avLst/>
          </a:prstGeom>
        </p:spPr>
      </p:pic>
      <p:sp>
        <p:nvSpPr>
          <p:cNvPr id="8" name="TextBox 7">
            <a:extLst>
              <a:ext uri="{FF2B5EF4-FFF2-40B4-BE49-F238E27FC236}">
                <a16:creationId xmlns:a16="http://schemas.microsoft.com/office/drawing/2014/main" id="{540D867D-BD51-344B-B7A3-6E41B5F0E35B}"/>
              </a:ext>
            </a:extLst>
          </p:cNvPr>
          <p:cNvSpPr txBox="1"/>
          <p:nvPr/>
        </p:nvSpPr>
        <p:spPr>
          <a:xfrm>
            <a:off x="244257" y="2144300"/>
            <a:ext cx="1193104" cy="507831"/>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solidFill>
              <a:schemeClr val="tx1"/>
            </a:solidFill>
          </a:ln>
        </p:spPr>
        <p:txBody>
          <a:bodyPr wrap="square" rtlCol="0">
            <a:spAutoFit/>
          </a:bodyPr>
          <a:lstStyle/>
          <a:p>
            <a:r>
              <a:rPr lang="en-US" sz="1350" dirty="0"/>
              <a:t>Asynchronous Conversation</a:t>
            </a:r>
          </a:p>
        </p:txBody>
      </p:sp>
      <p:sp>
        <p:nvSpPr>
          <p:cNvPr id="9" name="TextBox 8">
            <a:extLst>
              <a:ext uri="{FF2B5EF4-FFF2-40B4-BE49-F238E27FC236}">
                <a16:creationId xmlns:a16="http://schemas.microsoft.com/office/drawing/2014/main" id="{32C249E0-15AB-8940-A8EF-64E895564DC5}"/>
              </a:ext>
            </a:extLst>
          </p:cNvPr>
          <p:cNvSpPr txBox="1"/>
          <p:nvPr/>
        </p:nvSpPr>
        <p:spPr>
          <a:xfrm>
            <a:off x="244257" y="2911365"/>
            <a:ext cx="1193104" cy="507831"/>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solidFill>
              <a:schemeClr val="tx1"/>
            </a:solidFill>
          </a:ln>
        </p:spPr>
        <p:txBody>
          <a:bodyPr wrap="square" rtlCol="0">
            <a:spAutoFit/>
          </a:bodyPr>
          <a:lstStyle/>
          <a:p>
            <a:r>
              <a:rPr lang="en-US" sz="1350" dirty="0"/>
              <a:t>Common Coupling</a:t>
            </a:r>
          </a:p>
        </p:txBody>
      </p:sp>
      <p:sp>
        <p:nvSpPr>
          <p:cNvPr id="12" name="Rectangle 11">
            <a:extLst>
              <a:ext uri="{FF2B5EF4-FFF2-40B4-BE49-F238E27FC236}">
                <a16:creationId xmlns:a16="http://schemas.microsoft.com/office/drawing/2014/main" id="{4972DA84-187D-CF46-AA9B-BDB1A84BB1D1}"/>
              </a:ext>
            </a:extLst>
          </p:cNvPr>
          <p:cNvSpPr/>
          <p:nvPr/>
        </p:nvSpPr>
        <p:spPr>
          <a:xfrm>
            <a:off x="1222296" y="4525831"/>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a:extLst>
              <a:ext uri="{FF2B5EF4-FFF2-40B4-BE49-F238E27FC236}">
                <a16:creationId xmlns:a16="http://schemas.microsoft.com/office/drawing/2014/main" id="{71829ED1-F621-9643-B196-9F21217366F0}"/>
              </a:ext>
            </a:extLst>
          </p:cNvPr>
          <p:cNvSpPr/>
          <p:nvPr/>
        </p:nvSpPr>
        <p:spPr>
          <a:xfrm>
            <a:off x="3980650" y="4525831"/>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a:extLst>
              <a:ext uri="{FF2B5EF4-FFF2-40B4-BE49-F238E27FC236}">
                <a16:creationId xmlns:a16="http://schemas.microsoft.com/office/drawing/2014/main" id="{398D2402-BB09-C140-A6DF-5134EED8E3FA}"/>
              </a:ext>
            </a:extLst>
          </p:cNvPr>
          <p:cNvSpPr/>
          <p:nvPr/>
        </p:nvSpPr>
        <p:spPr>
          <a:xfrm>
            <a:off x="6261429" y="4525831"/>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Rectangle 14">
            <a:extLst>
              <a:ext uri="{FF2B5EF4-FFF2-40B4-BE49-F238E27FC236}">
                <a16:creationId xmlns:a16="http://schemas.microsoft.com/office/drawing/2014/main" id="{F84773CF-E460-4E45-BBFC-D9877C1A34DF}"/>
              </a:ext>
            </a:extLst>
          </p:cNvPr>
          <p:cNvSpPr/>
          <p:nvPr/>
        </p:nvSpPr>
        <p:spPr>
          <a:xfrm>
            <a:off x="49041" y="2101669"/>
            <a:ext cx="2010428" cy="2127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5725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0AD1BB-0E7D-234E-A0F3-BF8F42CA12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531306" y="1379356"/>
            <a:ext cx="6206119" cy="4099289"/>
          </a:xfrm>
          <a:prstGeom prst="rect">
            <a:avLst/>
          </a:prstGeom>
        </p:spPr>
      </p:pic>
      <p:sp>
        <p:nvSpPr>
          <p:cNvPr id="4" name="TextBox 3">
            <a:extLst>
              <a:ext uri="{FF2B5EF4-FFF2-40B4-BE49-F238E27FC236}">
                <a16:creationId xmlns:a16="http://schemas.microsoft.com/office/drawing/2014/main" id="{56C986DC-F7E8-6F49-B4E8-EAA1C1966041}"/>
              </a:ext>
            </a:extLst>
          </p:cNvPr>
          <p:cNvSpPr txBox="1"/>
          <p:nvPr/>
        </p:nvSpPr>
        <p:spPr>
          <a:xfrm>
            <a:off x="244257" y="2144300"/>
            <a:ext cx="1193104" cy="507831"/>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solidFill>
              <a:schemeClr val="tx1"/>
            </a:solidFill>
          </a:ln>
        </p:spPr>
        <p:txBody>
          <a:bodyPr wrap="square" rtlCol="0">
            <a:spAutoFit/>
          </a:bodyPr>
          <a:lstStyle/>
          <a:p>
            <a:r>
              <a:rPr lang="en-US" sz="1350" dirty="0"/>
              <a:t>Synchronous Conversation</a:t>
            </a:r>
          </a:p>
        </p:txBody>
      </p:sp>
      <p:sp>
        <p:nvSpPr>
          <p:cNvPr id="8" name="TextBox 7">
            <a:extLst>
              <a:ext uri="{FF2B5EF4-FFF2-40B4-BE49-F238E27FC236}">
                <a16:creationId xmlns:a16="http://schemas.microsoft.com/office/drawing/2014/main" id="{790B34E3-2FCA-994A-8830-9D0F461DA957}"/>
              </a:ext>
            </a:extLst>
          </p:cNvPr>
          <p:cNvSpPr txBox="1"/>
          <p:nvPr/>
        </p:nvSpPr>
        <p:spPr>
          <a:xfrm>
            <a:off x="244255" y="2911366"/>
            <a:ext cx="1193104" cy="507831"/>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a:solidFill>
              <a:schemeClr val="tx1"/>
            </a:solidFill>
          </a:ln>
        </p:spPr>
        <p:txBody>
          <a:bodyPr wrap="square" rtlCol="0">
            <a:spAutoFit/>
          </a:bodyPr>
          <a:lstStyle/>
          <a:p>
            <a:r>
              <a:rPr lang="en-US" sz="1350" dirty="0"/>
              <a:t>Control Coupling</a:t>
            </a:r>
          </a:p>
        </p:txBody>
      </p:sp>
      <p:sp>
        <p:nvSpPr>
          <p:cNvPr id="9" name="TextBox 8">
            <a:extLst>
              <a:ext uri="{FF2B5EF4-FFF2-40B4-BE49-F238E27FC236}">
                <a16:creationId xmlns:a16="http://schemas.microsoft.com/office/drawing/2014/main" id="{52B1D8F1-80B1-EF4E-9E48-24DB73F2E9C9}"/>
              </a:ext>
            </a:extLst>
          </p:cNvPr>
          <p:cNvSpPr txBox="1"/>
          <p:nvPr/>
        </p:nvSpPr>
        <p:spPr>
          <a:xfrm>
            <a:off x="244255" y="3678432"/>
            <a:ext cx="1193104" cy="507831"/>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a:solidFill>
              <a:schemeClr val="tx1"/>
            </a:solidFill>
          </a:ln>
        </p:spPr>
        <p:txBody>
          <a:bodyPr wrap="square" rtlCol="0">
            <a:spAutoFit/>
          </a:bodyPr>
          <a:lstStyle/>
          <a:p>
            <a:r>
              <a:rPr lang="en-US" sz="1350" dirty="0"/>
              <a:t>Temporal Coupling</a:t>
            </a:r>
          </a:p>
        </p:txBody>
      </p:sp>
      <p:sp>
        <p:nvSpPr>
          <p:cNvPr id="12" name="Rectangle 11">
            <a:extLst>
              <a:ext uri="{FF2B5EF4-FFF2-40B4-BE49-F238E27FC236}">
                <a16:creationId xmlns:a16="http://schemas.microsoft.com/office/drawing/2014/main" id="{BEF86DF1-66C8-F74D-B3D8-BCEEFCC19AB4}"/>
              </a:ext>
            </a:extLst>
          </p:cNvPr>
          <p:cNvSpPr/>
          <p:nvPr/>
        </p:nvSpPr>
        <p:spPr>
          <a:xfrm>
            <a:off x="1400820" y="4352012"/>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a:extLst>
              <a:ext uri="{FF2B5EF4-FFF2-40B4-BE49-F238E27FC236}">
                <a16:creationId xmlns:a16="http://schemas.microsoft.com/office/drawing/2014/main" id="{5A03F95F-EE37-EF43-93C6-933DF02A2922}"/>
              </a:ext>
            </a:extLst>
          </p:cNvPr>
          <p:cNvSpPr/>
          <p:nvPr/>
        </p:nvSpPr>
        <p:spPr>
          <a:xfrm>
            <a:off x="3753111" y="4352013"/>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a:extLst>
              <a:ext uri="{FF2B5EF4-FFF2-40B4-BE49-F238E27FC236}">
                <a16:creationId xmlns:a16="http://schemas.microsoft.com/office/drawing/2014/main" id="{F58A0D61-5719-C649-9E3E-C126662B121F}"/>
              </a:ext>
            </a:extLst>
          </p:cNvPr>
          <p:cNvSpPr/>
          <p:nvPr/>
        </p:nvSpPr>
        <p:spPr>
          <a:xfrm>
            <a:off x="5947794" y="4352012"/>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Rectangle 14">
            <a:extLst>
              <a:ext uri="{FF2B5EF4-FFF2-40B4-BE49-F238E27FC236}">
                <a16:creationId xmlns:a16="http://schemas.microsoft.com/office/drawing/2014/main" id="{1A295920-6A7D-EC49-9F1E-6E4670BECDBB}"/>
              </a:ext>
            </a:extLst>
          </p:cNvPr>
          <p:cNvSpPr/>
          <p:nvPr/>
        </p:nvSpPr>
        <p:spPr>
          <a:xfrm>
            <a:off x="245027" y="1840275"/>
            <a:ext cx="1404481" cy="3157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74521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7D9584-0426-FB40-A3CC-6E584972FE5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56042" y="1461139"/>
            <a:ext cx="5251772" cy="3478030"/>
          </a:xfrm>
          <a:prstGeom prst="rect">
            <a:avLst/>
          </a:prstGeom>
        </p:spPr>
      </p:pic>
      <p:sp>
        <p:nvSpPr>
          <p:cNvPr id="4" name="TextBox 3">
            <a:extLst>
              <a:ext uri="{FF2B5EF4-FFF2-40B4-BE49-F238E27FC236}">
                <a16:creationId xmlns:a16="http://schemas.microsoft.com/office/drawing/2014/main" id="{1A71CC51-FA27-1046-AC5A-DEF8BF806450}"/>
              </a:ext>
            </a:extLst>
          </p:cNvPr>
          <p:cNvSpPr txBox="1"/>
          <p:nvPr/>
        </p:nvSpPr>
        <p:spPr>
          <a:xfrm>
            <a:off x="244257" y="2144300"/>
            <a:ext cx="1193104" cy="507831"/>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solidFill>
              <a:schemeClr val="tx1"/>
            </a:solidFill>
          </a:ln>
        </p:spPr>
        <p:txBody>
          <a:bodyPr wrap="square" rtlCol="0">
            <a:spAutoFit/>
          </a:bodyPr>
          <a:lstStyle/>
          <a:p>
            <a:r>
              <a:rPr lang="en-US" sz="1350" dirty="0"/>
              <a:t>Asynchronous Conversation</a:t>
            </a:r>
          </a:p>
        </p:txBody>
      </p:sp>
      <p:sp>
        <p:nvSpPr>
          <p:cNvPr id="5" name="TextBox 4">
            <a:extLst>
              <a:ext uri="{FF2B5EF4-FFF2-40B4-BE49-F238E27FC236}">
                <a16:creationId xmlns:a16="http://schemas.microsoft.com/office/drawing/2014/main" id="{74C1C89F-F4F6-AB40-B5DA-AF60A7034686}"/>
              </a:ext>
            </a:extLst>
          </p:cNvPr>
          <p:cNvSpPr txBox="1"/>
          <p:nvPr/>
        </p:nvSpPr>
        <p:spPr>
          <a:xfrm>
            <a:off x="244257" y="2911365"/>
            <a:ext cx="1193104" cy="30008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solidFill>
              <a:schemeClr val="tx1"/>
            </a:solidFill>
          </a:ln>
        </p:spPr>
        <p:txBody>
          <a:bodyPr wrap="square" rtlCol="0">
            <a:spAutoFit/>
          </a:bodyPr>
          <a:lstStyle/>
          <a:p>
            <a:r>
              <a:rPr lang="en-US" sz="1350" dirty="0"/>
              <a:t>Data Coupling</a:t>
            </a:r>
          </a:p>
        </p:txBody>
      </p:sp>
      <p:sp>
        <p:nvSpPr>
          <p:cNvPr id="6" name="Rectangle 5">
            <a:extLst>
              <a:ext uri="{FF2B5EF4-FFF2-40B4-BE49-F238E27FC236}">
                <a16:creationId xmlns:a16="http://schemas.microsoft.com/office/drawing/2014/main" id="{97FCE274-B742-4B4F-8227-D4028BA27C8A}"/>
              </a:ext>
            </a:extLst>
          </p:cNvPr>
          <p:cNvSpPr/>
          <p:nvPr/>
        </p:nvSpPr>
        <p:spPr>
          <a:xfrm>
            <a:off x="1756561" y="3961736"/>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9355DB6A-3512-0342-BAC0-7EAA3696BA67}"/>
              </a:ext>
            </a:extLst>
          </p:cNvPr>
          <p:cNvSpPr/>
          <p:nvPr/>
        </p:nvSpPr>
        <p:spPr>
          <a:xfrm>
            <a:off x="4081919" y="3899367"/>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ectangle 7">
            <a:extLst>
              <a:ext uri="{FF2B5EF4-FFF2-40B4-BE49-F238E27FC236}">
                <a16:creationId xmlns:a16="http://schemas.microsoft.com/office/drawing/2014/main" id="{E1514413-79F1-2645-9F71-D7BD0FF13FFB}"/>
              </a:ext>
            </a:extLst>
          </p:cNvPr>
          <p:cNvSpPr/>
          <p:nvPr/>
        </p:nvSpPr>
        <p:spPr>
          <a:xfrm>
            <a:off x="6055120" y="3792837"/>
            <a:ext cx="2010428" cy="1315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8">
            <a:extLst>
              <a:ext uri="{FF2B5EF4-FFF2-40B4-BE49-F238E27FC236}">
                <a16:creationId xmlns:a16="http://schemas.microsoft.com/office/drawing/2014/main" id="{8D5F5201-A3F2-224A-8A77-B9E1CBA75537}"/>
              </a:ext>
            </a:extLst>
          </p:cNvPr>
          <p:cNvSpPr/>
          <p:nvPr/>
        </p:nvSpPr>
        <p:spPr>
          <a:xfrm>
            <a:off x="119780" y="2025154"/>
            <a:ext cx="1853069" cy="14038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26449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Messaging patterns</a:t>
            </a:r>
          </a:p>
        </p:txBody>
      </p:sp>
      <p:sp>
        <p:nvSpPr>
          <p:cNvPr id="5" name="Text Placeholder 4"/>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r>
              <a:rPr lang="en-US" sz="2400" kern="1200" dirty="0">
                <a:solidFill>
                  <a:schemeClr val="tx1"/>
                </a:solidFill>
                <a:latin typeface="Chalkboard" panose="03050602040202020205" pitchFamily="66" charset="77"/>
              </a:rPr>
              <a:t>Integrating using events</a:t>
            </a:r>
          </a:p>
        </p:txBody>
      </p:sp>
      <p:sp>
        <p:nvSpPr>
          <p:cNvPr id="12" name="Rectangle 11">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36</a:t>
            </a:fld>
            <a:endParaRPr lang="en-US">
              <a:solidFill>
                <a:schemeClr val="tx1">
                  <a:lumMod val="50000"/>
                  <a:lumOff val="50000"/>
                </a:schemeClr>
              </a:solidFill>
            </a:endParaRPr>
          </a:p>
        </p:txBody>
      </p:sp>
    </p:spTree>
    <p:extLst>
      <p:ext uri="{BB962C8B-B14F-4D97-AF65-F5344CB8AC3E}">
        <p14:creationId xmlns:p14="http://schemas.microsoft.com/office/powerpoint/2010/main" val="2213727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ECF895-508F-4145-87E0-36C56F8AA349}"/>
              </a:ext>
            </a:extLst>
          </p:cNvPr>
          <p:cNvPicPr>
            <a:picLocks noChangeAspect="1"/>
          </p:cNvPicPr>
          <p:nvPr/>
        </p:nvPicPr>
        <p:blipFill>
          <a:blip r:embed="rId2"/>
          <a:stretch>
            <a:fillRect/>
          </a:stretch>
        </p:blipFill>
        <p:spPr>
          <a:xfrm>
            <a:off x="1138238" y="1704975"/>
            <a:ext cx="6867525" cy="3448050"/>
          </a:xfrm>
          <a:prstGeom prst="rect">
            <a:avLst/>
          </a:prstGeom>
        </p:spPr>
      </p:pic>
      <p:sp>
        <p:nvSpPr>
          <p:cNvPr id="6" name="Rectangle 5">
            <a:extLst>
              <a:ext uri="{FF2B5EF4-FFF2-40B4-BE49-F238E27FC236}">
                <a16:creationId xmlns:a16="http://schemas.microsoft.com/office/drawing/2014/main" id="{D9C559CC-8DB3-334E-908F-2FF1F55EF326}"/>
              </a:ext>
            </a:extLst>
          </p:cNvPr>
          <p:cNvSpPr/>
          <p:nvPr/>
        </p:nvSpPr>
        <p:spPr>
          <a:xfrm>
            <a:off x="972333" y="4121847"/>
            <a:ext cx="1846023" cy="106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A1B03470-411D-414D-8380-E99B75C880C2}"/>
              </a:ext>
            </a:extLst>
          </p:cNvPr>
          <p:cNvSpPr/>
          <p:nvPr/>
        </p:nvSpPr>
        <p:spPr>
          <a:xfrm>
            <a:off x="2331407" y="1669875"/>
            <a:ext cx="1846023" cy="106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ectangle 7">
            <a:extLst>
              <a:ext uri="{FF2B5EF4-FFF2-40B4-BE49-F238E27FC236}">
                <a16:creationId xmlns:a16="http://schemas.microsoft.com/office/drawing/2014/main" id="{683DFDD7-DF1C-CB4D-9776-C2D440AA2730}"/>
              </a:ext>
            </a:extLst>
          </p:cNvPr>
          <p:cNvSpPr/>
          <p:nvPr/>
        </p:nvSpPr>
        <p:spPr>
          <a:xfrm>
            <a:off x="2895078" y="4121847"/>
            <a:ext cx="1846023" cy="106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8">
            <a:extLst>
              <a:ext uri="{FF2B5EF4-FFF2-40B4-BE49-F238E27FC236}">
                <a16:creationId xmlns:a16="http://schemas.microsoft.com/office/drawing/2014/main" id="{F5C1DD04-FF1B-F842-BF51-D496B4D017BD}"/>
              </a:ext>
            </a:extLst>
          </p:cNvPr>
          <p:cNvSpPr/>
          <p:nvPr/>
        </p:nvSpPr>
        <p:spPr>
          <a:xfrm>
            <a:off x="4245573" y="1896911"/>
            <a:ext cx="1846023" cy="106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a:extLst>
              <a:ext uri="{FF2B5EF4-FFF2-40B4-BE49-F238E27FC236}">
                <a16:creationId xmlns:a16="http://schemas.microsoft.com/office/drawing/2014/main" id="{52AA3D7E-1CD4-D94D-9FB7-FF404433BD51}"/>
              </a:ext>
            </a:extLst>
          </p:cNvPr>
          <p:cNvSpPr/>
          <p:nvPr/>
        </p:nvSpPr>
        <p:spPr>
          <a:xfrm>
            <a:off x="6159740" y="1629168"/>
            <a:ext cx="1846023" cy="106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Rectangle 10">
            <a:extLst>
              <a:ext uri="{FF2B5EF4-FFF2-40B4-BE49-F238E27FC236}">
                <a16:creationId xmlns:a16="http://schemas.microsoft.com/office/drawing/2014/main" id="{8106816B-6030-9742-AFDA-83F4FC7D56D8}"/>
              </a:ext>
            </a:extLst>
          </p:cNvPr>
          <p:cNvSpPr/>
          <p:nvPr/>
        </p:nvSpPr>
        <p:spPr>
          <a:xfrm>
            <a:off x="5168585" y="4196545"/>
            <a:ext cx="1846023" cy="106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473983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A Message</a:t>
            </a:r>
          </a:p>
        </p:txBody>
      </p:sp>
      <p:sp>
        <p:nvSpPr>
          <p:cNvPr id="3" name="Text Placeholder 2"/>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r>
              <a:rPr lang="en-US" sz="2400" kern="1200" dirty="0">
                <a:solidFill>
                  <a:schemeClr val="tx1"/>
                </a:solidFill>
                <a:latin typeface="Chalkboard" panose="03050602040202020205" pitchFamily="66" charset="77"/>
              </a:rPr>
              <a:t>What is a message?</a:t>
            </a: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38</a:t>
            </a:fld>
            <a:endParaRPr lang="en-US">
              <a:solidFill>
                <a:schemeClr val="tx1">
                  <a:lumMod val="50000"/>
                  <a:lumOff val="50000"/>
                </a:schemeClr>
              </a:solidFill>
            </a:endParaRPr>
          </a:p>
        </p:txBody>
      </p:sp>
    </p:spTree>
    <p:extLst>
      <p:ext uri="{BB962C8B-B14F-4D97-AF65-F5344CB8AC3E}">
        <p14:creationId xmlns:p14="http://schemas.microsoft.com/office/powerpoint/2010/main" val="2128959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latin typeface="Chalkboard" panose="03050602040202020205" pitchFamily="66" charset="77"/>
              </a:rPr>
              <a:t>Message Construction</a:t>
            </a:r>
          </a:p>
        </p:txBody>
      </p:sp>
      <p:sp>
        <p:nvSpPr>
          <p:cNvPr id="3" name="Content Placeholder 2"/>
          <p:cNvSpPr>
            <a:spLocks noGrp="1"/>
          </p:cNvSpPr>
          <p:nvPr>
            <p:ph idx="1"/>
          </p:nvPr>
        </p:nvSpPr>
        <p:spPr>
          <a:xfrm>
            <a:off x="457200" y="1417638"/>
            <a:ext cx="8229600" cy="656603"/>
          </a:xfrm>
        </p:spPr>
        <p:txBody>
          <a:bodyPr/>
          <a:lstStyle/>
          <a:p>
            <a:pPr marL="0" indent="0">
              <a:buNone/>
            </a:pPr>
            <a:r>
              <a:rPr lang="en-US" sz="1800" dirty="0">
                <a:latin typeface="Chalkboard" panose="03050602040202020205" pitchFamily="66" charset="77"/>
              </a:rPr>
              <a:t>A message has a header and body</a:t>
            </a:r>
          </a:p>
        </p:txBody>
      </p:sp>
      <p:sp>
        <p:nvSpPr>
          <p:cNvPr id="4" name="Slide Number Placeholder 3"/>
          <p:cNvSpPr>
            <a:spLocks noGrp="1"/>
          </p:cNvSpPr>
          <p:nvPr>
            <p:ph type="sldNum" sz="quarter" idx="12"/>
          </p:nvPr>
        </p:nvSpPr>
        <p:spPr/>
        <p:txBody>
          <a:bodyPr/>
          <a:lstStyle/>
          <a:p>
            <a:fld id="{867D4A06-35AE-BD4A-84A9-613A26F3D41D}" type="slidenum">
              <a:rPr lang="en-US" smtClean="0"/>
              <a:pPr/>
              <a:t>39</a:t>
            </a:fld>
            <a:endParaRPr lang="en-US"/>
          </a:p>
        </p:txBody>
      </p:sp>
      <p:sp>
        <p:nvSpPr>
          <p:cNvPr id="6" name="Rectangle 5"/>
          <p:cNvSpPr/>
          <p:nvPr/>
        </p:nvSpPr>
        <p:spPr>
          <a:xfrm>
            <a:off x="457200" y="2161333"/>
            <a:ext cx="7572704" cy="369332"/>
          </a:xfrm>
          <a:prstGeom prst="rect">
            <a:avLst/>
          </a:prstGeom>
        </p:spPr>
        <p:txBody>
          <a:bodyPr wrap="square">
            <a:spAutoFit/>
          </a:bodyPr>
          <a:lstStyle/>
          <a:p>
            <a:r>
              <a:rPr lang="en-US" dirty="0">
                <a:latin typeface="Chalkboard" panose="03050602040202020205" pitchFamily="66" charset="77"/>
              </a:rPr>
              <a:t>The body contains data for the consumer</a:t>
            </a:r>
          </a:p>
        </p:txBody>
      </p:sp>
      <p:sp>
        <p:nvSpPr>
          <p:cNvPr id="7" name="Rectangle 6"/>
          <p:cNvSpPr/>
          <p:nvPr/>
        </p:nvSpPr>
        <p:spPr>
          <a:xfrm>
            <a:off x="457200" y="4330268"/>
            <a:ext cx="7795292" cy="646331"/>
          </a:xfrm>
          <a:prstGeom prst="rect">
            <a:avLst/>
          </a:prstGeom>
        </p:spPr>
        <p:txBody>
          <a:bodyPr wrap="square">
            <a:spAutoFit/>
          </a:bodyPr>
          <a:lstStyle/>
          <a:p>
            <a:r>
              <a:rPr lang="en-US" dirty="0">
                <a:latin typeface="Chalkboard" panose="03050602040202020205" pitchFamily="66" charset="77"/>
              </a:rPr>
              <a:t>Break a large message into pieces as  a Message Sequence or use a Claim Check</a:t>
            </a:r>
          </a:p>
        </p:txBody>
      </p:sp>
      <p:sp>
        <p:nvSpPr>
          <p:cNvPr id="9" name="Rectangle 8">
            <a:extLst>
              <a:ext uri="{FF2B5EF4-FFF2-40B4-BE49-F238E27FC236}">
                <a16:creationId xmlns:a16="http://schemas.microsoft.com/office/drawing/2014/main" id="{07BE6D66-2484-D047-AC2F-BEE033B6B8A2}"/>
              </a:ext>
            </a:extLst>
          </p:cNvPr>
          <p:cNvSpPr/>
          <p:nvPr/>
        </p:nvSpPr>
        <p:spPr>
          <a:xfrm>
            <a:off x="457200" y="2847909"/>
            <a:ext cx="7572704" cy="369332"/>
          </a:xfrm>
          <a:prstGeom prst="rect">
            <a:avLst/>
          </a:prstGeom>
        </p:spPr>
        <p:txBody>
          <a:bodyPr wrap="square">
            <a:spAutoFit/>
          </a:bodyPr>
          <a:lstStyle/>
          <a:p>
            <a:r>
              <a:rPr lang="en-US" dirty="0">
                <a:latin typeface="Chalkboard" panose="03050602040202020205" pitchFamily="66" charset="77"/>
              </a:rPr>
              <a:t>The header contains metadata for any </a:t>
            </a:r>
            <a:r>
              <a:rPr lang="en-US" i="1" dirty="0">
                <a:latin typeface="Chalkboard" panose="03050602040202020205" pitchFamily="66" charset="77"/>
              </a:rPr>
              <a:t>filter</a:t>
            </a:r>
            <a:r>
              <a:rPr lang="en-US" dirty="0">
                <a:latin typeface="Chalkboard" panose="03050602040202020205" pitchFamily="66" charset="77"/>
              </a:rPr>
              <a:t> in the pipeline.</a:t>
            </a:r>
          </a:p>
        </p:txBody>
      </p:sp>
      <p:sp>
        <p:nvSpPr>
          <p:cNvPr id="11" name="Rectangle 10">
            <a:extLst>
              <a:ext uri="{FF2B5EF4-FFF2-40B4-BE49-F238E27FC236}">
                <a16:creationId xmlns:a16="http://schemas.microsoft.com/office/drawing/2014/main" id="{C2FF9241-4FC5-7F42-AA48-2B7C69F70E38}"/>
              </a:ext>
            </a:extLst>
          </p:cNvPr>
          <p:cNvSpPr/>
          <p:nvPr/>
        </p:nvSpPr>
        <p:spPr>
          <a:xfrm>
            <a:off x="457200" y="3554463"/>
            <a:ext cx="7572704" cy="369332"/>
          </a:xfrm>
          <a:prstGeom prst="rect">
            <a:avLst/>
          </a:prstGeom>
        </p:spPr>
        <p:txBody>
          <a:bodyPr wrap="square">
            <a:spAutoFit/>
          </a:bodyPr>
          <a:lstStyle/>
          <a:p>
            <a:r>
              <a:rPr lang="en-US" dirty="0">
                <a:latin typeface="Chalkboard" panose="03050602040202020205" pitchFamily="66" charset="77"/>
              </a:rPr>
              <a:t>The header should indicate the format of the body</a:t>
            </a:r>
          </a:p>
        </p:txBody>
      </p:sp>
    </p:spTree>
    <p:extLst>
      <p:ext uri="{BB962C8B-B14F-4D97-AF65-F5344CB8AC3E}">
        <p14:creationId xmlns:p14="http://schemas.microsoft.com/office/powerpoint/2010/main" val="165515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9" grpId="0"/>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8CF00C9-3443-214B-BA50-D0959ED6AA53}"/>
              </a:ext>
            </a:extLst>
          </p:cNvPr>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Messaging and Events</a:t>
            </a:r>
          </a:p>
        </p:txBody>
      </p:sp>
      <p:sp>
        <p:nvSpPr>
          <p:cNvPr id="6" name="Text Placeholder 5">
            <a:extLst>
              <a:ext uri="{FF2B5EF4-FFF2-40B4-BE49-F238E27FC236}">
                <a16:creationId xmlns:a16="http://schemas.microsoft.com/office/drawing/2014/main" id="{E816885C-6669-E541-8F12-21449565581A}"/>
              </a:ext>
            </a:extLst>
          </p:cNvPr>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endParaRPr lang="en-US" sz="2400" kern="1200">
              <a:solidFill>
                <a:schemeClr val="tx1"/>
              </a:solidFill>
              <a:latin typeface="+mn-lt"/>
              <a:ea typeface="+mn-ea"/>
              <a:cs typeface="+mn-cs"/>
            </a:endParaRPr>
          </a:p>
        </p:txBody>
      </p:sp>
      <p:sp>
        <p:nvSpPr>
          <p:cNvPr id="13" name="Rectangle 12">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1527F2FA-770C-4447-AD81-31EE9CB39873}"/>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40</a:t>
            </a:fld>
            <a:endParaRPr lang="en-US">
              <a:solidFill>
                <a:schemeClr val="tx1">
                  <a:lumMod val="50000"/>
                  <a:lumOff val="50000"/>
                </a:schemeClr>
              </a:solidFill>
            </a:endParaRPr>
          </a:p>
        </p:txBody>
      </p:sp>
    </p:spTree>
    <p:extLst>
      <p:ext uri="{BB962C8B-B14F-4D97-AF65-F5344CB8AC3E}">
        <p14:creationId xmlns:p14="http://schemas.microsoft.com/office/powerpoint/2010/main" val="36461205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323B20-2C4B-CD44-B66C-4424F81D5976}"/>
              </a:ext>
            </a:extLst>
          </p:cNvPr>
          <p:cNvSpPr>
            <a:spLocks noGrp="1"/>
          </p:cNvSpPr>
          <p:nvPr>
            <p:ph type="sldNum" sz="quarter" idx="12"/>
          </p:nvPr>
        </p:nvSpPr>
        <p:spPr/>
        <p:txBody>
          <a:bodyPr/>
          <a:lstStyle/>
          <a:p>
            <a:fld id="{867D4A06-35AE-BD4A-84A9-613A26F3D41D}" type="slidenum">
              <a:rPr lang="en-US" smtClean="0"/>
              <a:pPr/>
              <a:t>41</a:t>
            </a:fld>
            <a:endParaRPr lang="en-US"/>
          </a:p>
        </p:txBody>
      </p:sp>
      <p:sp>
        <p:nvSpPr>
          <p:cNvPr id="5" name="Google Shape;106;p26">
            <a:extLst>
              <a:ext uri="{FF2B5EF4-FFF2-40B4-BE49-F238E27FC236}">
                <a16:creationId xmlns:a16="http://schemas.microsoft.com/office/drawing/2014/main" id="{4E0B061C-0C7F-1747-B366-4A7FA2069BE4}"/>
              </a:ext>
            </a:extLst>
          </p:cNvPr>
          <p:cNvSpPr txBox="1"/>
          <p:nvPr/>
        </p:nvSpPr>
        <p:spPr>
          <a:xfrm rot="10800000" flipV="1">
            <a:off x="2638313" y="1773509"/>
            <a:ext cx="1347395" cy="293844"/>
          </a:xfrm>
          <a:prstGeom prst="rect">
            <a:avLst/>
          </a:prstGeom>
          <a:noFill/>
          <a:ln>
            <a:noFill/>
          </a:ln>
        </p:spPr>
        <p:txBody>
          <a:bodyPr spcFirstLastPara="1" wrap="square" lIns="0" tIns="0" rIns="51427" bIns="0" anchor="t" anchorCtr="0">
            <a:noAutofit/>
          </a:bodyPr>
          <a:lstStyle/>
          <a:p>
            <a:r>
              <a:rPr lang="en" dirty="0">
                <a:solidFill>
                  <a:srgbClr val="FF8000"/>
                </a:solidFill>
                <a:latin typeface="Chalkboard" panose="03050602040202020205" pitchFamily="66" charset="77"/>
                <a:ea typeface="Inter Medium"/>
                <a:cs typeface="Inter Medium"/>
                <a:sym typeface="Inter Medium"/>
              </a:rPr>
              <a:t>Messaging</a:t>
            </a:r>
            <a:endParaRPr dirty="0">
              <a:solidFill>
                <a:srgbClr val="FF8000"/>
              </a:solidFill>
              <a:latin typeface="Chalkboard" panose="03050602040202020205" pitchFamily="66" charset="77"/>
              <a:ea typeface="Inter Medium"/>
              <a:cs typeface="Inter Medium"/>
              <a:sym typeface="Inter Medium"/>
            </a:endParaRPr>
          </a:p>
        </p:txBody>
      </p:sp>
      <p:sp>
        <p:nvSpPr>
          <p:cNvPr id="6" name="Google Shape;109;p26">
            <a:extLst>
              <a:ext uri="{FF2B5EF4-FFF2-40B4-BE49-F238E27FC236}">
                <a16:creationId xmlns:a16="http://schemas.microsoft.com/office/drawing/2014/main" id="{7DB7655A-9C51-F846-988D-BA9BB802B2E6}"/>
              </a:ext>
            </a:extLst>
          </p:cNvPr>
          <p:cNvSpPr txBox="1"/>
          <p:nvPr/>
        </p:nvSpPr>
        <p:spPr>
          <a:xfrm>
            <a:off x="5227872" y="1777775"/>
            <a:ext cx="924255" cy="293844"/>
          </a:xfrm>
          <a:prstGeom prst="rect">
            <a:avLst/>
          </a:prstGeom>
          <a:noFill/>
          <a:ln>
            <a:noFill/>
          </a:ln>
        </p:spPr>
        <p:txBody>
          <a:bodyPr spcFirstLastPara="1" wrap="square" lIns="0" tIns="0" rIns="51427" bIns="0" anchor="t" anchorCtr="0">
            <a:noAutofit/>
          </a:bodyPr>
          <a:lstStyle/>
          <a:p>
            <a:r>
              <a:rPr lang="en" dirty="0">
                <a:solidFill>
                  <a:srgbClr val="FF8000"/>
                </a:solidFill>
                <a:latin typeface="Chalkboard" panose="03050602040202020205" pitchFamily="66" charset="77"/>
                <a:ea typeface="Inter Medium"/>
                <a:cs typeface="Inter Medium"/>
                <a:sym typeface="Inter Medium"/>
              </a:rPr>
              <a:t>Eventing</a:t>
            </a:r>
            <a:endParaRPr dirty="0">
              <a:solidFill>
                <a:srgbClr val="FF8000"/>
              </a:solidFill>
              <a:latin typeface="Chalkboard" panose="03050602040202020205" pitchFamily="66" charset="77"/>
              <a:ea typeface="Inter Medium"/>
              <a:cs typeface="Inter Medium"/>
              <a:sym typeface="Inter Medium"/>
            </a:endParaRPr>
          </a:p>
        </p:txBody>
      </p:sp>
      <p:sp>
        <p:nvSpPr>
          <p:cNvPr id="7" name="Google Shape;110;p26">
            <a:extLst>
              <a:ext uri="{FF2B5EF4-FFF2-40B4-BE49-F238E27FC236}">
                <a16:creationId xmlns:a16="http://schemas.microsoft.com/office/drawing/2014/main" id="{9051D609-ED04-9B4D-8117-551379081AB3}"/>
              </a:ext>
            </a:extLst>
          </p:cNvPr>
          <p:cNvSpPr txBox="1"/>
          <p:nvPr/>
        </p:nvSpPr>
        <p:spPr>
          <a:xfrm>
            <a:off x="5720380" y="5365914"/>
            <a:ext cx="2507157" cy="242358"/>
          </a:xfrm>
          <a:prstGeom prst="rect">
            <a:avLst/>
          </a:prstGeom>
          <a:noFill/>
          <a:ln>
            <a:noFill/>
          </a:ln>
        </p:spPr>
        <p:txBody>
          <a:bodyPr spcFirstLastPara="1" wrap="square" lIns="51427" tIns="51427" rIns="51427" bIns="51427" anchor="t" anchorCtr="0">
            <a:spAutoFit/>
          </a:bodyPr>
          <a:lstStyle/>
          <a:p>
            <a:r>
              <a:rPr lang="en" sz="900" dirty="0"/>
              <a:t>After Clemens </a:t>
            </a:r>
            <a:r>
              <a:rPr lang="en" sz="900" dirty="0" err="1"/>
              <a:t>Vasters</a:t>
            </a:r>
            <a:r>
              <a:rPr lang="en" sz="900" dirty="0"/>
              <a:t> </a:t>
            </a:r>
            <a:r>
              <a:rPr lang="en-GB" sz="900" dirty="0"/>
              <a:t>https://</a:t>
            </a:r>
            <a:r>
              <a:rPr lang="en-GB" sz="900" dirty="0" err="1"/>
              <a:t>youtu.be</a:t>
            </a:r>
            <a:r>
              <a:rPr lang="en-GB" sz="900" dirty="0"/>
              <a:t>/</a:t>
            </a:r>
            <a:r>
              <a:rPr lang="en-GB" sz="900" dirty="0" err="1"/>
              <a:t>ITrlLErsqzY</a:t>
            </a:r>
            <a:endParaRPr sz="900" dirty="0"/>
          </a:p>
        </p:txBody>
      </p:sp>
      <p:sp>
        <p:nvSpPr>
          <p:cNvPr id="15" name="Google Shape;118;p26">
            <a:extLst>
              <a:ext uri="{FF2B5EF4-FFF2-40B4-BE49-F238E27FC236}">
                <a16:creationId xmlns:a16="http://schemas.microsoft.com/office/drawing/2014/main" id="{9E86A41D-3AA7-2445-B16F-C4808106FA6B}"/>
              </a:ext>
            </a:extLst>
          </p:cNvPr>
          <p:cNvSpPr txBox="1"/>
          <p:nvPr/>
        </p:nvSpPr>
        <p:spPr>
          <a:xfrm>
            <a:off x="2638313" y="2308088"/>
            <a:ext cx="1045064" cy="288524"/>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Has Intent</a:t>
            </a:r>
            <a:endParaRPr sz="1200" dirty="0">
              <a:latin typeface="Chalkboard" panose="03050602040202020205" pitchFamily="66" charset="77"/>
            </a:endParaRPr>
          </a:p>
        </p:txBody>
      </p:sp>
      <p:sp>
        <p:nvSpPr>
          <p:cNvPr id="17" name="Google Shape;120;p26">
            <a:extLst>
              <a:ext uri="{FF2B5EF4-FFF2-40B4-BE49-F238E27FC236}">
                <a16:creationId xmlns:a16="http://schemas.microsoft.com/office/drawing/2014/main" id="{EC825E89-DEB6-F440-BD69-139A043EBD10}"/>
              </a:ext>
            </a:extLst>
          </p:cNvPr>
          <p:cNvSpPr txBox="1"/>
          <p:nvPr/>
        </p:nvSpPr>
        <p:spPr>
          <a:xfrm>
            <a:off x="5227872" y="2308088"/>
            <a:ext cx="1170239" cy="288524"/>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Provides Facts</a:t>
            </a:r>
            <a:endParaRPr sz="1200" dirty="0">
              <a:latin typeface="Chalkboard" panose="03050602040202020205" pitchFamily="66" charset="77"/>
            </a:endParaRPr>
          </a:p>
        </p:txBody>
      </p:sp>
      <p:sp>
        <p:nvSpPr>
          <p:cNvPr id="18" name="Google Shape;121;p26">
            <a:extLst>
              <a:ext uri="{FF2B5EF4-FFF2-40B4-BE49-F238E27FC236}">
                <a16:creationId xmlns:a16="http://schemas.microsoft.com/office/drawing/2014/main" id="{95E91ACE-AE45-794F-8D5F-0D18E1625D78}"/>
              </a:ext>
            </a:extLst>
          </p:cNvPr>
          <p:cNvSpPr txBox="1"/>
          <p:nvPr/>
        </p:nvSpPr>
        <p:spPr>
          <a:xfrm>
            <a:off x="2602912" y="2798204"/>
            <a:ext cx="1436147" cy="1027188"/>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Request An Answer (Query)</a:t>
            </a:r>
          </a:p>
          <a:p>
            <a:pPr algn="ctr"/>
            <a:r>
              <a:rPr lang="en" sz="1200" dirty="0">
                <a:latin typeface="Chalkboard" panose="03050602040202020205" pitchFamily="66" charset="77"/>
              </a:rPr>
              <a:t>Transfer of Control</a:t>
            </a:r>
          </a:p>
          <a:p>
            <a:pPr algn="ctr"/>
            <a:r>
              <a:rPr lang="en" sz="1200" dirty="0">
                <a:latin typeface="Chalkboard" panose="03050602040202020205" pitchFamily="66" charset="77"/>
              </a:rPr>
              <a:t>(Command)</a:t>
            </a:r>
          </a:p>
          <a:p>
            <a:pPr algn="ctr"/>
            <a:r>
              <a:rPr lang="en" sz="1200" dirty="0">
                <a:latin typeface="Chalkboard" panose="03050602040202020205" pitchFamily="66" charset="77"/>
              </a:rPr>
              <a:t>Transfer of Value</a:t>
            </a:r>
            <a:endParaRPr sz="1200" dirty="0">
              <a:latin typeface="Chalkboard" panose="03050602040202020205" pitchFamily="66" charset="77"/>
            </a:endParaRPr>
          </a:p>
        </p:txBody>
      </p:sp>
      <p:sp>
        <p:nvSpPr>
          <p:cNvPr id="19" name="Google Shape;122;p26">
            <a:extLst>
              <a:ext uri="{FF2B5EF4-FFF2-40B4-BE49-F238E27FC236}">
                <a16:creationId xmlns:a16="http://schemas.microsoft.com/office/drawing/2014/main" id="{E7328208-CB6C-EC41-897D-919DB17CB6BA}"/>
              </a:ext>
            </a:extLst>
          </p:cNvPr>
          <p:cNvSpPr txBox="1"/>
          <p:nvPr/>
        </p:nvSpPr>
        <p:spPr>
          <a:xfrm>
            <a:off x="5215868" y="2790277"/>
            <a:ext cx="1549446" cy="473190"/>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Things you Report On</a:t>
            </a:r>
            <a:endParaRPr sz="1200" dirty="0">
              <a:latin typeface="Chalkboard" panose="03050602040202020205" pitchFamily="66" charset="77"/>
            </a:endParaRPr>
          </a:p>
        </p:txBody>
      </p:sp>
      <p:sp>
        <p:nvSpPr>
          <p:cNvPr id="20" name="Google Shape;123;p26">
            <a:extLst>
              <a:ext uri="{FF2B5EF4-FFF2-40B4-BE49-F238E27FC236}">
                <a16:creationId xmlns:a16="http://schemas.microsoft.com/office/drawing/2014/main" id="{183BB63C-2409-A041-8BEA-2ADE2573A6E9}"/>
              </a:ext>
            </a:extLst>
          </p:cNvPr>
          <p:cNvSpPr txBox="1"/>
          <p:nvPr/>
        </p:nvSpPr>
        <p:spPr>
          <a:xfrm>
            <a:off x="2602913" y="4021081"/>
            <a:ext cx="1637852" cy="657856"/>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Part of a Workflow</a:t>
            </a:r>
          </a:p>
          <a:p>
            <a:pPr algn="ctr"/>
            <a:r>
              <a:rPr lang="en" sz="1200" dirty="0">
                <a:latin typeface="Chalkboard" panose="03050602040202020205" pitchFamily="66" charset="77"/>
              </a:rPr>
              <a:t>Part of a Conversation</a:t>
            </a:r>
            <a:endParaRPr sz="1200" dirty="0">
              <a:latin typeface="Chalkboard" panose="03050602040202020205" pitchFamily="66" charset="77"/>
            </a:endParaRPr>
          </a:p>
        </p:txBody>
      </p:sp>
      <p:sp>
        <p:nvSpPr>
          <p:cNvPr id="21" name="Google Shape;124;p26">
            <a:extLst>
              <a:ext uri="{FF2B5EF4-FFF2-40B4-BE49-F238E27FC236}">
                <a16:creationId xmlns:a16="http://schemas.microsoft.com/office/drawing/2014/main" id="{D6C45F27-7EE5-3641-8A9A-8052F00A695B}"/>
              </a:ext>
            </a:extLst>
          </p:cNvPr>
          <p:cNvSpPr txBox="1"/>
          <p:nvPr/>
        </p:nvSpPr>
        <p:spPr>
          <a:xfrm>
            <a:off x="5227872" y="3407373"/>
            <a:ext cx="1436147" cy="288524"/>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No Expectations</a:t>
            </a:r>
            <a:endParaRPr sz="1200" dirty="0">
              <a:latin typeface="Chalkboard" panose="03050602040202020205" pitchFamily="66" charset="77"/>
            </a:endParaRPr>
          </a:p>
        </p:txBody>
      </p:sp>
      <p:sp>
        <p:nvSpPr>
          <p:cNvPr id="22" name="TextBox 21">
            <a:extLst>
              <a:ext uri="{FF2B5EF4-FFF2-40B4-BE49-F238E27FC236}">
                <a16:creationId xmlns:a16="http://schemas.microsoft.com/office/drawing/2014/main" id="{DD0CA131-876F-9748-BCAE-AA75293E83A9}"/>
              </a:ext>
            </a:extLst>
          </p:cNvPr>
          <p:cNvSpPr txBox="1"/>
          <p:nvPr/>
        </p:nvSpPr>
        <p:spPr>
          <a:xfrm>
            <a:off x="196520" y="265521"/>
            <a:ext cx="2441792" cy="461665"/>
          </a:xfrm>
          <a:prstGeom prst="rect">
            <a:avLst/>
          </a:prstGeom>
          <a:noFill/>
        </p:spPr>
        <p:txBody>
          <a:bodyPr wrap="square" rtlCol="0">
            <a:spAutoFit/>
          </a:bodyPr>
          <a:lstStyle/>
          <a:p>
            <a:pPr algn="ctr"/>
            <a:r>
              <a:rPr lang="en-US" sz="2400" b="1" dirty="0">
                <a:latin typeface="Chalkboard" panose="03050602040202020205" pitchFamily="66" charset="77"/>
              </a:rPr>
              <a:t>Message Types</a:t>
            </a:r>
          </a:p>
        </p:txBody>
      </p:sp>
      <p:sp>
        <p:nvSpPr>
          <p:cNvPr id="2" name="Google Shape;124;p26">
            <a:extLst>
              <a:ext uri="{FF2B5EF4-FFF2-40B4-BE49-F238E27FC236}">
                <a16:creationId xmlns:a16="http://schemas.microsoft.com/office/drawing/2014/main" id="{4FA7C635-D4BF-D5A6-9468-EE3172B4BE7F}"/>
              </a:ext>
            </a:extLst>
          </p:cNvPr>
          <p:cNvSpPr txBox="1"/>
          <p:nvPr/>
        </p:nvSpPr>
        <p:spPr>
          <a:xfrm>
            <a:off x="5227872" y="3864341"/>
            <a:ext cx="716850" cy="288524"/>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History</a:t>
            </a:r>
            <a:endParaRPr sz="1200" dirty="0">
              <a:latin typeface="Chalkboard" panose="03050602040202020205" pitchFamily="66" charset="77"/>
            </a:endParaRPr>
          </a:p>
        </p:txBody>
      </p:sp>
      <p:sp>
        <p:nvSpPr>
          <p:cNvPr id="3" name="Google Shape;124;p26">
            <a:extLst>
              <a:ext uri="{FF2B5EF4-FFF2-40B4-BE49-F238E27FC236}">
                <a16:creationId xmlns:a16="http://schemas.microsoft.com/office/drawing/2014/main" id="{5A4B55D8-1A35-091D-C698-15CB4F75F0C2}"/>
              </a:ext>
            </a:extLst>
          </p:cNvPr>
          <p:cNvSpPr txBox="1"/>
          <p:nvPr/>
        </p:nvSpPr>
        <p:spPr>
          <a:xfrm>
            <a:off x="5227872" y="4283241"/>
            <a:ext cx="716850" cy="288524"/>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Context</a:t>
            </a:r>
            <a:endParaRPr sz="1200" dirty="0">
              <a:latin typeface="Chalkboard" panose="03050602040202020205" pitchFamily="66" charset="77"/>
            </a:endParaRPr>
          </a:p>
        </p:txBody>
      </p:sp>
      <p:sp>
        <p:nvSpPr>
          <p:cNvPr id="16" name="Google Shape;123;p26">
            <a:extLst>
              <a:ext uri="{FF2B5EF4-FFF2-40B4-BE49-F238E27FC236}">
                <a16:creationId xmlns:a16="http://schemas.microsoft.com/office/drawing/2014/main" id="{224DCCC5-B892-66DF-90FC-E079D768D90C}"/>
              </a:ext>
            </a:extLst>
          </p:cNvPr>
          <p:cNvSpPr txBox="1"/>
          <p:nvPr/>
        </p:nvSpPr>
        <p:spPr>
          <a:xfrm>
            <a:off x="2602912" y="4874626"/>
            <a:ext cx="1197227" cy="473190"/>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Concerned with the Future</a:t>
            </a:r>
          </a:p>
        </p:txBody>
      </p:sp>
      <p:sp>
        <p:nvSpPr>
          <p:cNvPr id="23" name="Google Shape;123;p26">
            <a:extLst>
              <a:ext uri="{FF2B5EF4-FFF2-40B4-BE49-F238E27FC236}">
                <a16:creationId xmlns:a16="http://schemas.microsoft.com/office/drawing/2014/main" id="{22D748F1-9E67-5FC1-B681-0C8AC12B4044}"/>
              </a:ext>
            </a:extLst>
          </p:cNvPr>
          <p:cNvSpPr txBox="1"/>
          <p:nvPr/>
        </p:nvSpPr>
        <p:spPr>
          <a:xfrm>
            <a:off x="5227872" y="4773168"/>
            <a:ext cx="1869214" cy="288524"/>
          </a:xfrm>
          <a:prstGeom prst="rect">
            <a:avLst/>
          </a:prstGeom>
          <a:noFill/>
          <a:ln w="9525" cap="flat" cmpd="sng">
            <a:solidFill>
              <a:schemeClr val="accent6"/>
            </a:solidFill>
            <a:prstDash val="solid"/>
            <a:round/>
            <a:headEnd type="none" w="sm" len="sm"/>
            <a:tailEnd type="none" w="sm" len="sm"/>
          </a:ln>
        </p:spPr>
        <p:txBody>
          <a:bodyPr spcFirstLastPara="1" wrap="square" lIns="51427" tIns="51427" rIns="51427" bIns="51427" anchor="t" anchorCtr="0">
            <a:spAutoFit/>
          </a:bodyPr>
          <a:lstStyle/>
          <a:p>
            <a:pPr algn="ctr"/>
            <a:r>
              <a:rPr lang="en" sz="1200" dirty="0">
                <a:latin typeface="Chalkboard" panose="03050602040202020205" pitchFamily="66" charset="77"/>
              </a:rPr>
              <a:t>Concerned with the Past</a:t>
            </a:r>
          </a:p>
        </p:txBody>
      </p:sp>
    </p:spTree>
    <p:extLst>
      <p:ext uri="{BB962C8B-B14F-4D97-AF65-F5344CB8AC3E}">
        <p14:creationId xmlns:p14="http://schemas.microsoft.com/office/powerpoint/2010/main" val="133342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animBg="1"/>
      <p:bldP spid="20" grpId="0" animBg="1"/>
      <p:bldP spid="21" grpId="0" animBg="1"/>
      <p:bldP spid="2" grpId="0" animBg="1"/>
      <p:bldP spid="3" grpId="0" animBg="1"/>
      <p:bldP spid="16" grpId="0" animBg="1"/>
      <p:bldP spid="2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323B20-2C4B-CD44-B66C-4424F81D5976}"/>
              </a:ext>
            </a:extLst>
          </p:cNvPr>
          <p:cNvSpPr>
            <a:spLocks noGrp="1"/>
          </p:cNvSpPr>
          <p:nvPr>
            <p:ph type="sldNum" sz="quarter" idx="12"/>
          </p:nvPr>
        </p:nvSpPr>
        <p:spPr/>
        <p:txBody>
          <a:bodyPr/>
          <a:lstStyle/>
          <a:p>
            <a:fld id="{867D4A06-35AE-BD4A-84A9-613A26F3D41D}" type="slidenum">
              <a:rPr lang="en-US" smtClean="0"/>
              <a:pPr/>
              <a:t>42</a:t>
            </a:fld>
            <a:endParaRPr lang="en-US"/>
          </a:p>
        </p:txBody>
      </p:sp>
      <p:sp>
        <p:nvSpPr>
          <p:cNvPr id="5" name="Google Shape;106;p26">
            <a:extLst>
              <a:ext uri="{FF2B5EF4-FFF2-40B4-BE49-F238E27FC236}">
                <a16:creationId xmlns:a16="http://schemas.microsoft.com/office/drawing/2014/main" id="{4E0B061C-0C7F-1747-B366-4A7FA2069BE4}"/>
              </a:ext>
            </a:extLst>
          </p:cNvPr>
          <p:cNvSpPr txBox="1"/>
          <p:nvPr/>
        </p:nvSpPr>
        <p:spPr>
          <a:xfrm>
            <a:off x="2389966" y="1644489"/>
            <a:ext cx="4179000" cy="265500"/>
          </a:xfrm>
          <a:prstGeom prst="rect">
            <a:avLst/>
          </a:prstGeom>
          <a:noFill/>
          <a:ln>
            <a:noFill/>
          </a:ln>
        </p:spPr>
        <p:txBody>
          <a:bodyPr spcFirstLastPara="1" wrap="square" lIns="0" tIns="0" rIns="91425" bIns="0" anchor="t" anchorCtr="0">
            <a:noAutofit/>
          </a:bodyPr>
          <a:lstStyle/>
          <a:p>
            <a:pPr marL="0" marR="0" lvl="0" indent="0" algn="l" rtl="0">
              <a:spcBef>
                <a:spcPts val="0"/>
              </a:spcBef>
              <a:spcAft>
                <a:spcPts val="0"/>
              </a:spcAft>
              <a:buNone/>
            </a:pPr>
            <a:r>
              <a:rPr lang="en" sz="1200">
                <a:solidFill>
                  <a:srgbClr val="FF8000"/>
                </a:solidFill>
                <a:latin typeface="Inter Medium"/>
                <a:ea typeface="Inter Medium"/>
                <a:cs typeface="Inter Medium"/>
                <a:sym typeface="Inter Medium"/>
              </a:rPr>
              <a:t>Discrete</a:t>
            </a:r>
            <a:endParaRPr sz="1200">
              <a:solidFill>
                <a:srgbClr val="FF8000"/>
              </a:solidFill>
              <a:latin typeface="Inter Medium"/>
              <a:ea typeface="Inter Medium"/>
              <a:cs typeface="Inter Medium"/>
              <a:sym typeface="Inter Medium"/>
            </a:endParaRPr>
          </a:p>
        </p:txBody>
      </p:sp>
      <p:sp>
        <p:nvSpPr>
          <p:cNvPr id="6" name="Google Shape;109;p26">
            <a:extLst>
              <a:ext uri="{FF2B5EF4-FFF2-40B4-BE49-F238E27FC236}">
                <a16:creationId xmlns:a16="http://schemas.microsoft.com/office/drawing/2014/main" id="{7DB7655A-9C51-F846-988D-BA9BB802B2E6}"/>
              </a:ext>
            </a:extLst>
          </p:cNvPr>
          <p:cNvSpPr txBox="1"/>
          <p:nvPr/>
        </p:nvSpPr>
        <p:spPr>
          <a:xfrm>
            <a:off x="5297866" y="1615839"/>
            <a:ext cx="589800" cy="265500"/>
          </a:xfrm>
          <a:prstGeom prst="rect">
            <a:avLst/>
          </a:prstGeom>
          <a:noFill/>
          <a:ln>
            <a:noFill/>
          </a:ln>
        </p:spPr>
        <p:txBody>
          <a:bodyPr spcFirstLastPara="1" wrap="square" lIns="0" tIns="0" rIns="91425" bIns="0" anchor="t" anchorCtr="0">
            <a:noAutofit/>
          </a:bodyPr>
          <a:lstStyle/>
          <a:p>
            <a:pPr marL="0" marR="0" lvl="0" indent="0" algn="l" rtl="0">
              <a:spcBef>
                <a:spcPts val="0"/>
              </a:spcBef>
              <a:spcAft>
                <a:spcPts val="0"/>
              </a:spcAft>
              <a:buNone/>
            </a:pPr>
            <a:r>
              <a:rPr lang="en" sz="1200">
                <a:solidFill>
                  <a:srgbClr val="FF8000"/>
                </a:solidFill>
                <a:latin typeface="Inter Medium"/>
                <a:ea typeface="Inter Medium"/>
                <a:cs typeface="Inter Medium"/>
                <a:sym typeface="Inter Medium"/>
              </a:rPr>
              <a:t>Series</a:t>
            </a:r>
            <a:endParaRPr sz="1200">
              <a:solidFill>
                <a:srgbClr val="FF8000"/>
              </a:solidFill>
              <a:latin typeface="Inter Medium"/>
              <a:ea typeface="Inter Medium"/>
              <a:cs typeface="Inter Medium"/>
              <a:sym typeface="Inter Medium"/>
            </a:endParaRPr>
          </a:p>
        </p:txBody>
      </p:sp>
      <p:sp>
        <p:nvSpPr>
          <p:cNvPr id="7" name="Google Shape;110;p26">
            <a:extLst>
              <a:ext uri="{FF2B5EF4-FFF2-40B4-BE49-F238E27FC236}">
                <a16:creationId xmlns:a16="http://schemas.microsoft.com/office/drawing/2014/main" id="{9051D609-ED04-9B4D-8117-551379081AB3}"/>
              </a:ext>
            </a:extLst>
          </p:cNvPr>
          <p:cNvSpPr txBox="1"/>
          <p:nvPr/>
        </p:nvSpPr>
        <p:spPr>
          <a:xfrm>
            <a:off x="1316052" y="5495203"/>
            <a:ext cx="7433855" cy="33852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After Clemens </a:t>
            </a:r>
            <a:r>
              <a:rPr lang="en" sz="1000" dirty="0" err="1"/>
              <a:t>Vasters</a:t>
            </a:r>
            <a:r>
              <a:rPr lang="en" sz="1000" dirty="0"/>
              <a:t>: https://</a:t>
            </a:r>
            <a:r>
              <a:rPr lang="en" sz="1000" dirty="0" err="1"/>
              <a:t>skillsmatter.com</a:t>
            </a:r>
            <a:r>
              <a:rPr lang="en" sz="1000" dirty="0"/>
              <a:t>/</a:t>
            </a:r>
            <a:r>
              <a:rPr lang="en" sz="1000" dirty="0" err="1"/>
              <a:t>skillscasts</a:t>
            </a:r>
            <a:r>
              <a:rPr lang="en" sz="1000" dirty="0"/>
              <a:t>/10191-keynote-events-data-points-jobs-and-commands-the-rise-of-messaging</a:t>
            </a:r>
            <a:endParaRPr sz="1000" dirty="0"/>
          </a:p>
        </p:txBody>
      </p:sp>
      <p:sp>
        <p:nvSpPr>
          <p:cNvPr id="8" name="Google Shape;111;p26">
            <a:extLst>
              <a:ext uri="{FF2B5EF4-FFF2-40B4-BE49-F238E27FC236}">
                <a16:creationId xmlns:a16="http://schemas.microsoft.com/office/drawing/2014/main" id="{013A4CBA-A0B6-9E41-87C9-E48DC47FD7B9}"/>
              </a:ext>
            </a:extLst>
          </p:cNvPr>
          <p:cNvSpPr/>
          <p:nvPr/>
        </p:nvSpPr>
        <p:spPr>
          <a:xfrm>
            <a:off x="2246691" y="2589389"/>
            <a:ext cx="1006200" cy="3240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Stateless</a:t>
            </a:r>
            <a:endParaRPr sz="1000"/>
          </a:p>
          <a:p>
            <a:pPr marL="0" lvl="0" indent="0" algn="ctr" rtl="0">
              <a:spcBef>
                <a:spcPts val="0"/>
              </a:spcBef>
              <a:spcAft>
                <a:spcPts val="0"/>
              </a:spcAft>
              <a:buNone/>
            </a:pPr>
            <a:r>
              <a:rPr lang="en" sz="1000"/>
              <a:t>Handler</a:t>
            </a:r>
            <a:endParaRPr sz="1000"/>
          </a:p>
        </p:txBody>
      </p:sp>
      <p:sp>
        <p:nvSpPr>
          <p:cNvPr id="9" name="Google Shape;112;p26">
            <a:extLst>
              <a:ext uri="{FF2B5EF4-FFF2-40B4-BE49-F238E27FC236}">
                <a16:creationId xmlns:a16="http://schemas.microsoft.com/office/drawing/2014/main" id="{600C75A7-5542-374C-A364-E0DE38DF6504}"/>
              </a:ext>
            </a:extLst>
          </p:cNvPr>
          <p:cNvSpPr/>
          <p:nvPr/>
        </p:nvSpPr>
        <p:spPr>
          <a:xfrm>
            <a:off x="4789241" y="2491439"/>
            <a:ext cx="1349400" cy="519900"/>
          </a:xfrm>
          <a:prstGeom prst="roundRect">
            <a:avLst>
              <a:gd name="adj" fmla="val 16667"/>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Stateful</a:t>
            </a:r>
            <a:endParaRPr sz="1000"/>
          </a:p>
          <a:p>
            <a:pPr marL="0" lvl="0" indent="0" algn="ctr" rtl="0">
              <a:spcBef>
                <a:spcPts val="0"/>
              </a:spcBef>
              <a:spcAft>
                <a:spcPts val="0"/>
              </a:spcAft>
              <a:buNone/>
            </a:pPr>
            <a:r>
              <a:rPr lang="en" sz="1000"/>
              <a:t>Partition</a:t>
            </a:r>
            <a:endParaRPr sz="1000"/>
          </a:p>
          <a:p>
            <a:pPr marL="0" lvl="0" indent="0" algn="ctr" rtl="0">
              <a:spcBef>
                <a:spcPts val="0"/>
              </a:spcBef>
              <a:spcAft>
                <a:spcPts val="0"/>
              </a:spcAft>
              <a:buNone/>
            </a:pPr>
            <a:r>
              <a:rPr lang="en" sz="1000"/>
              <a:t>Processor</a:t>
            </a:r>
            <a:endParaRPr sz="1000"/>
          </a:p>
        </p:txBody>
      </p:sp>
      <p:sp>
        <p:nvSpPr>
          <p:cNvPr id="10" name="Google Shape;113;p26">
            <a:extLst>
              <a:ext uri="{FF2B5EF4-FFF2-40B4-BE49-F238E27FC236}">
                <a16:creationId xmlns:a16="http://schemas.microsoft.com/office/drawing/2014/main" id="{B83DFF3A-4370-224D-8375-9F16DB40A79D}"/>
              </a:ext>
            </a:extLst>
          </p:cNvPr>
          <p:cNvSpPr/>
          <p:nvPr/>
        </p:nvSpPr>
        <p:spPr>
          <a:xfrm>
            <a:off x="2526416" y="1960964"/>
            <a:ext cx="392700" cy="446700"/>
          </a:xfrm>
          <a:prstGeom prst="down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4;p26">
            <a:extLst>
              <a:ext uri="{FF2B5EF4-FFF2-40B4-BE49-F238E27FC236}">
                <a16:creationId xmlns:a16="http://schemas.microsoft.com/office/drawing/2014/main" id="{CC0100D5-C912-A041-A7CF-6F97E6A24A9A}"/>
              </a:ext>
            </a:extLst>
          </p:cNvPr>
          <p:cNvSpPr/>
          <p:nvPr/>
        </p:nvSpPr>
        <p:spPr>
          <a:xfrm rot="10800000">
            <a:off x="5326313" y="1929679"/>
            <a:ext cx="392700" cy="446700"/>
          </a:xfrm>
          <a:prstGeom prst="downArrow">
            <a:avLst>
              <a:gd name="adj1" fmla="val 50000"/>
              <a:gd name="adj2" fmla="val 50000"/>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5;p26">
            <a:extLst>
              <a:ext uri="{FF2B5EF4-FFF2-40B4-BE49-F238E27FC236}">
                <a16:creationId xmlns:a16="http://schemas.microsoft.com/office/drawing/2014/main" id="{45931187-C87E-EB47-A122-F7E76C728CF2}"/>
              </a:ext>
            </a:extLst>
          </p:cNvPr>
          <p:cNvSpPr txBox="1"/>
          <p:nvPr/>
        </p:nvSpPr>
        <p:spPr>
          <a:xfrm>
            <a:off x="1955766" y="2068539"/>
            <a:ext cx="4677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PUSH</a:t>
            </a:r>
            <a:endParaRPr sz="800"/>
          </a:p>
        </p:txBody>
      </p:sp>
      <p:sp>
        <p:nvSpPr>
          <p:cNvPr id="13" name="Google Shape;116;p26">
            <a:extLst>
              <a:ext uri="{FF2B5EF4-FFF2-40B4-BE49-F238E27FC236}">
                <a16:creationId xmlns:a16="http://schemas.microsoft.com/office/drawing/2014/main" id="{AA8B4B55-334D-9444-9122-966DB8AAB2E2}"/>
              </a:ext>
            </a:extLst>
          </p:cNvPr>
          <p:cNvSpPr txBox="1"/>
          <p:nvPr/>
        </p:nvSpPr>
        <p:spPr>
          <a:xfrm>
            <a:off x="4789316" y="1999139"/>
            <a:ext cx="4407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PULL</a:t>
            </a:r>
            <a:endParaRPr sz="800"/>
          </a:p>
        </p:txBody>
      </p:sp>
      <p:sp>
        <p:nvSpPr>
          <p:cNvPr id="14" name="Google Shape;117;p26">
            <a:extLst>
              <a:ext uri="{FF2B5EF4-FFF2-40B4-BE49-F238E27FC236}">
                <a16:creationId xmlns:a16="http://schemas.microsoft.com/office/drawing/2014/main" id="{092F4828-05A0-D449-8C60-3B724B33680D}"/>
              </a:ext>
            </a:extLst>
          </p:cNvPr>
          <p:cNvSpPr txBox="1"/>
          <p:nvPr/>
        </p:nvSpPr>
        <p:spPr>
          <a:xfrm>
            <a:off x="5854591" y="2032489"/>
            <a:ext cx="589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Context</a:t>
            </a:r>
            <a:endParaRPr sz="600"/>
          </a:p>
          <a:p>
            <a:pPr marL="0" lvl="0" indent="0" algn="l" rtl="0">
              <a:spcBef>
                <a:spcPts val="0"/>
              </a:spcBef>
              <a:spcAft>
                <a:spcPts val="0"/>
              </a:spcAft>
              <a:buNone/>
            </a:pPr>
            <a:r>
              <a:rPr lang="en" sz="600"/>
              <a:t>Offset</a:t>
            </a:r>
            <a:endParaRPr sz="600"/>
          </a:p>
        </p:txBody>
      </p:sp>
      <p:sp>
        <p:nvSpPr>
          <p:cNvPr id="15" name="Google Shape;118;p26">
            <a:extLst>
              <a:ext uri="{FF2B5EF4-FFF2-40B4-BE49-F238E27FC236}">
                <a16:creationId xmlns:a16="http://schemas.microsoft.com/office/drawing/2014/main" id="{9E86A41D-3AA7-2445-B16F-C4808106FA6B}"/>
              </a:ext>
            </a:extLst>
          </p:cNvPr>
          <p:cNvSpPr txBox="1"/>
          <p:nvPr/>
        </p:nvSpPr>
        <p:spPr>
          <a:xfrm>
            <a:off x="2145941" y="3110820"/>
            <a:ext cx="1274400" cy="369302"/>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Chalkboard" panose="03050602040202020205" pitchFamily="66" charset="77"/>
              </a:rPr>
              <a:t>Discrete</a:t>
            </a:r>
            <a:endParaRPr sz="1200" dirty="0">
              <a:latin typeface="Chalkboard" panose="03050602040202020205" pitchFamily="66" charset="77"/>
            </a:endParaRPr>
          </a:p>
        </p:txBody>
      </p:sp>
      <p:sp>
        <p:nvSpPr>
          <p:cNvPr id="16" name="Google Shape;119;p26">
            <a:extLst>
              <a:ext uri="{FF2B5EF4-FFF2-40B4-BE49-F238E27FC236}">
                <a16:creationId xmlns:a16="http://schemas.microsoft.com/office/drawing/2014/main" id="{56A8F629-E8AF-9548-8903-0FB06B58A568}"/>
              </a:ext>
            </a:extLst>
          </p:cNvPr>
          <p:cNvSpPr txBox="1"/>
          <p:nvPr/>
        </p:nvSpPr>
        <p:spPr>
          <a:xfrm>
            <a:off x="4404310" y="5853662"/>
            <a:ext cx="4182168" cy="33852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See also: https://</a:t>
            </a:r>
            <a:r>
              <a:rPr lang="en" sz="1000" dirty="0" err="1"/>
              <a:t>en.wikipedia.org</a:t>
            </a:r>
            <a:r>
              <a:rPr lang="en" sz="1000" dirty="0"/>
              <a:t>/wiki/</a:t>
            </a:r>
            <a:r>
              <a:rPr lang="en" sz="1000" dirty="0" err="1"/>
              <a:t>Discrete_time_and_continuous_time</a:t>
            </a:r>
            <a:endParaRPr sz="1000" dirty="0"/>
          </a:p>
        </p:txBody>
      </p:sp>
      <p:sp>
        <p:nvSpPr>
          <p:cNvPr id="17" name="Google Shape;120;p26">
            <a:extLst>
              <a:ext uri="{FF2B5EF4-FFF2-40B4-BE49-F238E27FC236}">
                <a16:creationId xmlns:a16="http://schemas.microsoft.com/office/drawing/2014/main" id="{EC825E89-DEB6-F440-BD69-139A043EBD10}"/>
              </a:ext>
            </a:extLst>
          </p:cNvPr>
          <p:cNvSpPr txBox="1"/>
          <p:nvPr/>
        </p:nvSpPr>
        <p:spPr>
          <a:xfrm>
            <a:off x="4826741" y="3123545"/>
            <a:ext cx="1274400" cy="369302"/>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Chalkboard" panose="03050602040202020205" pitchFamily="66" charset="77"/>
              </a:rPr>
              <a:t>Continuous</a:t>
            </a:r>
            <a:endParaRPr sz="1200" dirty="0">
              <a:latin typeface="Chalkboard" panose="03050602040202020205" pitchFamily="66" charset="77"/>
            </a:endParaRPr>
          </a:p>
        </p:txBody>
      </p:sp>
      <p:sp>
        <p:nvSpPr>
          <p:cNvPr id="18" name="Google Shape;121;p26">
            <a:extLst>
              <a:ext uri="{FF2B5EF4-FFF2-40B4-BE49-F238E27FC236}">
                <a16:creationId xmlns:a16="http://schemas.microsoft.com/office/drawing/2014/main" id="{95E91ACE-AE45-794F-8D5F-0D18E1625D78}"/>
              </a:ext>
            </a:extLst>
          </p:cNvPr>
          <p:cNvSpPr txBox="1"/>
          <p:nvPr/>
        </p:nvSpPr>
        <p:spPr>
          <a:xfrm>
            <a:off x="2145941" y="3664300"/>
            <a:ext cx="1274400" cy="369302"/>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Chalkboard" panose="03050602040202020205" pitchFamily="66" charset="77"/>
              </a:rPr>
              <a:t>Independent</a:t>
            </a:r>
            <a:endParaRPr sz="1200" dirty="0">
              <a:latin typeface="Chalkboard" panose="03050602040202020205" pitchFamily="66" charset="77"/>
            </a:endParaRPr>
          </a:p>
        </p:txBody>
      </p:sp>
      <p:sp>
        <p:nvSpPr>
          <p:cNvPr id="19" name="Google Shape;122;p26">
            <a:extLst>
              <a:ext uri="{FF2B5EF4-FFF2-40B4-BE49-F238E27FC236}">
                <a16:creationId xmlns:a16="http://schemas.microsoft.com/office/drawing/2014/main" id="{E7328208-CB6C-EC41-897D-919DB17CB6BA}"/>
              </a:ext>
            </a:extLst>
          </p:cNvPr>
          <p:cNvSpPr txBox="1"/>
          <p:nvPr/>
        </p:nvSpPr>
        <p:spPr>
          <a:xfrm>
            <a:off x="4826741" y="3664300"/>
            <a:ext cx="1274400" cy="369302"/>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Chalkboard" panose="03050602040202020205" pitchFamily="66" charset="77"/>
              </a:rPr>
              <a:t>Sequential</a:t>
            </a:r>
            <a:endParaRPr sz="1200" dirty="0">
              <a:latin typeface="Chalkboard" panose="03050602040202020205" pitchFamily="66" charset="77"/>
            </a:endParaRPr>
          </a:p>
        </p:txBody>
      </p:sp>
      <p:sp>
        <p:nvSpPr>
          <p:cNvPr id="20" name="Google Shape;123;p26">
            <a:extLst>
              <a:ext uri="{FF2B5EF4-FFF2-40B4-BE49-F238E27FC236}">
                <a16:creationId xmlns:a16="http://schemas.microsoft.com/office/drawing/2014/main" id="{183BB63C-2409-A041-8BEA-2ADE2573A6E9}"/>
              </a:ext>
            </a:extLst>
          </p:cNvPr>
          <p:cNvSpPr txBox="1"/>
          <p:nvPr/>
        </p:nvSpPr>
        <p:spPr>
          <a:xfrm>
            <a:off x="2145941" y="4163213"/>
            <a:ext cx="1274400" cy="553968"/>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Chalkboard" panose="03050602040202020205" pitchFamily="66" charset="77"/>
              </a:rPr>
              <a:t>Immediately Actionable</a:t>
            </a:r>
            <a:endParaRPr sz="1200" dirty="0">
              <a:latin typeface="Chalkboard" panose="03050602040202020205" pitchFamily="66" charset="77"/>
            </a:endParaRPr>
          </a:p>
        </p:txBody>
      </p:sp>
      <p:sp>
        <p:nvSpPr>
          <p:cNvPr id="21" name="Google Shape;124;p26">
            <a:extLst>
              <a:ext uri="{FF2B5EF4-FFF2-40B4-BE49-F238E27FC236}">
                <a16:creationId xmlns:a16="http://schemas.microsoft.com/office/drawing/2014/main" id="{D6C45F27-7EE5-3641-8A9A-8052F00A695B}"/>
              </a:ext>
            </a:extLst>
          </p:cNvPr>
          <p:cNvSpPr txBox="1"/>
          <p:nvPr/>
        </p:nvSpPr>
        <p:spPr>
          <a:xfrm>
            <a:off x="4826741" y="4163213"/>
            <a:ext cx="1274400" cy="553968"/>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Chalkboard" panose="03050602040202020205" pitchFamily="66" charset="77"/>
              </a:rPr>
              <a:t>Report Condition</a:t>
            </a:r>
            <a:endParaRPr sz="1200" dirty="0">
              <a:latin typeface="Chalkboard" panose="03050602040202020205" pitchFamily="66" charset="77"/>
            </a:endParaRPr>
          </a:p>
        </p:txBody>
      </p:sp>
      <p:sp>
        <p:nvSpPr>
          <p:cNvPr id="22" name="TextBox 21">
            <a:extLst>
              <a:ext uri="{FF2B5EF4-FFF2-40B4-BE49-F238E27FC236}">
                <a16:creationId xmlns:a16="http://schemas.microsoft.com/office/drawing/2014/main" id="{DD0CA131-876F-9748-BCAE-AA75293E83A9}"/>
              </a:ext>
            </a:extLst>
          </p:cNvPr>
          <p:cNvSpPr txBox="1"/>
          <p:nvPr/>
        </p:nvSpPr>
        <p:spPr>
          <a:xfrm>
            <a:off x="53166" y="221191"/>
            <a:ext cx="3409238" cy="461665"/>
          </a:xfrm>
          <a:prstGeom prst="rect">
            <a:avLst/>
          </a:prstGeom>
          <a:noFill/>
        </p:spPr>
        <p:txBody>
          <a:bodyPr wrap="square" rtlCol="0">
            <a:spAutoFit/>
          </a:bodyPr>
          <a:lstStyle/>
          <a:p>
            <a:pPr algn="ctr"/>
            <a:r>
              <a:rPr lang="en-US" sz="2400" b="1" dirty="0" err="1">
                <a:latin typeface="Chalkboard" panose="03050602040202020205" pitchFamily="66" charset="77"/>
              </a:rPr>
              <a:t>Eventing</a:t>
            </a:r>
            <a:r>
              <a:rPr lang="en-US" sz="2400" b="1" dirty="0">
                <a:latin typeface="Chalkboard" panose="03050602040202020205" pitchFamily="66" charset="77"/>
              </a:rPr>
              <a:t> Types</a:t>
            </a:r>
          </a:p>
        </p:txBody>
      </p:sp>
      <p:sp>
        <p:nvSpPr>
          <p:cNvPr id="2" name="Google Shape;123;p26">
            <a:extLst>
              <a:ext uri="{FF2B5EF4-FFF2-40B4-BE49-F238E27FC236}">
                <a16:creationId xmlns:a16="http://schemas.microsoft.com/office/drawing/2014/main" id="{61B605EE-6909-3154-E766-B2B4078D5090}"/>
              </a:ext>
            </a:extLst>
          </p:cNvPr>
          <p:cNvSpPr txBox="1"/>
          <p:nvPr/>
        </p:nvSpPr>
        <p:spPr>
          <a:xfrm>
            <a:off x="2145941" y="4860203"/>
            <a:ext cx="1274400" cy="553968"/>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Chalkboard" panose="03050602040202020205" pitchFamily="66" charset="77"/>
              </a:rPr>
              <a:t>Part of a Conversation</a:t>
            </a:r>
            <a:endParaRPr sz="1200" dirty="0">
              <a:latin typeface="Chalkboard" panose="03050602040202020205" pitchFamily="66" charset="77"/>
            </a:endParaRPr>
          </a:p>
        </p:txBody>
      </p:sp>
      <p:sp>
        <p:nvSpPr>
          <p:cNvPr id="3" name="Google Shape;123;p26">
            <a:extLst>
              <a:ext uri="{FF2B5EF4-FFF2-40B4-BE49-F238E27FC236}">
                <a16:creationId xmlns:a16="http://schemas.microsoft.com/office/drawing/2014/main" id="{72408470-08AE-C5B9-724A-9824A0FD3803}"/>
              </a:ext>
            </a:extLst>
          </p:cNvPr>
          <p:cNvSpPr txBox="1"/>
          <p:nvPr/>
        </p:nvSpPr>
        <p:spPr>
          <a:xfrm>
            <a:off x="4826741" y="4841765"/>
            <a:ext cx="1274400" cy="553968"/>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Chalkboard" panose="03050602040202020205" pitchFamily="66" charset="77"/>
              </a:rPr>
              <a:t>Part of a Monolog</a:t>
            </a:r>
            <a:endParaRPr sz="1200" dirty="0">
              <a:latin typeface="Chalkboard" panose="03050602040202020205" pitchFamily="66" charset="77"/>
            </a:endParaRPr>
          </a:p>
        </p:txBody>
      </p:sp>
    </p:spTree>
    <p:extLst>
      <p:ext uri="{BB962C8B-B14F-4D97-AF65-F5344CB8AC3E}">
        <p14:creationId xmlns:p14="http://schemas.microsoft.com/office/powerpoint/2010/main" val="72598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animBg="1"/>
      <p:bldP spid="20" grpId="0" animBg="1"/>
      <p:bldP spid="21" grpId="0" animBg="1"/>
      <p:bldP spid="2" grpId="0" animBg="1"/>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9E6F6-259D-0249-8796-8B454DE163A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0932EB-BFDF-8772-2491-B7801EBDF47D}"/>
              </a:ext>
            </a:extLst>
          </p:cNvPr>
          <p:cNvSpPr>
            <a:spLocks noGrp="1"/>
          </p:cNvSpPr>
          <p:nvPr>
            <p:ph type="sldNum" sz="quarter" idx="12"/>
          </p:nvPr>
        </p:nvSpPr>
        <p:spPr/>
        <p:txBody>
          <a:bodyPr/>
          <a:lstStyle/>
          <a:p>
            <a:fld id="{867D4A06-35AE-BD4A-84A9-613A26F3D41D}" type="slidenum">
              <a:rPr lang="en-US" smtClean="0"/>
              <a:pPr/>
              <a:t>43</a:t>
            </a:fld>
            <a:endParaRPr lang="en-US"/>
          </a:p>
        </p:txBody>
      </p:sp>
      <p:sp>
        <p:nvSpPr>
          <p:cNvPr id="5" name="Google Shape;106;p26">
            <a:extLst>
              <a:ext uri="{FF2B5EF4-FFF2-40B4-BE49-F238E27FC236}">
                <a16:creationId xmlns:a16="http://schemas.microsoft.com/office/drawing/2014/main" id="{A0C89C57-72B0-4829-C353-CFC7EAE3C89D}"/>
              </a:ext>
            </a:extLst>
          </p:cNvPr>
          <p:cNvSpPr txBox="1"/>
          <p:nvPr/>
        </p:nvSpPr>
        <p:spPr>
          <a:xfrm>
            <a:off x="2904208" y="1999339"/>
            <a:ext cx="1515392" cy="403957"/>
          </a:xfrm>
          <a:prstGeom prst="rect">
            <a:avLst/>
          </a:prstGeom>
          <a:noFill/>
          <a:ln>
            <a:noFill/>
          </a:ln>
        </p:spPr>
        <p:txBody>
          <a:bodyPr spcFirstLastPara="1" wrap="square" lIns="0" tIns="0" rIns="68569" bIns="0" anchor="t" anchorCtr="0">
            <a:noAutofit/>
          </a:bodyPr>
          <a:lstStyle/>
          <a:p>
            <a:r>
              <a:rPr lang="en" sz="2400" dirty="0">
                <a:solidFill>
                  <a:srgbClr val="FF8000"/>
                </a:solidFill>
                <a:latin typeface="Chalkboard" panose="03050602040202020205" pitchFamily="66" charset="77"/>
                <a:ea typeface="Inter Medium"/>
                <a:cs typeface="Inter Medium"/>
                <a:sym typeface="Inter Medium"/>
              </a:rPr>
              <a:t>Messaging</a:t>
            </a:r>
            <a:endParaRPr sz="2400" dirty="0">
              <a:solidFill>
                <a:srgbClr val="FF8000"/>
              </a:solidFill>
              <a:latin typeface="Chalkboard" panose="03050602040202020205" pitchFamily="66" charset="77"/>
              <a:ea typeface="Inter Medium"/>
              <a:cs typeface="Inter Medium"/>
              <a:sym typeface="Inter Medium"/>
            </a:endParaRPr>
          </a:p>
        </p:txBody>
      </p:sp>
      <p:sp>
        <p:nvSpPr>
          <p:cNvPr id="6" name="Google Shape;109;p26">
            <a:extLst>
              <a:ext uri="{FF2B5EF4-FFF2-40B4-BE49-F238E27FC236}">
                <a16:creationId xmlns:a16="http://schemas.microsoft.com/office/drawing/2014/main" id="{74DA9A7F-F987-F898-7A9B-7A8104416D82}"/>
              </a:ext>
            </a:extLst>
          </p:cNvPr>
          <p:cNvSpPr txBox="1"/>
          <p:nvPr/>
        </p:nvSpPr>
        <p:spPr>
          <a:xfrm>
            <a:off x="4906693" y="1999339"/>
            <a:ext cx="1333240" cy="403957"/>
          </a:xfrm>
          <a:prstGeom prst="rect">
            <a:avLst/>
          </a:prstGeom>
          <a:noFill/>
          <a:ln>
            <a:noFill/>
          </a:ln>
        </p:spPr>
        <p:txBody>
          <a:bodyPr spcFirstLastPara="1" wrap="square" lIns="0" tIns="0" rIns="68569" bIns="0" anchor="t" anchorCtr="0">
            <a:noAutofit/>
          </a:bodyPr>
          <a:lstStyle/>
          <a:p>
            <a:r>
              <a:rPr lang="en" sz="2400" dirty="0">
                <a:solidFill>
                  <a:srgbClr val="FF8000"/>
                </a:solidFill>
                <a:latin typeface="Chalkboard" panose="03050602040202020205" pitchFamily="66" charset="77"/>
                <a:ea typeface="Inter Medium"/>
                <a:cs typeface="Inter Medium"/>
                <a:sym typeface="Inter Medium"/>
              </a:rPr>
              <a:t>Eventing</a:t>
            </a:r>
            <a:endParaRPr sz="2400" dirty="0">
              <a:solidFill>
                <a:srgbClr val="FF8000"/>
              </a:solidFill>
              <a:latin typeface="Chalkboard" panose="03050602040202020205" pitchFamily="66" charset="77"/>
              <a:ea typeface="Inter Medium"/>
              <a:cs typeface="Inter Medium"/>
              <a:sym typeface="Inter Medium"/>
            </a:endParaRPr>
          </a:p>
        </p:txBody>
      </p:sp>
      <p:sp>
        <p:nvSpPr>
          <p:cNvPr id="7" name="Google Shape;110;p26">
            <a:extLst>
              <a:ext uri="{FF2B5EF4-FFF2-40B4-BE49-F238E27FC236}">
                <a16:creationId xmlns:a16="http://schemas.microsoft.com/office/drawing/2014/main" id="{27DD074C-42F6-C363-741A-881892A0D4F9}"/>
              </a:ext>
            </a:extLst>
          </p:cNvPr>
          <p:cNvSpPr txBox="1"/>
          <p:nvPr/>
        </p:nvSpPr>
        <p:spPr>
          <a:xfrm>
            <a:off x="3215608" y="5714998"/>
            <a:ext cx="5791435" cy="292366"/>
          </a:xfrm>
          <a:prstGeom prst="rect">
            <a:avLst/>
          </a:prstGeom>
          <a:noFill/>
          <a:ln>
            <a:noFill/>
          </a:ln>
        </p:spPr>
        <p:txBody>
          <a:bodyPr spcFirstLastPara="1" wrap="square" lIns="68569" tIns="68569" rIns="68569" bIns="68569" anchor="t" anchorCtr="0">
            <a:spAutoFit/>
          </a:bodyPr>
          <a:lstStyle/>
          <a:p>
            <a:r>
              <a:rPr lang="en" sz="1000" dirty="0"/>
              <a:t>See Gregor </a:t>
            </a:r>
            <a:r>
              <a:rPr lang="en" sz="1000" dirty="0" err="1"/>
              <a:t>Hohpe</a:t>
            </a:r>
            <a:r>
              <a:rPr lang="en" sz="1000" dirty="0"/>
              <a:t>: </a:t>
            </a:r>
            <a:r>
              <a:rPr lang="en-GB" sz="1000" dirty="0"/>
              <a:t>https://</a:t>
            </a:r>
            <a:r>
              <a:rPr lang="en-GB" sz="1000" dirty="0" err="1"/>
              <a:t>www.enterpriseintegrationpatterns.com</a:t>
            </a:r>
            <a:r>
              <a:rPr lang="en-GB" sz="1000" dirty="0"/>
              <a:t>/patterns/messaging/</a:t>
            </a:r>
            <a:r>
              <a:rPr lang="en-GB" sz="1000" dirty="0" err="1"/>
              <a:t>Message.html</a:t>
            </a:r>
            <a:endParaRPr sz="1000" dirty="0"/>
          </a:p>
        </p:txBody>
      </p:sp>
      <p:sp>
        <p:nvSpPr>
          <p:cNvPr id="15" name="Google Shape;118;p26">
            <a:extLst>
              <a:ext uri="{FF2B5EF4-FFF2-40B4-BE49-F238E27FC236}">
                <a16:creationId xmlns:a16="http://schemas.microsoft.com/office/drawing/2014/main" id="{61CE4188-1FAB-B854-1453-D868F5B93E6E}"/>
              </a:ext>
            </a:extLst>
          </p:cNvPr>
          <p:cNvSpPr txBox="1"/>
          <p:nvPr/>
        </p:nvSpPr>
        <p:spPr>
          <a:xfrm>
            <a:off x="2904208" y="2578552"/>
            <a:ext cx="1169952" cy="323143"/>
          </a:xfrm>
          <a:prstGeom prst="rect">
            <a:avLst/>
          </a:prstGeom>
          <a:noFill/>
          <a:ln w="9525" cap="flat" cmpd="sng">
            <a:solidFill>
              <a:schemeClr val="accent6"/>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latin typeface="Chalkboard" panose="03050602040202020205" pitchFamily="66" charset="77"/>
              </a:rPr>
              <a:t>Command</a:t>
            </a:r>
            <a:endParaRPr sz="1200" dirty="0">
              <a:latin typeface="Chalkboard" panose="03050602040202020205" pitchFamily="66" charset="77"/>
            </a:endParaRPr>
          </a:p>
        </p:txBody>
      </p:sp>
      <p:sp>
        <p:nvSpPr>
          <p:cNvPr id="17" name="Google Shape;120;p26">
            <a:extLst>
              <a:ext uri="{FF2B5EF4-FFF2-40B4-BE49-F238E27FC236}">
                <a16:creationId xmlns:a16="http://schemas.microsoft.com/office/drawing/2014/main" id="{0230AED9-1672-FADE-C109-1EDB0BC44FEF}"/>
              </a:ext>
            </a:extLst>
          </p:cNvPr>
          <p:cNvSpPr txBox="1"/>
          <p:nvPr/>
        </p:nvSpPr>
        <p:spPr>
          <a:xfrm>
            <a:off x="4914808" y="2575322"/>
            <a:ext cx="1993992" cy="323143"/>
          </a:xfrm>
          <a:prstGeom prst="rect">
            <a:avLst/>
          </a:prstGeom>
          <a:noFill/>
          <a:ln w="9525" cap="flat" cmpd="sng">
            <a:solidFill>
              <a:schemeClr val="accent6"/>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latin typeface="Chalkboard" panose="03050602040202020205" pitchFamily="66" charset="77"/>
              </a:rPr>
              <a:t>Event (Notification)</a:t>
            </a:r>
            <a:endParaRPr sz="1200" dirty="0">
              <a:latin typeface="Chalkboard" panose="03050602040202020205" pitchFamily="66" charset="77"/>
            </a:endParaRPr>
          </a:p>
        </p:txBody>
      </p:sp>
      <p:sp>
        <p:nvSpPr>
          <p:cNvPr id="19" name="Google Shape;122;p26">
            <a:extLst>
              <a:ext uri="{FF2B5EF4-FFF2-40B4-BE49-F238E27FC236}">
                <a16:creationId xmlns:a16="http://schemas.microsoft.com/office/drawing/2014/main" id="{7ECE0A8C-879F-3275-2838-C802DDB03654}"/>
              </a:ext>
            </a:extLst>
          </p:cNvPr>
          <p:cNvSpPr txBox="1"/>
          <p:nvPr/>
        </p:nvSpPr>
        <p:spPr>
          <a:xfrm>
            <a:off x="4906693" y="3160295"/>
            <a:ext cx="1079592" cy="323143"/>
          </a:xfrm>
          <a:prstGeom prst="rect">
            <a:avLst/>
          </a:prstGeom>
          <a:noFill/>
          <a:ln w="9525" cap="flat" cmpd="sng">
            <a:solidFill>
              <a:schemeClr val="accent6"/>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latin typeface="Chalkboard" panose="03050602040202020205" pitchFamily="66" charset="77"/>
              </a:rPr>
              <a:t>Document</a:t>
            </a:r>
            <a:endParaRPr sz="1200" dirty="0">
              <a:latin typeface="Chalkboard" panose="03050602040202020205" pitchFamily="66" charset="77"/>
            </a:endParaRPr>
          </a:p>
        </p:txBody>
      </p:sp>
      <p:sp>
        <p:nvSpPr>
          <p:cNvPr id="22" name="TextBox 21">
            <a:extLst>
              <a:ext uri="{FF2B5EF4-FFF2-40B4-BE49-F238E27FC236}">
                <a16:creationId xmlns:a16="http://schemas.microsoft.com/office/drawing/2014/main" id="{2C102A98-BDC7-2612-DA75-95C9E7DE374C}"/>
              </a:ext>
            </a:extLst>
          </p:cNvPr>
          <p:cNvSpPr txBox="1"/>
          <p:nvPr/>
        </p:nvSpPr>
        <p:spPr>
          <a:xfrm>
            <a:off x="135467" y="243015"/>
            <a:ext cx="2556929" cy="461665"/>
          </a:xfrm>
          <a:prstGeom prst="rect">
            <a:avLst/>
          </a:prstGeom>
          <a:noFill/>
        </p:spPr>
        <p:txBody>
          <a:bodyPr wrap="square" rtlCol="0">
            <a:spAutoFit/>
          </a:bodyPr>
          <a:lstStyle/>
          <a:p>
            <a:pPr algn="ctr"/>
            <a:r>
              <a:rPr lang="en-US" sz="2400" b="1" dirty="0">
                <a:latin typeface="Chalkboard" panose="03050602040202020205" pitchFamily="66" charset="77"/>
              </a:rPr>
              <a:t>Message Types</a:t>
            </a:r>
          </a:p>
        </p:txBody>
      </p:sp>
    </p:spTree>
    <p:extLst>
      <p:ext uri="{BB962C8B-B14F-4D97-AF65-F5344CB8AC3E}">
        <p14:creationId xmlns:p14="http://schemas.microsoft.com/office/powerpoint/2010/main" val="382985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668E9-B581-9AD6-6CA1-3AF8DD1D9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09946-047A-3239-24A3-D3E36E79BDF0}"/>
              </a:ext>
            </a:extLst>
          </p:cNvPr>
          <p:cNvSpPr>
            <a:spLocks noGrp="1"/>
          </p:cNvSpPr>
          <p:nvPr>
            <p:ph type="title"/>
          </p:nvPr>
        </p:nvSpPr>
        <p:spPr>
          <a:xfrm>
            <a:off x="166413" y="289932"/>
            <a:ext cx="2709333" cy="343429"/>
          </a:xfrm>
        </p:spPr>
        <p:txBody>
          <a:bodyPr>
            <a:normAutofit fontScale="90000"/>
          </a:bodyPr>
          <a:lstStyle/>
          <a:p>
            <a:pPr algn="l"/>
            <a:r>
              <a:rPr lang="en-US" sz="2400" dirty="0">
                <a:latin typeface="Chalkboard" panose="03050602040202020205" pitchFamily="66" charset="77"/>
              </a:rPr>
              <a:t>Command Message</a:t>
            </a:r>
          </a:p>
        </p:txBody>
      </p:sp>
      <p:sp>
        <p:nvSpPr>
          <p:cNvPr id="3" name="Content Placeholder 2">
            <a:extLst>
              <a:ext uri="{FF2B5EF4-FFF2-40B4-BE49-F238E27FC236}">
                <a16:creationId xmlns:a16="http://schemas.microsoft.com/office/drawing/2014/main" id="{533BFBC2-275A-FD28-9A24-4C7FCD14B2CE}"/>
              </a:ext>
            </a:extLst>
          </p:cNvPr>
          <p:cNvSpPr>
            <a:spLocks noGrp="1"/>
          </p:cNvSpPr>
          <p:nvPr>
            <p:ph idx="1"/>
          </p:nvPr>
        </p:nvSpPr>
        <p:spPr>
          <a:xfrm>
            <a:off x="491212" y="900559"/>
            <a:ext cx="8302880" cy="449847"/>
          </a:xfrm>
        </p:spPr>
        <p:txBody>
          <a:bodyPr>
            <a:normAutofit/>
          </a:bodyPr>
          <a:lstStyle/>
          <a:p>
            <a:pPr marL="0" indent="0" algn="ctr">
              <a:buNone/>
            </a:pPr>
            <a:r>
              <a:rPr lang="en-US" sz="1800" dirty="0">
                <a:latin typeface="Chalkboard" panose="03050602040202020205" pitchFamily="66" charset="77"/>
              </a:rPr>
              <a:t>Use a Command Message to reliably invoke a procedure in another application</a:t>
            </a:r>
          </a:p>
        </p:txBody>
      </p:sp>
      <p:sp>
        <p:nvSpPr>
          <p:cNvPr id="4" name="Slide Number Placeholder 3">
            <a:extLst>
              <a:ext uri="{FF2B5EF4-FFF2-40B4-BE49-F238E27FC236}">
                <a16:creationId xmlns:a16="http://schemas.microsoft.com/office/drawing/2014/main" id="{B6C03DBE-1BBB-7139-0138-C7AB80D37A1E}"/>
              </a:ext>
            </a:extLst>
          </p:cNvPr>
          <p:cNvSpPr>
            <a:spLocks noGrp="1"/>
          </p:cNvSpPr>
          <p:nvPr>
            <p:ph type="sldNum" sz="quarter" idx="12"/>
          </p:nvPr>
        </p:nvSpPr>
        <p:spPr>
          <a:xfrm>
            <a:off x="6723920" y="6365748"/>
            <a:ext cx="2133600" cy="365125"/>
          </a:xfrm>
        </p:spPr>
        <p:txBody>
          <a:bodyPr/>
          <a:lstStyle/>
          <a:p>
            <a:fld id="{867D4A06-35AE-BD4A-84A9-613A26F3D41D}" type="slidenum">
              <a:rPr lang="en-US" smtClean="0"/>
              <a:pPr/>
              <a:t>44</a:t>
            </a:fld>
            <a:endParaRPr lang="en-US"/>
          </a:p>
        </p:txBody>
      </p:sp>
      <p:sp>
        <p:nvSpPr>
          <p:cNvPr id="5" name="Content Placeholder 2">
            <a:extLst>
              <a:ext uri="{FF2B5EF4-FFF2-40B4-BE49-F238E27FC236}">
                <a16:creationId xmlns:a16="http://schemas.microsoft.com/office/drawing/2014/main" id="{645AD5DD-0CDA-7EF0-86F2-41302273F4A6}"/>
              </a:ext>
            </a:extLst>
          </p:cNvPr>
          <p:cNvSpPr txBox="1">
            <a:spLocks/>
          </p:cNvSpPr>
          <p:nvPr/>
        </p:nvSpPr>
        <p:spPr>
          <a:xfrm>
            <a:off x="491212" y="1350406"/>
            <a:ext cx="8040414" cy="100041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latin typeface="Chalkboard" panose="03050602040202020205" pitchFamily="66" charset="77"/>
              </a:rPr>
              <a:t>Uses the well-established pattern for encapsulating a request as an object. The Command pattern [</a:t>
            </a:r>
            <a:r>
              <a:rPr lang="en-US" sz="1800" dirty="0" err="1">
                <a:latin typeface="Chalkboard" panose="03050602040202020205" pitchFamily="66" charset="77"/>
              </a:rPr>
              <a:t>GoF</a:t>
            </a:r>
            <a:r>
              <a:rPr lang="en-US" sz="1800" dirty="0">
                <a:latin typeface="Chalkboard" panose="03050602040202020205" pitchFamily="66" charset="77"/>
              </a:rPr>
              <a:t>] turns a request into an object that can be stored and passed around.</a:t>
            </a:r>
          </a:p>
        </p:txBody>
      </p:sp>
      <p:sp>
        <p:nvSpPr>
          <p:cNvPr id="6" name="Title 1">
            <a:extLst>
              <a:ext uri="{FF2B5EF4-FFF2-40B4-BE49-F238E27FC236}">
                <a16:creationId xmlns:a16="http://schemas.microsoft.com/office/drawing/2014/main" id="{232EA93D-A194-7AE9-8538-FD9B94635E00}"/>
              </a:ext>
            </a:extLst>
          </p:cNvPr>
          <p:cNvSpPr txBox="1">
            <a:spLocks/>
          </p:cNvSpPr>
          <p:nvPr/>
        </p:nvSpPr>
        <p:spPr>
          <a:xfrm>
            <a:off x="137218" y="2493569"/>
            <a:ext cx="2692400" cy="36512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200" dirty="0">
                <a:latin typeface="Chalkboard" panose="03050602040202020205" pitchFamily="66" charset="77"/>
              </a:rPr>
              <a:t>Document Message</a:t>
            </a:r>
          </a:p>
        </p:txBody>
      </p:sp>
      <p:sp>
        <p:nvSpPr>
          <p:cNvPr id="7" name="Rectangle 6">
            <a:extLst>
              <a:ext uri="{FF2B5EF4-FFF2-40B4-BE49-F238E27FC236}">
                <a16:creationId xmlns:a16="http://schemas.microsoft.com/office/drawing/2014/main" id="{4F2DBB37-ABB8-6354-2A21-35BB49432FBB}"/>
              </a:ext>
            </a:extLst>
          </p:cNvPr>
          <p:cNvSpPr/>
          <p:nvPr/>
        </p:nvSpPr>
        <p:spPr>
          <a:xfrm>
            <a:off x="491212" y="2999042"/>
            <a:ext cx="8869564" cy="646331"/>
          </a:xfrm>
          <a:prstGeom prst="rect">
            <a:avLst/>
          </a:prstGeom>
        </p:spPr>
        <p:txBody>
          <a:bodyPr wrap="square">
            <a:spAutoFit/>
          </a:bodyPr>
          <a:lstStyle/>
          <a:p>
            <a:r>
              <a:rPr lang="en-US" dirty="0">
                <a:latin typeface="Chalkboard" panose="03050602040202020205" pitchFamily="66" charset="77"/>
              </a:rPr>
              <a:t>Use a Document Message to reliably transfer a data structure between applications.</a:t>
            </a:r>
          </a:p>
        </p:txBody>
      </p:sp>
      <p:sp>
        <p:nvSpPr>
          <p:cNvPr id="8" name="Rectangle 7">
            <a:extLst>
              <a:ext uri="{FF2B5EF4-FFF2-40B4-BE49-F238E27FC236}">
                <a16:creationId xmlns:a16="http://schemas.microsoft.com/office/drawing/2014/main" id="{0796A909-515B-AB8E-0847-BCB05B894911}"/>
              </a:ext>
            </a:extLst>
          </p:cNvPr>
          <p:cNvSpPr/>
          <p:nvPr/>
        </p:nvSpPr>
        <p:spPr>
          <a:xfrm>
            <a:off x="491212" y="3836510"/>
            <a:ext cx="6642831" cy="369332"/>
          </a:xfrm>
          <a:prstGeom prst="rect">
            <a:avLst/>
          </a:prstGeom>
        </p:spPr>
        <p:txBody>
          <a:bodyPr wrap="square">
            <a:spAutoFit/>
          </a:bodyPr>
          <a:lstStyle/>
          <a:p>
            <a:r>
              <a:rPr lang="en-US" dirty="0">
                <a:latin typeface="Chalkboard" panose="03050602040202020205" pitchFamily="66" charset="77"/>
              </a:rPr>
              <a:t>The receiver decides what, if anything, to do with the data</a:t>
            </a:r>
          </a:p>
        </p:txBody>
      </p:sp>
      <p:sp>
        <p:nvSpPr>
          <p:cNvPr id="9" name="Title 1">
            <a:extLst>
              <a:ext uri="{FF2B5EF4-FFF2-40B4-BE49-F238E27FC236}">
                <a16:creationId xmlns:a16="http://schemas.microsoft.com/office/drawing/2014/main" id="{C8A9C51A-2D5B-5142-6CF3-AB4BC6A375CF}"/>
              </a:ext>
            </a:extLst>
          </p:cNvPr>
          <p:cNvSpPr txBox="1">
            <a:spLocks/>
          </p:cNvSpPr>
          <p:nvPr/>
        </p:nvSpPr>
        <p:spPr>
          <a:xfrm>
            <a:off x="166413" y="4349235"/>
            <a:ext cx="2345267" cy="48736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200" dirty="0">
                <a:latin typeface="Chalkboard" panose="03050602040202020205" pitchFamily="66" charset="77"/>
              </a:rPr>
              <a:t>Event Message</a:t>
            </a:r>
          </a:p>
        </p:txBody>
      </p:sp>
      <p:sp>
        <p:nvSpPr>
          <p:cNvPr id="10" name="Rectangle 9">
            <a:extLst>
              <a:ext uri="{FF2B5EF4-FFF2-40B4-BE49-F238E27FC236}">
                <a16:creationId xmlns:a16="http://schemas.microsoft.com/office/drawing/2014/main" id="{A462D88D-C52E-087A-EDC6-C6B385B4364A}"/>
              </a:ext>
            </a:extLst>
          </p:cNvPr>
          <p:cNvSpPr/>
          <p:nvPr/>
        </p:nvSpPr>
        <p:spPr>
          <a:xfrm>
            <a:off x="441653" y="4970843"/>
            <a:ext cx="8260693" cy="646331"/>
          </a:xfrm>
          <a:prstGeom prst="rect">
            <a:avLst/>
          </a:prstGeom>
        </p:spPr>
        <p:txBody>
          <a:bodyPr wrap="square">
            <a:spAutoFit/>
          </a:bodyPr>
          <a:lstStyle/>
          <a:p>
            <a:r>
              <a:rPr lang="en-US" dirty="0">
                <a:latin typeface="Chalkboard" panose="03050602040202020205" pitchFamily="66" charset="77"/>
              </a:rPr>
              <a:t>Use an Event Message for reliable, asynchronous event notification between applications.</a:t>
            </a:r>
          </a:p>
        </p:txBody>
      </p:sp>
      <p:sp>
        <p:nvSpPr>
          <p:cNvPr id="11" name="Rectangle 10">
            <a:extLst>
              <a:ext uri="{FF2B5EF4-FFF2-40B4-BE49-F238E27FC236}">
                <a16:creationId xmlns:a16="http://schemas.microsoft.com/office/drawing/2014/main" id="{A6263586-3DE1-E4A5-769C-75DEDCA82E9D}"/>
              </a:ext>
            </a:extLst>
          </p:cNvPr>
          <p:cNvSpPr/>
          <p:nvPr/>
        </p:nvSpPr>
        <p:spPr>
          <a:xfrm>
            <a:off x="441653" y="5838252"/>
            <a:ext cx="8407400" cy="646331"/>
          </a:xfrm>
          <a:prstGeom prst="rect">
            <a:avLst/>
          </a:prstGeom>
        </p:spPr>
        <p:txBody>
          <a:bodyPr wrap="square">
            <a:spAutoFit/>
          </a:bodyPr>
          <a:lstStyle/>
          <a:p>
            <a:r>
              <a:rPr lang="en-US" dirty="0">
                <a:latin typeface="Chalkboard" panose="03050602040202020205" pitchFamily="66" charset="77"/>
              </a:rPr>
              <a:t>The difference between an Event Message and a Document Message is a matter of timing and content. An event’s contents are typically less important.</a:t>
            </a:r>
          </a:p>
        </p:txBody>
      </p:sp>
    </p:spTree>
    <p:extLst>
      <p:ext uri="{BB962C8B-B14F-4D97-AF65-F5344CB8AC3E}">
        <p14:creationId xmlns:p14="http://schemas.microsoft.com/office/powerpoint/2010/main" val="3148545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P spid="10" grpId="0"/>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B1ABCA9D-FFA8-C489-2906-EDA56248F462}"/>
              </a:ext>
            </a:extLst>
          </p:cNvPr>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Exercises</a:t>
            </a:r>
          </a:p>
        </p:txBody>
      </p:sp>
      <p:sp>
        <p:nvSpPr>
          <p:cNvPr id="3" name="Text Placeholder 2"/>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r>
              <a:rPr lang="en-US" sz="2400" kern="1200" dirty="0">
                <a:solidFill>
                  <a:schemeClr val="tx1"/>
                </a:solidFill>
                <a:latin typeface="Chalkboard" panose="03050602040202020205" pitchFamily="66" charset="77"/>
              </a:rPr>
              <a:t>Self-paced material</a:t>
            </a:r>
          </a:p>
        </p:txBody>
      </p:sp>
      <p:sp>
        <p:nvSpPr>
          <p:cNvPr id="13" name="Rectangle 12">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45</a:t>
            </a:fld>
            <a:endParaRPr lang="en-US">
              <a:solidFill>
                <a:schemeClr val="tx1">
                  <a:lumMod val="50000"/>
                  <a:lumOff val="50000"/>
                </a:schemeClr>
              </a:solidFill>
            </a:endParaRPr>
          </a:p>
        </p:txBody>
      </p:sp>
    </p:spTree>
    <p:extLst>
      <p:ext uri="{BB962C8B-B14F-4D97-AF65-F5344CB8AC3E}">
        <p14:creationId xmlns:p14="http://schemas.microsoft.com/office/powerpoint/2010/main" val="562101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26338D-9536-1854-7B13-874ED4A6D3D1}"/>
              </a:ext>
            </a:extLst>
          </p:cNvPr>
          <p:cNvSpPr>
            <a:spLocks noGrp="1"/>
          </p:cNvSpPr>
          <p:nvPr>
            <p:ph type="sldNum" sz="quarter" idx="12"/>
          </p:nvPr>
        </p:nvSpPr>
        <p:spPr/>
        <p:txBody>
          <a:bodyPr/>
          <a:lstStyle/>
          <a:p>
            <a:fld id="{867D4A06-35AE-BD4A-84A9-613A26F3D41D}" type="slidenum">
              <a:rPr lang="en-US" smtClean="0"/>
              <a:pPr/>
              <a:t>46</a:t>
            </a:fld>
            <a:endParaRPr lang="en-US"/>
          </a:p>
        </p:txBody>
      </p:sp>
      <p:sp>
        <p:nvSpPr>
          <p:cNvPr id="5" name="TextBox 4">
            <a:extLst>
              <a:ext uri="{FF2B5EF4-FFF2-40B4-BE49-F238E27FC236}">
                <a16:creationId xmlns:a16="http://schemas.microsoft.com/office/drawing/2014/main" id="{1ED9F3F6-8300-A3AE-A3D9-770EB3997A01}"/>
              </a:ext>
            </a:extLst>
          </p:cNvPr>
          <p:cNvSpPr txBox="1"/>
          <p:nvPr/>
        </p:nvSpPr>
        <p:spPr>
          <a:xfrm>
            <a:off x="671513" y="2065022"/>
            <a:ext cx="5457825" cy="400110"/>
          </a:xfrm>
          <a:prstGeom prst="rect">
            <a:avLst/>
          </a:prstGeom>
          <a:noFill/>
        </p:spPr>
        <p:txBody>
          <a:bodyPr wrap="square" rtlCol="0">
            <a:spAutoFit/>
          </a:bodyPr>
          <a:lstStyle/>
          <a:p>
            <a:r>
              <a:rPr lang="en-GB" sz="2000" dirty="0">
                <a:latin typeface="Chalkboard" panose="03050602040202020205" pitchFamily="66" charset="77"/>
              </a:rPr>
              <a:t>Introduction to Exercises</a:t>
            </a:r>
          </a:p>
        </p:txBody>
      </p:sp>
      <p:sp>
        <p:nvSpPr>
          <p:cNvPr id="6" name="TextBox 5">
            <a:extLst>
              <a:ext uri="{FF2B5EF4-FFF2-40B4-BE49-F238E27FC236}">
                <a16:creationId xmlns:a16="http://schemas.microsoft.com/office/drawing/2014/main" id="{6AD21055-9C29-81E5-40C2-ACB07B1D300D}"/>
              </a:ext>
            </a:extLst>
          </p:cNvPr>
          <p:cNvSpPr txBox="1"/>
          <p:nvPr/>
        </p:nvSpPr>
        <p:spPr>
          <a:xfrm>
            <a:off x="671513" y="2715578"/>
            <a:ext cx="2928937" cy="923330"/>
          </a:xfrm>
          <a:prstGeom prst="rect">
            <a:avLst/>
          </a:prstGeom>
          <a:noFill/>
        </p:spPr>
        <p:txBody>
          <a:bodyPr wrap="square" rtlCol="0">
            <a:spAutoFit/>
          </a:bodyPr>
          <a:lstStyle/>
          <a:p>
            <a:pPr marL="457200" indent="-457200">
              <a:buFont typeface="Arial" panose="020B0604020202020204" pitchFamily="34" charset="0"/>
              <a:buChar char="•"/>
            </a:pPr>
            <a:r>
              <a:rPr lang="en-GB" dirty="0">
                <a:latin typeface="Chalkboard" panose="03050602040202020205" pitchFamily="66" charset="77"/>
              </a:rPr>
              <a:t>Readme</a:t>
            </a:r>
          </a:p>
          <a:p>
            <a:pPr marL="457200" indent="-457200">
              <a:buFont typeface="Arial" panose="020B0604020202020204" pitchFamily="34" charset="0"/>
              <a:buChar char="•"/>
            </a:pPr>
            <a:r>
              <a:rPr lang="en-GB" dirty="0">
                <a:latin typeface="Chalkboard" panose="03050602040202020205" pitchFamily="66" charset="77"/>
              </a:rPr>
              <a:t>Videos</a:t>
            </a:r>
          </a:p>
          <a:p>
            <a:pPr marL="457200" indent="-457200">
              <a:buFont typeface="Arial" panose="020B0604020202020204" pitchFamily="34" charset="0"/>
              <a:buChar char="•"/>
            </a:pPr>
            <a:r>
              <a:rPr lang="en-GB" dirty="0">
                <a:latin typeface="Chalkboard" panose="03050602040202020205" pitchFamily="66" charset="77"/>
              </a:rPr>
              <a:t>Scripts &amp; Slides</a:t>
            </a:r>
          </a:p>
        </p:txBody>
      </p:sp>
      <p:sp>
        <p:nvSpPr>
          <p:cNvPr id="7" name="TextBox 6">
            <a:extLst>
              <a:ext uri="{FF2B5EF4-FFF2-40B4-BE49-F238E27FC236}">
                <a16:creationId xmlns:a16="http://schemas.microsoft.com/office/drawing/2014/main" id="{FFBD4C44-64B5-C976-522F-289FCDE72BA0}"/>
              </a:ext>
            </a:extLst>
          </p:cNvPr>
          <p:cNvSpPr txBox="1"/>
          <p:nvPr/>
        </p:nvSpPr>
        <p:spPr>
          <a:xfrm>
            <a:off x="671513" y="3969714"/>
            <a:ext cx="3451860" cy="400110"/>
          </a:xfrm>
          <a:prstGeom prst="rect">
            <a:avLst/>
          </a:prstGeom>
          <a:noFill/>
        </p:spPr>
        <p:txBody>
          <a:bodyPr wrap="square" rtlCol="0">
            <a:spAutoFit/>
          </a:bodyPr>
          <a:lstStyle/>
          <a:p>
            <a:r>
              <a:rPr lang="en-GB" sz="2000" dirty="0">
                <a:latin typeface="Chalkboard" panose="03050602040202020205" pitchFamily="66" charset="77"/>
              </a:rPr>
              <a:t>Introduction to RMQ</a:t>
            </a:r>
          </a:p>
        </p:txBody>
      </p:sp>
      <p:sp>
        <p:nvSpPr>
          <p:cNvPr id="2" name="Title 3">
            <a:extLst>
              <a:ext uri="{FF2B5EF4-FFF2-40B4-BE49-F238E27FC236}">
                <a16:creationId xmlns:a16="http://schemas.microsoft.com/office/drawing/2014/main" id="{58A39F6F-5345-6CDB-0B28-4A9C0105D039}"/>
              </a:ext>
            </a:extLst>
          </p:cNvPr>
          <p:cNvSpPr>
            <a:spLocks noGrp="1"/>
          </p:cNvSpPr>
          <p:nvPr>
            <p:ph type="title"/>
          </p:nvPr>
        </p:nvSpPr>
        <p:spPr>
          <a:xfrm>
            <a:off x="457200" y="274638"/>
            <a:ext cx="8229600" cy="1143000"/>
          </a:xfrm>
        </p:spPr>
        <p:txBody>
          <a:bodyPr>
            <a:normAutofit/>
          </a:bodyPr>
          <a:lstStyle/>
          <a:p>
            <a:pPr algn="l"/>
            <a:r>
              <a:rPr lang="en-US" sz="2800" dirty="0">
                <a:latin typeface="Chalkboard" panose="03050602040202020205" pitchFamily="66" charset="77"/>
              </a:rPr>
              <a:t>Exercise material</a:t>
            </a:r>
          </a:p>
        </p:txBody>
      </p:sp>
      <p:pic>
        <p:nvPicPr>
          <p:cNvPr id="1026" name="Picture 2" descr="Don't Panic text decor, The Hitchhiker's Guide to the Galaxy ...">
            <a:extLst>
              <a:ext uri="{FF2B5EF4-FFF2-40B4-BE49-F238E27FC236}">
                <a16:creationId xmlns:a16="http://schemas.microsoft.com/office/drawing/2014/main" id="{6C2874BE-3D54-23C4-74E5-E7642F1AECD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194048" y="1702773"/>
            <a:ext cx="4718304" cy="2948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339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channels</a:t>
            </a:r>
          </a:p>
        </p:txBody>
      </p:sp>
      <p:sp>
        <p:nvSpPr>
          <p:cNvPr id="3" name="Text Placeholder 2"/>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47</a:t>
            </a:fld>
            <a:endParaRPr lang="en-US">
              <a:solidFill>
                <a:schemeClr val="tx1">
                  <a:lumMod val="50000"/>
                  <a:lumOff val="50000"/>
                </a:schemeClr>
              </a:solidFill>
            </a:endParaRPr>
          </a:p>
        </p:txBody>
      </p:sp>
    </p:spTree>
    <p:extLst>
      <p:ext uri="{BB962C8B-B14F-4D97-AF65-F5344CB8AC3E}">
        <p14:creationId xmlns:p14="http://schemas.microsoft.com/office/powerpoint/2010/main" val="12598356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6334" y="287505"/>
            <a:ext cx="1464733" cy="504295"/>
          </a:xfrm>
        </p:spPr>
        <p:txBody>
          <a:bodyPr>
            <a:normAutofit/>
          </a:bodyPr>
          <a:lstStyle/>
          <a:p>
            <a:pPr algn="l"/>
            <a:r>
              <a:rPr lang="en-US" sz="2200" dirty="0">
                <a:latin typeface="Chalkboard" panose="03050602040202020205" pitchFamily="66" charset="77"/>
              </a:rPr>
              <a:t>Channels</a:t>
            </a:r>
          </a:p>
        </p:txBody>
      </p:sp>
      <p:sp>
        <p:nvSpPr>
          <p:cNvPr id="2" name="Slide Number Placeholder 1"/>
          <p:cNvSpPr>
            <a:spLocks noGrp="1"/>
          </p:cNvSpPr>
          <p:nvPr>
            <p:ph type="sldNum" sz="quarter" idx="12"/>
          </p:nvPr>
        </p:nvSpPr>
        <p:spPr/>
        <p:txBody>
          <a:bodyPr/>
          <a:lstStyle/>
          <a:p>
            <a:fld id="{867D4A06-35AE-BD4A-84A9-613A26F3D41D}" type="slidenum">
              <a:rPr lang="en-US" smtClean="0"/>
              <a:pPr/>
              <a:t>48</a:t>
            </a:fld>
            <a:endParaRPr lang="en-US"/>
          </a:p>
        </p:txBody>
      </p:sp>
      <p:sp>
        <p:nvSpPr>
          <p:cNvPr id="6" name="Content Placeholder 4"/>
          <p:cNvSpPr txBox="1">
            <a:spLocks/>
          </p:cNvSpPr>
          <p:nvPr/>
        </p:nvSpPr>
        <p:spPr>
          <a:xfrm>
            <a:off x="575734" y="1256328"/>
            <a:ext cx="8229600" cy="5755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800" dirty="0">
                <a:latin typeface="Chalkboard" panose="03050602040202020205" pitchFamily="66" charset="77"/>
              </a:rPr>
              <a:t>A virtual pipe that connects producer and consumer</a:t>
            </a:r>
          </a:p>
        </p:txBody>
      </p:sp>
      <p:sp>
        <p:nvSpPr>
          <p:cNvPr id="7" name="Content Placeholder 4"/>
          <p:cNvSpPr txBox="1">
            <a:spLocks/>
          </p:cNvSpPr>
          <p:nvPr/>
        </p:nvSpPr>
        <p:spPr>
          <a:xfrm>
            <a:off x="575734" y="1930284"/>
            <a:ext cx="6036233" cy="3992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800" dirty="0">
                <a:latin typeface="Chalkboard" panose="03050602040202020205" pitchFamily="66" charset="77"/>
              </a:rPr>
              <a:t>Logical Address (Topic or Routing Key)</a:t>
            </a:r>
          </a:p>
        </p:txBody>
      </p:sp>
      <p:sp>
        <p:nvSpPr>
          <p:cNvPr id="8" name="Content Placeholder 4"/>
          <p:cNvSpPr>
            <a:spLocks noGrp="1"/>
          </p:cNvSpPr>
          <p:nvPr>
            <p:ph idx="1"/>
          </p:nvPr>
        </p:nvSpPr>
        <p:spPr>
          <a:xfrm>
            <a:off x="575734" y="3673563"/>
            <a:ext cx="5205545" cy="424782"/>
          </a:xfrm>
        </p:spPr>
        <p:txBody>
          <a:bodyPr>
            <a:noAutofit/>
          </a:bodyPr>
          <a:lstStyle/>
          <a:p>
            <a:pPr marL="0" indent="0">
              <a:buNone/>
            </a:pPr>
            <a:r>
              <a:rPr lang="en-US" sz="1800" dirty="0">
                <a:latin typeface="Chalkboard" panose="03050602040202020205" pitchFamily="66" charset="77"/>
              </a:rPr>
              <a:t>Messaging is a ‘pipe’ not a ‘bucket’. </a:t>
            </a:r>
          </a:p>
        </p:txBody>
      </p:sp>
      <p:sp>
        <p:nvSpPr>
          <p:cNvPr id="9" name="Rectangle 8"/>
          <p:cNvSpPr/>
          <p:nvPr/>
        </p:nvSpPr>
        <p:spPr>
          <a:xfrm>
            <a:off x="575734" y="2478377"/>
            <a:ext cx="1621085" cy="369332"/>
          </a:xfrm>
          <a:prstGeom prst="rect">
            <a:avLst/>
          </a:prstGeom>
        </p:spPr>
        <p:txBody>
          <a:bodyPr wrap="none">
            <a:spAutoFit/>
          </a:bodyPr>
          <a:lstStyle/>
          <a:p>
            <a:r>
              <a:rPr lang="en-US" dirty="0">
                <a:latin typeface="Chalkboard" panose="03050602040202020205" pitchFamily="66" charset="77"/>
              </a:rPr>
              <a:t>Unidirectional</a:t>
            </a:r>
          </a:p>
        </p:txBody>
      </p:sp>
      <p:sp>
        <p:nvSpPr>
          <p:cNvPr id="10" name="Rectangle 9"/>
          <p:cNvSpPr/>
          <p:nvPr/>
        </p:nvSpPr>
        <p:spPr>
          <a:xfrm>
            <a:off x="575734" y="3062080"/>
            <a:ext cx="3374640" cy="369332"/>
          </a:xfrm>
          <a:prstGeom prst="rect">
            <a:avLst/>
          </a:prstGeom>
        </p:spPr>
        <p:txBody>
          <a:bodyPr wrap="square">
            <a:spAutoFit/>
          </a:bodyPr>
          <a:lstStyle/>
          <a:p>
            <a:r>
              <a:rPr lang="en-US" dirty="0">
                <a:latin typeface="Chalkboard" panose="03050602040202020205" pitchFamily="66" charset="77"/>
              </a:rPr>
              <a:t>One-to-One or One-to-Many</a:t>
            </a:r>
          </a:p>
        </p:txBody>
      </p:sp>
    </p:spTree>
    <p:extLst>
      <p:ext uri="{BB962C8B-B14F-4D97-AF65-F5344CB8AC3E}">
        <p14:creationId xmlns:p14="http://schemas.microsoft.com/office/powerpoint/2010/main" val="10159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build="p"/>
      <p:bldP spid="9" grpId="0"/>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latin typeface="Chalkboard" panose="03050602040202020205" pitchFamily="66" charset="77"/>
              </a:rPr>
              <a:t>Point-to-Point Channel</a:t>
            </a:r>
          </a:p>
        </p:txBody>
      </p:sp>
      <p:sp>
        <p:nvSpPr>
          <p:cNvPr id="4" name="Slide Number Placeholder 3"/>
          <p:cNvSpPr>
            <a:spLocks noGrp="1"/>
          </p:cNvSpPr>
          <p:nvPr>
            <p:ph type="sldNum" sz="quarter" idx="12"/>
          </p:nvPr>
        </p:nvSpPr>
        <p:spPr/>
        <p:txBody>
          <a:bodyPr/>
          <a:lstStyle/>
          <a:p>
            <a:fld id="{867D4A06-35AE-BD4A-84A9-613A26F3D41D}" type="slidenum">
              <a:rPr lang="en-US" smtClean="0"/>
              <a:pPr/>
              <a:t>49</a:t>
            </a:fld>
            <a:endParaRPr lang="en-US"/>
          </a:p>
        </p:txBody>
      </p:sp>
      <p:pic>
        <p:nvPicPr>
          <p:cNvPr id="1026" name="Picture 2" descr="http://www.enterpriseintegrationpatterns.com/img/PointToPoint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33537" y="2522482"/>
            <a:ext cx="5876925" cy="9906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860330" y="4473051"/>
            <a:ext cx="6826469"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PointToPointChannel.html</a:t>
            </a:r>
            <a:endParaRPr lang="en-US" sz="1200" dirty="0"/>
          </a:p>
        </p:txBody>
      </p:sp>
    </p:spTree>
    <p:extLst>
      <p:ext uri="{BB962C8B-B14F-4D97-AF65-F5344CB8AC3E}">
        <p14:creationId xmlns:p14="http://schemas.microsoft.com/office/powerpoint/2010/main" val="16064468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Chalkboard" panose="03050602040202020205" pitchFamily="66" charset="77"/>
              </a:rPr>
              <a:t>Datatype</a:t>
            </a:r>
            <a:r>
              <a:rPr lang="en-US" dirty="0">
                <a:latin typeface="Chalkboard" panose="03050602040202020205" pitchFamily="66" charset="77"/>
              </a:rPr>
              <a:t> Channel</a:t>
            </a:r>
          </a:p>
        </p:txBody>
      </p:sp>
      <p:sp>
        <p:nvSpPr>
          <p:cNvPr id="3" name="Slide Number Placeholder 2"/>
          <p:cNvSpPr>
            <a:spLocks noGrp="1"/>
          </p:cNvSpPr>
          <p:nvPr>
            <p:ph type="sldNum" sz="quarter" idx="12"/>
          </p:nvPr>
        </p:nvSpPr>
        <p:spPr/>
        <p:txBody>
          <a:bodyPr/>
          <a:lstStyle/>
          <a:p>
            <a:fld id="{867D4A06-35AE-BD4A-84A9-613A26F3D41D}" type="slidenum">
              <a:rPr lang="en-US" smtClean="0"/>
              <a:pPr/>
              <a:t>50</a:t>
            </a:fld>
            <a:endParaRPr lang="en-US"/>
          </a:p>
        </p:txBody>
      </p:sp>
      <p:pic>
        <p:nvPicPr>
          <p:cNvPr id="2052" name="Picture 4" descr="http://www.enterpriseintegrationpatterns.com/img/Datatype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923722" y="1734206"/>
            <a:ext cx="5013106" cy="357134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790496" y="5710019"/>
            <a:ext cx="5896304"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DatatypeChannel.html</a:t>
            </a:r>
            <a:endParaRPr lang="en-US" sz="1200" dirty="0"/>
          </a:p>
        </p:txBody>
      </p:sp>
    </p:spTree>
    <p:extLst>
      <p:ext uri="{BB962C8B-B14F-4D97-AF65-F5344CB8AC3E}">
        <p14:creationId xmlns:p14="http://schemas.microsoft.com/office/powerpoint/2010/main" val="3171833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Publish-Subscribe Channel</a:t>
            </a:r>
          </a:p>
        </p:txBody>
      </p:sp>
      <p:sp>
        <p:nvSpPr>
          <p:cNvPr id="3" name="Slide Number Placeholder 2"/>
          <p:cNvSpPr>
            <a:spLocks noGrp="1"/>
          </p:cNvSpPr>
          <p:nvPr>
            <p:ph type="sldNum" sz="quarter" idx="12"/>
          </p:nvPr>
        </p:nvSpPr>
        <p:spPr/>
        <p:txBody>
          <a:bodyPr/>
          <a:lstStyle/>
          <a:p>
            <a:fld id="{867D4A06-35AE-BD4A-84A9-613A26F3D41D}" type="slidenum">
              <a:rPr lang="en-US" smtClean="0"/>
              <a:pPr/>
              <a:t>51</a:t>
            </a:fld>
            <a:endParaRPr lang="en-US"/>
          </a:p>
        </p:txBody>
      </p:sp>
      <p:pic>
        <p:nvPicPr>
          <p:cNvPr id="3074" name="Picture 2" descr="http://www.enterpriseintegrationpatterns.com/img/PublishSubscribe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002221" y="1765738"/>
            <a:ext cx="4800600" cy="31432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286000" y="5171004"/>
            <a:ext cx="6400800"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PublishSubscribeChannel.html</a:t>
            </a:r>
            <a:endParaRPr lang="en-US" sz="1200" dirty="0"/>
          </a:p>
        </p:txBody>
      </p:sp>
    </p:spTree>
    <p:extLst>
      <p:ext uri="{BB962C8B-B14F-4D97-AF65-F5344CB8AC3E}">
        <p14:creationId xmlns:p14="http://schemas.microsoft.com/office/powerpoint/2010/main" val="19316467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Dead Letter Channel</a:t>
            </a:r>
          </a:p>
        </p:txBody>
      </p:sp>
      <p:sp>
        <p:nvSpPr>
          <p:cNvPr id="3" name="Slide Number Placeholder 2"/>
          <p:cNvSpPr>
            <a:spLocks noGrp="1"/>
          </p:cNvSpPr>
          <p:nvPr>
            <p:ph type="sldNum" sz="quarter" idx="12"/>
          </p:nvPr>
        </p:nvSpPr>
        <p:spPr/>
        <p:txBody>
          <a:bodyPr/>
          <a:lstStyle/>
          <a:p>
            <a:fld id="{867D4A06-35AE-BD4A-84A9-613A26F3D41D}" type="slidenum">
              <a:rPr lang="en-US" smtClean="0"/>
              <a:pPr/>
              <a:t>52</a:t>
            </a:fld>
            <a:endParaRPr lang="en-US"/>
          </a:p>
        </p:txBody>
      </p:sp>
      <p:pic>
        <p:nvPicPr>
          <p:cNvPr id="5122" name="Picture 2" descr="http://www.enterpriseintegrationpatterns.com/img/DeadLetterChannel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734206" y="1923393"/>
            <a:ext cx="5423339" cy="31783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286000" y="5405898"/>
            <a:ext cx="6006662"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DeadLetterChannel.html</a:t>
            </a:r>
            <a:endParaRPr lang="en-US" sz="1200" dirty="0"/>
          </a:p>
        </p:txBody>
      </p:sp>
    </p:spTree>
    <p:extLst>
      <p:ext uri="{BB962C8B-B14F-4D97-AF65-F5344CB8AC3E}">
        <p14:creationId xmlns:p14="http://schemas.microsoft.com/office/powerpoint/2010/main" val="15478042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Invalid Message Channel</a:t>
            </a:r>
          </a:p>
        </p:txBody>
      </p:sp>
      <p:sp>
        <p:nvSpPr>
          <p:cNvPr id="3" name="Slide Number Placeholder 2"/>
          <p:cNvSpPr>
            <a:spLocks noGrp="1"/>
          </p:cNvSpPr>
          <p:nvPr>
            <p:ph type="sldNum" sz="quarter" idx="12"/>
          </p:nvPr>
        </p:nvSpPr>
        <p:spPr/>
        <p:txBody>
          <a:bodyPr/>
          <a:lstStyle/>
          <a:p>
            <a:fld id="{867D4A06-35AE-BD4A-84A9-613A26F3D41D}" type="slidenum">
              <a:rPr lang="en-US" smtClean="0"/>
              <a:pPr/>
              <a:t>53</a:t>
            </a:fld>
            <a:endParaRPr lang="en-US"/>
          </a:p>
        </p:txBody>
      </p:sp>
      <p:pic>
        <p:nvPicPr>
          <p:cNvPr id="4098" name="Picture 2" descr="http://www.enterpriseintegrationpatterns.com/img/InvalidMessage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551990" y="2695903"/>
            <a:ext cx="6304493" cy="115955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82414" y="4644241"/>
            <a:ext cx="7094483"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InvalidMessageChannel.html</a:t>
            </a:r>
            <a:endParaRPr lang="en-US" sz="1200" dirty="0"/>
          </a:p>
        </p:txBody>
      </p:sp>
    </p:spTree>
    <p:extLst>
      <p:ext uri="{BB962C8B-B14F-4D97-AF65-F5344CB8AC3E}">
        <p14:creationId xmlns:p14="http://schemas.microsoft.com/office/powerpoint/2010/main" val="3183197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endpoints</a:t>
            </a:r>
          </a:p>
        </p:txBody>
      </p:sp>
      <p:sp>
        <p:nvSpPr>
          <p:cNvPr id="3" name="Text Placeholder 2"/>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54</a:t>
            </a:fld>
            <a:endParaRPr lang="en-US">
              <a:solidFill>
                <a:schemeClr val="tx1">
                  <a:lumMod val="50000"/>
                  <a:lumOff val="50000"/>
                </a:schemeClr>
              </a:solidFill>
            </a:endParaRPr>
          </a:p>
        </p:txBody>
      </p:sp>
    </p:spTree>
    <p:extLst>
      <p:ext uri="{BB962C8B-B14F-4D97-AF65-F5344CB8AC3E}">
        <p14:creationId xmlns:p14="http://schemas.microsoft.com/office/powerpoint/2010/main" val="16906153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latin typeface="Chalkboard" panose="03050602040202020205" pitchFamily="66" charset="77"/>
              </a:rPr>
              <a:t>Message Endpoint</a:t>
            </a:r>
          </a:p>
        </p:txBody>
      </p:sp>
      <p:sp>
        <p:nvSpPr>
          <p:cNvPr id="4" name="Slide Number Placeholder 3"/>
          <p:cNvSpPr>
            <a:spLocks noGrp="1"/>
          </p:cNvSpPr>
          <p:nvPr>
            <p:ph type="sldNum" sz="quarter" idx="12"/>
          </p:nvPr>
        </p:nvSpPr>
        <p:spPr/>
        <p:txBody>
          <a:bodyPr/>
          <a:lstStyle/>
          <a:p>
            <a:fld id="{867D4A06-35AE-BD4A-84A9-613A26F3D41D}" type="slidenum">
              <a:rPr lang="en-US" smtClean="0"/>
              <a:pPr/>
              <a:t>55</a:t>
            </a:fld>
            <a:endParaRPr lang="en-US"/>
          </a:p>
        </p:txBody>
      </p:sp>
      <p:pic>
        <p:nvPicPr>
          <p:cNvPr id="7170" name="Picture 2" descr="http://www.enterpriseintegrationpatterns.com/img/MessageEndpoint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45476" y="2376952"/>
            <a:ext cx="6246696" cy="164325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429665" y="4979520"/>
            <a:ext cx="5894528"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MessageEndpoint.html</a:t>
            </a:r>
            <a:endParaRPr lang="en-US" sz="1200" dirty="0"/>
          </a:p>
        </p:txBody>
      </p:sp>
    </p:spTree>
    <p:extLst>
      <p:ext uri="{BB962C8B-B14F-4D97-AF65-F5344CB8AC3E}">
        <p14:creationId xmlns:p14="http://schemas.microsoft.com/office/powerpoint/2010/main" val="1250976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Messaging Gateway</a:t>
            </a:r>
          </a:p>
        </p:txBody>
      </p:sp>
      <p:sp>
        <p:nvSpPr>
          <p:cNvPr id="4" name="Slide Number Placeholder 3"/>
          <p:cNvSpPr>
            <a:spLocks noGrp="1"/>
          </p:cNvSpPr>
          <p:nvPr>
            <p:ph type="sldNum" sz="quarter" idx="12"/>
          </p:nvPr>
        </p:nvSpPr>
        <p:spPr/>
        <p:txBody>
          <a:bodyPr/>
          <a:lstStyle/>
          <a:p>
            <a:fld id="{867D4A06-35AE-BD4A-84A9-613A26F3D41D}" type="slidenum">
              <a:rPr lang="en-US" smtClean="0"/>
              <a:pPr/>
              <a:t>56</a:t>
            </a:fld>
            <a:endParaRPr lang="en-US"/>
          </a:p>
        </p:txBody>
      </p:sp>
      <p:pic>
        <p:nvPicPr>
          <p:cNvPr id="1028" name="Picture 4" descr="http://www.enterpriseintegrationpatterns.com/img/MessagingGateway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13337" y="2398631"/>
            <a:ext cx="5433848" cy="196977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417379" y="5072395"/>
            <a:ext cx="6006663"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MessagingGateway.html</a:t>
            </a:r>
            <a:endParaRPr lang="en-US" sz="1200" dirty="0"/>
          </a:p>
        </p:txBody>
      </p:sp>
    </p:spTree>
    <p:extLst>
      <p:ext uri="{BB962C8B-B14F-4D97-AF65-F5344CB8AC3E}">
        <p14:creationId xmlns:p14="http://schemas.microsoft.com/office/powerpoint/2010/main" val="4863419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The Message </a:t>
            </a:r>
            <a:r>
              <a:rPr lang="en-US" sz="7000" kern="1200" dirty="0" err="1">
                <a:solidFill>
                  <a:schemeClr val="tx1"/>
                </a:solidFill>
                <a:latin typeface="Chalkboard" panose="03050602040202020205" pitchFamily="66" charset="77"/>
              </a:rPr>
              <a:t>PuMP</a:t>
            </a:r>
            <a:endParaRPr lang="en-US" sz="7000" kern="1200" dirty="0">
              <a:solidFill>
                <a:schemeClr val="tx1"/>
              </a:solidFill>
              <a:latin typeface="Chalkboard" panose="03050602040202020205" pitchFamily="66" charset="77"/>
            </a:endParaRPr>
          </a:p>
        </p:txBody>
      </p:sp>
      <p:sp>
        <p:nvSpPr>
          <p:cNvPr id="3" name="Text Placeholder 2"/>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57</a:t>
            </a:fld>
            <a:endParaRPr lang="en-US">
              <a:solidFill>
                <a:schemeClr val="tx1">
                  <a:lumMod val="50000"/>
                  <a:lumOff val="50000"/>
                </a:schemeClr>
              </a:solidFill>
            </a:endParaRPr>
          </a:p>
        </p:txBody>
      </p:sp>
    </p:spTree>
    <p:extLst>
      <p:ext uri="{BB962C8B-B14F-4D97-AF65-F5344CB8AC3E}">
        <p14:creationId xmlns:p14="http://schemas.microsoft.com/office/powerpoint/2010/main" val="34541113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07BB14-07BA-2141-8DE9-A3C19D45B97D}"/>
              </a:ext>
            </a:extLst>
          </p:cNvPr>
          <p:cNvSpPr>
            <a:spLocks noGrp="1"/>
          </p:cNvSpPr>
          <p:nvPr>
            <p:ph type="sldNum" sz="quarter" idx="12"/>
          </p:nvPr>
        </p:nvSpPr>
        <p:spPr/>
        <p:txBody>
          <a:bodyPr/>
          <a:lstStyle/>
          <a:p>
            <a:fld id="{867D4A06-35AE-BD4A-84A9-613A26F3D41D}" type="slidenum">
              <a:rPr lang="en-US" smtClean="0"/>
              <a:pPr/>
              <a:t>58</a:t>
            </a:fld>
            <a:endParaRPr lang="en-US"/>
          </a:p>
        </p:txBody>
      </p:sp>
      <p:sp>
        <p:nvSpPr>
          <p:cNvPr id="4" name="Curved Right Arrow 3">
            <a:extLst>
              <a:ext uri="{FF2B5EF4-FFF2-40B4-BE49-F238E27FC236}">
                <a16:creationId xmlns:a16="http://schemas.microsoft.com/office/drawing/2014/main" id="{30D8BA2A-402C-2340-BABD-00C5727EE59D}"/>
              </a:ext>
            </a:extLst>
          </p:cNvPr>
          <p:cNvSpPr/>
          <p:nvPr/>
        </p:nvSpPr>
        <p:spPr>
          <a:xfrm>
            <a:off x="1866378" y="3056351"/>
            <a:ext cx="1114817" cy="1240076"/>
          </a:xfrm>
          <a:prstGeom prst="curvedRight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5" name="Can 4">
            <a:extLst>
              <a:ext uri="{FF2B5EF4-FFF2-40B4-BE49-F238E27FC236}">
                <a16:creationId xmlns:a16="http://schemas.microsoft.com/office/drawing/2014/main" id="{357F0CF0-A27F-6241-8262-AA938EDD748D}"/>
              </a:ext>
            </a:extLst>
          </p:cNvPr>
          <p:cNvSpPr/>
          <p:nvPr/>
        </p:nvSpPr>
        <p:spPr>
          <a:xfrm rot="5400000">
            <a:off x="816202" y="3275231"/>
            <a:ext cx="398178" cy="825349"/>
          </a:xfrm>
          <a:prstGeom prst="can">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Rounded Rectangle 5">
            <a:extLst>
              <a:ext uri="{FF2B5EF4-FFF2-40B4-BE49-F238E27FC236}">
                <a16:creationId xmlns:a16="http://schemas.microsoft.com/office/drawing/2014/main" id="{B28912BA-8B3A-A344-86D1-BCF1DD299A75}"/>
              </a:ext>
            </a:extLst>
          </p:cNvPr>
          <p:cNvSpPr/>
          <p:nvPr/>
        </p:nvSpPr>
        <p:spPr>
          <a:xfrm>
            <a:off x="3419607" y="3188699"/>
            <a:ext cx="1407186" cy="96219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0C9ED5F-2353-AD44-A001-05E64FC4E166}"/>
              </a:ext>
            </a:extLst>
          </p:cNvPr>
          <p:cNvSpPr/>
          <p:nvPr/>
        </p:nvSpPr>
        <p:spPr>
          <a:xfrm>
            <a:off x="5459214" y="3188699"/>
            <a:ext cx="1407186" cy="962196"/>
          </a:xfrm>
          <a:prstGeom prst="round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C9755D80-4515-6241-8760-371B8433EC7D}"/>
              </a:ext>
            </a:extLst>
          </p:cNvPr>
          <p:cNvSpPr/>
          <p:nvPr/>
        </p:nvSpPr>
        <p:spPr>
          <a:xfrm>
            <a:off x="7279614" y="3190123"/>
            <a:ext cx="1407186" cy="962196"/>
          </a:xfrm>
          <a:prstGeom prst="roundRect">
            <a:avLst/>
          </a:prstGeo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156AC3A-CF91-3443-92A0-91444DF8CCFE}"/>
              </a:ext>
            </a:extLst>
          </p:cNvPr>
          <p:cNvSpPr txBox="1"/>
          <p:nvPr/>
        </p:nvSpPr>
        <p:spPr>
          <a:xfrm>
            <a:off x="1671812" y="4596062"/>
            <a:ext cx="1503948" cy="646331"/>
          </a:xfrm>
          <a:prstGeom prst="rect">
            <a:avLst/>
          </a:prstGeom>
          <a:noFill/>
          <a:ln>
            <a:solidFill>
              <a:schemeClr val="accent1">
                <a:shade val="95000"/>
                <a:satMod val="105000"/>
              </a:schemeClr>
            </a:solidFill>
          </a:ln>
        </p:spPr>
        <p:txBody>
          <a:bodyPr wrap="square" rtlCol="0">
            <a:spAutoFit/>
          </a:bodyPr>
          <a:lstStyle/>
          <a:p>
            <a:pPr algn="ctr"/>
            <a:r>
              <a:rPr lang="en-US" dirty="0">
                <a:latin typeface="Chalkboard" panose="03050602040202020205" pitchFamily="66" charset="77"/>
              </a:rPr>
              <a:t>Get Message</a:t>
            </a:r>
          </a:p>
        </p:txBody>
      </p:sp>
      <p:sp>
        <p:nvSpPr>
          <p:cNvPr id="12" name="TextBox 11">
            <a:extLst>
              <a:ext uri="{FF2B5EF4-FFF2-40B4-BE49-F238E27FC236}">
                <a16:creationId xmlns:a16="http://schemas.microsoft.com/office/drawing/2014/main" id="{58A61294-AC3D-E546-B137-4B7503A95D34}"/>
              </a:ext>
            </a:extLst>
          </p:cNvPr>
          <p:cNvSpPr txBox="1"/>
          <p:nvPr/>
        </p:nvSpPr>
        <p:spPr>
          <a:xfrm>
            <a:off x="3400473" y="4596062"/>
            <a:ext cx="1503948" cy="646331"/>
          </a:xfrm>
          <a:prstGeom prst="rect">
            <a:avLst/>
          </a:prstGeom>
          <a:noFill/>
          <a:ln>
            <a:solidFill>
              <a:schemeClr val="accent1">
                <a:shade val="95000"/>
                <a:satMod val="105000"/>
              </a:schemeClr>
            </a:solidFill>
          </a:ln>
        </p:spPr>
        <p:txBody>
          <a:bodyPr wrap="square" rtlCol="0">
            <a:spAutoFit/>
          </a:bodyPr>
          <a:lstStyle/>
          <a:p>
            <a:pPr algn="ctr"/>
            <a:r>
              <a:rPr lang="en-US" dirty="0">
                <a:latin typeface="Chalkboard" panose="03050602040202020205" pitchFamily="66" charset="77"/>
              </a:rPr>
              <a:t>Translate Message</a:t>
            </a:r>
          </a:p>
        </p:txBody>
      </p:sp>
      <p:sp>
        <p:nvSpPr>
          <p:cNvPr id="13" name="TextBox 12">
            <a:extLst>
              <a:ext uri="{FF2B5EF4-FFF2-40B4-BE49-F238E27FC236}">
                <a16:creationId xmlns:a16="http://schemas.microsoft.com/office/drawing/2014/main" id="{8B42E523-D26E-E14A-968A-0EC8790CDECF}"/>
              </a:ext>
            </a:extLst>
          </p:cNvPr>
          <p:cNvSpPr txBox="1"/>
          <p:nvPr/>
        </p:nvSpPr>
        <p:spPr>
          <a:xfrm>
            <a:off x="5459214" y="4607291"/>
            <a:ext cx="1503948" cy="646331"/>
          </a:xfrm>
          <a:prstGeom prst="rect">
            <a:avLst/>
          </a:prstGeom>
          <a:noFill/>
          <a:ln>
            <a:solidFill>
              <a:schemeClr val="accent1">
                <a:shade val="95000"/>
                <a:satMod val="105000"/>
              </a:schemeClr>
            </a:solidFill>
          </a:ln>
        </p:spPr>
        <p:txBody>
          <a:bodyPr wrap="square" rtlCol="0">
            <a:spAutoFit/>
          </a:bodyPr>
          <a:lstStyle/>
          <a:p>
            <a:pPr algn="ctr"/>
            <a:r>
              <a:rPr lang="en-US" dirty="0">
                <a:latin typeface="Chalkboard" panose="03050602040202020205" pitchFamily="66" charset="77"/>
              </a:rPr>
              <a:t>Dispatch Message</a:t>
            </a:r>
          </a:p>
        </p:txBody>
      </p:sp>
      <p:sp>
        <p:nvSpPr>
          <p:cNvPr id="14" name="TextBox 13">
            <a:extLst>
              <a:ext uri="{FF2B5EF4-FFF2-40B4-BE49-F238E27FC236}">
                <a16:creationId xmlns:a16="http://schemas.microsoft.com/office/drawing/2014/main" id="{EA8F0A54-201D-7D4C-BAAD-018D93B278F0}"/>
              </a:ext>
            </a:extLst>
          </p:cNvPr>
          <p:cNvSpPr txBox="1"/>
          <p:nvPr/>
        </p:nvSpPr>
        <p:spPr>
          <a:xfrm>
            <a:off x="7279614" y="4596061"/>
            <a:ext cx="1503948" cy="646331"/>
          </a:xfrm>
          <a:prstGeom prst="rect">
            <a:avLst/>
          </a:prstGeom>
          <a:noFill/>
          <a:ln>
            <a:solidFill>
              <a:schemeClr val="accent1">
                <a:shade val="95000"/>
                <a:satMod val="105000"/>
              </a:schemeClr>
            </a:solidFill>
          </a:ln>
        </p:spPr>
        <p:txBody>
          <a:bodyPr wrap="square" rtlCol="0">
            <a:spAutoFit/>
          </a:bodyPr>
          <a:lstStyle/>
          <a:p>
            <a:pPr algn="ctr"/>
            <a:r>
              <a:rPr lang="en-US" dirty="0">
                <a:latin typeface="Chalkboard" panose="03050602040202020205" pitchFamily="66" charset="77"/>
              </a:rPr>
              <a:t>Handle Message</a:t>
            </a:r>
          </a:p>
        </p:txBody>
      </p:sp>
      <p:cxnSp>
        <p:nvCxnSpPr>
          <p:cNvPr id="17" name="Straight Arrow Connector 16">
            <a:extLst>
              <a:ext uri="{FF2B5EF4-FFF2-40B4-BE49-F238E27FC236}">
                <a16:creationId xmlns:a16="http://schemas.microsoft.com/office/drawing/2014/main" id="{8DBED088-810B-DE45-9994-1FE314DD0832}"/>
              </a:ext>
            </a:extLst>
          </p:cNvPr>
          <p:cNvCxnSpPr>
            <a:cxnSpLocks/>
          </p:cNvCxnSpPr>
          <p:nvPr/>
        </p:nvCxnSpPr>
        <p:spPr>
          <a:xfrm flipV="1">
            <a:off x="4030578" y="1828800"/>
            <a:ext cx="0" cy="1143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8A42174-299A-0348-80DC-7D32386ED8EA}"/>
              </a:ext>
            </a:extLst>
          </p:cNvPr>
          <p:cNvCxnSpPr>
            <a:cxnSpLocks/>
          </p:cNvCxnSpPr>
          <p:nvPr/>
        </p:nvCxnSpPr>
        <p:spPr>
          <a:xfrm flipV="1">
            <a:off x="6170829" y="1828800"/>
            <a:ext cx="0" cy="1143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58D7EAFB-A31F-AD42-BA8A-3EDA34BB05E3}"/>
              </a:ext>
            </a:extLst>
          </p:cNvPr>
          <p:cNvCxnSpPr/>
          <p:nvPr/>
        </p:nvCxnSpPr>
        <p:spPr>
          <a:xfrm flipV="1">
            <a:off x="348916" y="3676389"/>
            <a:ext cx="7682672" cy="11516"/>
          </a:xfrm>
          <a:prstGeom prst="straightConnector1">
            <a:avLst/>
          </a:prstGeom>
          <a:ln w="82550">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E70B746F-860D-874A-8D20-1A80F3C2C8A2}"/>
              </a:ext>
            </a:extLst>
          </p:cNvPr>
          <p:cNvCxnSpPr>
            <a:cxnSpLocks/>
          </p:cNvCxnSpPr>
          <p:nvPr/>
        </p:nvCxnSpPr>
        <p:spPr>
          <a:xfrm flipV="1">
            <a:off x="8031588" y="1786635"/>
            <a:ext cx="0" cy="11851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2D621245-1B6D-0345-8E96-B8EB5FC9FBC1}"/>
              </a:ext>
            </a:extLst>
          </p:cNvPr>
          <p:cNvCxnSpPr>
            <a:cxnSpLocks/>
          </p:cNvCxnSpPr>
          <p:nvPr/>
        </p:nvCxnSpPr>
        <p:spPr>
          <a:xfrm flipV="1">
            <a:off x="1651760" y="1828800"/>
            <a:ext cx="0" cy="1359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Can 27">
            <a:extLst>
              <a:ext uri="{FF2B5EF4-FFF2-40B4-BE49-F238E27FC236}">
                <a16:creationId xmlns:a16="http://schemas.microsoft.com/office/drawing/2014/main" id="{A7274231-F4D8-C244-9AA6-2D902ED61B79}"/>
              </a:ext>
            </a:extLst>
          </p:cNvPr>
          <p:cNvSpPr/>
          <p:nvPr/>
        </p:nvSpPr>
        <p:spPr>
          <a:xfrm>
            <a:off x="1472723" y="798281"/>
            <a:ext cx="398178" cy="825349"/>
          </a:xfrm>
          <a:prstGeom prst="can">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TextBox 29">
            <a:extLst>
              <a:ext uri="{FF2B5EF4-FFF2-40B4-BE49-F238E27FC236}">
                <a16:creationId xmlns:a16="http://schemas.microsoft.com/office/drawing/2014/main" id="{EF7F893E-0540-8942-A3B6-D091762F58E4}"/>
              </a:ext>
            </a:extLst>
          </p:cNvPr>
          <p:cNvSpPr txBox="1"/>
          <p:nvPr/>
        </p:nvSpPr>
        <p:spPr>
          <a:xfrm>
            <a:off x="1015291" y="1103283"/>
            <a:ext cx="1452698" cy="461665"/>
          </a:xfrm>
          <a:prstGeom prst="rect">
            <a:avLst/>
          </a:prstGeom>
          <a:noFill/>
        </p:spPr>
        <p:txBody>
          <a:bodyPr wrap="square" rtlCol="0">
            <a:spAutoFit/>
          </a:bodyPr>
          <a:lstStyle/>
          <a:p>
            <a:pPr algn="ctr"/>
            <a:r>
              <a:rPr lang="en-US" sz="1200" dirty="0">
                <a:latin typeface="Chalkboard" panose="03050602040202020205" pitchFamily="66" charset="77"/>
              </a:rPr>
              <a:t>Dead Letter Channel</a:t>
            </a:r>
          </a:p>
        </p:txBody>
      </p:sp>
      <p:sp>
        <p:nvSpPr>
          <p:cNvPr id="31" name="TextBox 30">
            <a:extLst>
              <a:ext uri="{FF2B5EF4-FFF2-40B4-BE49-F238E27FC236}">
                <a16:creationId xmlns:a16="http://schemas.microsoft.com/office/drawing/2014/main" id="{A5DBC76B-A31F-A14B-9777-9CB38B8F3AB5}"/>
              </a:ext>
            </a:extLst>
          </p:cNvPr>
          <p:cNvSpPr txBox="1"/>
          <p:nvPr/>
        </p:nvSpPr>
        <p:spPr>
          <a:xfrm>
            <a:off x="818822" y="2346323"/>
            <a:ext cx="1452698" cy="276999"/>
          </a:xfrm>
          <a:prstGeom prst="rect">
            <a:avLst/>
          </a:prstGeom>
          <a:noFill/>
        </p:spPr>
        <p:txBody>
          <a:bodyPr wrap="square" rtlCol="0">
            <a:spAutoFit/>
          </a:bodyPr>
          <a:lstStyle/>
          <a:p>
            <a:pPr algn="ctr"/>
            <a:r>
              <a:rPr lang="en-US" sz="1200" dirty="0">
                <a:latin typeface="Chalkboard" panose="03050602040202020205" pitchFamily="66" charset="77"/>
              </a:rPr>
              <a:t>Failure to deliver</a:t>
            </a:r>
          </a:p>
        </p:txBody>
      </p:sp>
      <p:sp>
        <p:nvSpPr>
          <p:cNvPr id="32" name="Can 31">
            <a:extLst>
              <a:ext uri="{FF2B5EF4-FFF2-40B4-BE49-F238E27FC236}">
                <a16:creationId xmlns:a16="http://schemas.microsoft.com/office/drawing/2014/main" id="{A5517305-5F95-7543-9005-CE6E5C3A3156}"/>
              </a:ext>
            </a:extLst>
          </p:cNvPr>
          <p:cNvSpPr/>
          <p:nvPr/>
        </p:nvSpPr>
        <p:spPr>
          <a:xfrm>
            <a:off x="3857905" y="825114"/>
            <a:ext cx="398178" cy="825349"/>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TextBox 32">
            <a:extLst>
              <a:ext uri="{FF2B5EF4-FFF2-40B4-BE49-F238E27FC236}">
                <a16:creationId xmlns:a16="http://schemas.microsoft.com/office/drawing/2014/main" id="{1BEE41C1-79C4-4342-82EB-03BA544F5E68}"/>
              </a:ext>
            </a:extLst>
          </p:cNvPr>
          <p:cNvSpPr txBox="1"/>
          <p:nvPr/>
        </p:nvSpPr>
        <p:spPr>
          <a:xfrm>
            <a:off x="3400473" y="1130116"/>
            <a:ext cx="1452698" cy="461665"/>
          </a:xfrm>
          <a:prstGeom prst="rect">
            <a:avLst/>
          </a:prstGeom>
          <a:noFill/>
        </p:spPr>
        <p:txBody>
          <a:bodyPr wrap="square" rtlCol="0">
            <a:spAutoFit/>
          </a:bodyPr>
          <a:lstStyle/>
          <a:p>
            <a:pPr algn="ctr"/>
            <a:r>
              <a:rPr lang="en-US" sz="1200" dirty="0">
                <a:latin typeface="Chalkboard" panose="03050602040202020205" pitchFamily="66" charset="77"/>
              </a:rPr>
              <a:t>Invalid Message Channel</a:t>
            </a:r>
          </a:p>
        </p:txBody>
      </p:sp>
      <p:sp>
        <p:nvSpPr>
          <p:cNvPr id="35" name="TextBox 34">
            <a:extLst>
              <a:ext uri="{FF2B5EF4-FFF2-40B4-BE49-F238E27FC236}">
                <a16:creationId xmlns:a16="http://schemas.microsoft.com/office/drawing/2014/main" id="{5C26E76C-FB42-894E-8ACC-C7A9D986811B}"/>
              </a:ext>
            </a:extLst>
          </p:cNvPr>
          <p:cNvSpPr txBox="1"/>
          <p:nvPr/>
        </p:nvSpPr>
        <p:spPr>
          <a:xfrm>
            <a:off x="3318445" y="2207823"/>
            <a:ext cx="1452698" cy="461665"/>
          </a:xfrm>
          <a:prstGeom prst="rect">
            <a:avLst/>
          </a:prstGeom>
          <a:noFill/>
        </p:spPr>
        <p:txBody>
          <a:bodyPr wrap="square" rtlCol="0">
            <a:spAutoFit/>
          </a:bodyPr>
          <a:lstStyle/>
          <a:p>
            <a:pPr algn="ctr"/>
            <a:r>
              <a:rPr lang="en-US" sz="1200" dirty="0">
                <a:latin typeface="Chalkboard" panose="03050602040202020205" pitchFamily="66" charset="77"/>
              </a:rPr>
              <a:t>Failure to understand</a:t>
            </a:r>
          </a:p>
        </p:txBody>
      </p:sp>
      <p:sp>
        <p:nvSpPr>
          <p:cNvPr id="37" name="TextBox 36">
            <a:extLst>
              <a:ext uri="{FF2B5EF4-FFF2-40B4-BE49-F238E27FC236}">
                <a16:creationId xmlns:a16="http://schemas.microsoft.com/office/drawing/2014/main" id="{E157E3FD-476D-A346-A027-D8A2D7C60FBD}"/>
              </a:ext>
            </a:extLst>
          </p:cNvPr>
          <p:cNvSpPr txBox="1"/>
          <p:nvPr/>
        </p:nvSpPr>
        <p:spPr>
          <a:xfrm>
            <a:off x="5459214" y="2211307"/>
            <a:ext cx="1452698" cy="276999"/>
          </a:xfrm>
          <a:prstGeom prst="rect">
            <a:avLst/>
          </a:prstGeom>
          <a:noFill/>
        </p:spPr>
        <p:txBody>
          <a:bodyPr wrap="square" rtlCol="0">
            <a:spAutoFit/>
          </a:bodyPr>
          <a:lstStyle/>
          <a:p>
            <a:pPr algn="ctr"/>
            <a:r>
              <a:rPr lang="en-US" sz="1200" dirty="0">
                <a:latin typeface="Chalkboard" panose="03050602040202020205" pitchFamily="66" charset="77"/>
              </a:rPr>
              <a:t>Unexpected</a:t>
            </a:r>
          </a:p>
        </p:txBody>
      </p:sp>
      <p:sp>
        <p:nvSpPr>
          <p:cNvPr id="38" name="Folded Corner 37">
            <a:extLst>
              <a:ext uri="{FF2B5EF4-FFF2-40B4-BE49-F238E27FC236}">
                <a16:creationId xmlns:a16="http://schemas.microsoft.com/office/drawing/2014/main" id="{FAF8D2B2-5217-E943-91A1-EDDE5A4F29E8}"/>
              </a:ext>
            </a:extLst>
          </p:cNvPr>
          <p:cNvSpPr/>
          <p:nvPr/>
        </p:nvSpPr>
        <p:spPr>
          <a:xfrm>
            <a:off x="5801860" y="785670"/>
            <a:ext cx="721894" cy="766667"/>
          </a:xfrm>
          <a:prstGeom prst="foldedCorner">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F615154-6A68-3B40-9C21-69C885FFEEF5}"/>
              </a:ext>
            </a:extLst>
          </p:cNvPr>
          <p:cNvSpPr txBox="1"/>
          <p:nvPr/>
        </p:nvSpPr>
        <p:spPr>
          <a:xfrm>
            <a:off x="5459214" y="991616"/>
            <a:ext cx="1452698" cy="276999"/>
          </a:xfrm>
          <a:prstGeom prst="rect">
            <a:avLst/>
          </a:prstGeom>
          <a:noFill/>
        </p:spPr>
        <p:txBody>
          <a:bodyPr wrap="square" rtlCol="0">
            <a:spAutoFit/>
          </a:bodyPr>
          <a:lstStyle/>
          <a:p>
            <a:pPr algn="ctr"/>
            <a:r>
              <a:rPr lang="en-US" sz="1200" dirty="0">
                <a:latin typeface="Chalkboard" panose="03050602040202020205" pitchFamily="66" charset="77"/>
              </a:rPr>
              <a:t>Error Log</a:t>
            </a:r>
          </a:p>
        </p:txBody>
      </p:sp>
      <p:sp>
        <p:nvSpPr>
          <p:cNvPr id="41" name="TextBox 40">
            <a:extLst>
              <a:ext uri="{FF2B5EF4-FFF2-40B4-BE49-F238E27FC236}">
                <a16:creationId xmlns:a16="http://schemas.microsoft.com/office/drawing/2014/main" id="{82C402EB-648A-CD48-B39E-6D8434A4B7F6}"/>
              </a:ext>
            </a:extLst>
          </p:cNvPr>
          <p:cNvSpPr txBox="1"/>
          <p:nvPr/>
        </p:nvSpPr>
        <p:spPr>
          <a:xfrm>
            <a:off x="7330864" y="2180583"/>
            <a:ext cx="1452698" cy="461665"/>
          </a:xfrm>
          <a:prstGeom prst="rect">
            <a:avLst/>
          </a:prstGeom>
          <a:noFill/>
        </p:spPr>
        <p:txBody>
          <a:bodyPr wrap="square" rtlCol="0">
            <a:spAutoFit/>
          </a:bodyPr>
          <a:lstStyle/>
          <a:p>
            <a:pPr algn="ctr"/>
            <a:r>
              <a:rPr lang="en-US" sz="1200" dirty="0">
                <a:latin typeface="Chalkboard" panose="03050602040202020205" pitchFamily="66" charset="77"/>
              </a:rPr>
              <a:t>Unrecoverable</a:t>
            </a:r>
          </a:p>
          <a:p>
            <a:pPr algn="ctr"/>
            <a:r>
              <a:rPr lang="en-US" sz="1200" dirty="0">
                <a:latin typeface="Chalkboard" panose="03050602040202020205" pitchFamily="66" charset="77"/>
              </a:rPr>
              <a:t>Exception</a:t>
            </a:r>
          </a:p>
        </p:txBody>
      </p:sp>
      <p:sp>
        <p:nvSpPr>
          <p:cNvPr id="42" name="Folded Corner 41">
            <a:extLst>
              <a:ext uri="{FF2B5EF4-FFF2-40B4-BE49-F238E27FC236}">
                <a16:creationId xmlns:a16="http://schemas.microsoft.com/office/drawing/2014/main" id="{67827F56-EA31-F24A-8EE1-6D94D336AAE1}"/>
              </a:ext>
            </a:extLst>
          </p:cNvPr>
          <p:cNvSpPr/>
          <p:nvPr/>
        </p:nvSpPr>
        <p:spPr>
          <a:xfrm>
            <a:off x="7767762" y="804126"/>
            <a:ext cx="721894" cy="766667"/>
          </a:xfrm>
          <a:prstGeom prst="foldedCorner">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0C4C0F0-A518-FF49-ACC8-EBFEA6275013}"/>
              </a:ext>
            </a:extLst>
          </p:cNvPr>
          <p:cNvSpPr txBox="1"/>
          <p:nvPr/>
        </p:nvSpPr>
        <p:spPr>
          <a:xfrm>
            <a:off x="7402360" y="1054094"/>
            <a:ext cx="1452698" cy="276999"/>
          </a:xfrm>
          <a:prstGeom prst="rect">
            <a:avLst/>
          </a:prstGeom>
          <a:noFill/>
        </p:spPr>
        <p:txBody>
          <a:bodyPr wrap="square" rtlCol="0">
            <a:spAutoFit/>
          </a:bodyPr>
          <a:lstStyle/>
          <a:p>
            <a:pPr algn="ctr"/>
            <a:r>
              <a:rPr lang="en-US" sz="1200" dirty="0">
                <a:solidFill>
                  <a:schemeClr val="bg1"/>
                </a:solidFill>
                <a:latin typeface="Chalkboard" panose="03050602040202020205" pitchFamily="66" charset="77"/>
              </a:rPr>
              <a:t>Error Log</a:t>
            </a:r>
          </a:p>
        </p:txBody>
      </p:sp>
      <p:cxnSp>
        <p:nvCxnSpPr>
          <p:cNvPr id="44" name="Straight Arrow Connector 43">
            <a:extLst>
              <a:ext uri="{FF2B5EF4-FFF2-40B4-BE49-F238E27FC236}">
                <a16:creationId xmlns:a16="http://schemas.microsoft.com/office/drawing/2014/main" id="{E86D2341-4F23-9B45-8E54-9D40C5388C18}"/>
              </a:ext>
            </a:extLst>
          </p:cNvPr>
          <p:cNvCxnSpPr>
            <a:cxnSpLocks/>
          </p:cNvCxnSpPr>
          <p:nvPr/>
        </p:nvCxnSpPr>
        <p:spPr>
          <a:xfrm>
            <a:off x="8034202" y="5034042"/>
            <a:ext cx="0" cy="13182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DFF6328-C3B0-6544-B378-9F0EA4C2BD16}"/>
              </a:ext>
            </a:extLst>
          </p:cNvPr>
          <p:cNvSpPr txBox="1"/>
          <p:nvPr/>
        </p:nvSpPr>
        <p:spPr>
          <a:xfrm>
            <a:off x="7234102" y="5614691"/>
            <a:ext cx="1452698" cy="461665"/>
          </a:xfrm>
          <a:prstGeom prst="rect">
            <a:avLst/>
          </a:prstGeom>
          <a:noFill/>
        </p:spPr>
        <p:txBody>
          <a:bodyPr wrap="square" rtlCol="0">
            <a:spAutoFit/>
          </a:bodyPr>
          <a:lstStyle/>
          <a:p>
            <a:pPr algn="ctr"/>
            <a:r>
              <a:rPr lang="en-US" sz="1200" dirty="0">
                <a:latin typeface="Chalkboard" panose="03050602040202020205" pitchFamily="66" charset="77"/>
              </a:rPr>
              <a:t>Recoverable</a:t>
            </a:r>
          </a:p>
          <a:p>
            <a:pPr algn="ctr"/>
            <a:r>
              <a:rPr lang="en-US" sz="1200" dirty="0">
                <a:latin typeface="Chalkboard" panose="03050602040202020205" pitchFamily="66" charset="77"/>
              </a:rPr>
              <a:t>Exception</a:t>
            </a:r>
          </a:p>
        </p:txBody>
      </p:sp>
      <p:sp>
        <p:nvSpPr>
          <p:cNvPr id="48" name="Curved Up Arrow 47">
            <a:extLst>
              <a:ext uri="{FF2B5EF4-FFF2-40B4-BE49-F238E27FC236}">
                <a16:creationId xmlns:a16="http://schemas.microsoft.com/office/drawing/2014/main" id="{3CFED112-8A70-5D40-8B89-EC8CAD0674D9}"/>
              </a:ext>
            </a:extLst>
          </p:cNvPr>
          <p:cNvSpPr/>
          <p:nvPr/>
        </p:nvSpPr>
        <p:spPr>
          <a:xfrm flipH="1">
            <a:off x="602615" y="5747813"/>
            <a:ext cx="6977275" cy="776384"/>
          </a:xfrm>
          <a:prstGeom prst="curvedUpArrow">
            <a:avLst>
              <a:gd name="adj1" fmla="val 31102"/>
              <a:gd name="adj2" fmla="val 50000"/>
              <a:gd name="adj3" fmla="val 25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49" name="TextBox 48">
            <a:extLst>
              <a:ext uri="{FF2B5EF4-FFF2-40B4-BE49-F238E27FC236}">
                <a16:creationId xmlns:a16="http://schemas.microsoft.com/office/drawing/2014/main" id="{2241913F-EF6D-374E-AA5C-F570F6A22B2D}"/>
              </a:ext>
            </a:extLst>
          </p:cNvPr>
          <p:cNvSpPr txBox="1"/>
          <p:nvPr/>
        </p:nvSpPr>
        <p:spPr>
          <a:xfrm>
            <a:off x="339650" y="5153026"/>
            <a:ext cx="1088316" cy="461665"/>
          </a:xfrm>
          <a:prstGeom prst="rect">
            <a:avLst/>
          </a:prstGeom>
          <a:noFill/>
        </p:spPr>
        <p:txBody>
          <a:bodyPr wrap="square" rtlCol="0">
            <a:spAutoFit/>
          </a:bodyPr>
          <a:lstStyle/>
          <a:p>
            <a:pPr algn="ctr"/>
            <a:r>
              <a:rPr lang="en-US" sz="1200" dirty="0">
                <a:latin typeface="Chalkboard" panose="03050602040202020205" pitchFamily="66" charset="77"/>
              </a:rPr>
              <a:t>Requeue to Limit</a:t>
            </a:r>
          </a:p>
        </p:txBody>
      </p:sp>
      <p:cxnSp>
        <p:nvCxnSpPr>
          <p:cNvPr id="50" name="Straight Arrow Connector 49">
            <a:extLst>
              <a:ext uri="{FF2B5EF4-FFF2-40B4-BE49-F238E27FC236}">
                <a16:creationId xmlns:a16="http://schemas.microsoft.com/office/drawing/2014/main" id="{EFE3019E-38E2-E346-8F1C-39C66F24AB7B}"/>
              </a:ext>
            </a:extLst>
          </p:cNvPr>
          <p:cNvCxnSpPr>
            <a:cxnSpLocks/>
          </p:cNvCxnSpPr>
          <p:nvPr/>
        </p:nvCxnSpPr>
        <p:spPr>
          <a:xfrm flipV="1">
            <a:off x="468655" y="3991668"/>
            <a:ext cx="0" cy="1359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5857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1" grpId="0" animBg="1"/>
      <p:bldP spid="12" grpId="0" animBg="1"/>
      <p:bldP spid="13" grpId="0" animBg="1"/>
      <p:bldP spid="14" grpId="0" animBg="1"/>
      <p:bldP spid="28" grpId="0" animBg="1"/>
      <p:bldP spid="30" grpId="0"/>
      <p:bldP spid="31" grpId="0"/>
      <p:bldP spid="32" grpId="0" animBg="1"/>
      <p:bldP spid="33" grpId="0"/>
      <p:bldP spid="35" grpId="0"/>
      <p:bldP spid="37" grpId="0"/>
      <p:bldP spid="38" grpId="0" animBg="1"/>
      <p:bldP spid="39" grpId="0"/>
      <p:bldP spid="41" grpId="0"/>
      <p:bldP spid="42" grpId="0" animBg="1"/>
      <p:bldP spid="43" grpId="0"/>
      <p:bldP spid="45" grpId="0"/>
      <p:bldP spid="48" grpId="0" animBg="1"/>
      <p:bldP spid="4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Translate and Dispatch</a:t>
            </a:r>
          </a:p>
        </p:txBody>
      </p:sp>
      <p:sp>
        <p:nvSpPr>
          <p:cNvPr id="3" name="Slide Number Placeholder 2"/>
          <p:cNvSpPr>
            <a:spLocks noGrp="1"/>
          </p:cNvSpPr>
          <p:nvPr>
            <p:ph type="sldNum" sz="quarter" idx="12"/>
          </p:nvPr>
        </p:nvSpPr>
        <p:spPr/>
        <p:txBody>
          <a:bodyPr/>
          <a:lstStyle/>
          <a:p>
            <a:fld id="{867D4A06-35AE-BD4A-84A9-613A26F3D41D}" type="slidenum">
              <a:rPr lang="en-US" smtClean="0"/>
              <a:pPr/>
              <a:t>59</a:t>
            </a:fld>
            <a:endParaRPr lang="en-US"/>
          </a:p>
        </p:txBody>
      </p:sp>
      <p:sp>
        <p:nvSpPr>
          <p:cNvPr id="4" name="Curved Right Arrow 3">
            <a:extLst>
              <a:ext uri="{FF2B5EF4-FFF2-40B4-BE49-F238E27FC236}">
                <a16:creationId xmlns:a16="http://schemas.microsoft.com/office/drawing/2014/main" id="{A14DDB05-04D9-C641-851C-7F2C77F1ADE9}"/>
              </a:ext>
            </a:extLst>
          </p:cNvPr>
          <p:cNvSpPr/>
          <p:nvPr/>
        </p:nvSpPr>
        <p:spPr>
          <a:xfrm>
            <a:off x="1866378" y="3056351"/>
            <a:ext cx="1114817" cy="1240076"/>
          </a:xfrm>
          <a:prstGeom prst="curvedRight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8" name="Can 7">
            <a:extLst>
              <a:ext uri="{FF2B5EF4-FFF2-40B4-BE49-F238E27FC236}">
                <a16:creationId xmlns:a16="http://schemas.microsoft.com/office/drawing/2014/main" id="{38C92C4F-34FE-F941-B8E2-B97ECD67E002}"/>
              </a:ext>
            </a:extLst>
          </p:cNvPr>
          <p:cNvSpPr/>
          <p:nvPr/>
        </p:nvSpPr>
        <p:spPr>
          <a:xfrm rot="5400000">
            <a:off x="816202" y="3275231"/>
            <a:ext cx="398178" cy="825349"/>
          </a:xfrm>
          <a:prstGeom prst="can">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Rounded Rectangle 5">
            <a:extLst>
              <a:ext uri="{FF2B5EF4-FFF2-40B4-BE49-F238E27FC236}">
                <a16:creationId xmlns:a16="http://schemas.microsoft.com/office/drawing/2014/main" id="{8D3B25B8-D943-C843-8A65-17A7DB59FD93}"/>
              </a:ext>
            </a:extLst>
          </p:cNvPr>
          <p:cNvSpPr/>
          <p:nvPr/>
        </p:nvSpPr>
        <p:spPr>
          <a:xfrm>
            <a:off x="3419607" y="3188699"/>
            <a:ext cx="1407186" cy="96219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29D312BE-7359-844A-9CF6-B5A320146C08}"/>
              </a:ext>
            </a:extLst>
          </p:cNvPr>
          <p:cNvSpPr/>
          <p:nvPr/>
        </p:nvSpPr>
        <p:spPr>
          <a:xfrm>
            <a:off x="5459214" y="3188699"/>
            <a:ext cx="1407186" cy="962196"/>
          </a:xfrm>
          <a:prstGeom prst="round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28C17A9E-DC4D-4847-A8CE-B4CD5F039A10}"/>
              </a:ext>
            </a:extLst>
          </p:cNvPr>
          <p:cNvSpPr/>
          <p:nvPr/>
        </p:nvSpPr>
        <p:spPr>
          <a:xfrm>
            <a:off x="7279614" y="3190123"/>
            <a:ext cx="1407186" cy="962196"/>
          </a:xfrm>
          <a:prstGeom prst="roundRect">
            <a:avLst/>
          </a:prstGeo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Magnetic Disk 8">
            <a:extLst>
              <a:ext uri="{FF2B5EF4-FFF2-40B4-BE49-F238E27FC236}">
                <a16:creationId xmlns:a16="http://schemas.microsoft.com/office/drawing/2014/main" id="{D54EE723-5601-E044-902C-A16B605BA022}"/>
              </a:ext>
            </a:extLst>
          </p:cNvPr>
          <p:cNvSpPr/>
          <p:nvPr/>
        </p:nvSpPr>
        <p:spPr>
          <a:xfrm>
            <a:off x="3597442" y="1612232"/>
            <a:ext cx="1143000" cy="806115"/>
          </a:xfrm>
          <a:prstGeom prst="flowChartMagneticDisk">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Magnetic Disk 13">
            <a:extLst>
              <a:ext uri="{FF2B5EF4-FFF2-40B4-BE49-F238E27FC236}">
                <a16:creationId xmlns:a16="http://schemas.microsoft.com/office/drawing/2014/main" id="{F35EB2D1-610C-6C4F-BC99-6BB74BCEED0A}"/>
              </a:ext>
            </a:extLst>
          </p:cNvPr>
          <p:cNvSpPr/>
          <p:nvPr/>
        </p:nvSpPr>
        <p:spPr>
          <a:xfrm>
            <a:off x="5591307" y="1629066"/>
            <a:ext cx="1143000" cy="806115"/>
          </a:xfrm>
          <a:prstGeom prst="flowChartMagneticDisk">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6988CE3-4DE3-2840-B23D-7B1EBBAA4AD1}"/>
              </a:ext>
            </a:extLst>
          </p:cNvPr>
          <p:cNvSpPr txBox="1"/>
          <p:nvPr/>
        </p:nvSpPr>
        <p:spPr>
          <a:xfrm>
            <a:off x="1671812" y="4596062"/>
            <a:ext cx="1503948" cy="646331"/>
          </a:xfrm>
          <a:prstGeom prst="rect">
            <a:avLst/>
          </a:prstGeom>
          <a:noFill/>
          <a:ln>
            <a:solidFill>
              <a:schemeClr val="accent1">
                <a:shade val="95000"/>
                <a:satMod val="105000"/>
              </a:schemeClr>
            </a:solidFill>
          </a:ln>
        </p:spPr>
        <p:txBody>
          <a:bodyPr wrap="square" rtlCol="0">
            <a:spAutoFit/>
          </a:bodyPr>
          <a:lstStyle/>
          <a:p>
            <a:pPr algn="ctr"/>
            <a:r>
              <a:rPr lang="en-US" dirty="0">
                <a:latin typeface="Chalkboard" panose="03050602040202020205" pitchFamily="66" charset="77"/>
              </a:rPr>
              <a:t>Get Message</a:t>
            </a:r>
          </a:p>
        </p:txBody>
      </p:sp>
      <p:sp>
        <p:nvSpPr>
          <p:cNvPr id="16" name="TextBox 15">
            <a:extLst>
              <a:ext uri="{FF2B5EF4-FFF2-40B4-BE49-F238E27FC236}">
                <a16:creationId xmlns:a16="http://schemas.microsoft.com/office/drawing/2014/main" id="{C31D0EDA-64CD-4E4E-ACEE-DB1D97FCB58B}"/>
              </a:ext>
            </a:extLst>
          </p:cNvPr>
          <p:cNvSpPr txBox="1"/>
          <p:nvPr/>
        </p:nvSpPr>
        <p:spPr>
          <a:xfrm>
            <a:off x="3400473" y="4596062"/>
            <a:ext cx="1503948" cy="646331"/>
          </a:xfrm>
          <a:prstGeom prst="rect">
            <a:avLst/>
          </a:prstGeom>
          <a:noFill/>
          <a:ln>
            <a:solidFill>
              <a:schemeClr val="accent1">
                <a:shade val="95000"/>
                <a:satMod val="105000"/>
              </a:schemeClr>
            </a:solidFill>
          </a:ln>
        </p:spPr>
        <p:txBody>
          <a:bodyPr wrap="square" rtlCol="0">
            <a:spAutoFit/>
          </a:bodyPr>
          <a:lstStyle/>
          <a:p>
            <a:pPr algn="ctr"/>
            <a:r>
              <a:rPr lang="en-US" dirty="0">
                <a:latin typeface="Chalkboard" panose="03050602040202020205" pitchFamily="66" charset="77"/>
              </a:rPr>
              <a:t>Translate Message</a:t>
            </a:r>
          </a:p>
        </p:txBody>
      </p:sp>
      <p:sp>
        <p:nvSpPr>
          <p:cNvPr id="17" name="TextBox 16">
            <a:extLst>
              <a:ext uri="{FF2B5EF4-FFF2-40B4-BE49-F238E27FC236}">
                <a16:creationId xmlns:a16="http://schemas.microsoft.com/office/drawing/2014/main" id="{33ACD995-471A-8040-9BF8-AF427AFF81E2}"/>
              </a:ext>
            </a:extLst>
          </p:cNvPr>
          <p:cNvSpPr txBox="1"/>
          <p:nvPr/>
        </p:nvSpPr>
        <p:spPr>
          <a:xfrm>
            <a:off x="5459214" y="4607291"/>
            <a:ext cx="1503948" cy="646331"/>
          </a:xfrm>
          <a:prstGeom prst="rect">
            <a:avLst/>
          </a:prstGeom>
          <a:noFill/>
          <a:ln>
            <a:solidFill>
              <a:schemeClr val="accent1">
                <a:shade val="95000"/>
                <a:satMod val="105000"/>
              </a:schemeClr>
            </a:solidFill>
          </a:ln>
        </p:spPr>
        <p:txBody>
          <a:bodyPr wrap="square" rtlCol="0">
            <a:spAutoFit/>
          </a:bodyPr>
          <a:lstStyle/>
          <a:p>
            <a:pPr algn="ctr"/>
            <a:r>
              <a:rPr lang="en-US" dirty="0">
                <a:latin typeface="Chalkboard" panose="03050602040202020205" pitchFamily="66" charset="77"/>
              </a:rPr>
              <a:t>Dispatch Message</a:t>
            </a:r>
          </a:p>
        </p:txBody>
      </p:sp>
      <p:sp>
        <p:nvSpPr>
          <p:cNvPr id="18" name="TextBox 17">
            <a:extLst>
              <a:ext uri="{FF2B5EF4-FFF2-40B4-BE49-F238E27FC236}">
                <a16:creationId xmlns:a16="http://schemas.microsoft.com/office/drawing/2014/main" id="{AD586009-C4B3-7749-97EC-B5A64C4EA5E3}"/>
              </a:ext>
            </a:extLst>
          </p:cNvPr>
          <p:cNvSpPr txBox="1"/>
          <p:nvPr/>
        </p:nvSpPr>
        <p:spPr>
          <a:xfrm>
            <a:off x="7279614" y="4596061"/>
            <a:ext cx="1503948" cy="646331"/>
          </a:xfrm>
          <a:prstGeom prst="rect">
            <a:avLst/>
          </a:prstGeom>
          <a:noFill/>
          <a:ln>
            <a:solidFill>
              <a:schemeClr val="accent1">
                <a:shade val="95000"/>
                <a:satMod val="105000"/>
              </a:schemeClr>
            </a:solidFill>
          </a:ln>
        </p:spPr>
        <p:txBody>
          <a:bodyPr wrap="square" rtlCol="0">
            <a:spAutoFit/>
          </a:bodyPr>
          <a:lstStyle/>
          <a:p>
            <a:pPr algn="ctr"/>
            <a:r>
              <a:rPr lang="en-US" dirty="0">
                <a:latin typeface="Chalkboard" panose="03050602040202020205" pitchFamily="66" charset="77"/>
              </a:rPr>
              <a:t>Handle Message</a:t>
            </a:r>
          </a:p>
        </p:txBody>
      </p:sp>
      <p:sp>
        <p:nvSpPr>
          <p:cNvPr id="19" name="TextBox 18">
            <a:extLst>
              <a:ext uri="{FF2B5EF4-FFF2-40B4-BE49-F238E27FC236}">
                <a16:creationId xmlns:a16="http://schemas.microsoft.com/office/drawing/2014/main" id="{FAA492AB-B76F-C342-8203-F6D1E3ACEE5F}"/>
              </a:ext>
            </a:extLst>
          </p:cNvPr>
          <p:cNvSpPr txBox="1"/>
          <p:nvPr/>
        </p:nvSpPr>
        <p:spPr>
          <a:xfrm>
            <a:off x="3460640" y="1862805"/>
            <a:ext cx="1452698" cy="461665"/>
          </a:xfrm>
          <a:prstGeom prst="rect">
            <a:avLst/>
          </a:prstGeom>
          <a:noFill/>
        </p:spPr>
        <p:txBody>
          <a:bodyPr wrap="square" rtlCol="0">
            <a:spAutoFit/>
          </a:bodyPr>
          <a:lstStyle/>
          <a:p>
            <a:pPr algn="ctr"/>
            <a:r>
              <a:rPr lang="en-US" sz="1200" dirty="0">
                <a:latin typeface="Chalkboard" panose="03050602040202020205" pitchFamily="66" charset="77"/>
              </a:rPr>
              <a:t>Message Mapper Registry</a:t>
            </a:r>
          </a:p>
        </p:txBody>
      </p:sp>
      <p:sp>
        <p:nvSpPr>
          <p:cNvPr id="21" name="TextBox 20">
            <a:extLst>
              <a:ext uri="{FF2B5EF4-FFF2-40B4-BE49-F238E27FC236}">
                <a16:creationId xmlns:a16="http://schemas.microsoft.com/office/drawing/2014/main" id="{9160312F-7B8A-624E-ADAB-87B4BB9998E5}"/>
              </a:ext>
            </a:extLst>
          </p:cNvPr>
          <p:cNvSpPr txBox="1"/>
          <p:nvPr/>
        </p:nvSpPr>
        <p:spPr>
          <a:xfrm>
            <a:off x="5459214" y="1947471"/>
            <a:ext cx="1452698" cy="276999"/>
          </a:xfrm>
          <a:prstGeom prst="rect">
            <a:avLst/>
          </a:prstGeom>
          <a:noFill/>
        </p:spPr>
        <p:txBody>
          <a:bodyPr wrap="square" rtlCol="0">
            <a:spAutoFit/>
          </a:bodyPr>
          <a:lstStyle/>
          <a:p>
            <a:pPr algn="ctr"/>
            <a:r>
              <a:rPr lang="en-US" sz="1200" dirty="0">
                <a:latin typeface="Chalkboard" panose="03050602040202020205" pitchFamily="66" charset="77"/>
              </a:rPr>
              <a:t>Handler Registry</a:t>
            </a:r>
          </a:p>
        </p:txBody>
      </p:sp>
      <p:cxnSp>
        <p:nvCxnSpPr>
          <p:cNvPr id="22" name="Straight Arrow Connector 21">
            <a:extLst>
              <a:ext uri="{FF2B5EF4-FFF2-40B4-BE49-F238E27FC236}">
                <a16:creationId xmlns:a16="http://schemas.microsoft.com/office/drawing/2014/main" id="{5F4B2943-486D-0F46-A70E-C39180C0E577}"/>
              </a:ext>
            </a:extLst>
          </p:cNvPr>
          <p:cNvCxnSpPr>
            <a:cxnSpLocks/>
          </p:cNvCxnSpPr>
          <p:nvPr/>
        </p:nvCxnSpPr>
        <p:spPr>
          <a:xfrm flipV="1">
            <a:off x="3741821" y="2346323"/>
            <a:ext cx="0" cy="8423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373834A-DF7F-E346-8246-44CAF87E9912}"/>
              </a:ext>
            </a:extLst>
          </p:cNvPr>
          <p:cNvCxnSpPr>
            <a:cxnSpLocks/>
          </p:cNvCxnSpPr>
          <p:nvPr/>
        </p:nvCxnSpPr>
        <p:spPr>
          <a:xfrm flipV="1">
            <a:off x="5807242" y="2366623"/>
            <a:ext cx="0" cy="8423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98A166C0-7261-D142-AE98-67521998826E}"/>
              </a:ext>
            </a:extLst>
          </p:cNvPr>
          <p:cNvCxnSpPr>
            <a:cxnSpLocks/>
          </p:cNvCxnSpPr>
          <p:nvPr/>
        </p:nvCxnSpPr>
        <p:spPr>
          <a:xfrm>
            <a:off x="4391527" y="2435181"/>
            <a:ext cx="0" cy="7535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C4509942-8F44-8846-AA4B-3127089BD26B}"/>
              </a:ext>
            </a:extLst>
          </p:cNvPr>
          <p:cNvCxnSpPr>
            <a:cxnSpLocks/>
          </p:cNvCxnSpPr>
          <p:nvPr/>
        </p:nvCxnSpPr>
        <p:spPr>
          <a:xfrm>
            <a:off x="6456948" y="2418347"/>
            <a:ext cx="0" cy="7535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58706D5A-C6C9-B842-980C-669EFF79E556}"/>
              </a:ext>
            </a:extLst>
          </p:cNvPr>
          <p:cNvSpPr txBox="1"/>
          <p:nvPr/>
        </p:nvSpPr>
        <p:spPr>
          <a:xfrm>
            <a:off x="3385678" y="2581107"/>
            <a:ext cx="1452698" cy="276999"/>
          </a:xfrm>
          <a:prstGeom prst="rect">
            <a:avLst/>
          </a:prstGeom>
          <a:noFill/>
        </p:spPr>
        <p:txBody>
          <a:bodyPr wrap="square" rtlCol="0">
            <a:spAutoFit/>
          </a:bodyPr>
          <a:lstStyle/>
          <a:p>
            <a:pPr algn="ctr"/>
            <a:r>
              <a:rPr lang="en-US" sz="1200" dirty="0">
                <a:latin typeface="Chalkboard" panose="03050602040202020205" pitchFamily="66" charset="77"/>
              </a:rPr>
              <a:t>Lookup Mapper</a:t>
            </a:r>
          </a:p>
        </p:txBody>
      </p:sp>
      <p:sp>
        <p:nvSpPr>
          <p:cNvPr id="33" name="TextBox 32">
            <a:extLst>
              <a:ext uri="{FF2B5EF4-FFF2-40B4-BE49-F238E27FC236}">
                <a16:creationId xmlns:a16="http://schemas.microsoft.com/office/drawing/2014/main" id="{450935BB-5C98-464C-92FD-E0364F1FAE6E}"/>
              </a:ext>
            </a:extLst>
          </p:cNvPr>
          <p:cNvSpPr txBox="1"/>
          <p:nvPr/>
        </p:nvSpPr>
        <p:spPr>
          <a:xfrm>
            <a:off x="5459214" y="2577334"/>
            <a:ext cx="1452698" cy="276999"/>
          </a:xfrm>
          <a:prstGeom prst="rect">
            <a:avLst/>
          </a:prstGeom>
          <a:noFill/>
        </p:spPr>
        <p:txBody>
          <a:bodyPr wrap="square" rtlCol="0">
            <a:spAutoFit/>
          </a:bodyPr>
          <a:lstStyle/>
          <a:p>
            <a:pPr algn="ctr"/>
            <a:r>
              <a:rPr lang="en-US" sz="1200" dirty="0">
                <a:latin typeface="Chalkboard" panose="03050602040202020205" pitchFamily="66" charset="77"/>
              </a:rPr>
              <a:t>Lookup Handler</a:t>
            </a:r>
          </a:p>
        </p:txBody>
      </p:sp>
      <p:cxnSp>
        <p:nvCxnSpPr>
          <p:cNvPr id="34" name="Straight Arrow Connector 33">
            <a:extLst>
              <a:ext uri="{FF2B5EF4-FFF2-40B4-BE49-F238E27FC236}">
                <a16:creationId xmlns:a16="http://schemas.microsoft.com/office/drawing/2014/main" id="{764F50EA-EE45-7F40-9260-117F5AE38539}"/>
              </a:ext>
            </a:extLst>
          </p:cNvPr>
          <p:cNvCxnSpPr/>
          <p:nvPr/>
        </p:nvCxnSpPr>
        <p:spPr>
          <a:xfrm flipV="1">
            <a:off x="348916" y="3676389"/>
            <a:ext cx="7682672" cy="11516"/>
          </a:xfrm>
          <a:prstGeom prst="straightConnector1">
            <a:avLst/>
          </a:prstGeom>
          <a:ln w="825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41301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Polling Consumer</a:t>
            </a:r>
          </a:p>
        </p:txBody>
      </p:sp>
      <p:sp>
        <p:nvSpPr>
          <p:cNvPr id="3" name="Slide Number Placeholder 2"/>
          <p:cNvSpPr>
            <a:spLocks noGrp="1"/>
          </p:cNvSpPr>
          <p:nvPr>
            <p:ph type="sldNum" sz="quarter" idx="12"/>
          </p:nvPr>
        </p:nvSpPr>
        <p:spPr/>
        <p:txBody>
          <a:bodyPr/>
          <a:lstStyle/>
          <a:p>
            <a:fld id="{867D4A06-35AE-BD4A-84A9-613A26F3D41D}" type="slidenum">
              <a:rPr lang="en-US" smtClean="0"/>
              <a:pPr/>
              <a:t>60</a:t>
            </a:fld>
            <a:endParaRPr lang="en-US"/>
          </a:p>
        </p:txBody>
      </p:sp>
      <p:pic>
        <p:nvPicPr>
          <p:cNvPr id="8194" name="Picture 2" descr="http://www.enterpriseintegrationpatterns.com/img/PollingConsumer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466194" y="2396359"/>
            <a:ext cx="5979531" cy="22229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37972" y="5321019"/>
            <a:ext cx="5996579"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PollingConsumer.html</a:t>
            </a:r>
            <a:endParaRPr lang="en-US" sz="1200" dirty="0"/>
          </a:p>
        </p:txBody>
      </p:sp>
    </p:spTree>
    <p:extLst>
      <p:ext uri="{BB962C8B-B14F-4D97-AF65-F5344CB8AC3E}">
        <p14:creationId xmlns:p14="http://schemas.microsoft.com/office/powerpoint/2010/main" val="21018623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latin typeface="Chalkboard" panose="03050602040202020205" pitchFamily="66" charset="77"/>
              </a:rPr>
              <a:t>Event Driven Consumer</a:t>
            </a:r>
          </a:p>
        </p:txBody>
      </p:sp>
      <p:sp>
        <p:nvSpPr>
          <p:cNvPr id="4" name="Slide Number Placeholder 3"/>
          <p:cNvSpPr>
            <a:spLocks noGrp="1"/>
          </p:cNvSpPr>
          <p:nvPr>
            <p:ph type="sldNum" sz="quarter" idx="12"/>
          </p:nvPr>
        </p:nvSpPr>
        <p:spPr/>
        <p:txBody>
          <a:bodyPr/>
          <a:lstStyle/>
          <a:p>
            <a:fld id="{867D4A06-35AE-BD4A-84A9-613A26F3D41D}" type="slidenum">
              <a:rPr lang="en-US" smtClean="0"/>
              <a:pPr/>
              <a:t>61</a:t>
            </a:fld>
            <a:endParaRPr lang="en-US"/>
          </a:p>
        </p:txBody>
      </p:sp>
      <p:pic>
        <p:nvPicPr>
          <p:cNvPr id="9220" name="Picture 4" descr="http://www.enterpriseintegrationpatterns.com/img/EventDrivenConsumer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210807" y="2532637"/>
            <a:ext cx="4722385" cy="175558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210807" y="4906787"/>
            <a:ext cx="6325608"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EventDrivenConsumer.html</a:t>
            </a:r>
            <a:endParaRPr lang="en-US" sz="1200" dirty="0"/>
          </a:p>
        </p:txBody>
      </p:sp>
    </p:spTree>
    <p:extLst>
      <p:ext uri="{BB962C8B-B14F-4D97-AF65-F5344CB8AC3E}">
        <p14:creationId xmlns:p14="http://schemas.microsoft.com/office/powerpoint/2010/main" val="21001560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Service Activator</a:t>
            </a:r>
          </a:p>
        </p:txBody>
      </p:sp>
      <p:sp>
        <p:nvSpPr>
          <p:cNvPr id="3" name="Slide Number Placeholder 2"/>
          <p:cNvSpPr>
            <a:spLocks noGrp="1"/>
          </p:cNvSpPr>
          <p:nvPr>
            <p:ph type="sldNum" sz="quarter" idx="12"/>
          </p:nvPr>
        </p:nvSpPr>
        <p:spPr/>
        <p:txBody>
          <a:bodyPr/>
          <a:lstStyle/>
          <a:p>
            <a:fld id="{867D4A06-35AE-BD4A-84A9-613A26F3D41D}" type="slidenum">
              <a:rPr lang="en-US" smtClean="0"/>
              <a:pPr/>
              <a:t>62</a:t>
            </a:fld>
            <a:endParaRPr lang="en-US"/>
          </a:p>
        </p:txBody>
      </p:sp>
      <p:pic>
        <p:nvPicPr>
          <p:cNvPr id="10242" name="Picture 2" descr="http://www.enterpriseintegrationpatterns.com/img/MessagingAdapterSolution.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104697" y="1671145"/>
            <a:ext cx="4934606" cy="316320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20007" y="5318352"/>
            <a:ext cx="5919952"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MessagingAdapter.html</a:t>
            </a:r>
            <a:endParaRPr lang="en-US" sz="1200" dirty="0"/>
          </a:p>
        </p:txBody>
      </p:sp>
    </p:spTree>
    <p:extLst>
      <p:ext uri="{BB962C8B-B14F-4D97-AF65-F5344CB8AC3E}">
        <p14:creationId xmlns:p14="http://schemas.microsoft.com/office/powerpoint/2010/main" val="19053469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halkboard" panose="03050602040202020205" pitchFamily="66" charset="77"/>
              </a:rPr>
              <a:t>Competing Consumers</a:t>
            </a:r>
          </a:p>
        </p:txBody>
      </p:sp>
      <p:pic>
        <p:nvPicPr>
          <p:cNvPr id="1026" name="Picture 2" descr="http://www.enterpriseintegrationpatterns.com/img/MessageDispatcher.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185987" y="1816274"/>
            <a:ext cx="4772025" cy="32194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04790" y="5434360"/>
            <a:ext cx="6025018"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MessageDispatcher.html</a:t>
            </a:r>
            <a:endParaRPr lang="en-US" sz="1200" dirty="0"/>
          </a:p>
        </p:txBody>
      </p:sp>
      <p:sp>
        <p:nvSpPr>
          <p:cNvPr id="3" name="Slide Number Placeholder 2"/>
          <p:cNvSpPr>
            <a:spLocks noGrp="1"/>
          </p:cNvSpPr>
          <p:nvPr>
            <p:ph type="sldNum" sz="quarter" idx="12"/>
          </p:nvPr>
        </p:nvSpPr>
        <p:spPr/>
        <p:txBody>
          <a:bodyPr/>
          <a:lstStyle/>
          <a:p>
            <a:fld id="{867D4A06-35AE-BD4A-84A9-613A26F3D41D}" type="slidenum">
              <a:rPr lang="en-US" smtClean="0"/>
              <a:pPr/>
              <a:t>63</a:t>
            </a:fld>
            <a:endParaRPr lang="en-US"/>
          </a:p>
        </p:txBody>
      </p:sp>
    </p:spTree>
    <p:extLst>
      <p:ext uri="{BB962C8B-B14F-4D97-AF65-F5344CB8AC3E}">
        <p14:creationId xmlns:p14="http://schemas.microsoft.com/office/powerpoint/2010/main" val="31776944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Pipelines</a:t>
            </a:r>
          </a:p>
        </p:txBody>
      </p:sp>
      <p:sp>
        <p:nvSpPr>
          <p:cNvPr id="4" name="Text Placeholder 3"/>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64</a:t>
            </a:fld>
            <a:endParaRPr lang="en-US">
              <a:solidFill>
                <a:schemeClr val="tx1">
                  <a:lumMod val="50000"/>
                  <a:lumOff val="50000"/>
                </a:schemeClr>
              </a:solidFill>
            </a:endParaRPr>
          </a:p>
        </p:txBody>
      </p:sp>
    </p:spTree>
    <p:extLst>
      <p:ext uri="{BB962C8B-B14F-4D97-AF65-F5344CB8AC3E}">
        <p14:creationId xmlns:p14="http://schemas.microsoft.com/office/powerpoint/2010/main" val="41146763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Pipes and Filters</a:t>
            </a:r>
          </a:p>
        </p:txBody>
      </p:sp>
      <p:pic>
        <p:nvPicPr>
          <p:cNvPr id="2050" name="Picture 2" descr="http://www.enterpriseintegrationpatterns.com/img/PipesAndFilters.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57824" y="2924642"/>
            <a:ext cx="7772409" cy="13223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668044" y="5135051"/>
            <a:ext cx="5768236"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PipesAndFilters.html</a:t>
            </a:r>
            <a:endParaRPr lang="en-US" sz="1200" dirty="0"/>
          </a:p>
        </p:txBody>
      </p:sp>
      <p:sp>
        <p:nvSpPr>
          <p:cNvPr id="3" name="Slide Number Placeholder 2"/>
          <p:cNvSpPr>
            <a:spLocks noGrp="1"/>
          </p:cNvSpPr>
          <p:nvPr>
            <p:ph type="sldNum" sz="quarter" idx="12"/>
          </p:nvPr>
        </p:nvSpPr>
        <p:spPr/>
        <p:txBody>
          <a:bodyPr/>
          <a:lstStyle/>
          <a:p>
            <a:fld id="{867D4A06-35AE-BD4A-84A9-613A26F3D41D}" type="slidenum">
              <a:rPr lang="en-US" smtClean="0"/>
              <a:pPr/>
              <a:t>65</a:t>
            </a:fld>
            <a:endParaRPr lang="en-US"/>
          </a:p>
        </p:txBody>
      </p:sp>
    </p:spTree>
    <p:extLst>
      <p:ext uri="{BB962C8B-B14F-4D97-AF65-F5344CB8AC3E}">
        <p14:creationId xmlns:p14="http://schemas.microsoft.com/office/powerpoint/2010/main" val="15042855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Chalkboard" panose="03050602040202020205" pitchFamily="66" charset="77"/>
              </a:rPr>
              <a:t>Content Based Router</a:t>
            </a:r>
          </a:p>
        </p:txBody>
      </p:sp>
      <p:pic>
        <p:nvPicPr>
          <p:cNvPr id="3074" name="Picture 2" descr="http://www.enterpriseintegrationpatterns.com/img/ContentBasedRouter.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327760" y="2592887"/>
            <a:ext cx="6085742" cy="14655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97573" y="4759491"/>
            <a:ext cx="6157496"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ContentBasedRouter.html</a:t>
            </a:r>
            <a:endParaRPr lang="en-US" sz="1200" dirty="0"/>
          </a:p>
        </p:txBody>
      </p:sp>
      <p:sp>
        <p:nvSpPr>
          <p:cNvPr id="2" name="Slide Number Placeholder 1"/>
          <p:cNvSpPr>
            <a:spLocks noGrp="1"/>
          </p:cNvSpPr>
          <p:nvPr>
            <p:ph type="sldNum" sz="quarter" idx="12"/>
          </p:nvPr>
        </p:nvSpPr>
        <p:spPr/>
        <p:txBody>
          <a:bodyPr/>
          <a:lstStyle/>
          <a:p>
            <a:fld id="{867D4A06-35AE-BD4A-84A9-613A26F3D41D}" type="slidenum">
              <a:rPr lang="en-US" smtClean="0"/>
              <a:pPr/>
              <a:t>66</a:t>
            </a:fld>
            <a:endParaRPr lang="en-US"/>
          </a:p>
        </p:txBody>
      </p:sp>
    </p:spTree>
    <p:extLst>
      <p:ext uri="{BB962C8B-B14F-4D97-AF65-F5344CB8AC3E}">
        <p14:creationId xmlns:p14="http://schemas.microsoft.com/office/powerpoint/2010/main" val="32970229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Dynamic Router</a:t>
            </a:r>
          </a:p>
        </p:txBody>
      </p:sp>
      <p:pic>
        <p:nvPicPr>
          <p:cNvPr id="4098" name="Picture 2" descr="http://www.enterpriseintegrationpatterns.com/img/DynamicRouter.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340285" y="2016690"/>
            <a:ext cx="5602175" cy="27557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367420" y="5094469"/>
            <a:ext cx="5855917"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DynamicRouter.html</a:t>
            </a:r>
            <a:endParaRPr lang="en-US" sz="1200" dirty="0"/>
          </a:p>
        </p:txBody>
      </p:sp>
      <p:sp>
        <p:nvSpPr>
          <p:cNvPr id="4" name="Slide Number Placeholder 3"/>
          <p:cNvSpPr>
            <a:spLocks noGrp="1"/>
          </p:cNvSpPr>
          <p:nvPr>
            <p:ph type="sldNum" sz="quarter" idx="12"/>
          </p:nvPr>
        </p:nvSpPr>
        <p:spPr/>
        <p:txBody>
          <a:bodyPr/>
          <a:lstStyle/>
          <a:p>
            <a:fld id="{867D4A06-35AE-BD4A-84A9-613A26F3D41D}" type="slidenum">
              <a:rPr lang="en-US" smtClean="0"/>
              <a:pPr/>
              <a:t>67</a:t>
            </a:fld>
            <a:endParaRPr lang="en-US"/>
          </a:p>
        </p:txBody>
      </p:sp>
    </p:spTree>
    <p:extLst>
      <p:ext uri="{BB962C8B-B14F-4D97-AF65-F5344CB8AC3E}">
        <p14:creationId xmlns:p14="http://schemas.microsoft.com/office/powerpoint/2010/main" val="10801440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Recipient List</a:t>
            </a:r>
          </a:p>
        </p:txBody>
      </p:sp>
      <p:pic>
        <p:nvPicPr>
          <p:cNvPr id="5122" name="Picture 2" descr="http://www.enterpriseintegrationpatterns.com/img/RecipientList.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90181" y="2154476"/>
            <a:ext cx="5963280" cy="254278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131507" y="5295598"/>
            <a:ext cx="5555293"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RecipientList.html</a:t>
            </a:r>
            <a:endParaRPr lang="en-US" sz="1200" dirty="0"/>
          </a:p>
        </p:txBody>
      </p:sp>
      <p:sp>
        <p:nvSpPr>
          <p:cNvPr id="4" name="Slide Number Placeholder 3"/>
          <p:cNvSpPr>
            <a:spLocks noGrp="1"/>
          </p:cNvSpPr>
          <p:nvPr>
            <p:ph type="sldNum" sz="quarter" idx="12"/>
          </p:nvPr>
        </p:nvSpPr>
        <p:spPr/>
        <p:txBody>
          <a:bodyPr/>
          <a:lstStyle/>
          <a:p>
            <a:fld id="{867D4A06-35AE-BD4A-84A9-613A26F3D41D}" type="slidenum">
              <a:rPr lang="en-US" smtClean="0"/>
              <a:pPr/>
              <a:t>68</a:t>
            </a:fld>
            <a:endParaRPr lang="en-US"/>
          </a:p>
        </p:txBody>
      </p:sp>
    </p:spTree>
    <p:extLst>
      <p:ext uri="{BB962C8B-B14F-4D97-AF65-F5344CB8AC3E}">
        <p14:creationId xmlns:p14="http://schemas.microsoft.com/office/powerpoint/2010/main" val="22923241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Chalkboard" panose="03050602040202020205" pitchFamily="66" charset="77"/>
              </a:rPr>
              <a:t>Splitter</a:t>
            </a:r>
          </a:p>
        </p:txBody>
      </p:sp>
      <p:pic>
        <p:nvPicPr>
          <p:cNvPr id="7170" name="Picture 2" descr="http://www.enterpriseintegrationpatterns.com/img/Sequencer.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28383" y="2642991"/>
            <a:ext cx="5595555" cy="147807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555309" y="5069416"/>
            <a:ext cx="5733341"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Sequencer.html</a:t>
            </a:r>
            <a:endParaRPr lang="en-US" sz="1200" dirty="0"/>
          </a:p>
        </p:txBody>
      </p:sp>
      <p:sp>
        <p:nvSpPr>
          <p:cNvPr id="4" name="Slide Number Placeholder 3"/>
          <p:cNvSpPr>
            <a:spLocks noGrp="1"/>
          </p:cNvSpPr>
          <p:nvPr>
            <p:ph type="sldNum" sz="quarter" idx="12"/>
          </p:nvPr>
        </p:nvSpPr>
        <p:spPr/>
        <p:txBody>
          <a:bodyPr/>
          <a:lstStyle/>
          <a:p>
            <a:fld id="{867D4A06-35AE-BD4A-84A9-613A26F3D41D}" type="slidenum">
              <a:rPr lang="en-US" smtClean="0"/>
              <a:pPr/>
              <a:t>69</a:t>
            </a:fld>
            <a:endParaRPr lang="en-US"/>
          </a:p>
        </p:txBody>
      </p:sp>
    </p:spTree>
    <p:extLst>
      <p:ext uri="{BB962C8B-B14F-4D97-AF65-F5344CB8AC3E}">
        <p14:creationId xmlns:p14="http://schemas.microsoft.com/office/powerpoint/2010/main" val="3864899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Aggregator</a:t>
            </a:r>
          </a:p>
        </p:txBody>
      </p:sp>
      <p:pic>
        <p:nvPicPr>
          <p:cNvPr id="8194" name="Picture 2" descr="http://www.enterpriseintegrationpatterns.com/img/Aggregator.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52603" y="2442575"/>
            <a:ext cx="6015298" cy="179122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943616" y="4884531"/>
            <a:ext cx="5464153" cy="276999"/>
          </a:xfrm>
          <a:prstGeom prst="rect">
            <a:avLst/>
          </a:prstGeom>
        </p:spPr>
        <p:txBody>
          <a:bodyPr wrap="square">
            <a:spAutoFit/>
          </a:bodyPr>
          <a:lstStyle/>
          <a:p>
            <a:pPr algn="r"/>
            <a:r>
              <a:rPr lang="en-US" sz="1200" dirty="0"/>
              <a:t>http://</a:t>
            </a:r>
            <a:r>
              <a:rPr lang="en-US" sz="1200" dirty="0" err="1"/>
              <a:t>www.enterpriseintegrationpatterns.com</a:t>
            </a:r>
            <a:r>
              <a:rPr lang="en-US" sz="1200" dirty="0"/>
              <a:t>/patterns/messaging/</a:t>
            </a:r>
            <a:r>
              <a:rPr lang="en-US" sz="1200" dirty="0" err="1"/>
              <a:t>Aggregator.html</a:t>
            </a:r>
            <a:endParaRPr lang="en-US" sz="1200" dirty="0"/>
          </a:p>
        </p:txBody>
      </p:sp>
      <p:sp>
        <p:nvSpPr>
          <p:cNvPr id="4" name="Slide Number Placeholder 3"/>
          <p:cNvSpPr>
            <a:spLocks noGrp="1"/>
          </p:cNvSpPr>
          <p:nvPr>
            <p:ph type="sldNum" sz="quarter" idx="12"/>
          </p:nvPr>
        </p:nvSpPr>
        <p:spPr/>
        <p:txBody>
          <a:bodyPr/>
          <a:lstStyle/>
          <a:p>
            <a:fld id="{867D4A06-35AE-BD4A-84A9-613A26F3D41D}" type="slidenum">
              <a:rPr lang="en-US" smtClean="0"/>
              <a:pPr/>
              <a:t>70</a:t>
            </a:fld>
            <a:endParaRPr lang="en-US"/>
          </a:p>
        </p:txBody>
      </p:sp>
    </p:spTree>
    <p:extLst>
      <p:ext uri="{BB962C8B-B14F-4D97-AF65-F5344CB8AC3E}">
        <p14:creationId xmlns:p14="http://schemas.microsoft.com/office/powerpoint/2010/main" val="14565564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Chalkboard" panose="03050602040202020205" pitchFamily="66" charset="77"/>
              </a:rPr>
              <a:t>Resequencer</a:t>
            </a:r>
            <a:endParaRPr lang="en-US" dirty="0">
              <a:latin typeface="Chalkboard" panose="03050602040202020205" pitchFamily="66" charset="77"/>
            </a:endParaRPr>
          </a:p>
        </p:txBody>
      </p:sp>
      <p:pic>
        <p:nvPicPr>
          <p:cNvPr id="10242" name="Picture 2" descr="http://www.enterpriseintegrationpatterns.com/img/Resequencer.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572669" y="2780777"/>
            <a:ext cx="5524214" cy="145301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480153" y="4596432"/>
            <a:ext cx="5693968"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Resequencer.html</a:t>
            </a:r>
            <a:endParaRPr lang="en-US" sz="1200" dirty="0"/>
          </a:p>
        </p:txBody>
      </p:sp>
      <p:sp>
        <p:nvSpPr>
          <p:cNvPr id="4" name="Slide Number Placeholder 3"/>
          <p:cNvSpPr>
            <a:spLocks noGrp="1"/>
          </p:cNvSpPr>
          <p:nvPr>
            <p:ph type="sldNum" sz="quarter" idx="12"/>
          </p:nvPr>
        </p:nvSpPr>
        <p:spPr/>
        <p:txBody>
          <a:bodyPr/>
          <a:lstStyle/>
          <a:p>
            <a:fld id="{867D4A06-35AE-BD4A-84A9-613A26F3D41D}" type="slidenum">
              <a:rPr lang="en-US" smtClean="0"/>
              <a:pPr/>
              <a:t>71</a:t>
            </a:fld>
            <a:endParaRPr lang="en-US"/>
          </a:p>
        </p:txBody>
      </p:sp>
    </p:spTree>
    <p:extLst>
      <p:ext uri="{BB962C8B-B14F-4D97-AF65-F5344CB8AC3E}">
        <p14:creationId xmlns:p14="http://schemas.microsoft.com/office/powerpoint/2010/main" val="28717379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28648" y="1093788"/>
            <a:ext cx="8261351" cy="2967208"/>
          </a:xfrm>
        </p:spPr>
        <p:txBody>
          <a:bodyPr vert="horz" lIns="91440" tIns="45720" rIns="91440" bIns="45720" rtlCol="0" anchor="b">
            <a:normAutofit/>
          </a:bodyPr>
          <a:lstStyle/>
          <a:p>
            <a:pPr defTabSz="914400">
              <a:lnSpc>
                <a:spcPct val="90000"/>
              </a:lnSpc>
            </a:pPr>
            <a:r>
              <a:rPr lang="en-US" sz="7000" kern="1200" dirty="0">
                <a:solidFill>
                  <a:schemeClr val="tx1"/>
                </a:solidFill>
                <a:latin typeface="Chalkboard" panose="03050602040202020205" pitchFamily="66" charset="77"/>
              </a:rPr>
              <a:t>Transformation</a:t>
            </a:r>
          </a:p>
        </p:txBody>
      </p:sp>
      <p:sp>
        <p:nvSpPr>
          <p:cNvPr id="4" name="Text Placeholder 3"/>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72</a:t>
            </a:fld>
            <a:endParaRPr lang="en-US">
              <a:solidFill>
                <a:schemeClr val="tx1">
                  <a:lumMod val="50000"/>
                  <a:lumOff val="50000"/>
                </a:schemeClr>
              </a:solidFill>
            </a:endParaRPr>
          </a:p>
        </p:txBody>
      </p:sp>
    </p:spTree>
    <p:extLst>
      <p:ext uri="{BB962C8B-B14F-4D97-AF65-F5344CB8AC3E}">
        <p14:creationId xmlns:p14="http://schemas.microsoft.com/office/powerpoint/2010/main" val="2960684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Chalkboard" panose="03050602040202020205" pitchFamily="66" charset="77"/>
              </a:rPr>
              <a:t>Message Translator</a:t>
            </a:r>
          </a:p>
        </p:txBody>
      </p:sp>
      <p:pic>
        <p:nvPicPr>
          <p:cNvPr id="11266" name="Picture 2" descr="http://www.enterpriseintegrationpatterns.com/img/MessageTranslator.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935270" y="2630466"/>
            <a:ext cx="5273460" cy="155322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192055" y="4925556"/>
            <a:ext cx="5956127"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MessageTranslator.html</a:t>
            </a:r>
            <a:endParaRPr lang="en-US" sz="1200" dirty="0"/>
          </a:p>
        </p:txBody>
      </p:sp>
      <p:sp>
        <p:nvSpPr>
          <p:cNvPr id="2" name="Slide Number Placeholder 1"/>
          <p:cNvSpPr>
            <a:spLocks noGrp="1"/>
          </p:cNvSpPr>
          <p:nvPr>
            <p:ph type="sldNum" sz="quarter" idx="12"/>
          </p:nvPr>
        </p:nvSpPr>
        <p:spPr/>
        <p:txBody>
          <a:bodyPr/>
          <a:lstStyle/>
          <a:p>
            <a:fld id="{867D4A06-35AE-BD4A-84A9-613A26F3D41D}" type="slidenum">
              <a:rPr lang="en-US" smtClean="0"/>
              <a:pPr/>
              <a:t>73</a:t>
            </a:fld>
            <a:endParaRPr lang="en-US"/>
          </a:p>
        </p:txBody>
      </p:sp>
    </p:spTree>
    <p:extLst>
      <p:ext uri="{BB962C8B-B14F-4D97-AF65-F5344CB8AC3E}">
        <p14:creationId xmlns:p14="http://schemas.microsoft.com/office/powerpoint/2010/main" val="7963729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Content Enricher</a:t>
            </a:r>
          </a:p>
        </p:txBody>
      </p:sp>
      <p:pic>
        <p:nvPicPr>
          <p:cNvPr id="12290" name="Picture 2" descr="http://www.enterpriseintegrationpatterns.com/img/DataEnricher.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085584" y="2329840"/>
            <a:ext cx="4972832" cy="25747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592888" y="5084947"/>
            <a:ext cx="5630450" cy="276999"/>
          </a:xfrm>
          <a:prstGeom prst="rect">
            <a:avLst/>
          </a:prstGeom>
        </p:spPr>
        <p:txBody>
          <a:bodyPr wrap="square">
            <a:spAutoFit/>
          </a:bodyPr>
          <a:lstStyle/>
          <a:p>
            <a:r>
              <a:rPr lang="en-US" sz="1200" dirty="0"/>
              <a:t>http://</a:t>
            </a:r>
            <a:r>
              <a:rPr lang="en-US" sz="1200" dirty="0" err="1"/>
              <a:t>www.enterpriseintegrationpatterns.com</a:t>
            </a:r>
            <a:r>
              <a:rPr lang="en-US" sz="1200" dirty="0"/>
              <a:t>/patterns/messaging/</a:t>
            </a:r>
            <a:r>
              <a:rPr lang="en-US" sz="1200" dirty="0" err="1"/>
              <a:t>DataEnricher.html</a:t>
            </a:r>
            <a:endParaRPr lang="en-US" sz="1200" dirty="0"/>
          </a:p>
        </p:txBody>
      </p:sp>
      <p:sp>
        <p:nvSpPr>
          <p:cNvPr id="4" name="Slide Number Placeholder 3"/>
          <p:cNvSpPr>
            <a:spLocks noGrp="1"/>
          </p:cNvSpPr>
          <p:nvPr>
            <p:ph type="sldNum" sz="quarter" idx="12"/>
          </p:nvPr>
        </p:nvSpPr>
        <p:spPr/>
        <p:txBody>
          <a:bodyPr/>
          <a:lstStyle/>
          <a:p>
            <a:fld id="{867D4A06-35AE-BD4A-84A9-613A26F3D41D}" type="slidenum">
              <a:rPr lang="en-US" smtClean="0"/>
              <a:pPr/>
              <a:t>74</a:t>
            </a:fld>
            <a:endParaRPr lang="en-US"/>
          </a:p>
        </p:txBody>
      </p:sp>
    </p:spTree>
    <p:extLst>
      <p:ext uri="{BB962C8B-B14F-4D97-AF65-F5344CB8AC3E}">
        <p14:creationId xmlns:p14="http://schemas.microsoft.com/office/powerpoint/2010/main" val="10112332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8CF00C9-3443-214B-BA50-D0959ED6AA53}"/>
              </a:ext>
            </a:extLst>
          </p:cNvPr>
          <p:cNvSpPr>
            <a:spLocks noGrp="1"/>
          </p:cNvSpPr>
          <p:nvPr>
            <p:ph type="title"/>
          </p:nvPr>
        </p:nvSpPr>
        <p:spPr>
          <a:xfrm>
            <a:off x="628650" y="451381"/>
            <a:ext cx="7884414" cy="4066540"/>
          </a:xfrm>
        </p:spPr>
        <p:txBody>
          <a:bodyPr vert="horz" lIns="91440" tIns="45720" rIns="91440" bIns="45720" rtlCol="0" anchor="b">
            <a:normAutofit/>
          </a:bodyPr>
          <a:lstStyle/>
          <a:p>
            <a:pPr defTabSz="914400">
              <a:lnSpc>
                <a:spcPct val="90000"/>
              </a:lnSpc>
            </a:pPr>
            <a:r>
              <a:rPr lang="en-US" sz="5700" kern="1200" dirty="0">
                <a:solidFill>
                  <a:schemeClr val="tx1"/>
                </a:solidFill>
                <a:latin typeface="Chalkboard" panose="03050602040202020205" pitchFamily="66" charset="77"/>
              </a:rPr>
              <a:t>Queues and Streams</a:t>
            </a:r>
          </a:p>
        </p:txBody>
      </p:sp>
      <p:sp>
        <p:nvSpPr>
          <p:cNvPr id="6" name="Text Placeholder 5">
            <a:extLst>
              <a:ext uri="{FF2B5EF4-FFF2-40B4-BE49-F238E27FC236}">
                <a16:creationId xmlns:a16="http://schemas.microsoft.com/office/drawing/2014/main" id="{E816885C-6669-E541-8F12-21449565581A}"/>
              </a:ext>
            </a:extLst>
          </p:cNvPr>
          <p:cNvSpPr>
            <a:spLocks noGrp="1"/>
          </p:cNvSpPr>
          <p:nvPr>
            <p:ph type="body" idx="1"/>
          </p:nvPr>
        </p:nvSpPr>
        <p:spPr>
          <a:xfrm>
            <a:off x="628649" y="4983276"/>
            <a:ext cx="7884414" cy="1126680"/>
          </a:xfrm>
        </p:spPr>
        <p:txBody>
          <a:bodyPr vert="horz" lIns="91440" tIns="45720" rIns="91440" bIns="45720" rtlCol="0">
            <a:normAutofit/>
          </a:bodyPr>
          <a:lstStyle/>
          <a:p>
            <a:pPr defTabSz="914400">
              <a:lnSpc>
                <a:spcPct val="90000"/>
              </a:lnSpc>
              <a:spcBef>
                <a:spcPts val="1000"/>
              </a:spcBef>
            </a:pPr>
            <a:endParaRPr lang="en-US" sz="2400" kern="1200">
              <a:solidFill>
                <a:schemeClr val="tx1"/>
              </a:solidFill>
              <a:latin typeface="+mn-lt"/>
              <a:ea typeface="+mn-ea"/>
              <a:cs typeface="+mn-cs"/>
            </a:endParaRPr>
          </a:p>
        </p:txBody>
      </p:sp>
      <p:sp>
        <p:nvSpPr>
          <p:cNvPr id="13"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527F2FA-770C-4447-AD81-31EE9CB39873}"/>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75</a:t>
            </a:fld>
            <a:endParaRPr lang="en-US"/>
          </a:p>
        </p:txBody>
      </p:sp>
    </p:spTree>
    <p:extLst>
      <p:ext uri="{BB962C8B-B14F-4D97-AF65-F5344CB8AC3E}">
        <p14:creationId xmlns:p14="http://schemas.microsoft.com/office/powerpoint/2010/main" val="18750125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937B436-F96A-89E2-DC4B-39FFDC8ED1CE}"/>
              </a:ext>
            </a:extLst>
          </p:cNvPr>
          <p:cNvPicPr>
            <a:picLocks noChangeAspect="1"/>
          </p:cNvPicPr>
          <p:nvPr/>
        </p:nvPicPr>
        <p:blipFill>
          <a:blip r:embed="rId2"/>
          <a:stretch>
            <a:fillRect/>
          </a:stretch>
        </p:blipFill>
        <p:spPr>
          <a:xfrm>
            <a:off x="788565" y="675663"/>
            <a:ext cx="6275513" cy="4445784"/>
          </a:xfrm>
          <a:prstGeom prst="rect">
            <a:avLst/>
          </a:prstGeom>
        </p:spPr>
      </p:pic>
      <p:cxnSp>
        <p:nvCxnSpPr>
          <p:cNvPr id="5" name="Straight Arrow Connector 4">
            <a:extLst>
              <a:ext uri="{FF2B5EF4-FFF2-40B4-BE49-F238E27FC236}">
                <a16:creationId xmlns:a16="http://schemas.microsoft.com/office/drawing/2014/main" id="{31B2BF4A-6900-BC3E-D7E3-38A7F2B74251}"/>
              </a:ext>
            </a:extLst>
          </p:cNvPr>
          <p:cNvCxnSpPr>
            <a:cxnSpLocks/>
          </p:cNvCxnSpPr>
          <p:nvPr/>
        </p:nvCxnSpPr>
        <p:spPr>
          <a:xfrm flipH="1">
            <a:off x="6456734" y="2330991"/>
            <a:ext cx="299126" cy="1006813"/>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8" name="Graphic 7" descr="Lock">
            <a:extLst>
              <a:ext uri="{FF2B5EF4-FFF2-40B4-BE49-F238E27FC236}">
                <a16:creationId xmlns:a16="http://schemas.microsoft.com/office/drawing/2014/main" id="{B219ED19-C4D7-31DE-B3A4-14FF5E7094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13834" y="2834396"/>
            <a:ext cx="342900" cy="342900"/>
          </a:xfrm>
          <a:prstGeom prst="rect">
            <a:avLst/>
          </a:prstGeom>
        </p:spPr>
      </p:pic>
      <p:sp>
        <p:nvSpPr>
          <p:cNvPr id="9" name="TextBox 8">
            <a:extLst>
              <a:ext uri="{FF2B5EF4-FFF2-40B4-BE49-F238E27FC236}">
                <a16:creationId xmlns:a16="http://schemas.microsoft.com/office/drawing/2014/main" id="{C37FAB37-0238-7364-EBFF-179F5AFC54BA}"/>
              </a:ext>
            </a:extLst>
          </p:cNvPr>
          <p:cNvSpPr txBox="1"/>
          <p:nvPr/>
        </p:nvSpPr>
        <p:spPr>
          <a:xfrm>
            <a:off x="6992581" y="1915492"/>
            <a:ext cx="1975250"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First consumer </a:t>
            </a:r>
            <a:r>
              <a:rPr lang="en-US" sz="1200" i="1" dirty="0">
                <a:latin typeface="Chalkboard" panose="03050602040202020205" pitchFamily="66" charset="77"/>
              </a:rPr>
              <a:t>locks</a:t>
            </a:r>
            <a:r>
              <a:rPr lang="en-US" sz="1200" dirty="0">
                <a:latin typeface="Chalkboard" panose="03050602040202020205" pitchFamily="66" charset="77"/>
              </a:rPr>
              <a:t> the next message in the queue whilst it processes it.</a:t>
            </a:r>
          </a:p>
        </p:txBody>
      </p:sp>
      <p:sp>
        <p:nvSpPr>
          <p:cNvPr id="10" name="TextBox 9">
            <a:extLst>
              <a:ext uri="{FF2B5EF4-FFF2-40B4-BE49-F238E27FC236}">
                <a16:creationId xmlns:a16="http://schemas.microsoft.com/office/drawing/2014/main" id="{DA5686BA-F83E-D2A6-61CC-4D0917297767}"/>
              </a:ext>
            </a:extLst>
          </p:cNvPr>
          <p:cNvSpPr txBox="1"/>
          <p:nvPr/>
        </p:nvSpPr>
        <p:spPr>
          <a:xfrm>
            <a:off x="7136857" y="5078765"/>
            <a:ext cx="1686698"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Second consumer </a:t>
            </a:r>
            <a:r>
              <a:rPr lang="en-US" sz="1200" i="1" dirty="0">
                <a:latin typeface="Chalkboard" panose="03050602040202020205" pitchFamily="66" charset="77"/>
              </a:rPr>
              <a:t>reads past</a:t>
            </a:r>
            <a:r>
              <a:rPr lang="en-US" sz="1200" dirty="0">
                <a:latin typeface="Chalkboard" panose="03050602040202020205" pitchFamily="66" charset="77"/>
              </a:rPr>
              <a:t> any locked message in the queue.</a:t>
            </a:r>
          </a:p>
        </p:txBody>
      </p:sp>
      <p:cxnSp>
        <p:nvCxnSpPr>
          <p:cNvPr id="11" name="Straight Arrow Connector 10">
            <a:extLst>
              <a:ext uri="{FF2B5EF4-FFF2-40B4-BE49-F238E27FC236}">
                <a16:creationId xmlns:a16="http://schemas.microsoft.com/office/drawing/2014/main" id="{9519B843-EEDD-B933-D5AE-5132A1955AB3}"/>
              </a:ext>
            </a:extLst>
          </p:cNvPr>
          <p:cNvCxnSpPr>
            <a:cxnSpLocks/>
          </p:cNvCxnSpPr>
          <p:nvPr/>
        </p:nvCxnSpPr>
        <p:spPr>
          <a:xfrm flipH="1" flipV="1">
            <a:off x="6513884" y="3637455"/>
            <a:ext cx="241976" cy="889753"/>
          </a:xfrm>
          <a:prstGeom prst="straightConnector1">
            <a:avLst/>
          </a:prstGeom>
          <a:ln w="508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0E6B501-E054-3F01-FC09-D2246AFB4E3D}"/>
              </a:ext>
            </a:extLst>
          </p:cNvPr>
          <p:cNvCxnSpPr>
            <a:cxnSpLocks/>
          </p:cNvCxnSpPr>
          <p:nvPr/>
        </p:nvCxnSpPr>
        <p:spPr>
          <a:xfrm flipH="1" flipV="1">
            <a:off x="5736625" y="3757999"/>
            <a:ext cx="834410" cy="982362"/>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Lock">
            <a:extLst>
              <a:ext uri="{FF2B5EF4-FFF2-40B4-BE49-F238E27FC236}">
                <a16:creationId xmlns:a16="http://schemas.microsoft.com/office/drawing/2014/main" id="{69739AAC-5718-3B71-381F-E6D53DE12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11262" y="3765920"/>
            <a:ext cx="342900" cy="342900"/>
          </a:xfrm>
          <a:prstGeom prst="rect">
            <a:avLst/>
          </a:prstGeom>
        </p:spPr>
      </p:pic>
      <p:sp>
        <p:nvSpPr>
          <p:cNvPr id="18" name="TextBox 17">
            <a:extLst>
              <a:ext uri="{FF2B5EF4-FFF2-40B4-BE49-F238E27FC236}">
                <a16:creationId xmlns:a16="http://schemas.microsoft.com/office/drawing/2014/main" id="{7BEAE237-806E-75A0-C33E-DAF420D29342}"/>
              </a:ext>
            </a:extLst>
          </p:cNvPr>
          <p:cNvSpPr txBox="1"/>
          <p:nvPr/>
        </p:nvSpPr>
        <p:spPr>
          <a:xfrm>
            <a:off x="3254928" y="4225253"/>
            <a:ext cx="2565171" cy="461665"/>
          </a:xfrm>
          <a:prstGeom prst="rect">
            <a:avLst/>
          </a:prstGeom>
          <a:solidFill>
            <a:schemeClr val="bg1"/>
          </a:solidFill>
        </p:spPr>
        <p:txBody>
          <a:bodyPr wrap="square" rtlCol="0">
            <a:spAutoFit/>
          </a:bodyPr>
          <a:lstStyle/>
          <a:p>
            <a:r>
              <a:rPr lang="en-US" sz="1200" dirty="0">
                <a:latin typeface="Chalkboard" panose="03050602040202020205" pitchFamily="66" charset="77"/>
              </a:rPr>
              <a:t>Second consumer </a:t>
            </a:r>
            <a:r>
              <a:rPr lang="en-US" sz="1200" i="1" dirty="0">
                <a:latin typeface="Chalkboard" panose="03050602040202020205" pitchFamily="66" charset="77"/>
              </a:rPr>
              <a:t>locks </a:t>
            </a:r>
            <a:r>
              <a:rPr lang="en-US" sz="1200" dirty="0">
                <a:latin typeface="Chalkboard" panose="03050602040202020205" pitchFamily="66" charset="77"/>
              </a:rPr>
              <a:t>the next available message in the queue.</a:t>
            </a:r>
          </a:p>
        </p:txBody>
      </p:sp>
    </p:spTree>
    <p:extLst>
      <p:ext uri="{BB962C8B-B14F-4D97-AF65-F5344CB8AC3E}">
        <p14:creationId xmlns:p14="http://schemas.microsoft.com/office/powerpoint/2010/main" val="346070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500A7E-1C3E-5847-2AF0-856F2D1F9AF4}"/>
              </a:ext>
            </a:extLst>
          </p:cNvPr>
          <p:cNvPicPr>
            <a:picLocks noChangeAspect="1"/>
          </p:cNvPicPr>
          <p:nvPr/>
        </p:nvPicPr>
        <p:blipFill>
          <a:blip r:embed="rId2"/>
          <a:stretch>
            <a:fillRect/>
          </a:stretch>
        </p:blipFill>
        <p:spPr>
          <a:xfrm>
            <a:off x="1028700" y="1328634"/>
            <a:ext cx="6599808" cy="3912176"/>
          </a:xfrm>
          <a:prstGeom prst="rect">
            <a:avLst/>
          </a:prstGeom>
        </p:spPr>
      </p:pic>
      <p:cxnSp>
        <p:nvCxnSpPr>
          <p:cNvPr id="6" name="Straight Arrow Connector 5">
            <a:extLst>
              <a:ext uri="{FF2B5EF4-FFF2-40B4-BE49-F238E27FC236}">
                <a16:creationId xmlns:a16="http://schemas.microsoft.com/office/drawing/2014/main" id="{E4D5EE8B-8EFF-4EE0-435B-C8DE6CEB8E9B}"/>
              </a:ext>
            </a:extLst>
          </p:cNvPr>
          <p:cNvCxnSpPr>
            <a:cxnSpLocks/>
          </p:cNvCxnSpPr>
          <p:nvPr/>
        </p:nvCxnSpPr>
        <p:spPr>
          <a:xfrm flipH="1">
            <a:off x="6802394" y="2506878"/>
            <a:ext cx="389238" cy="648730"/>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descr="Lock">
            <a:extLst>
              <a:ext uri="{FF2B5EF4-FFF2-40B4-BE49-F238E27FC236}">
                <a16:creationId xmlns:a16="http://schemas.microsoft.com/office/drawing/2014/main" id="{1B1D6392-7BC3-9776-0103-AB66C3BC34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8677" y="2659792"/>
            <a:ext cx="342900" cy="342900"/>
          </a:xfrm>
          <a:prstGeom prst="rect">
            <a:avLst/>
          </a:prstGeom>
        </p:spPr>
      </p:pic>
      <p:pic>
        <p:nvPicPr>
          <p:cNvPr id="13" name="Graphic 12" descr="Unlock">
            <a:extLst>
              <a:ext uri="{FF2B5EF4-FFF2-40B4-BE49-F238E27FC236}">
                <a16:creationId xmlns:a16="http://schemas.microsoft.com/office/drawing/2014/main" id="{9F22C2F8-5854-A924-B9B3-96DA650272C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1633" y="2678328"/>
            <a:ext cx="342901" cy="342901"/>
          </a:xfrm>
          <a:prstGeom prst="rect">
            <a:avLst/>
          </a:prstGeom>
        </p:spPr>
      </p:pic>
      <p:sp>
        <p:nvSpPr>
          <p:cNvPr id="14" name="TextBox 13">
            <a:extLst>
              <a:ext uri="{FF2B5EF4-FFF2-40B4-BE49-F238E27FC236}">
                <a16:creationId xmlns:a16="http://schemas.microsoft.com/office/drawing/2014/main" id="{E98EDC0B-89F9-DD18-213E-DD499E84B5EB}"/>
              </a:ext>
            </a:extLst>
          </p:cNvPr>
          <p:cNvSpPr txBox="1"/>
          <p:nvPr/>
        </p:nvSpPr>
        <p:spPr>
          <a:xfrm>
            <a:off x="7727667" y="638542"/>
            <a:ext cx="1365422" cy="1938992"/>
          </a:xfrm>
          <a:prstGeom prst="rect">
            <a:avLst/>
          </a:prstGeom>
          <a:solidFill>
            <a:schemeClr val="bg1"/>
          </a:solidFill>
        </p:spPr>
        <p:txBody>
          <a:bodyPr wrap="square" rtlCol="0">
            <a:spAutoFit/>
          </a:bodyPr>
          <a:lstStyle/>
          <a:p>
            <a:r>
              <a:rPr lang="en-US" sz="1200" dirty="0">
                <a:latin typeface="Chalkboard" panose="03050602040202020205" pitchFamily="66" charset="77"/>
              </a:rPr>
              <a:t>When we are done processing, we unlock it.</a:t>
            </a:r>
          </a:p>
          <a:p>
            <a:endParaRPr lang="en-US" sz="1200" dirty="0">
              <a:latin typeface="Chalkboard" panose="03050602040202020205" pitchFamily="66" charset="77"/>
            </a:endParaRPr>
          </a:p>
          <a:p>
            <a:r>
              <a:rPr lang="en-US" sz="1200" dirty="0">
                <a:latin typeface="Chalkboard" panose="03050602040202020205" pitchFamily="66" charset="77"/>
              </a:rPr>
              <a:t> - Usually because we finish processing it</a:t>
            </a:r>
          </a:p>
          <a:p>
            <a:r>
              <a:rPr lang="en-US" sz="1200" dirty="0">
                <a:latin typeface="Chalkboard" panose="03050602040202020205" pitchFamily="66" charset="77"/>
              </a:rPr>
              <a:t>- May be because we fail.</a:t>
            </a:r>
          </a:p>
        </p:txBody>
      </p:sp>
      <p:sp>
        <p:nvSpPr>
          <p:cNvPr id="15" name="Rectangle 14">
            <a:extLst>
              <a:ext uri="{FF2B5EF4-FFF2-40B4-BE49-F238E27FC236}">
                <a16:creationId xmlns:a16="http://schemas.microsoft.com/office/drawing/2014/main" id="{F70673C4-E656-0EA8-12EE-46D839A34940}"/>
              </a:ext>
            </a:extLst>
          </p:cNvPr>
          <p:cNvSpPr/>
          <p:nvPr/>
        </p:nvSpPr>
        <p:spPr>
          <a:xfrm>
            <a:off x="6488219" y="3174142"/>
            <a:ext cx="661012" cy="39926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TextBox 15">
            <a:extLst>
              <a:ext uri="{FF2B5EF4-FFF2-40B4-BE49-F238E27FC236}">
                <a16:creationId xmlns:a16="http://schemas.microsoft.com/office/drawing/2014/main" id="{28E601C3-31B3-D854-5DE2-D9CCE609350B}"/>
              </a:ext>
            </a:extLst>
          </p:cNvPr>
          <p:cNvSpPr txBox="1"/>
          <p:nvPr/>
        </p:nvSpPr>
        <p:spPr>
          <a:xfrm>
            <a:off x="6959341" y="3836773"/>
            <a:ext cx="1924600"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If we succeed, then we delete the message from the queue, no one else can now process it.</a:t>
            </a:r>
          </a:p>
        </p:txBody>
      </p:sp>
      <p:cxnSp>
        <p:nvCxnSpPr>
          <p:cNvPr id="18" name="Straight Arrow Connector 17">
            <a:extLst>
              <a:ext uri="{FF2B5EF4-FFF2-40B4-BE49-F238E27FC236}">
                <a16:creationId xmlns:a16="http://schemas.microsoft.com/office/drawing/2014/main" id="{B11E3AFE-E2D0-32F2-A5AF-A74FB05DF242}"/>
              </a:ext>
            </a:extLst>
          </p:cNvPr>
          <p:cNvCxnSpPr>
            <a:cxnSpLocks/>
            <a:stCxn id="14" idx="1"/>
            <a:endCxn id="13" idx="3"/>
          </p:cNvCxnSpPr>
          <p:nvPr/>
        </p:nvCxnSpPr>
        <p:spPr>
          <a:xfrm flipH="1">
            <a:off x="7534534" y="1608038"/>
            <a:ext cx="193133" cy="12417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E13339B-2A59-8CFF-0E58-1A3C6AC8A39D}"/>
              </a:ext>
            </a:extLst>
          </p:cNvPr>
          <p:cNvCxnSpPr>
            <a:cxnSpLocks/>
            <a:stCxn id="16" idx="0"/>
          </p:cNvCxnSpPr>
          <p:nvPr/>
        </p:nvCxnSpPr>
        <p:spPr>
          <a:xfrm flipH="1" flipV="1">
            <a:off x="6871637" y="3573409"/>
            <a:ext cx="1050004" cy="2633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02889BE-B72F-66F9-B6FE-A1547F49A8FF}"/>
              </a:ext>
            </a:extLst>
          </p:cNvPr>
          <p:cNvSpPr txBox="1"/>
          <p:nvPr/>
        </p:nvSpPr>
        <p:spPr>
          <a:xfrm>
            <a:off x="3372200" y="1089204"/>
            <a:ext cx="2678469"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If we fail, then we may decide others could succeed later, so we let it become available to lock again, often with a delay.</a:t>
            </a:r>
          </a:p>
        </p:txBody>
      </p:sp>
      <p:pic>
        <p:nvPicPr>
          <p:cNvPr id="26" name="Graphic 25" descr="Eraser">
            <a:extLst>
              <a:ext uri="{FF2B5EF4-FFF2-40B4-BE49-F238E27FC236}">
                <a16:creationId xmlns:a16="http://schemas.microsoft.com/office/drawing/2014/main" id="{40EE923D-7B70-17ED-B6EE-333F499AF2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25471" y="3578759"/>
            <a:ext cx="353846" cy="353846"/>
          </a:xfrm>
          <a:prstGeom prst="rect">
            <a:avLst/>
          </a:prstGeom>
        </p:spPr>
      </p:pic>
      <p:cxnSp>
        <p:nvCxnSpPr>
          <p:cNvPr id="27" name="Straight Arrow Connector 26">
            <a:extLst>
              <a:ext uri="{FF2B5EF4-FFF2-40B4-BE49-F238E27FC236}">
                <a16:creationId xmlns:a16="http://schemas.microsoft.com/office/drawing/2014/main" id="{DEB1DB1E-69C7-AB12-BD0D-CAE554C29A52}"/>
              </a:ext>
            </a:extLst>
          </p:cNvPr>
          <p:cNvCxnSpPr>
            <a:cxnSpLocks/>
            <a:endCxn id="15" idx="0"/>
          </p:cNvCxnSpPr>
          <p:nvPr/>
        </p:nvCxnSpPr>
        <p:spPr>
          <a:xfrm>
            <a:off x="4711434" y="2300828"/>
            <a:ext cx="2107291" cy="8733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Graphic 30" descr="Stopwatch">
            <a:extLst>
              <a:ext uri="{FF2B5EF4-FFF2-40B4-BE49-F238E27FC236}">
                <a16:creationId xmlns:a16="http://schemas.microsoft.com/office/drawing/2014/main" id="{1F631531-F098-2912-88D2-A6ACB1BFF80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66553" y="2736438"/>
            <a:ext cx="396136" cy="396136"/>
          </a:xfrm>
          <a:prstGeom prst="rect">
            <a:avLst/>
          </a:prstGeom>
        </p:spPr>
      </p:pic>
      <p:cxnSp>
        <p:nvCxnSpPr>
          <p:cNvPr id="42" name="Straight Arrow Connector 41">
            <a:extLst>
              <a:ext uri="{FF2B5EF4-FFF2-40B4-BE49-F238E27FC236}">
                <a16:creationId xmlns:a16="http://schemas.microsoft.com/office/drawing/2014/main" id="{6AA65E73-B463-9452-DD27-DF3D3BA9D37E}"/>
              </a:ext>
            </a:extLst>
          </p:cNvPr>
          <p:cNvCxnSpPr/>
          <p:nvPr/>
        </p:nvCxnSpPr>
        <p:spPr>
          <a:xfrm flipH="1">
            <a:off x="3288083" y="3578760"/>
            <a:ext cx="2678470" cy="1261768"/>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C16A40F-4611-6D98-C908-C1DB953220D2}"/>
              </a:ext>
            </a:extLst>
          </p:cNvPr>
          <p:cNvSpPr txBox="1"/>
          <p:nvPr/>
        </p:nvSpPr>
        <p:spPr>
          <a:xfrm>
            <a:off x="506350" y="5374486"/>
            <a:ext cx="3535137"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After a certain number of re-queues we may move the message to a dead-letter channel, it turns out that no one action the request within in a reasonable time frame</a:t>
            </a:r>
          </a:p>
        </p:txBody>
      </p:sp>
      <p:sp>
        <p:nvSpPr>
          <p:cNvPr id="44" name="TextBox 43">
            <a:extLst>
              <a:ext uri="{FF2B5EF4-FFF2-40B4-BE49-F238E27FC236}">
                <a16:creationId xmlns:a16="http://schemas.microsoft.com/office/drawing/2014/main" id="{87DB1CFE-B572-47C5-4F11-E1DB9D87A6D5}"/>
              </a:ext>
            </a:extLst>
          </p:cNvPr>
          <p:cNvSpPr txBox="1"/>
          <p:nvPr/>
        </p:nvSpPr>
        <p:spPr>
          <a:xfrm>
            <a:off x="4338040" y="4720528"/>
            <a:ext cx="4655890" cy="1592744"/>
          </a:xfrm>
          <a:prstGeom prst="rect">
            <a:avLst/>
          </a:prstGeom>
          <a:solidFill>
            <a:schemeClr val="bg1"/>
          </a:solidFill>
          <a:ln>
            <a:solidFill>
              <a:schemeClr val="tx1"/>
            </a:solidFill>
          </a:ln>
        </p:spPr>
        <p:txBody>
          <a:bodyPr wrap="square" rtlCol="0">
            <a:spAutoFit/>
          </a:bodyPr>
          <a:lstStyle/>
          <a:p>
            <a:r>
              <a:rPr lang="en-US" sz="1400" b="1" dirty="0">
                <a:latin typeface="Chalkboard" panose="03050602040202020205" pitchFamily="66" charset="77"/>
              </a:rPr>
              <a:t>Queues contain Tasks</a:t>
            </a:r>
          </a:p>
          <a:p>
            <a:r>
              <a:rPr lang="en-US" sz="1200" dirty="0">
                <a:latin typeface="Chalkboard" panose="03050602040202020205" pitchFamily="66" charset="77"/>
              </a:rPr>
              <a:t>With queues we can think of the messages on a queue as tasks - they are a request for us to carry out an action. Once the action is done, we can delete the task.</a:t>
            </a:r>
          </a:p>
          <a:p>
            <a:endParaRPr lang="en-US" sz="1200" dirty="0">
              <a:latin typeface="Chalkboard" panose="03050602040202020205" pitchFamily="66" charset="77"/>
            </a:endParaRPr>
          </a:p>
          <a:p>
            <a:r>
              <a:rPr lang="en-US" sz="1200" dirty="0">
                <a:latin typeface="Chalkboard" panose="03050602040202020205" pitchFamily="66" charset="77"/>
              </a:rPr>
              <a:t>- We don't anyone else to action it, it's already been done.</a:t>
            </a:r>
          </a:p>
          <a:p>
            <a:r>
              <a:rPr lang="en-US" sz="1200" dirty="0">
                <a:latin typeface="Chalkboard" panose="03050602040202020205" pitchFamily="66" charset="77"/>
              </a:rPr>
              <a:t>- Someone receiving a done task will have to discard it.</a:t>
            </a:r>
          </a:p>
          <a:p>
            <a:r>
              <a:rPr lang="en-US" sz="1200" dirty="0">
                <a:latin typeface="Chalkboard" panose="03050602040202020205" pitchFamily="66" charset="77"/>
              </a:rPr>
              <a:t>- If we can't action it, someone else will need to action it.</a:t>
            </a:r>
          </a:p>
        </p:txBody>
      </p:sp>
    </p:spTree>
    <p:extLst>
      <p:ext uri="{BB962C8B-B14F-4D97-AF65-F5344CB8AC3E}">
        <p14:creationId xmlns:p14="http://schemas.microsoft.com/office/powerpoint/2010/main" val="174066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5"/>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5" grpId="1" animBg="1"/>
      <p:bldP spid="16" grpId="0" animBg="1"/>
      <p:bldP spid="24" grpId="0" animBg="1"/>
      <p:bldP spid="43" grpId="0" animBg="1"/>
      <p:bldP spid="4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DB9359-E923-4E0B-FD1E-C231F54D6850}"/>
              </a:ext>
            </a:extLst>
          </p:cNvPr>
          <p:cNvPicPr>
            <a:picLocks noChangeAspect="1"/>
          </p:cNvPicPr>
          <p:nvPr/>
        </p:nvPicPr>
        <p:blipFill>
          <a:blip r:embed="rId2"/>
          <a:stretch>
            <a:fillRect/>
          </a:stretch>
        </p:blipFill>
        <p:spPr>
          <a:xfrm>
            <a:off x="250292" y="830510"/>
            <a:ext cx="6696112" cy="3156739"/>
          </a:xfrm>
          <a:prstGeom prst="rect">
            <a:avLst/>
          </a:prstGeom>
        </p:spPr>
      </p:pic>
      <p:cxnSp>
        <p:nvCxnSpPr>
          <p:cNvPr id="6" name="Straight Arrow Connector 5">
            <a:extLst>
              <a:ext uri="{FF2B5EF4-FFF2-40B4-BE49-F238E27FC236}">
                <a16:creationId xmlns:a16="http://schemas.microsoft.com/office/drawing/2014/main" id="{C4B6E491-3B0A-0C0F-7172-E568BFA776B6}"/>
              </a:ext>
            </a:extLst>
          </p:cNvPr>
          <p:cNvCxnSpPr>
            <a:cxnSpLocks/>
          </p:cNvCxnSpPr>
          <p:nvPr/>
        </p:nvCxnSpPr>
        <p:spPr>
          <a:xfrm flipH="1">
            <a:off x="5867884" y="2823676"/>
            <a:ext cx="643524" cy="327460"/>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F8A3FFD-8537-8158-A342-1814BDCFC51F}"/>
              </a:ext>
            </a:extLst>
          </p:cNvPr>
          <p:cNvSpPr txBox="1"/>
          <p:nvPr/>
        </p:nvSpPr>
        <p:spPr>
          <a:xfrm>
            <a:off x="6895373" y="1432803"/>
            <a:ext cx="1913521" cy="646331"/>
          </a:xfrm>
          <a:prstGeom prst="rect">
            <a:avLst/>
          </a:prstGeom>
          <a:solidFill>
            <a:schemeClr val="bg1"/>
          </a:solidFill>
        </p:spPr>
        <p:txBody>
          <a:bodyPr wrap="square" rtlCol="0">
            <a:spAutoFit/>
          </a:bodyPr>
          <a:lstStyle/>
          <a:p>
            <a:r>
              <a:rPr lang="en-US" sz="1200" dirty="0">
                <a:latin typeface="Chalkboard" panose="03050602040202020205" pitchFamily="66" charset="77"/>
              </a:rPr>
              <a:t>First consumer </a:t>
            </a:r>
            <a:r>
              <a:rPr lang="en-US" sz="1200" i="1" dirty="0">
                <a:latin typeface="Chalkboard" panose="03050602040202020205" pitchFamily="66" charset="77"/>
              </a:rPr>
              <a:t>reads</a:t>
            </a:r>
            <a:r>
              <a:rPr lang="en-US" sz="1200" dirty="0">
                <a:latin typeface="Chalkboard" panose="03050602040202020205" pitchFamily="66" charset="77"/>
              </a:rPr>
              <a:t> the next message in the queue and processes it.</a:t>
            </a:r>
          </a:p>
        </p:txBody>
      </p:sp>
      <p:cxnSp>
        <p:nvCxnSpPr>
          <p:cNvPr id="10" name="Straight Arrow Connector 9">
            <a:extLst>
              <a:ext uri="{FF2B5EF4-FFF2-40B4-BE49-F238E27FC236}">
                <a16:creationId xmlns:a16="http://schemas.microsoft.com/office/drawing/2014/main" id="{8E958F30-6857-30E3-C897-6865E7E2FAEA}"/>
              </a:ext>
            </a:extLst>
          </p:cNvPr>
          <p:cNvCxnSpPr>
            <a:cxnSpLocks/>
          </p:cNvCxnSpPr>
          <p:nvPr/>
        </p:nvCxnSpPr>
        <p:spPr>
          <a:xfrm flipH="1" flipV="1">
            <a:off x="5816214" y="3423577"/>
            <a:ext cx="512001" cy="234863"/>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E92F126-682F-03AA-C594-B8E11FE438E7}"/>
              </a:ext>
            </a:extLst>
          </p:cNvPr>
          <p:cNvSpPr txBox="1"/>
          <p:nvPr/>
        </p:nvSpPr>
        <p:spPr>
          <a:xfrm>
            <a:off x="6129947" y="4583889"/>
            <a:ext cx="1686698"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Second consumer </a:t>
            </a:r>
            <a:r>
              <a:rPr lang="en-US" sz="1200" i="1" dirty="0">
                <a:latin typeface="Chalkboard" panose="03050602040202020205" pitchFamily="66" charset="77"/>
              </a:rPr>
              <a:t>reads</a:t>
            </a:r>
            <a:r>
              <a:rPr lang="en-US" sz="1200" dirty="0">
                <a:latin typeface="Chalkboard" panose="03050602040202020205" pitchFamily="66" charset="77"/>
              </a:rPr>
              <a:t> the next message in the queue and processes it.</a:t>
            </a:r>
          </a:p>
        </p:txBody>
      </p:sp>
      <p:cxnSp>
        <p:nvCxnSpPr>
          <p:cNvPr id="16" name="Straight Arrow Connector 15">
            <a:extLst>
              <a:ext uri="{FF2B5EF4-FFF2-40B4-BE49-F238E27FC236}">
                <a16:creationId xmlns:a16="http://schemas.microsoft.com/office/drawing/2014/main" id="{863F4F2E-3F2C-7141-6233-76625571CE0E}"/>
              </a:ext>
            </a:extLst>
          </p:cNvPr>
          <p:cNvCxnSpPr>
            <a:cxnSpLocks/>
          </p:cNvCxnSpPr>
          <p:nvPr/>
        </p:nvCxnSpPr>
        <p:spPr>
          <a:xfrm flipH="1" flipV="1">
            <a:off x="3728710" y="1940251"/>
            <a:ext cx="2685515" cy="5907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CD6D29D-6011-C85E-74B9-ABE8E63F7F96}"/>
              </a:ext>
            </a:extLst>
          </p:cNvPr>
          <p:cNvSpPr txBox="1"/>
          <p:nvPr/>
        </p:nvSpPr>
        <p:spPr>
          <a:xfrm>
            <a:off x="4597887" y="1034165"/>
            <a:ext cx="1913521" cy="646331"/>
          </a:xfrm>
          <a:prstGeom prst="rect">
            <a:avLst/>
          </a:prstGeom>
          <a:solidFill>
            <a:schemeClr val="bg1"/>
          </a:solidFill>
        </p:spPr>
        <p:txBody>
          <a:bodyPr wrap="square" rtlCol="0">
            <a:spAutoFit/>
          </a:bodyPr>
          <a:lstStyle/>
          <a:p>
            <a:r>
              <a:rPr lang="en-US" sz="1200" dirty="0">
                <a:latin typeface="Chalkboard" panose="03050602040202020205" pitchFamily="66" charset="77"/>
              </a:rPr>
              <a:t>First consumer </a:t>
            </a:r>
            <a:r>
              <a:rPr lang="en-US" sz="1200" i="1" dirty="0">
                <a:latin typeface="Chalkboard" panose="03050602040202020205" pitchFamily="66" charset="77"/>
              </a:rPr>
              <a:t>stores an offset</a:t>
            </a:r>
            <a:r>
              <a:rPr lang="en-US" sz="1200" dirty="0">
                <a:latin typeface="Chalkboard" panose="03050602040202020205" pitchFamily="66" charset="77"/>
              </a:rPr>
              <a:t> to mark how far it has read</a:t>
            </a:r>
          </a:p>
        </p:txBody>
      </p:sp>
      <p:cxnSp>
        <p:nvCxnSpPr>
          <p:cNvPr id="19" name="Straight Arrow Connector 18">
            <a:extLst>
              <a:ext uri="{FF2B5EF4-FFF2-40B4-BE49-F238E27FC236}">
                <a16:creationId xmlns:a16="http://schemas.microsoft.com/office/drawing/2014/main" id="{B16A4CE4-4CE8-B5E9-FFB6-D8F5B523713F}"/>
              </a:ext>
            </a:extLst>
          </p:cNvPr>
          <p:cNvCxnSpPr>
            <a:cxnSpLocks/>
          </p:cNvCxnSpPr>
          <p:nvPr/>
        </p:nvCxnSpPr>
        <p:spPr>
          <a:xfrm flipH="1">
            <a:off x="5173153" y="2779018"/>
            <a:ext cx="1291283" cy="412326"/>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6C71BE4-0B52-8ACF-168A-27CB1BAE5458}"/>
              </a:ext>
            </a:extLst>
          </p:cNvPr>
          <p:cNvSpPr txBox="1"/>
          <p:nvPr/>
        </p:nvSpPr>
        <p:spPr>
          <a:xfrm>
            <a:off x="7149538" y="2265928"/>
            <a:ext cx="1686698"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First consumer </a:t>
            </a:r>
            <a:r>
              <a:rPr lang="en-US" sz="1200" i="1" dirty="0">
                <a:latin typeface="Chalkboard" panose="03050602040202020205" pitchFamily="66" charset="77"/>
              </a:rPr>
              <a:t>reads</a:t>
            </a:r>
            <a:r>
              <a:rPr lang="en-US" sz="1200" dirty="0">
                <a:latin typeface="Chalkboard" panose="03050602040202020205" pitchFamily="66" charset="77"/>
              </a:rPr>
              <a:t> the next message in the queue and processes it.</a:t>
            </a:r>
          </a:p>
        </p:txBody>
      </p:sp>
      <p:cxnSp>
        <p:nvCxnSpPr>
          <p:cNvPr id="23" name="Straight Arrow Connector 22">
            <a:extLst>
              <a:ext uri="{FF2B5EF4-FFF2-40B4-BE49-F238E27FC236}">
                <a16:creationId xmlns:a16="http://schemas.microsoft.com/office/drawing/2014/main" id="{09A9EC20-0BD6-83F9-33F6-10F5191A9079}"/>
              </a:ext>
            </a:extLst>
          </p:cNvPr>
          <p:cNvCxnSpPr>
            <a:cxnSpLocks/>
            <a:stCxn id="24" idx="0"/>
          </p:cNvCxnSpPr>
          <p:nvPr/>
        </p:nvCxnSpPr>
        <p:spPr>
          <a:xfrm flipH="1" flipV="1">
            <a:off x="3623239" y="2078932"/>
            <a:ext cx="1707237" cy="193315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7BBEEBC-9CD7-0B04-5F37-6641E2891B36}"/>
              </a:ext>
            </a:extLst>
          </p:cNvPr>
          <p:cNvSpPr txBox="1"/>
          <p:nvPr/>
        </p:nvSpPr>
        <p:spPr>
          <a:xfrm>
            <a:off x="4487127" y="4012083"/>
            <a:ext cx="1686698"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Second consumer </a:t>
            </a:r>
            <a:r>
              <a:rPr lang="en-US" sz="1200" i="1" dirty="0">
                <a:latin typeface="Chalkboard" panose="03050602040202020205" pitchFamily="66" charset="77"/>
              </a:rPr>
              <a:t>stores an offset</a:t>
            </a:r>
            <a:r>
              <a:rPr lang="en-US" sz="1200" dirty="0">
                <a:latin typeface="Chalkboard" panose="03050602040202020205" pitchFamily="66" charset="77"/>
              </a:rPr>
              <a:t> to mark how far it has read</a:t>
            </a:r>
          </a:p>
        </p:txBody>
      </p:sp>
      <p:sp>
        <p:nvSpPr>
          <p:cNvPr id="26" name="TextBox 25">
            <a:extLst>
              <a:ext uri="{FF2B5EF4-FFF2-40B4-BE49-F238E27FC236}">
                <a16:creationId xmlns:a16="http://schemas.microsoft.com/office/drawing/2014/main" id="{F093E94C-2A56-3118-CF14-092EB1B6A981}"/>
              </a:ext>
            </a:extLst>
          </p:cNvPr>
          <p:cNvSpPr txBox="1"/>
          <p:nvPr/>
        </p:nvSpPr>
        <p:spPr>
          <a:xfrm>
            <a:off x="7149538" y="3431665"/>
            <a:ext cx="1760880" cy="276999"/>
          </a:xfrm>
          <a:prstGeom prst="rect">
            <a:avLst/>
          </a:prstGeom>
          <a:solidFill>
            <a:schemeClr val="bg1"/>
          </a:solidFill>
        </p:spPr>
        <p:txBody>
          <a:bodyPr wrap="square" rtlCol="0">
            <a:spAutoFit/>
          </a:bodyPr>
          <a:lstStyle/>
          <a:p>
            <a:r>
              <a:rPr lang="en-US" sz="1200" dirty="0">
                <a:latin typeface="Chalkboard" panose="03050602040202020205" pitchFamily="66" charset="77"/>
              </a:rPr>
              <a:t>If a consumer </a:t>
            </a:r>
            <a:r>
              <a:rPr lang="en-US" sz="1200" i="1" dirty="0">
                <a:latin typeface="Chalkboard" panose="03050602040202020205" pitchFamily="66" charset="77"/>
              </a:rPr>
              <a:t>restarts</a:t>
            </a:r>
            <a:endParaRPr lang="en-US" sz="1200" dirty="0">
              <a:latin typeface="Chalkboard" panose="03050602040202020205" pitchFamily="66" charset="77"/>
            </a:endParaRPr>
          </a:p>
        </p:txBody>
      </p:sp>
      <p:cxnSp>
        <p:nvCxnSpPr>
          <p:cNvPr id="27" name="Straight Arrow Connector 26">
            <a:extLst>
              <a:ext uri="{FF2B5EF4-FFF2-40B4-BE49-F238E27FC236}">
                <a16:creationId xmlns:a16="http://schemas.microsoft.com/office/drawing/2014/main" id="{D28C3270-E4F5-AC53-EF6B-7DE794C26C8D}"/>
              </a:ext>
            </a:extLst>
          </p:cNvPr>
          <p:cNvCxnSpPr>
            <a:cxnSpLocks/>
            <a:stCxn id="26" idx="1"/>
          </p:cNvCxnSpPr>
          <p:nvPr/>
        </p:nvCxnSpPr>
        <p:spPr>
          <a:xfrm flipH="1">
            <a:off x="6973296" y="3570165"/>
            <a:ext cx="176242" cy="1154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1BC05D9-4A43-E3E7-AC17-5BC1E4DE0A60}"/>
              </a:ext>
            </a:extLst>
          </p:cNvPr>
          <p:cNvCxnSpPr>
            <a:cxnSpLocks/>
            <a:stCxn id="34" idx="1"/>
          </p:cNvCxnSpPr>
          <p:nvPr/>
        </p:nvCxnSpPr>
        <p:spPr>
          <a:xfrm flipH="1" flipV="1">
            <a:off x="4325470" y="2265928"/>
            <a:ext cx="2897777" cy="17307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3899DC3-ACBC-3E55-6E7F-1CC2532A539D}"/>
              </a:ext>
            </a:extLst>
          </p:cNvPr>
          <p:cNvSpPr txBox="1"/>
          <p:nvPr/>
        </p:nvSpPr>
        <p:spPr>
          <a:xfrm>
            <a:off x="7223247" y="3673483"/>
            <a:ext cx="1760880" cy="646331"/>
          </a:xfrm>
          <a:prstGeom prst="rect">
            <a:avLst/>
          </a:prstGeom>
          <a:solidFill>
            <a:schemeClr val="bg1"/>
          </a:solidFill>
        </p:spPr>
        <p:txBody>
          <a:bodyPr wrap="square" rtlCol="0">
            <a:spAutoFit/>
          </a:bodyPr>
          <a:lstStyle/>
          <a:p>
            <a:r>
              <a:rPr lang="en-US" sz="1200" dirty="0">
                <a:latin typeface="Chalkboard" panose="03050602040202020205" pitchFamily="66" charset="77"/>
              </a:rPr>
              <a:t>It reads the store to determine the last message it processed</a:t>
            </a:r>
          </a:p>
        </p:txBody>
      </p:sp>
      <p:sp>
        <p:nvSpPr>
          <p:cNvPr id="2" name="TextBox 1">
            <a:extLst>
              <a:ext uri="{FF2B5EF4-FFF2-40B4-BE49-F238E27FC236}">
                <a16:creationId xmlns:a16="http://schemas.microsoft.com/office/drawing/2014/main" id="{2FDF1627-780B-1877-1086-9C849E290B74}"/>
              </a:ext>
            </a:extLst>
          </p:cNvPr>
          <p:cNvSpPr txBox="1"/>
          <p:nvPr/>
        </p:nvSpPr>
        <p:spPr>
          <a:xfrm>
            <a:off x="242791" y="4219482"/>
            <a:ext cx="4131364" cy="1962076"/>
          </a:xfrm>
          <a:prstGeom prst="rect">
            <a:avLst/>
          </a:prstGeom>
          <a:solidFill>
            <a:schemeClr val="bg1"/>
          </a:solidFill>
          <a:ln>
            <a:solidFill>
              <a:schemeClr val="tx1"/>
            </a:solidFill>
          </a:ln>
        </p:spPr>
        <p:txBody>
          <a:bodyPr wrap="square" rtlCol="0">
            <a:spAutoFit/>
          </a:bodyPr>
          <a:lstStyle/>
          <a:p>
            <a:r>
              <a:rPr lang="en-US" sz="1400" b="1" dirty="0">
                <a:latin typeface="Chalkboard" panose="03050602040202020205" pitchFamily="66" charset="77"/>
              </a:rPr>
              <a:t>Streams contain Facts</a:t>
            </a:r>
          </a:p>
          <a:p>
            <a:r>
              <a:rPr lang="en-US" sz="1200" dirty="0">
                <a:latin typeface="Chalkboard" panose="03050602040202020205" pitchFamily="66" charset="77"/>
              </a:rPr>
              <a:t>With streams we can think of the records on the stream as facts - they are records that indicate there has been a change in state. </a:t>
            </a:r>
          </a:p>
          <a:p>
            <a:endParaRPr lang="en-US" sz="1200" dirty="0">
              <a:latin typeface="Chalkboard" panose="03050602040202020205" pitchFamily="66" charset="77"/>
            </a:endParaRPr>
          </a:p>
          <a:p>
            <a:pPr marL="128588" indent="-128588">
              <a:buFontTx/>
              <a:buChar char="-"/>
            </a:pPr>
            <a:r>
              <a:rPr lang="en-US" sz="1200" dirty="0">
                <a:latin typeface="Chalkboard" panose="03050602040202020205" pitchFamily="66" charset="77"/>
              </a:rPr>
              <a:t>We can view facts as an ‘inverse database’ they represent how current stat is arrived at</a:t>
            </a:r>
          </a:p>
          <a:p>
            <a:pPr marL="128588" indent="-128588">
              <a:buFontTx/>
              <a:buChar char="-"/>
            </a:pPr>
            <a:r>
              <a:rPr lang="en-US" sz="1200" dirty="0">
                <a:latin typeface="Chalkboard" panose="03050602040202020205" pitchFamily="66" charset="77"/>
              </a:rPr>
              <a:t>We can navigate offsets to calculate a position at a ‘point in time’</a:t>
            </a:r>
          </a:p>
          <a:p>
            <a:pPr marL="128588" indent="-128588">
              <a:buFontTx/>
              <a:buChar char="-"/>
            </a:pPr>
            <a:r>
              <a:rPr lang="en-US" sz="1200" dirty="0">
                <a:latin typeface="Chalkboard" panose="03050602040202020205" pitchFamily="66" charset="77"/>
              </a:rPr>
              <a:t> We don’t consume facts by reading them, they persist</a:t>
            </a:r>
          </a:p>
        </p:txBody>
      </p:sp>
    </p:spTree>
    <p:extLst>
      <p:ext uri="{BB962C8B-B14F-4D97-AF65-F5344CB8AC3E}">
        <p14:creationId xmlns:p14="http://schemas.microsoft.com/office/powerpoint/2010/main" val="7324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8" grpId="0" animBg="1"/>
      <p:bldP spid="20" grpId="0" animBg="1"/>
      <p:bldP spid="24" grpId="0" animBg="1"/>
      <p:bldP spid="26" grpId="0" animBg="1"/>
      <p:bldP spid="26" grpId="1" animBg="1"/>
      <p:bldP spid="34" grpId="0" animBg="1"/>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0419D2E-0B25-E35C-726F-38F441B4E230}"/>
              </a:ext>
            </a:extLst>
          </p:cNvPr>
          <p:cNvSpPr txBox="1"/>
          <p:nvPr/>
        </p:nvSpPr>
        <p:spPr>
          <a:xfrm>
            <a:off x="628649" y="1093788"/>
            <a:ext cx="7879841" cy="2967208"/>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7000" b="1" kern="1200" dirty="0">
                <a:solidFill>
                  <a:schemeClr val="tx1"/>
                </a:solidFill>
                <a:latin typeface="Chalkboard" panose="03050602040202020205" pitchFamily="66" charset="77"/>
                <a:ea typeface="+mj-ea"/>
                <a:cs typeface="+mj-cs"/>
              </a:rPr>
              <a:t>Scaling Queues and Streams</a:t>
            </a:r>
          </a:p>
        </p:txBody>
      </p:sp>
      <p:sp>
        <p:nvSpPr>
          <p:cNvPr id="15" name="Rectangle 14">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93978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937B436-F96A-89E2-DC4B-39FFDC8ED1CE}"/>
              </a:ext>
            </a:extLst>
          </p:cNvPr>
          <p:cNvPicPr>
            <a:picLocks noChangeAspect="1"/>
          </p:cNvPicPr>
          <p:nvPr/>
        </p:nvPicPr>
        <p:blipFill>
          <a:blip r:embed="rId2"/>
          <a:stretch>
            <a:fillRect/>
          </a:stretch>
        </p:blipFill>
        <p:spPr>
          <a:xfrm>
            <a:off x="873432" y="830510"/>
            <a:ext cx="6199036" cy="4391605"/>
          </a:xfrm>
          <a:prstGeom prst="rect">
            <a:avLst/>
          </a:prstGeom>
        </p:spPr>
      </p:pic>
      <p:cxnSp>
        <p:nvCxnSpPr>
          <p:cNvPr id="5" name="Straight Arrow Connector 4">
            <a:extLst>
              <a:ext uri="{FF2B5EF4-FFF2-40B4-BE49-F238E27FC236}">
                <a16:creationId xmlns:a16="http://schemas.microsoft.com/office/drawing/2014/main" id="{31B2BF4A-6900-BC3E-D7E3-38A7F2B74251}"/>
              </a:ext>
            </a:extLst>
          </p:cNvPr>
          <p:cNvCxnSpPr>
            <a:cxnSpLocks/>
          </p:cNvCxnSpPr>
          <p:nvPr/>
        </p:nvCxnSpPr>
        <p:spPr>
          <a:xfrm flipH="1">
            <a:off x="6456734" y="2055303"/>
            <a:ext cx="299126" cy="1282501"/>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8" name="Graphic 7" descr="Lock">
            <a:extLst>
              <a:ext uri="{FF2B5EF4-FFF2-40B4-BE49-F238E27FC236}">
                <a16:creationId xmlns:a16="http://schemas.microsoft.com/office/drawing/2014/main" id="{B219ED19-C4D7-31DE-B3A4-14FF5E7094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13834" y="2834396"/>
            <a:ext cx="342900" cy="342900"/>
          </a:xfrm>
          <a:prstGeom prst="rect">
            <a:avLst/>
          </a:prstGeom>
        </p:spPr>
      </p:pic>
      <p:sp>
        <p:nvSpPr>
          <p:cNvPr id="9" name="TextBox 8">
            <a:extLst>
              <a:ext uri="{FF2B5EF4-FFF2-40B4-BE49-F238E27FC236}">
                <a16:creationId xmlns:a16="http://schemas.microsoft.com/office/drawing/2014/main" id="{C37FAB37-0238-7364-EBFF-179F5AFC54BA}"/>
              </a:ext>
            </a:extLst>
          </p:cNvPr>
          <p:cNvSpPr txBox="1"/>
          <p:nvPr/>
        </p:nvSpPr>
        <p:spPr>
          <a:xfrm>
            <a:off x="6938343" y="2281054"/>
            <a:ext cx="1975250"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First consumer </a:t>
            </a:r>
            <a:r>
              <a:rPr lang="en-US" sz="1200" i="1" dirty="0">
                <a:latin typeface="Chalkboard" panose="03050602040202020205" pitchFamily="66" charset="77"/>
              </a:rPr>
              <a:t>locks</a:t>
            </a:r>
            <a:r>
              <a:rPr lang="en-US" sz="1200" dirty="0">
                <a:latin typeface="Chalkboard" panose="03050602040202020205" pitchFamily="66" charset="77"/>
              </a:rPr>
              <a:t> the next message in the queue whilst it processes it.</a:t>
            </a:r>
          </a:p>
        </p:txBody>
      </p:sp>
      <p:sp>
        <p:nvSpPr>
          <p:cNvPr id="10" name="TextBox 9">
            <a:extLst>
              <a:ext uri="{FF2B5EF4-FFF2-40B4-BE49-F238E27FC236}">
                <a16:creationId xmlns:a16="http://schemas.microsoft.com/office/drawing/2014/main" id="{DA5686BA-F83E-D2A6-61CC-4D0917297767}"/>
              </a:ext>
            </a:extLst>
          </p:cNvPr>
          <p:cNvSpPr txBox="1"/>
          <p:nvPr/>
        </p:nvSpPr>
        <p:spPr>
          <a:xfrm>
            <a:off x="6896398" y="3937370"/>
            <a:ext cx="2059140" cy="646331"/>
          </a:xfrm>
          <a:prstGeom prst="rect">
            <a:avLst/>
          </a:prstGeom>
          <a:solidFill>
            <a:schemeClr val="bg1"/>
          </a:solidFill>
        </p:spPr>
        <p:txBody>
          <a:bodyPr wrap="square" rtlCol="0">
            <a:spAutoFit/>
          </a:bodyPr>
          <a:lstStyle/>
          <a:p>
            <a:r>
              <a:rPr lang="en-US" sz="1200" dirty="0">
                <a:latin typeface="Chalkboard" panose="03050602040202020205" pitchFamily="66" charset="77"/>
              </a:rPr>
              <a:t>Second consumer </a:t>
            </a:r>
            <a:r>
              <a:rPr lang="en-US" sz="1200" i="1" dirty="0">
                <a:latin typeface="Chalkboard" panose="03050602040202020205" pitchFamily="66" charset="77"/>
              </a:rPr>
              <a:t>reads past</a:t>
            </a:r>
            <a:r>
              <a:rPr lang="en-US" sz="1200" dirty="0">
                <a:latin typeface="Chalkboard" panose="03050602040202020205" pitchFamily="66" charset="77"/>
              </a:rPr>
              <a:t> any locked message in the queue.</a:t>
            </a:r>
          </a:p>
        </p:txBody>
      </p:sp>
      <p:cxnSp>
        <p:nvCxnSpPr>
          <p:cNvPr id="11" name="Straight Arrow Connector 10">
            <a:extLst>
              <a:ext uri="{FF2B5EF4-FFF2-40B4-BE49-F238E27FC236}">
                <a16:creationId xmlns:a16="http://schemas.microsoft.com/office/drawing/2014/main" id="{9519B843-EEDD-B933-D5AE-5132A1955AB3}"/>
              </a:ext>
            </a:extLst>
          </p:cNvPr>
          <p:cNvCxnSpPr>
            <a:cxnSpLocks/>
          </p:cNvCxnSpPr>
          <p:nvPr/>
        </p:nvCxnSpPr>
        <p:spPr>
          <a:xfrm flipH="1" flipV="1">
            <a:off x="6513884" y="3637455"/>
            <a:ext cx="241976" cy="889753"/>
          </a:xfrm>
          <a:prstGeom prst="straightConnector1">
            <a:avLst/>
          </a:prstGeom>
          <a:ln w="508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0E6B501-E054-3F01-FC09-D2246AFB4E3D}"/>
              </a:ext>
            </a:extLst>
          </p:cNvPr>
          <p:cNvCxnSpPr>
            <a:cxnSpLocks/>
          </p:cNvCxnSpPr>
          <p:nvPr/>
        </p:nvCxnSpPr>
        <p:spPr>
          <a:xfrm flipH="1" flipV="1">
            <a:off x="5736625" y="3757999"/>
            <a:ext cx="834410" cy="982362"/>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Lock">
            <a:extLst>
              <a:ext uri="{FF2B5EF4-FFF2-40B4-BE49-F238E27FC236}">
                <a16:creationId xmlns:a16="http://schemas.microsoft.com/office/drawing/2014/main" id="{69739AAC-5718-3B71-381F-E6D53DE12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11262" y="3765920"/>
            <a:ext cx="342900" cy="342900"/>
          </a:xfrm>
          <a:prstGeom prst="rect">
            <a:avLst/>
          </a:prstGeom>
        </p:spPr>
      </p:pic>
      <p:sp>
        <p:nvSpPr>
          <p:cNvPr id="18" name="TextBox 17">
            <a:extLst>
              <a:ext uri="{FF2B5EF4-FFF2-40B4-BE49-F238E27FC236}">
                <a16:creationId xmlns:a16="http://schemas.microsoft.com/office/drawing/2014/main" id="{7BEAE237-806E-75A0-C33E-DAF420D29342}"/>
              </a:ext>
            </a:extLst>
          </p:cNvPr>
          <p:cNvSpPr txBox="1"/>
          <p:nvPr/>
        </p:nvSpPr>
        <p:spPr>
          <a:xfrm>
            <a:off x="3320859" y="4082331"/>
            <a:ext cx="2412723" cy="646331"/>
          </a:xfrm>
          <a:prstGeom prst="rect">
            <a:avLst/>
          </a:prstGeom>
          <a:solidFill>
            <a:schemeClr val="bg1"/>
          </a:solidFill>
        </p:spPr>
        <p:txBody>
          <a:bodyPr wrap="square" rtlCol="0">
            <a:spAutoFit/>
          </a:bodyPr>
          <a:lstStyle/>
          <a:p>
            <a:r>
              <a:rPr lang="en-US" sz="1200" dirty="0">
                <a:latin typeface="Chalkboard" panose="03050602040202020205" pitchFamily="66" charset="77"/>
              </a:rPr>
              <a:t>Second consumer </a:t>
            </a:r>
            <a:r>
              <a:rPr lang="en-US" sz="1200" i="1" dirty="0">
                <a:latin typeface="Chalkboard" panose="03050602040202020205" pitchFamily="66" charset="77"/>
              </a:rPr>
              <a:t>locks </a:t>
            </a:r>
            <a:r>
              <a:rPr lang="en-US" sz="1200" dirty="0">
                <a:latin typeface="Chalkboard" panose="03050602040202020205" pitchFamily="66" charset="77"/>
              </a:rPr>
              <a:t>the next available message in the queue.</a:t>
            </a:r>
          </a:p>
        </p:txBody>
      </p:sp>
      <p:sp>
        <p:nvSpPr>
          <p:cNvPr id="2" name="TextBox 1">
            <a:extLst>
              <a:ext uri="{FF2B5EF4-FFF2-40B4-BE49-F238E27FC236}">
                <a16:creationId xmlns:a16="http://schemas.microsoft.com/office/drawing/2014/main" id="{6B1F99B7-8A38-F450-5F42-642301287E1C}"/>
              </a:ext>
            </a:extLst>
          </p:cNvPr>
          <p:cNvSpPr txBox="1"/>
          <p:nvPr/>
        </p:nvSpPr>
        <p:spPr>
          <a:xfrm>
            <a:off x="349906" y="4812427"/>
            <a:ext cx="4867735" cy="492443"/>
          </a:xfrm>
          <a:prstGeom prst="rect">
            <a:avLst/>
          </a:prstGeom>
          <a:solidFill>
            <a:schemeClr val="bg1"/>
          </a:solidFill>
          <a:ln>
            <a:solidFill>
              <a:schemeClr val="tx1"/>
            </a:solidFill>
          </a:ln>
        </p:spPr>
        <p:txBody>
          <a:bodyPr wrap="square" rtlCol="0">
            <a:spAutoFit/>
          </a:bodyPr>
          <a:lstStyle/>
          <a:p>
            <a:r>
              <a:rPr lang="en-US" sz="1400" b="1" dirty="0">
                <a:latin typeface="Chalkboard" panose="03050602040202020205" pitchFamily="66" charset="77"/>
              </a:rPr>
              <a:t>Competing Consumers</a:t>
            </a:r>
          </a:p>
          <a:p>
            <a:r>
              <a:rPr lang="en-US" sz="1200" dirty="0">
                <a:latin typeface="Chalkboard" panose="03050602040202020205" pitchFamily="66" charset="77"/>
              </a:rPr>
              <a:t>We scale consumption of a queue by adding more consumers</a:t>
            </a:r>
          </a:p>
        </p:txBody>
      </p:sp>
    </p:spTree>
    <p:extLst>
      <p:ext uri="{BB962C8B-B14F-4D97-AF65-F5344CB8AC3E}">
        <p14:creationId xmlns:p14="http://schemas.microsoft.com/office/powerpoint/2010/main" val="40338061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1958BD-D969-2556-65C4-55CCB9CF45C8}"/>
              </a:ext>
            </a:extLst>
          </p:cNvPr>
          <p:cNvPicPr>
            <a:picLocks noChangeAspect="1"/>
          </p:cNvPicPr>
          <p:nvPr/>
        </p:nvPicPr>
        <p:blipFill>
          <a:blip r:embed="rId2"/>
          <a:stretch>
            <a:fillRect/>
          </a:stretch>
        </p:blipFill>
        <p:spPr>
          <a:xfrm>
            <a:off x="422173" y="1266737"/>
            <a:ext cx="6626327" cy="2943619"/>
          </a:xfrm>
          <a:prstGeom prst="rect">
            <a:avLst/>
          </a:prstGeom>
        </p:spPr>
      </p:pic>
      <p:cxnSp>
        <p:nvCxnSpPr>
          <p:cNvPr id="4" name="Straight Arrow Connector 3">
            <a:extLst>
              <a:ext uri="{FF2B5EF4-FFF2-40B4-BE49-F238E27FC236}">
                <a16:creationId xmlns:a16="http://schemas.microsoft.com/office/drawing/2014/main" id="{E129079E-8F20-EAB9-BB28-6EFF906C5F42}"/>
              </a:ext>
            </a:extLst>
          </p:cNvPr>
          <p:cNvCxnSpPr>
            <a:cxnSpLocks/>
          </p:cNvCxnSpPr>
          <p:nvPr/>
        </p:nvCxnSpPr>
        <p:spPr>
          <a:xfrm flipH="1">
            <a:off x="5876273" y="3110218"/>
            <a:ext cx="596552" cy="166753"/>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9433CB6E-C3E6-7455-378E-7F33CB6B0A75}"/>
              </a:ext>
            </a:extLst>
          </p:cNvPr>
          <p:cNvCxnSpPr>
            <a:cxnSpLocks/>
          </p:cNvCxnSpPr>
          <p:nvPr/>
        </p:nvCxnSpPr>
        <p:spPr>
          <a:xfrm flipH="1" flipV="1">
            <a:off x="6092347" y="3868826"/>
            <a:ext cx="544882" cy="32881"/>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48F4E4E-A6AA-0825-0428-5991FA4DD253}"/>
              </a:ext>
            </a:extLst>
          </p:cNvPr>
          <p:cNvSpPr txBox="1"/>
          <p:nvPr/>
        </p:nvSpPr>
        <p:spPr>
          <a:xfrm>
            <a:off x="7313201" y="3329815"/>
            <a:ext cx="1686698" cy="1200329"/>
          </a:xfrm>
          <a:prstGeom prst="rect">
            <a:avLst/>
          </a:prstGeom>
          <a:solidFill>
            <a:schemeClr val="bg1"/>
          </a:solidFill>
        </p:spPr>
        <p:txBody>
          <a:bodyPr wrap="square" rtlCol="0">
            <a:spAutoFit/>
          </a:bodyPr>
          <a:lstStyle/>
          <a:p>
            <a:r>
              <a:rPr lang="en-US" sz="1200" dirty="0">
                <a:latin typeface="Chalkboard" panose="03050602040202020205" pitchFamily="66" charset="77"/>
              </a:rPr>
              <a:t>To scale out we must divide the stream up. We partition the stream to allow multiple consumers to read it.</a:t>
            </a:r>
          </a:p>
        </p:txBody>
      </p:sp>
      <p:cxnSp>
        <p:nvCxnSpPr>
          <p:cNvPr id="11" name="Straight Arrow Connector 10">
            <a:extLst>
              <a:ext uri="{FF2B5EF4-FFF2-40B4-BE49-F238E27FC236}">
                <a16:creationId xmlns:a16="http://schemas.microsoft.com/office/drawing/2014/main" id="{BDDE306E-C802-96D4-598F-26F121362EC8}"/>
              </a:ext>
            </a:extLst>
          </p:cNvPr>
          <p:cNvCxnSpPr>
            <a:cxnSpLocks/>
          </p:cNvCxnSpPr>
          <p:nvPr/>
        </p:nvCxnSpPr>
        <p:spPr>
          <a:xfrm flipH="1" flipV="1">
            <a:off x="5430033" y="2511318"/>
            <a:ext cx="1334022" cy="13011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0601CE8-B137-453B-0277-AD1E3CF6A9EF}"/>
              </a:ext>
            </a:extLst>
          </p:cNvPr>
          <p:cNvCxnSpPr>
            <a:cxnSpLocks/>
          </p:cNvCxnSpPr>
          <p:nvPr/>
        </p:nvCxnSpPr>
        <p:spPr>
          <a:xfrm flipH="1" flipV="1">
            <a:off x="5542767" y="2511317"/>
            <a:ext cx="1221288" cy="4650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766705A-9191-6492-A9A8-EFEB83D07ED1}"/>
              </a:ext>
            </a:extLst>
          </p:cNvPr>
          <p:cNvSpPr txBox="1"/>
          <p:nvPr/>
        </p:nvSpPr>
        <p:spPr>
          <a:xfrm>
            <a:off x="6591388" y="1993285"/>
            <a:ext cx="2130439" cy="461665"/>
          </a:xfrm>
          <a:prstGeom prst="rect">
            <a:avLst/>
          </a:prstGeom>
          <a:solidFill>
            <a:schemeClr val="bg1"/>
          </a:solidFill>
        </p:spPr>
        <p:txBody>
          <a:bodyPr wrap="square" rtlCol="0">
            <a:spAutoFit/>
          </a:bodyPr>
          <a:lstStyle/>
          <a:p>
            <a:r>
              <a:rPr lang="en-US" sz="1200" dirty="0">
                <a:latin typeface="Chalkboard" panose="03050602040202020205" pitchFamily="66" charset="77"/>
              </a:rPr>
              <a:t>Each consumer manages offsets for their partition.</a:t>
            </a:r>
          </a:p>
        </p:txBody>
      </p:sp>
      <p:sp>
        <p:nvSpPr>
          <p:cNvPr id="18" name="TextBox 17">
            <a:extLst>
              <a:ext uri="{FF2B5EF4-FFF2-40B4-BE49-F238E27FC236}">
                <a16:creationId xmlns:a16="http://schemas.microsoft.com/office/drawing/2014/main" id="{4B3C0212-8EA2-6078-5404-C60A94D575B6}"/>
              </a:ext>
            </a:extLst>
          </p:cNvPr>
          <p:cNvSpPr txBox="1"/>
          <p:nvPr/>
        </p:nvSpPr>
        <p:spPr>
          <a:xfrm>
            <a:off x="790145" y="4561284"/>
            <a:ext cx="3429517" cy="1200329"/>
          </a:xfrm>
          <a:prstGeom prst="rect">
            <a:avLst/>
          </a:prstGeom>
          <a:solidFill>
            <a:schemeClr val="bg1"/>
          </a:solidFill>
        </p:spPr>
        <p:txBody>
          <a:bodyPr wrap="square" rtlCol="0">
            <a:spAutoFit/>
          </a:bodyPr>
          <a:lstStyle/>
          <a:p>
            <a:r>
              <a:rPr lang="en-US" sz="1200" dirty="0">
                <a:latin typeface="Chalkboard" panose="03050602040202020205" pitchFamily="66" charset="77"/>
              </a:rPr>
              <a:t>For any set of events that must be processed sequentially - all changes to one entity for example - we use consistent hashing to push messages with the same identifier to the same partition. This allows us to scale, whilst preserving our ordering.</a:t>
            </a:r>
          </a:p>
        </p:txBody>
      </p:sp>
      <p:cxnSp>
        <p:nvCxnSpPr>
          <p:cNvPr id="19" name="Straight Arrow Connector 18">
            <a:extLst>
              <a:ext uri="{FF2B5EF4-FFF2-40B4-BE49-F238E27FC236}">
                <a16:creationId xmlns:a16="http://schemas.microsoft.com/office/drawing/2014/main" id="{112B2679-A9AF-99E7-A95D-5F6CF0EC5CE8}"/>
              </a:ext>
            </a:extLst>
          </p:cNvPr>
          <p:cNvCxnSpPr>
            <a:cxnSpLocks/>
          </p:cNvCxnSpPr>
          <p:nvPr/>
        </p:nvCxnSpPr>
        <p:spPr>
          <a:xfrm flipV="1">
            <a:off x="2483141" y="3723113"/>
            <a:ext cx="1118093" cy="7062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104;p25">
            <a:extLst>
              <a:ext uri="{FF2B5EF4-FFF2-40B4-BE49-F238E27FC236}">
                <a16:creationId xmlns:a16="http://schemas.microsoft.com/office/drawing/2014/main" id="{6F50C116-BFBF-902E-90AB-551557105482}"/>
              </a:ext>
            </a:extLst>
          </p:cNvPr>
          <p:cNvSpPr txBox="1"/>
          <p:nvPr/>
        </p:nvSpPr>
        <p:spPr>
          <a:xfrm>
            <a:off x="152400" y="218354"/>
            <a:ext cx="3911600" cy="569364"/>
          </a:xfrm>
          <a:prstGeom prst="rect">
            <a:avLst/>
          </a:prstGeom>
          <a:noFill/>
          <a:ln>
            <a:noFill/>
          </a:ln>
        </p:spPr>
        <p:txBody>
          <a:bodyPr spcFirstLastPara="1" wrap="square" lIns="68569" tIns="68569" rIns="68569" bIns="68569" anchor="t" anchorCtr="0">
            <a:spAutoFit/>
          </a:bodyPr>
          <a:lstStyle/>
          <a:p>
            <a:r>
              <a:rPr lang="en-GB" sz="2800" b="1" dirty="0"/>
              <a:t>Streams</a:t>
            </a:r>
            <a:endParaRPr sz="2800" b="1" dirty="0"/>
          </a:p>
        </p:txBody>
      </p:sp>
    </p:spTree>
    <p:extLst>
      <p:ext uri="{BB962C8B-B14F-4D97-AF65-F5344CB8AC3E}">
        <p14:creationId xmlns:p14="http://schemas.microsoft.com/office/powerpoint/2010/main" val="4138270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 grpId="0" animBg="1"/>
      <p:bldP spid="1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E97A6C5-785E-08A7-3452-2E3967DF16F8}"/>
              </a:ext>
            </a:extLst>
          </p:cNvPr>
          <p:cNvSpPr txBox="1"/>
          <p:nvPr/>
        </p:nvSpPr>
        <p:spPr>
          <a:xfrm>
            <a:off x="5220706" y="821044"/>
            <a:ext cx="3469387" cy="769441"/>
          </a:xfrm>
          <a:prstGeom prst="rect">
            <a:avLst/>
          </a:prstGeom>
          <a:solidFill>
            <a:schemeClr val="bg1"/>
          </a:solidFill>
        </p:spPr>
        <p:txBody>
          <a:bodyPr wrap="square" rtlCol="0">
            <a:spAutoFit/>
          </a:bodyPr>
          <a:lstStyle/>
          <a:p>
            <a:r>
              <a:rPr lang="en-US" sz="1100" dirty="0">
                <a:latin typeface="Chalkboard" panose="03050602040202020205" pitchFamily="66" charset="77"/>
              </a:rPr>
              <a:t>To provide availability – only one consumer in a group can read from a partition at a time –  but a consumer in a group may read from more than one of the partitions owned by that group</a:t>
            </a:r>
          </a:p>
        </p:txBody>
      </p:sp>
      <p:pic>
        <p:nvPicPr>
          <p:cNvPr id="10" name="Picture 9">
            <a:extLst>
              <a:ext uri="{FF2B5EF4-FFF2-40B4-BE49-F238E27FC236}">
                <a16:creationId xmlns:a16="http://schemas.microsoft.com/office/drawing/2014/main" id="{8F29D8DD-7721-C18F-7195-650D6720D4F7}"/>
              </a:ext>
            </a:extLst>
          </p:cNvPr>
          <p:cNvPicPr>
            <a:picLocks noChangeAspect="1"/>
          </p:cNvPicPr>
          <p:nvPr/>
        </p:nvPicPr>
        <p:blipFill>
          <a:blip r:embed="rId2"/>
          <a:stretch>
            <a:fillRect/>
          </a:stretch>
        </p:blipFill>
        <p:spPr>
          <a:xfrm>
            <a:off x="509872" y="1536483"/>
            <a:ext cx="8124256" cy="3595481"/>
          </a:xfrm>
          <a:prstGeom prst="rect">
            <a:avLst/>
          </a:prstGeom>
        </p:spPr>
      </p:pic>
      <p:cxnSp>
        <p:nvCxnSpPr>
          <p:cNvPr id="11" name="Straight Arrow Connector 10">
            <a:extLst>
              <a:ext uri="{FF2B5EF4-FFF2-40B4-BE49-F238E27FC236}">
                <a16:creationId xmlns:a16="http://schemas.microsoft.com/office/drawing/2014/main" id="{5DA999DC-786E-D9CC-226B-415BE9F45EA5}"/>
              </a:ext>
            </a:extLst>
          </p:cNvPr>
          <p:cNvCxnSpPr>
            <a:cxnSpLocks/>
          </p:cNvCxnSpPr>
          <p:nvPr/>
        </p:nvCxnSpPr>
        <p:spPr>
          <a:xfrm flipH="1" flipV="1">
            <a:off x="6266576" y="2757639"/>
            <a:ext cx="1672282" cy="2065837"/>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3A82831-65A5-5B69-C778-2BCB8A2A53DD}"/>
              </a:ext>
            </a:extLst>
          </p:cNvPr>
          <p:cNvCxnSpPr>
            <a:cxnSpLocks/>
          </p:cNvCxnSpPr>
          <p:nvPr/>
        </p:nvCxnSpPr>
        <p:spPr>
          <a:xfrm flipH="1" flipV="1">
            <a:off x="6549975" y="2757639"/>
            <a:ext cx="1388883" cy="969250"/>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 name="Google Shape;104;p25">
            <a:extLst>
              <a:ext uri="{FF2B5EF4-FFF2-40B4-BE49-F238E27FC236}">
                <a16:creationId xmlns:a16="http://schemas.microsoft.com/office/drawing/2014/main" id="{92D0B284-D25A-3946-2F4C-047D1F7BBD92}"/>
              </a:ext>
            </a:extLst>
          </p:cNvPr>
          <p:cNvSpPr txBox="1"/>
          <p:nvPr/>
        </p:nvSpPr>
        <p:spPr>
          <a:xfrm>
            <a:off x="152400" y="218354"/>
            <a:ext cx="3911600" cy="569364"/>
          </a:xfrm>
          <a:prstGeom prst="rect">
            <a:avLst/>
          </a:prstGeom>
          <a:noFill/>
          <a:ln>
            <a:noFill/>
          </a:ln>
        </p:spPr>
        <p:txBody>
          <a:bodyPr spcFirstLastPara="1" wrap="square" lIns="68569" tIns="68569" rIns="68569" bIns="68569" anchor="t" anchorCtr="0">
            <a:spAutoFit/>
          </a:bodyPr>
          <a:lstStyle/>
          <a:p>
            <a:r>
              <a:rPr lang="en-GB" sz="2800" b="1" dirty="0"/>
              <a:t>Streams</a:t>
            </a:r>
            <a:endParaRPr sz="2800" b="1" dirty="0"/>
          </a:p>
        </p:txBody>
      </p:sp>
    </p:spTree>
    <p:extLst>
      <p:ext uri="{BB962C8B-B14F-4D97-AF65-F5344CB8AC3E}">
        <p14:creationId xmlns:p14="http://schemas.microsoft.com/office/powerpoint/2010/main" val="169591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0419D2E-0B25-E35C-726F-38F441B4E230}"/>
              </a:ext>
            </a:extLst>
          </p:cNvPr>
          <p:cNvSpPr txBox="1"/>
          <p:nvPr/>
        </p:nvSpPr>
        <p:spPr>
          <a:xfrm>
            <a:off x="628650" y="451381"/>
            <a:ext cx="7884414" cy="4066540"/>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700" b="1" kern="1200" dirty="0">
                <a:solidFill>
                  <a:schemeClr val="tx1"/>
                </a:solidFill>
                <a:latin typeface="Chalkboard" panose="03050602040202020205" pitchFamily="66" charset="77"/>
                <a:ea typeface="+mj-ea"/>
                <a:cs typeface="+mj-cs"/>
              </a:rPr>
              <a:t>Archive and Replay</a:t>
            </a:r>
          </a:p>
        </p:txBody>
      </p:sp>
      <p:sp>
        <p:nvSpPr>
          <p:cNvPr id="1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62380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C08398-CAE9-7CE1-0533-C4CEE970A96B}"/>
              </a:ext>
            </a:extLst>
          </p:cNvPr>
          <p:cNvPicPr>
            <a:picLocks noChangeAspect="1"/>
          </p:cNvPicPr>
          <p:nvPr/>
        </p:nvPicPr>
        <p:blipFill>
          <a:blip r:embed="rId2"/>
          <a:stretch>
            <a:fillRect/>
          </a:stretch>
        </p:blipFill>
        <p:spPr>
          <a:xfrm>
            <a:off x="894782" y="1113286"/>
            <a:ext cx="6468083" cy="2494832"/>
          </a:xfrm>
          <a:prstGeom prst="rect">
            <a:avLst/>
          </a:prstGeom>
        </p:spPr>
      </p:pic>
      <p:pic>
        <p:nvPicPr>
          <p:cNvPr id="7" name="Graphic 6" descr="Envelope">
            <a:extLst>
              <a:ext uri="{FF2B5EF4-FFF2-40B4-BE49-F238E27FC236}">
                <a16:creationId xmlns:a16="http://schemas.microsoft.com/office/drawing/2014/main" id="{17FA7819-1521-32CB-6770-A0270B5039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48701" y="3041239"/>
            <a:ext cx="604382" cy="604382"/>
          </a:xfrm>
          <a:prstGeom prst="rect">
            <a:avLst/>
          </a:prstGeom>
        </p:spPr>
      </p:pic>
      <p:pic>
        <p:nvPicPr>
          <p:cNvPr id="12" name="Graphic 11" descr="Envelope">
            <a:extLst>
              <a:ext uri="{FF2B5EF4-FFF2-40B4-BE49-F238E27FC236}">
                <a16:creationId xmlns:a16="http://schemas.microsoft.com/office/drawing/2014/main" id="{C3769EA5-024F-780A-5EFB-C4FBC9E788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44319" y="3041239"/>
            <a:ext cx="604382" cy="604382"/>
          </a:xfrm>
          <a:prstGeom prst="rect">
            <a:avLst/>
          </a:prstGeom>
        </p:spPr>
      </p:pic>
      <p:pic>
        <p:nvPicPr>
          <p:cNvPr id="13" name="Graphic 12" descr="Envelope">
            <a:extLst>
              <a:ext uri="{FF2B5EF4-FFF2-40B4-BE49-F238E27FC236}">
                <a16:creationId xmlns:a16="http://schemas.microsoft.com/office/drawing/2014/main" id="{C1EB49F4-6C17-178F-24F5-884AA97159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39938" y="3041239"/>
            <a:ext cx="604382" cy="604382"/>
          </a:xfrm>
          <a:prstGeom prst="rect">
            <a:avLst/>
          </a:prstGeom>
        </p:spPr>
      </p:pic>
      <p:pic>
        <p:nvPicPr>
          <p:cNvPr id="14" name="Graphic 13" descr="Envelope">
            <a:extLst>
              <a:ext uri="{FF2B5EF4-FFF2-40B4-BE49-F238E27FC236}">
                <a16:creationId xmlns:a16="http://schemas.microsoft.com/office/drawing/2014/main" id="{2D697E2D-A724-8F24-569A-FD38DBBD84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23030" y="3041239"/>
            <a:ext cx="604382" cy="604382"/>
          </a:xfrm>
          <a:prstGeom prst="rect">
            <a:avLst/>
          </a:prstGeom>
        </p:spPr>
      </p:pic>
      <p:pic>
        <p:nvPicPr>
          <p:cNvPr id="15" name="Graphic 14" descr="Envelope">
            <a:extLst>
              <a:ext uri="{FF2B5EF4-FFF2-40B4-BE49-F238E27FC236}">
                <a16:creationId xmlns:a16="http://schemas.microsoft.com/office/drawing/2014/main" id="{B7F71B2D-5247-04A7-6F27-6121861374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1175" y="3041239"/>
            <a:ext cx="604382" cy="604382"/>
          </a:xfrm>
          <a:prstGeom prst="rect">
            <a:avLst/>
          </a:prstGeom>
        </p:spPr>
      </p:pic>
      <p:pic>
        <p:nvPicPr>
          <p:cNvPr id="16" name="Graphic 15" descr="Envelope">
            <a:extLst>
              <a:ext uri="{FF2B5EF4-FFF2-40B4-BE49-F238E27FC236}">
                <a16:creationId xmlns:a16="http://schemas.microsoft.com/office/drawing/2014/main" id="{3766DFDE-5025-CE4B-1011-E8A8F55CB3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4267" y="3041239"/>
            <a:ext cx="604382" cy="604382"/>
          </a:xfrm>
          <a:prstGeom prst="rect">
            <a:avLst/>
          </a:prstGeom>
        </p:spPr>
      </p:pic>
      <p:pic>
        <p:nvPicPr>
          <p:cNvPr id="17" name="Graphic 16" descr="Envelope">
            <a:extLst>
              <a:ext uri="{FF2B5EF4-FFF2-40B4-BE49-F238E27FC236}">
                <a16:creationId xmlns:a16="http://schemas.microsoft.com/office/drawing/2014/main" id="{FA8C9E94-EA65-951F-B977-FDF2F682EA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2728" y="3041239"/>
            <a:ext cx="604382" cy="604382"/>
          </a:xfrm>
          <a:prstGeom prst="rect">
            <a:avLst/>
          </a:prstGeom>
        </p:spPr>
      </p:pic>
      <p:pic>
        <p:nvPicPr>
          <p:cNvPr id="18" name="Graphic 17" descr="Envelope">
            <a:extLst>
              <a:ext uri="{FF2B5EF4-FFF2-40B4-BE49-F238E27FC236}">
                <a16:creationId xmlns:a16="http://schemas.microsoft.com/office/drawing/2014/main" id="{70C7F357-2550-F783-955E-ECFAB561E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16754" y="3041239"/>
            <a:ext cx="604382" cy="604382"/>
          </a:xfrm>
          <a:prstGeom prst="rect">
            <a:avLst/>
          </a:prstGeom>
        </p:spPr>
      </p:pic>
      <p:sp>
        <p:nvSpPr>
          <p:cNvPr id="19" name="TextBox 18">
            <a:extLst>
              <a:ext uri="{FF2B5EF4-FFF2-40B4-BE49-F238E27FC236}">
                <a16:creationId xmlns:a16="http://schemas.microsoft.com/office/drawing/2014/main" id="{325CF9AD-4171-EC29-542E-1A4C4CC6A605}"/>
              </a:ext>
            </a:extLst>
          </p:cNvPr>
          <p:cNvSpPr txBox="1"/>
          <p:nvPr/>
        </p:nvSpPr>
        <p:spPr>
          <a:xfrm>
            <a:off x="5859636" y="3881389"/>
            <a:ext cx="2711913" cy="646331"/>
          </a:xfrm>
          <a:prstGeom prst="rect">
            <a:avLst/>
          </a:prstGeom>
          <a:solidFill>
            <a:schemeClr val="bg1"/>
          </a:solidFill>
        </p:spPr>
        <p:txBody>
          <a:bodyPr wrap="square" rtlCol="0">
            <a:spAutoFit/>
          </a:bodyPr>
          <a:lstStyle/>
          <a:p>
            <a:r>
              <a:rPr lang="en-US" sz="1200" dirty="0">
                <a:latin typeface="Chalkboard" panose="03050602040202020205" pitchFamily="66" charset="77"/>
              </a:rPr>
              <a:t>If we succeed, then we delete the message from the queue, no one else can now process it.</a:t>
            </a:r>
          </a:p>
        </p:txBody>
      </p:sp>
      <p:cxnSp>
        <p:nvCxnSpPr>
          <p:cNvPr id="20" name="Straight Arrow Connector 19">
            <a:extLst>
              <a:ext uri="{FF2B5EF4-FFF2-40B4-BE49-F238E27FC236}">
                <a16:creationId xmlns:a16="http://schemas.microsoft.com/office/drawing/2014/main" id="{7FC6656D-E2B9-9F95-D26B-8B6B9AB57C92}"/>
              </a:ext>
            </a:extLst>
          </p:cNvPr>
          <p:cNvCxnSpPr>
            <a:cxnSpLocks/>
            <a:stCxn id="19" idx="0"/>
          </p:cNvCxnSpPr>
          <p:nvPr/>
        </p:nvCxnSpPr>
        <p:spPr>
          <a:xfrm flipH="1" flipV="1">
            <a:off x="5771933" y="3618024"/>
            <a:ext cx="1443660" cy="2633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Eraser">
            <a:extLst>
              <a:ext uri="{FF2B5EF4-FFF2-40B4-BE49-F238E27FC236}">
                <a16:creationId xmlns:a16="http://schemas.microsoft.com/office/drawing/2014/main" id="{72616879-CB65-E66C-B0A6-352BF44CE4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25767" y="3623374"/>
            <a:ext cx="353846" cy="353846"/>
          </a:xfrm>
          <a:prstGeom prst="rect">
            <a:avLst/>
          </a:prstGeom>
        </p:spPr>
      </p:pic>
      <p:sp>
        <p:nvSpPr>
          <p:cNvPr id="22" name="TextBox 21">
            <a:extLst>
              <a:ext uri="{FF2B5EF4-FFF2-40B4-BE49-F238E27FC236}">
                <a16:creationId xmlns:a16="http://schemas.microsoft.com/office/drawing/2014/main" id="{BB7B18DB-9FF2-2B8E-9C8E-8C7044E6FD27}"/>
              </a:ext>
            </a:extLst>
          </p:cNvPr>
          <p:cNvSpPr txBox="1"/>
          <p:nvPr/>
        </p:nvSpPr>
        <p:spPr>
          <a:xfrm>
            <a:off x="548161" y="4534828"/>
            <a:ext cx="3915660" cy="1038746"/>
          </a:xfrm>
          <a:prstGeom prst="rect">
            <a:avLst/>
          </a:prstGeom>
          <a:solidFill>
            <a:schemeClr val="bg1"/>
          </a:solidFill>
          <a:ln>
            <a:solidFill>
              <a:schemeClr val="tx1"/>
            </a:solidFill>
          </a:ln>
        </p:spPr>
        <p:txBody>
          <a:bodyPr wrap="square" rtlCol="0">
            <a:spAutoFit/>
          </a:bodyPr>
          <a:lstStyle/>
          <a:p>
            <a:r>
              <a:rPr lang="en-US" sz="1400" b="1" dirty="0">
                <a:latin typeface="Chalkboard" panose="03050602040202020205" pitchFamily="66" charset="77"/>
              </a:rPr>
              <a:t>No Archive and Replay</a:t>
            </a:r>
          </a:p>
          <a:p>
            <a:r>
              <a:rPr lang="en-US" sz="1200" dirty="0">
                <a:latin typeface="Chalkboard" panose="03050602040202020205" pitchFamily="66" charset="77"/>
              </a:rPr>
              <a:t>With queues we delete a message once we have completed the associated action. That means we have no way to replay the request for work. Our only option is to ask the producer to resend their request.</a:t>
            </a:r>
          </a:p>
        </p:txBody>
      </p:sp>
    </p:spTree>
    <p:extLst>
      <p:ext uri="{BB962C8B-B14F-4D97-AF65-F5344CB8AC3E}">
        <p14:creationId xmlns:p14="http://schemas.microsoft.com/office/powerpoint/2010/main" val="4224911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5"/>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6"/>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BBFEE5-B779-68C9-5003-56FAE5EB1891}"/>
              </a:ext>
            </a:extLst>
          </p:cNvPr>
          <p:cNvPicPr>
            <a:picLocks noChangeAspect="1"/>
          </p:cNvPicPr>
          <p:nvPr/>
        </p:nvPicPr>
        <p:blipFill>
          <a:blip r:embed="rId2"/>
          <a:stretch>
            <a:fillRect/>
          </a:stretch>
        </p:blipFill>
        <p:spPr>
          <a:xfrm>
            <a:off x="663813" y="1392573"/>
            <a:ext cx="6603502" cy="3113080"/>
          </a:xfrm>
          <a:prstGeom prst="rect">
            <a:avLst/>
          </a:prstGeom>
        </p:spPr>
      </p:pic>
      <p:cxnSp>
        <p:nvCxnSpPr>
          <p:cNvPr id="4" name="Straight Arrow Connector 3">
            <a:extLst>
              <a:ext uri="{FF2B5EF4-FFF2-40B4-BE49-F238E27FC236}">
                <a16:creationId xmlns:a16="http://schemas.microsoft.com/office/drawing/2014/main" id="{92AB2FC2-074D-ABF0-BD5C-B7F76090355F}"/>
              </a:ext>
            </a:extLst>
          </p:cNvPr>
          <p:cNvCxnSpPr>
            <a:cxnSpLocks/>
          </p:cNvCxnSpPr>
          <p:nvPr/>
        </p:nvCxnSpPr>
        <p:spPr>
          <a:xfrm flipH="1">
            <a:off x="5876273" y="3288429"/>
            <a:ext cx="908247" cy="307324"/>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905EAD6-E8CD-18A1-4CCF-9DB29BB00E7E}"/>
              </a:ext>
            </a:extLst>
          </p:cNvPr>
          <p:cNvSpPr txBox="1"/>
          <p:nvPr/>
        </p:nvSpPr>
        <p:spPr>
          <a:xfrm>
            <a:off x="6737805" y="2025358"/>
            <a:ext cx="2067529" cy="646331"/>
          </a:xfrm>
          <a:prstGeom prst="rect">
            <a:avLst/>
          </a:prstGeom>
          <a:solidFill>
            <a:schemeClr val="bg1"/>
          </a:solidFill>
        </p:spPr>
        <p:txBody>
          <a:bodyPr wrap="square" rtlCol="0">
            <a:spAutoFit/>
          </a:bodyPr>
          <a:lstStyle/>
          <a:p>
            <a:r>
              <a:rPr lang="en-US" sz="1200" dirty="0">
                <a:latin typeface="Chalkboard" panose="03050602040202020205" pitchFamily="66" charset="77"/>
              </a:rPr>
              <a:t>We don’t delete a message, we just increment the offset.</a:t>
            </a:r>
          </a:p>
        </p:txBody>
      </p:sp>
      <p:cxnSp>
        <p:nvCxnSpPr>
          <p:cNvPr id="8" name="Straight Arrow Connector 7">
            <a:extLst>
              <a:ext uri="{FF2B5EF4-FFF2-40B4-BE49-F238E27FC236}">
                <a16:creationId xmlns:a16="http://schemas.microsoft.com/office/drawing/2014/main" id="{70D97720-093D-BDF2-6DED-B8C4CBA272E0}"/>
              </a:ext>
            </a:extLst>
          </p:cNvPr>
          <p:cNvCxnSpPr/>
          <p:nvPr/>
        </p:nvCxnSpPr>
        <p:spPr>
          <a:xfrm flipH="1" flipV="1">
            <a:off x="5176381" y="2783806"/>
            <a:ext cx="1623254" cy="4596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AA54A3A-1AA6-88A3-6DAA-D97F318FBB2E}"/>
              </a:ext>
            </a:extLst>
          </p:cNvPr>
          <p:cNvCxnSpPr>
            <a:cxnSpLocks/>
          </p:cNvCxnSpPr>
          <p:nvPr/>
        </p:nvCxnSpPr>
        <p:spPr>
          <a:xfrm flipH="1" flipV="1">
            <a:off x="4493255" y="2963626"/>
            <a:ext cx="2306379" cy="2798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85CBC79-D507-E560-758F-F47296D390F5}"/>
              </a:ext>
            </a:extLst>
          </p:cNvPr>
          <p:cNvCxnSpPr>
            <a:cxnSpLocks/>
          </p:cNvCxnSpPr>
          <p:nvPr/>
        </p:nvCxnSpPr>
        <p:spPr>
          <a:xfrm flipH="1">
            <a:off x="4572000" y="3262287"/>
            <a:ext cx="2212520" cy="305098"/>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6EE4B0A-AE4E-B1B3-4B71-A2C1A83B1599}"/>
              </a:ext>
            </a:extLst>
          </p:cNvPr>
          <p:cNvCxnSpPr>
            <a:cxnSpLocks/>
          </p:cNvCxnSpPr>
          <p:nvPr/>
        </p:nvCxnSpPr>
        <p:spPr>
          <a:xfrm flipH="1">
            <a:off x="4997885" y="3243459"/>
            <a:ext cx="1756917" cy="422753"/>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58B9A2B-2EC0-61B2-7ED0-60284949DB63}"/>
              </a:ext>
            </a:extLst>
          </p:cNvPr>
          <p:cNvCxnSpPr>
            <a:cxnSpLocks/>
          </p:cNvCxnSpPr>
          <p:nvPr/>
        </p:nvCxnSpPr>
        <p:spPr>
          <a:xfrm flipH="1" flipV="1">
            <a:off x="4368452" y="3008596"/>
            <a:ext cx="2431182" cy="2348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8AA5103-BA28-99AF-BAE2-C30987360D3B}"/>
              </a:ext>
            </a:extLst>
          </p:cNvPr>
          <p:cNvSpPr txBox="1"/>
          <p:nvPr/>
        </p:nvSpPr>
        <p:spPr>
          <a:xfrm>
            <a:off x="196781" y="4802949"/>
            <a:ext cx="4296474" cy="861774"/>
          </a:xfrm>
          <a:prstGeom prst="rect">
            <a:avLst/>
          </a:prstGeom>
          <a:solidFill>
            <a:schemeClr val="bg1"/>
          </a:solidFill>
          <a:ln>
            <a:solidFill>
              <a:schemeClr val="tx1"/>
            </a:solidFill>
          </a:ln>
        </p:spPr>
        <p:txBody>
          <a:bodyPr wrap="square" rtlCol="0">
            <a:spAutoFit/>
          </a:bodyPr>
          <a:lstStyle/>
          <a:p>
            <a:r>
              <a:rPr lang="en-US" sz="1400" b="1" dirty="0">
                <a:latin typeface="Chalkboard" panose="03050602040202020205" pitchFamily="66" charset="77"/>
              </a:rPr>
              <a:t>Archive and Replay</a:t>
            </a:r>
          </a:p>
          <a:p>
            <a:r>
              <a:rPr lang="en-US" sz="1200" dirty="0">
                <a:latin typeface="Chalkboard" panose="03050602040202020205" pitchFamily="66" charset="77"/>
              </a:rPr>
              <a:t>Archive and Replay is straightforward as nothing is deleted. We simply reset the consumer’s offset to re-read the stream</a:t>
            </a:r>
          </a:p>
        </p:txBody>
      </p:sp>
    </p:spTree>
    <p:extLst>
      <p:ext uri="{BB962C8B-B14F-4D97-AF65-F5344CB8AC3E}">
        <p14:creationId xmlns:p14="http://schemas.microsoft.com/office/powerpoint/2010/main" val="193879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0419D2E-0B25-E35C-726F-38F441B4E230}"/>
              </a:ext>
            </a:extLst>
          </p:cNvPr>
          <p:cNvSpPr txBox="1"/>
          <p:nvPr/>
        </p:nvSpPr>
        <p:spPr>
          <a:xfrm>
            <a:off x="628650" y="451381"/>
            <a:ext cx="7884414" cy="4066540"/>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700" b="1" kern="1200" dirty="0">
                <a:solidFill>
                  <a:schemeClr val="tx1"/>
                </a:solidFill>
                <a:latin typeface="Chalkboard" panose="03050602040202020205" pitchFamily="66" charset="77"/>
                <a:ea typeface="+mj-ea"/>
                <a:cs typeface="+mj-cs"/>
              </a:rPr>
              <a:t>Requeue and Delay (Backpressure)</a:t>
            </a:r>
          </a:p>
        </p:txBody>
      </p:sp>
      <p:sp>
        <p:nvSpPr>
          <p:cNvPr id="1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84193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500A7E-1C3E-5847-2AF0-856F2D1F9AF4}"/>
              </a:ext>
            </a:extLst>
          </p:cNvPr>
          <p:cNvPicPr>
            <a:picLocks noChangeAspect="1"/>
          </p:cNvPicPr>
          <p:nvPr/>
        </p:nvPicPr>
        <p:blipFill>
          <a:blip r:embed="rId2"/>
          <a:stretch>
            <a:fillRect/>
          </a:stretch>
        </p:blipFill>
        <p:spPr>
          <a:xfrm>
            <a:off x="1028700" y="1328634"/>
            <a:ext cx="6599808" cy="3912176"/>
          </a:xfrm>
          <a:prstGeom prst="rect">
            <a:avLst/>
          </a:prstGeom>
        </p:spPr>
      </p:pic>
      <p:cxnSp>
        <p:nvCxnSpPr>
          <p:cNvPr id="6" name="Straight Arrow Connector 5">
            <a:extLst>
              <a:ext uri="{FF2B5EF4-FFF2-40B4-BE49-F238E27FC236}">
                <a16:creationId xmlns:a16="http://schemas.microsoft.com/office/drawing/2014/main" id="{E4D5EE8B-8EFF-4EE0-435B-C8DE6CEB8E9B}"/>
              </a:ext>
            </a:extLst>
          </p:cNvPr>
          <p:cNvCxnSpPr>
            <a:cxnSpLocks/>
          </p:cNvCxnSpPr>
          <p:nvPr/>
        </p:nvCxnSpPr>
        <p:spPr>
          <a:xfrm flipH="1">
            <a:off x="6802394" y="2506878"/>
            <a:ext cx="389238" cy="648730"/>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descr="Lock">
            <a:extLst>
              <a:ext uri="{FF2B5EF4-FFF2-40B4-BE49-F238E27FC236}">
                <a16:creationId xmlns:a16="http://schemas.microsoft.com/office/drawing/2014/main" id="{1B1D6392-7BC3-9776-0103-AB66C3BC34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8677" y="2659792"/>
            <a:ext cx="342900" cy="342900"/>
          </a:xfrm>
          <a:prstGeom prst="rect">
            <a:avLst/>
          </a:prstGeom>
        </p:spPr>
      </p:pic>
      <p:pic>
        <p:nvPicPr>
          <p:cNvPr id="13" name="Graphic 12" descr="Unlock">
            <a:extLst>
              <a:ext uri="{FF2B5EF4-FFF2-40B4-BE49-F238E27FC236}">
                <a16:creationId xmlns:a16="http://schemas.microsoft.com/office/drawing/2014/main" id="{9F22C2F8-5854-A924-B9B3-96DA650272C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1633" y="2678328"/>
            <a:ext cx="342901" cy="342901"/>
          </a:xfrm>
          <a:prstGeom prst="rect">
            <a:avLst/>
          </a:prstGeom>
        </p:spPr>
      </p:pic>
      <p:sp>
        <p:nvSpPr>
          <p:cNvPr id="14" name="TextBox 13">
            <a:extLst>
              <a:ext uri="{FF2B5EF4-FFF2-40B4-BE49-F238E27FC236}">
                <a16:creationId xmlns:a16="http://schemas.microsoft.com/office/drawing/2014/main" id="{E98EDC0B-89F9-DD18-213E-DD499E84B5EB}"/>
              </a:ext>
            </a:extLst>
          </p:cNvPr>
          <p:cNvSpPr txBox="1"/>
          <p:nvPr/>
        </p:nvSpPr>
        <p:spPr>
          <a:xfrm>
            <a:off x="6488219" y="249155"/>
            <a:ext cx="2561494" cy="1200329"/>
          </a:xfrm>
          <a:prstGeom prst="rect">
            <a:avLst/>
          </a:prstGeom>
          <a:solidFill>
            <a:schemeClr val="bg1"/>
          </a:solidFill>
        </p:spPr>
        <p:txBody>
          <a:bodyPr wrap="square" rtlCol="0">
            <a:spAutoFit/>
          </a:bodyPr>
          <a:lstStyle/>
          <a:p>
            <a:r>
              <a:rPr lang="en-US" sz="1200" dirty="0">
                <a:latin typeface="Chalkboard" panose="03050602040202020205" pitchFamily="66" charset="77"/>
              </a:rPr>
              <a:t>When we are done processing, we unlock it.</a:t>
            </a:r>
          </a:p>
          <a:p>
            <a:endParaRPr lang="en-US" sz="1200" dirty="0">
              <a:latin typeface="Chalkboard" panose="03050602040202020205" pitchFamily="66" charset="77"/>
            </a:endParaRPr>
          </a:p>
          <a:p>
            <a:r>
              <a:rPr lang="en-US" sz="1200" dirty="0">
                <a:latin typeface="Chalkboard" panose="03050602040202020205" pitchFamily="66" charset="77"/>
              </a:rPr>
              <a:t> - Usually because we finish processing it</a:t>
            </a:r>
          </a:p>
          <a:p>
            <a:r>
              <a:rPr lang="en-US" sz="1200" dirty="0">
                <a:latin typeface="Chalkboard" panose="03050602040202020205" pitchFamily="66" charset="77"/>
              </a:rPr>
              <a:t>- May be because we fail.</a:t>
            </a:r>
          </a:p>
        </p:txBody>
      </p:sp>
      <p:sp>
        <p:nvSpPr>
          <p:cNvPr id="15" name="Rectangle 14">
            <a:extLst>
              <a:ext uri="{FF2B5EF4-FFF2-40B4-BE49-F238E27FC236}">
                <a16:creationId xmlns:a16="http://schemas.microsoft.com/office/drawing/2014/main" id="{F70673C4-E656-0EA8-12EE-46D839A34940}"/>
              </a:ext>
            </a:extLst>
          </p:cNvPr>
          <p:cNvSpPr/>
          <p:nvPr/>
        </p:nvSpPr>
        <p:spPr>
          <a:xfrm>
            <a:off x="6488219" y="3174142"/>
            <a:ext cx="661012" cy="39926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TextBox 15">
            <a:extLst>
              <a:ext uri="{FF2B5EF4-FFF2-40B4-BE49-F238E27FC236}">
                <a16:creationId xmlns:a16="http://schemas.microsoft.com/office/drawing/2014/main" id="{28E601C3-31B3-D854-5DE2-D9CCE609350B}"/>
              </a:ext>
            </a:extLst>
          </p:cNvPr>
          <p:cNvSpPr txBox="1"/>
          <p:nvPr/>
        </p:nvSpPr>
        <p:spPr>
          <a:xfrm>
            <a:off x="6959340" y="3836773"/>
            <a:ext cx="2034589"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If we succeed, then we delete the message from the queue, no one else can now process it.</a:t>
            </a:r>
          </a:p>
        </p:txBody>
      </p:sp>
      <p:cxnSp>
        <p:nvCxnSpPr>
          <p:cNvPr id="18" name="Straight Arrow Connector 17">
            <a:extLst>
              <a:ext uri="{FF2B5EF4-FFF2-40B4-BE49-F238E27FC236}">
                <a16:creationId xmlns:a16="http://schemas.microsoft.com/office/drawing/2014/main" id="{B11E3AFE-E2D0-32F2-A5AF-A74FB05DF242}"/>
              </a:ext>
            </a:extLst>
          </p:cNvPr>
          <p:cNvCxnSpPr>
            <a:cxnSpLocks/>
            <a:stCxn id="14" idx="2"/>
          </p:cNvCxnSpPr>
          <p:nvPr/>
        </p:nvCxnSpPr>
        <p:spPr>
          <a:xfrm flipH="1">
            <a:off x="7341282" y="1449484"/>
            <a:ext cx="427684" cy="14811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E13339B-2A59-8CFF-0E58-1A3C6AC8A39D}"/>
              </a:ext>
            </a:extLst>
          </p:cNvPr>
          <p:cNvCxnSpPr>
            <a:cxnSpLocks/>
            <a:stCxn id="16" idx="0"/>
          </p:cNvCxnSpPr>
          <p:nvPr/>
        </p:nvCxnSpPr>
        <p:spPr>
          <a:xfrm flipH="1" flipV="1">
            <a:off x="6871637" y="3573409"/>
            <a:ext cx="1104998" cy="2633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02889BE-B72F-66F9-B6FE-A1547F49A8FF}"/>
              </a:ext>
            </a:extLst>
          </p:cNvPr>
          <p:cNvSpPr txBox="1"/>
          <p:nvPr/>
        </p:nvSpPr>
        <p:spPr>
          <a:xfrm>
            <a:off x="3548543" y="1617190"/>
            <a:ext cx="2770574" cy="830997"/>
          </a:xfrm>
          <a:prstGeom prst="rect">
            <a:avLst/>
          </a:prstGeom>
          <a:solidFill>
            <a:schemeClr val="bg1"/>
          </a:solidFill>
        </p:spPr>
        <p:txBody>
          <a:bodyPr wrap="square" rtlCol="0">
            <a:spAutoFit/>
          </a:bodyPr>
          <a:lstStyle/>
          <a:p>
            <a:r>
              <a:rPr lang="en-US" sz="1200" dirty="0">
                <a:latin typeface="Chalkboard" panose="03050602040202020205" pitchFamily="66" charset="77"/>
              </a:rPr>
              <a:t>If we fail, then we may decide others could succeed later, so we let it become available to lock again, often with a delay.</a:t>
            </a:r>
          </a:p>
        </p:txBody>
      </p:sp>
      <p:pic>
        <p:nvPicPr>
          <p:cNvPr id="26" name="Graphic 25" descr="Eraser">
            <a:extLst>
              <a:ext uri="{FF2B5EF4-FFF2-40B4-BE49-F238E27FC236}">
                <a16:creationId xmlns:a16="http://schemas.microsoft.com/office/drawing/2014/main" id="{40EE923D-7B70-17ED-B6EE-333F499AF2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25471" y="3578759"/>
            <a:ext cx="353846" cy="353846"/>
          </a:xfrm>
          <a:prstGeom prst="rect">
            <a:avLst/>
          </a:prstGeom>
        </p:spPr>
      </p:pic>
      <p:cxnSp>
        <p:nvCxnSpPr>
          <p:cNvPr id="27" name="Straight Arrow Connector 26">
            <a:extLst>
              <a:ext uri="{FF2B5EF4-FFF2-40B4-BE49-F238E27FC236}">
                <a16:creationId xmlns:a16="http://schemas.microsoft.com/office/drawing/2014/main" id="{DEB1DB1E-69C7-AB12-BD0D-CAE554C29A52}"/>
              </a:ext>
            </a:extLst>
          </p:cNvPr>
          <p:cNvCxnSpPr>
            <a:cxnSpLocks/>
            <a:stCxn id="24" idx="2"/>
            <a:endCxn id="15" idx="0"/>
          </p:cNvCxnSpPr>
          <p:nvPr/>
        </p:nvCxnSpPr>
        <p:spPr>
          <a:xfrm>
            <a:off x="4933830" y="2448187"/>
            <a:ext cx="1884895" cy="7259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Graphic 30" descr="Stopwatch">
            <a:extLst>
              <a:ext uri="{FF2B5EF4-FFF2-40B4-BE49-F238E27FC236}">
                <a16:creationId xmlns:a16="http://schemas.microsoft.com/office/drawing/2014/main" id="{1F631531-F098-2912-88D2-A6ACB1BFF80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66553" y="2736438"/>
            <a:ext cx="396136" cy="396136"/>
          </a:xfrm>
          <a:prstGeom prst="rect">
            <a:avLst/>
          </a:prstGeom>
        </p:spPr>
      </p:pic>
      <p:cxnSp>
        <p:nvCxnSpPr>
          <p:cNvPr id="42" name="Straight Arrow Connector 41">
            <a:extLst>
              <a:ext uri="{FF2B5EF4-FFF2-40B4-BE49-F238E27FC236}">
                <a16:creationId xmlns:a16="http://schemas.microsoft.com/office/drawing/2014/main" id="{6AA65E73-B463-9452-DD27-DF3D3BA9D37E}"/>
              </a:ext>
            </a:extLst>
          </p:cNvPr>
          <p:cNvCxnSpPr/>
          <p:nvPr/>
        </p:nvCxnSpPr>
        <p:spPr>
          <a:xfrm flipH="1">
            <a:off x="3288083" y="3578760"/>
            <a:ext cx="2678470" cy="1261768"/>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C16A40F-4611-6D98-C908-C1DB953220D2}"/>
              </a:ext>
            </a:extLst>
          </p:cNvPr>
          <p:cNvSpPr txBox="1"/>
          <p:nvPr/>
        </p:nvSpPr>
        <p:spPr>
          <a:xfrm>
            <a:off x="510570" y="5463269"/>
            <a:ext cx="3178580" cy="1015663"/>
          </a:xfrm>
          <a:prstGeom prst="rect">
            <a:avLst/>
          </a:prstGeom>
          <a:solidFill>
            <a:schemeClr val="bg1"/>
          </a:solidFill>
        </p:spPr>
        <p:txBody>
          <a:bodyPr wrap="square" rtlCol="0">
            <a:spAutoFit/>
          </a:bodyPr>
          <a:lstStyle/>
          <a:p>
            <a:r>
              <a:rPr lang="en-US" sz="1200" dirty="0">
                <a:latin typeface="Chalkboard" panose="03050602040202020205" pitchFamily="66" charset="77"/>
              </a:rPr>
              <a:t>After a certain number of re-queues we may move the message to a dead-letter channel, it turns out that no one action the request within in a reasonable time frame</a:t>
            </a:r>
          </a:p>
        </p:txBody>
      </p:sp>
      <p:sp>
        <p:nvSpPr>
          <p:cNvPr id="2" name="TextBox 1">
            <a:extLst>
              <a:ext uri="{FF2B5EF4-FFF2-40B4-BE49-F238E27FC236}">
                <a16:creationId xmlns:a16="http://schemas.microsoft.com/office/drawing/2014/main" id="{F5C97073-D23B-2F78-0421-CBCA3B01D648}"/>
              </a:ext>
            </a:extLst>
          </p:cNvPr>
          <p:cNvSpPr txBox="1"/>
          <p:nvPr/>
        </p:nvSpPr>
        <p:spPr>
          <a:xfrm>
            <a:off x="4904726" y="4872388"/>
            <a:ext cx="3650801" cy="1408078"/>
          </a:xfrm>
          <a:prstGeom prst="rect">
            <a:avLst/>
          </a:prstGeom>
          <a:solidFill>
            <a:schemeClr val="bg1"/>
          </a:solidFill>
          <a:ln>
            <a:solidFill>
              <a:schemeClr val="tx1"/>
            </a:solidFill>
          </a:ln>
        </p:spPr>
        <p:txBody>
          <a:bodyPr wrap="square" rtlCol="0">
            <a:spAutoFit/>
          </a:bodyPr>
          <a:lstStyle/>
          <a:p>
            <a:r>
              <a:rPr lang="en-US" sz="1400" b="1" dirty="0">
                <a:latin typeface="Chalkboard" panose="03050602040202020205" pitchFamily="66" charset="77"/>
              </a:rPr>
              <a:t>Requeue and Delay (Backpressure)</a:t>
            </a:r>
          </a:p>
          <a:p>
            <a:r>
              <a:rPr lang="en-US" sz="1200" dirty="0">
                <a:latin typeface="Chalkboard" panose="03050602040202020205" pitchFamily="66" charset="77"/>
              </a:rPr>
              <a:t>A queue supports re-queue (with delay)</a:t>
            </a:r>
          </a:p>
          <a:p>
            <a:endParaRPr lang="en-US" sz="1200" dirty="0">
              <a:latin typeface="Chalkboard" panose="03050602040202020205" pitchFamily="66" charset="77"/>
            </a:endParaRPr>
          </a:p>
          <a:p>
            <a:pPr marL="128588" indent="-128588">
              <a:buFontTx/>
              <a:buChar char="-"/>
            </a:pPr>
            <a:r>
              <a:rPr lang="en-US" sz="1200" dirty="0">
                <a:latin typeface="Chalkboard" panose="03050602040202020205" pitchFamily="66" charset="77"/>
              </a:rPr>
              <a:t>If the work is not done/</a:t>
            </a:r>
            <a:r>
              <a:rPr lang="en-US" sz="1200" dirty="0" err="1">
                <a:latin typeface="Chalkboard" panose="03050602040202020205" pitchFamily="66" charset="77"/>
              </a:rPr>
              <a:t>acked</a:t>
            </a:r>
            <a:r>
              <a:rPr lang="en-US" sz="1200" dirty="0">
                <a:latin typeface="Chalkboard" panose="03050602040202020205" pitchFamily="66" charset="77"/>
              </a:rPr>
              <a:t>, just make it available again to the next consumer</a:t>
            </a:r>
          </a:p>
          <a:p>
            <a:pPr marL="128588" indent="-128588">
              <a:buFontTx/>
              <a:buChar char="-"/>
            </a:pPr>
            <a:r>
              <a:rPr lang="en-US" sz="1200" dirty="0">
                <a:latin typeface="Chalkboard" panose="03050602040202020205" pitchFamily="66" charset="77"/>
              </a:rPr>
              <a:t>If the work could not be done because of a transient issue, delay to let is pass</a:t>
            </a:r>
          </a:p>
        </p:txBody>
      </p:sp>
    </p:spTree>
    <p:extLst>
      <p:ext uri="{BB962C8B-B14F-4D97-AF65-F5344CB8AC3E}">
        <p14:creationId xmlns:p14="http://schemas.microsoft.com/office/powerpoint/2010/main" val="12846878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BBFEE5-B779-68C9-5003-56FAE5EB1891}"/>
              </a:ext>
            </a:extLst>
          </p:cNvPr>
          <p:cNvPicPr>
            <a:picLocks noChangeAspect="1"/>
          </p:cNvPicPr>
          <p:nvPr/>
        </p:nvPicPr>
        <p:blipFill>
          <a:blip r:embed="rId2"/>
          <a:stretch>
            <a:fillRect/>
          </a:stretch>
        </p:blipFill>
        <p:spPr>
          <a:xfrm>
            <a:off x="432480" y="1283516"/>
            <a:ext cx="6834835" cy="3222137"/>
          </a:xfrm>
          <a:prstGeom prst="rect">
            <a:avLst/>
          </a:prstGeom>
        </p:spPr>
      </p:pic>
      <p:cxnSp>
        <p:nvCxnSpPr>
          <p:cNvPr id="4" name="Straight Arrow Connector 3">
            <a:extLst>
              <a:ext uri="{FF2B5EF4-FFF2-40B4-BE49-F238E27FC236}">
                <a16:creationId xmlns:a16="http://schemas.microsoft.com/office/drawing/2014/main" id="{92AB2FC2-074D-ABF0-BD5C-B7F76090355F}"/>
              </a:ext>
            </a:extLst>
          </p:cNvPr>
          <p:cNvCxnSpPr>
            <a:cxnSpLocks/>
          </p:cNvCxnSpPr>
          <p:nvPr/>
        </p:nvCxnSpPr>
        <p:spPr>
          <a:xfrm flipH="1">
            <a:off x="5876273" y="3288429"/>
            <a:ext cx="923361" cy="307324"/>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905EAD6-E8CD-18A1-4CCF-9DB29BB00E7E}"/>
              </a:ext>
            </a:extLst>
          </p:cNvPr>
          <p:cNvSpPr txBox="1"/>
          <p:nvPr/>
        </p:nvSpPr>
        <p:spPr>
          <a:xfrm>
            <a:off x="6933857" y="1923761"/>
            <a:ext cx="2050751" cy="646331"/>
          </a:xfrm>
          <a:prstGeom prst="rect">
            <a:avLst/>
          </a:prstGeom>
          <a:solidFill>
            <a:schemeClr val="bg1"/>
          </a:solidFill>
        </p:spPr>
        <p:txBody>
          <a:bodyPr wrap="square" rtlCol="0">
            <a:spAutoFit/>
          </a:bodyPr>
          <a:lstStyle/>
          <a:p>
            <a:r>
              <a:rPr lang="en-US" sz="1200" dirty="0">
                <a:latin typeface="Chalkboard" panose="03050602040202020205" pitchFamily="66" charset="77"/>
              </a:rPr>
              <a:t>We don’t delete a message, we just increment the offset.</a:t>
            </a:r>
          </a:p>
        </p:txBody>
      </p:sp>
      <p:cxnSp>
        <p:nvCxnSpPr>
          <p:cNvPr id="8" name="Straight Arrow Connector 7">
            <a:extLst>
              <a:ext uri="{FF2B5EF4-FFF2-40B4-BE49-F238E27FC236}">
                <a16:creationId xmlns:a16="http://schemas.microsoft.com/office/drawing/2014/main" id="{70D97720-093D-BDF2-6DED-B8C4CBA272E0}"/>
              </a:ext>
            </a:extLst>
          </p:cNvPr>
          <p:cNvCxnSpPr/>
          <p:nvPr/>
        </p:nvCxnSpPr>
        <p:spPr>
          <a:xfrm flipH="1" flipV="1">
            <a:off x="5176381" y="2783806"/>
            <a:ext cx="1623254" cy="4596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AA54A3A-1AA6-88A3-6DAA-D97F318FBB2E}"/>
              </a:ext>
            </a:extLst>
          </p:cNvPr>
          <p:cNvCxnSpPr>
            <a:cxnSpLocks/>
          </p:cNvCxnSpPr>
          <p:nvPr/>
        </p:nvCxnSpPr>
        <p:spPr>
          <a:xfrm flipH="1" flipV="1">
            <a:off x="4493255" y="2963626"/>
            <a:ext cx="2306379" cy="2798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85CBC79-D507-E560-758F-F47296D390F5}"/>
              </a:ext>
            </a:extLst>
          </p:cNvPr>
          <p:cNvCxnSpPr>
            <a:cxnSpLocks/>
          </p:cNvCxnSpPr>
          <p:nvPr/>
        </p:nvCxnSpPr>
        <p:spPr>
          <a:xfrm flipH="1">
            <a:off x="5176381" y="3262248"/>
            <a:ext cx="1623253" cy="352294"/>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6EE4B0A-AE4E-B1B3-4B71-A2C1A83B1599}"/>
              </a:ext>
            </a:extLst>
          </p:cNvPr>
          <p:cNvCxnSpPr>
            <a:cxnSpLocks/>
          </p:cNvCxnSpPr>
          <p:nvPr/>
        </p:nvCxnSpPr>
        <p:spPr>
          <a:xfrm flipH="1">
            <a:off x="4572000" y="3243459"/>
            <a:ext cx="2227634" cy="352294"/>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58B9A2B-2EC0-61B2-7ED0-60284949DB63}"/>
              </a:ext>
            </a:extLst>
          </p:cNvPr>
          <p:cNvCxnSpPr>
            <a:cxnSpLocks/>
          </p:cNvCxnSpPr>
          <p:nvPr/>
        </p:nvCxnSpPr>
        <p:spPr>
          <a:xfrm flipH="1" flipV="1">
            <a:off x="4368452" y="3008596"/>
            <a:ext cx="2431182" cy="2348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1E8C46E-B7A3-0EF9-4852-9A599A93C4EF}"/>
              </a:ext>
            </a:extLst>
          </p:cNvPr>
          <p:cNvSpPr txBox="1"/>
          <p:nvPr/>
        </p:nvSpPr>
        <p:spPr>
          <a:xfrm>
            <a:off x="546113" y="4777362"/>
            <a:ext cx="4336280" cy="1231106"/>
          </a:xfrm>
          <a:prstGeom prst="rect">
            <a:avLst/>
          </a:prstGeom>
          <a:solidFill>
            <a:schemeClr val="bg1"/>
          </a:solidFill>
          <a:ln>
            <a:solidFill>
              <a:schemeClr val="tx1"/>
            </a:solidFill>
          </a:ln>
        </p:spPr>
        <p:txBody>
          <a:bodyPr wrap="square" rtlCol="0">
            <a:spAutoFit/>
          </a:bodyPr>
          <a:lstStyle/>
          <a:p>
            <a:r>
              <a:rPr lang="en-US" sz="1400" b="1" dirty="0">
                <a:latin typeface="Chalkboard" panose="03050602040202020205" pitchFamily="66" charset="77"/>
              </a:rPr>
              <a:t>No Requeue or DLQ</a:t>
            </a:r>
          </a:p>
          <a:p>
            <a:r>
              <a:rPr lang="en-US" sz="1200" dirty="0">
                <a:latin typeface="Chalkboard" panose="03050602040202020205" pitchFamily="66" charset="77"/>
              </a:rPr>
              <a:t>Because we do not lock items, we do not requeue items, including requeue with delay. Your strategy is:</a:t>
            </a:r>
          </a:p>
          <a:p>
            <a:pPr marL="128588" indent="-128588">
              <a:buFontTx/>
              <a:buChar char="-"/>
            </a:pPr>
            <a:r>
              <a:rPr lang="en-US" sz="1200" dirty="0">
                <a:latin typeface="Chalkboard" panose="03050602040202020205" pitchFamily="66" charset="77"/>
              </a:rPr>
              <a:t>Ignore and Continue (Load Shedding)</a:t>
            </a:r>
          </a:p>
          <a:p>
            <a:pPr marL="128588" indent="-128588">
              <a:buFontTx/>
              <a:buChar char="-"/>
            </a:pPr>
            <a:r>
              <a:rPr lang="en-US" sz="1200" dirty="0">
                <a:latin typeface="Chalkboard" panose="03050602040202020205" pitchFamily="66" charset="77"/>
              </a:rPr>
              <a:t>Retry (Backpressure)</a:t>
            </a:r>
          </a:p>
          <a:p>
            <a:pPr marL="128588" indent="-128588">
              <a:buFontTx/>
              <a:buChar char="-"/>
            </a:pPr>
            <a:r>
              <a:rPr lang="en-US" sz="1200" dirty="0">
                <a:latin typeface="Chalkboard" panose="03050602040202020205" pitchFamily="66" charset="77"/>
              </a:rPr>
              <a:t>Copy to another stream (a delay or DLQ stream)</a:t>
            </a:r>
          </a:p>
        </p:txBody>
      </p:sp>
    </p:spTree>
    <p:extLst>
      <p:ext uri="{BB962C8B-B14F-4D97-AF65-F5344CB8AC3E}">
        <p14:creationId xmlns:p14="http://schemas.microsoft.com/office/powerpoint/2010/main" val="41502136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E2AD8973-C25A-EE82-A88A-7337EDEDF71B}"/>
              </a:ext>
            </a:extLst>
          </p:cNvPr>
          <p:cNvGraphicFramePr>
            <a:graphicFrameLocks noGrp="1"/>
          </p:cNvGraphicFramePr>
          <p:nvPr/>
        </p:nvGraphicFramePr>
        <p:xfrm>
          <a:off x="1419640" y="2192555"/>
          <a:ext cx="6096000" cy="845820"/>
        </p:xfrm>
        <a:graphic>
          <a:graphicData uri="http://schemas.openxmlformats.org/drawingml/2006/table">
            <a:tbl>
              <a:tblPr firstRow="1" bandRow="1">
                <a:tableStyleId>{E8034E78-7F5D-4C2E-B375-FC64B27BC917}</a:tableStyleId>
              </a:tblPr>
              <a:tblGrid>
                <a:gridCol w="1524000">
                  <a:extLst>
                    <a:ext uri="{9D8B030D-6E8A-4147-A177-3AD203B41FA5}">
                      <a16:colId xmlns:a16="http://schemas.microsoft.com/office/drawing/2014/main" val="2142778378"/>
                    </a:ext>
                  </a:extLst>
                </a:gridCol>
                <a:gridCol w="1524000">
                  <a:extLst>
                    <a:ext uri="{9D8B030D-6E8A-4147-A177-3AD203B41FA5}">
                      <a16:colId xmlns:a16="http://schemas.microsoft.com/office/drawing/2014/main" val="4145303998"/>
                    </a:ext>
                  </a:extLst>
                </a:gridCol>
                <a:gridCol w="1524000">
                  <a:extLst>
                    <a:ext uri="{9D8B030D-6E8A-4147-A177-3AD203B41FA5}">
                      <a16:colId xmlns:a16="http://schemas.microsoft.com/office/drawing/2014/main" val="2811213663"/>
                    </a:ext>
                  </a:extLst>
                </a:gridCol>
                <a:gridCol w="1524000">
                  <a:extLst>
                    <a:ext uri="{9D8B030D-6E8A-4147-A177-3AD203B41FA5}">
                      <a16:colId xmlns:a16="http://schemas.microsoft.com/office/drawing/2014/main" val="395841470"/>
                    </a:ext>
                  </a:extLst>
                </a:gridCol>
              </a:tblGrid>
              <a:tr h="278130">
                <a:tc>
                  <a:txBody>
                    <a:bodyPr/>
                    <a:lstStyle/>
                    <a:p>
                      <a:endParaRPr lang="en-US" sz="1400" dirty="0"/>
                    </a:p>
                  </a:txBody>
                  <a:tcPr marL="68580" marR="68580" marT="34290" marB="34290"/>
                </a:tc>
                <a:tc>
                  <a:txBody>
                    <a:bodyPr/>
                    <a:lstStyle/>
                    <a:p>
                      <a:r>
                        <a:rPr lang="en-US" sz="1400" dirty="0"/>
                        <a:t>Messaging</a:t>
                      </a:r>
                    </a:p>
                  </a:txBody>
                  <a:tcPr marL="68580" marR="68580" marT="34290" marB="34290"/>
                </a:tc>
                <a:tc>
                  <a:txBody>
                    <a:bodyPr/>
                    <a:lstStyle/>
                    <a:p>
                      <a:r>
                        <a:rPr lang="en-US" sz="1400" dirty="0"/>
                        <a:t>Discrete Event</a:t>
                      </a:r>
                    </a:p>
                  </a:txBody>
                  <a:tcPr marL="68580" marR="68580" marT="34290" marB="34290"/>
                </a:tc>
                <a:tc>
                  <a:txBody>
                    <a:bodyPr/>
                    <a:lstStyle/>
                    <a:p>
                      <a:r>
                        <a:rPr lang="en-US" sz="1400" dirty="0"/>
                        <a:t>Series Event</a:t>
                      </a:r>
                    </a:p>
                  </a:txBody>
                  <a:tcPr marL="68580" marR="68580" marT="34290" marB="34290"/>
                </a:tc>
                <a:extLst>
                  <a:ext uri="{0D108BD9-81ED-4DB2-BD59-A6C34878D82A}">
                    <a16:rowId xmlns:a16="http://schemas.microsoft.com/office/drawing/2014/main" val="1747342099"/>
                  </a:ext>
                </a:extLst>
              </a:tr>
              <a:tr h="278130">
                <a:tc>
                  <a:txBody>
                    <a:bodyPr/>
                    <a:lstStyle/>
                    <a:p>
                      <a:r>
                        <a:rPr lang="en-US" sz="1400" dirty="0">
                          <a:solidFill>
                            <a:schemeClr val="tx1"/>
                          </a:solidFill>
                        </a:rPr>
                        <a:t>Queue</a:t>
                      </a:r>
                    </a:p>
                  </a:txBody>
                  <a:tcPr marL="68580" marR="68580" marT="34290" marB="34290"/>
                </a:tc>
                <a:tc>
                  <a:txBody>
                    <a:bodyPr/>
                    <a:lstStyle/>
                    <a:p>
                      <a:endParaRPr lang="en-US" sz="1400" dirty="0">
                        <a:solidFill>
                          <a:schemeClr val="tx1"/>
                        </a:solidFill>
                      </a:endParaRPr>
                    </a:p>
                  </a:txBody>
                  <a:tcPr marL="68580" marR="68580" marT="34290" marB="34290"/>
                </a:tc>
                <a:tc>
                  <a:txBody>
                    <a:bodyPr/>
                    <a:lstStyle/>
                    <a:p>
                      <a:endParaRPr lang="en-US" sz="1400">
                        <a:solidFill>
                          <a:schemeClr val="tx1"/>
                        </a:solidFill>
                      </a:endParaRPr>
                    </a:p>
                  </a:txBody>
                  <a:tcPr marL="68580" marR="68580" marT="34290" marB="34290"/>
                </a:tc>
                <a:tc>
                  <a:txBody>
                    <a:bodyPr/>
                    <a:lstStyle/>
                    <a:p>
                      <a:endParaRPr lang="en-US" sz="1400">
                        <a:solidFill>
                          <a:schemeClr val="tx1"/>
                        </a:solidFill>
                      </a:endParaRPr>
                    </a:p>
                  </a:txBody>
                  <a:tcPr marL="68580" marR="68580" marT="34290" marB="34290"/>
                </a:tc>
                <a:extLst>
                  <a:ext uri="{0D108BD9-81ED-4DB2-BD59-A6C34878D82A}">
                    <a16:rowId xmlns:a16="http://schemas.microsoft.com/office/drawing/2014/main" val="4046753284"/>
                  </a:ext>
                </a:extLst>
              </a:tr>
              <a:tr h="278130">
                <a:tc>
                  <a:txBody>
                    <a:bodyPr/>
                    <a:lstStyle/>
                    <a:p>
                      <a:r>
                        <a:rPr lang="en-US" sz="1400" dirty="0">
                          <a:solidFill>
                            <a:schemeClr val="tx1"/>
                          </a:solidFill>
                        </a:rPr>
                        <a:t>Stream</a:t>
                      </a:r>
                    </a:p>
                  </a:txBody>
                  <a:tcPr marL="68580" marR="68580" marT="34290" marB="34290"/>
                </a:tc>
                <a:tc>
                  <a:txBody>
                    <a:bodyPr/>
                    <a:lstStyle/>
                    <a:p>
                      <a:endParaRPr lang="en-US" sz="1400" dirty="0">
                        <a:solidFill>
                          <a:schemeClr val="tx1"/>
                        </a:solidFill>
                      </a:endParaRPr>
                    </a:p>
                  </a:txBody>
                  <a:tcPr marL="68580" marR="68580" marT="34290" marB="34290"/>
                </a:tc>
                <a:tc>
                  <a:txBody>
                    <a:bodyPr/>
                    <a:lstStyle/>
                    <a:p>
                      <a:endParaRPr lang="en-US" sz="1400" dirty="0">
                        <a:solidFill>
                          <a:schemeClr val="tx1"/>
                        </a:solidFill>
                      </a:endParaRPr>
                    </a:p>
                  </a:txBody>
                  <a:tcPr marL="68580" marR="68580" marT="34290" marB="34290"/>
                </a:tc>
                <a:tc>
                  <a:txBody>
                    <a:bodyPr/>
                    <a:lstStyle/>
                    <a:p>
                      <a:endParaRPr lang="en-US" sz="1400" dirty="0">
                        <a:solidFill>
                          <a:schemeClr val="tx1"/>
                        </a:solidFill>
                      </a:endParaRPr>
                    </a:p>
                  </a:txBody>
                  <a:tcPr marL="68580" marR="68580" marT="34290" marB="34290"/>
                </a:tc>
                <a:extLst>
                  <a:ext uri="{0D108BD9-81ED-4DB2-BD59-A6C34878D82A}">
                    <a16:rowId xmlns:a16="http://schemas.microsoft.com/office/drawing/2014/main" val="3251659570"/>
                  </a:ext>
                </a:extLst>
              </a:tr>
            </a:tbl>
          </a:graphicData>
        </a:graphic>
      </p:graphicFrame>
      <p:pic>
        <p:nvPicPr>
          <p:cNvPr id="4" name="Graphic 3" descr="Tick">
            <a:extLst>
              <a:ext uri="{FF2B5EF4-FFF2-40B4-BE49-F238E27FC236}">
                <a16:creationId xmlns:a16="http://schemas.microsoft.com/office/drawing/2014/main" id="{BE1E7599-30FC-066B-E117-FAA4A9F168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74944" y="2460415"/>
            <a:ext cx="275811" cy="275811"/>
          </a:xfrm>
          <a:prstGeom prst="rect">
            <a:avLst/>
          </a:prstGeom>
        </p:spPr>
      </p:pic>
      <p:pic>
        <p:nvPicPr>
          <p:cNvPr id="5" name="Graphic 4" descr="Tick">
            <a:extLst>
              <a:ext uri="{FF2B5EF4-FFF2-40B4-BE49-F238E27FC236}">
                <a16:creationId xmlns:a16="http://schemas.microsoft.com/office/drawing/2014/main" id="{D47145C3-E3B9-7D0D-0F5C-FAB2C28DC8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65205" y="2460415"/>
            <a:ext cx="275811" cy="275811"/>
          </a:xfrm>
          <a:prstGeom prst="rect">
            <a:avLst/>
          </a:prstGeom>
        </p:spPr>
      </p:pic>
      <p:pic>
        <p:nvPicPr>
          <p:cNvPr id="6" name="Graphic 5" descr="Tick">
            <a:extLst>
              <a:ext uri="{FF2B5EF4-FFF2-40B4-BE49-F238E27FC236}">
                <a16:creationId xmlns:a16="http://schemas.microsoft.com/office/drawing/2014/main" id="{BCB6A13E-8062-0F34-CD1E-D305B9CA75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20679" y="2736226"/>
            <a:ext cx="275811" cy="275811"/>
          </a:xfrm>
          <a:prstGeom prst="rect">
            <a:avLst/>
          </a:prstGeom>
        </p:spPr>
      </p:pic>
      <p:pic>
        <p:nvPicPr>
          <p:cNvPr id="8" name="Graphic 7" descr="Close">
            <a:extLst>
              <a:ext uri="{FF2B5EF4-FFF2-40B4-BE49-F238E27FC236}">
                <a16:creationId xmlns:a16="http://schemas.microsoft.com/office/drawing/2014/main" id="{AA238884-A134-B104-D8E3-DA04F43E41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4945" y="2738711"/>
            <a:ext cx="273326" cy="273326"/>
          </a:xfrm>
          <a:prstGeom prst="rect">
            <a:avLst/>
          </a:prstGeom>
        </p:spPr>
      </p:pic>
      <p:pic>
        <p:nvPicPr>
          <p:cNvPr id="9" name="Graphic 8" descr="Close">
            <a:extLst>
              <a:ext uri="{FF2B5EF4-FFF2-40B4-BE49-F238E27FC236}">
                <a16:creationId xmlns:a16="http://schemas.microsoft.com/office/drawing/2014/main" id="{214FE694-FFC3-14E9-E2B2-C50BA14015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18195" y="2462900"/>
            <a:ext cx="273326" cy="273326"/>
          </a:xfrm>
          <a:prstGeom prst="rect">
            <a:avLst/>
          </a:prstGeom>
        </p:spPr>
      </p:pic>
      <p:pic>
        <p:nvPicPr>
          <p:cNvPr id="10" name="Graphic 9" descr="Tick">
            <a:extLst>
              <a:ext uri="{FF2B5EF4-FFF2-40B4-BE49-F238E27FC236}">
                <a16:creationId xmlns:a16="http://schemas.microsoft.com/office/drawing/2014/main" id="{D30A6BAE-A9C3-A9B0-9DE7-15425EAB7A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65205" y="2758589"/>
            <a:ext cx="275811" cy="275811"/>
          </a:xfrm>
          <a:prstGeom prst="rect">
            <a:avLst/>
          </a:prstGeom>
        </p:spPr>
      </p:pic>
      <p:graphicFrame>
        <p:nvGraphicFramePr>
          <p:cNvPr id="3" name="Table 2">
            <a:extLst>
              <a:ext uri="{FF2B5EF4-FFF2-40B4-BE49-F238E27FC236}">
                <a16:creationId xmlns:a16="http://schemas.microsoft.com/office/drawing/2014/main" id="{BC81F57B-E7FB-E6ED-B18A-8DE6115F5C5E}"/>
              </a:ext>
            </a:extLst>
          </p:cNvPr>
          <p:cNvGraphicFramePr>
            <a:graphicFrameLocks noGrp="1"/>
          </p:cNvGraphicFramePr>
          <p:nvPr/>
        </p:nvGraphicFramePr>
        <p:xfrm>
          <a:off x="1406652" y="3667850"/>
          <a:ext cx="6293768" cy="1059180"/>
        </p:xfrm>
        <a:graphic>
          <a:graphicData uri="http://schemas.openxmlformats.org/drawingml/2006/table">
            <a:tbl>
              <a:tblPr firstRow="1" bandRow="1">
                <a:tableStyleId>{E8034E78-7F5D-4C2E-B375-FC64B27BC917}</a:tableStyleId>
              </a:tblPr>
              <a:tblGrid>
                <a:gridCol w="1573442">
                  <a:extLst>
                    <a:ext uri="{9D8B030D-6E8A-4147-A177-3AD203B41FA5}">
                      <a16:colId xmlns:a16="http://schemas.microsoft.com/office/drawing/2014/main" val="2142778378"/>
                    </a:ext>
                  </a:extLst>
                </a:gridCol>
                <a:gridCol w="1573442">
                  <a:extLst>
                    <a:ext uri="{9D8B030D-6E8A-4147-A177-3AD203B41FA5}">
                      <a16:colId xmlns:a16="http://schemas.microsoft.com/office/drawing/2014/main" val="4145303998"/>
                    </a:ext>
                  </a:extLst>
                </a:gridCol>
                <a:gridCol w="1573442">
                  <a:extLst>
                    <a:ext uri="{9D8B030D-6E8A-4147-A177-3AD203B41FA5}">
                      <a16:colId xmlns:a16="http://schemas.microsoft.com/office/drawing/2014/main" val="2811213663"/>
                    </a:ext>
                  </a:extLst>
                </a:gridCol>
                <a:gridCol w="1573442">
                  <a:extLst>
                    <a:ext uri="{9D8B030D-6E8A-4147-A177-3AD203B41FA5}">
                      <a16:colId xmlns:a16="http://schemas.microsoft.com/office/drawing/2014/main" val="395841470"/>
                    </a:ext>
                  </a:extLst>
                </a:gridCol>
              </a:tblGrid>
              <a:tr h="278130">
                <a:tc>
                  <a:txBody>
                    <a:bodyPr/>
                    <a:lstStyle/>
                    <a:p>
                      <a:endParaRPr lang="en-US" sz="1400" dirty="0"/>
                    </a:p>
                  </a:txBody>
                  <a:tcPr marL="68580" marR="68580" marT="34290" marB="34290"/>
                </a:tc>
                <a:tc>
                  <a:txBody>
                    <a:bodyPr/>
                    <a:lstStyle/>
                    <a:p>
                      <a:r>
                        <a:rPr lang="en-US" sz="1400" dirty="0"/>
                        <a:t>Ordering</a:t>
                      </a:r>
                    </a:p>
                  </a:txBody>
                  <a:tcPr marL="68580" marR="68580" marT="34290" marB="34290"/>
                </a:tc>
                <a:tc>
                  <a:txBody>
                    <a:bodyPr/>
                    <a:lstStyle/>
                    <a:p>
                      <a:r>
                        <a:rPr lang="en-US" sz="1400" dirty="0"/>
                        <a:t>Archive and Replay</a:t>
                      </a:r>
                    </a:p>
                  </a:txBody>
                  <a:tcPr marL="68580" marR="68580" marT="34290" marB="34290"/>
                </a:tc>
                <a:tc>
                  <a:txBody>
                    <a:bodyPr/>
                    <a:lstStyle/>
                    <a:p>
                      <a:r>
                        <a:rPr lang="en-US" sz="1400" dirty="0"/>
                        <a:t>Requeue with Delay</a:t>
                      </a:r>
                    </a:p>
                  </a:txBody>
                  <a:tcPr marL="68580" marR="68580" marT="34290" marB="34290"/>
                </a:tc>
                <a:extLst>
                  <a:ext uri="{0D108BD9-81ED-4DB2-BD59-A6C34878D82A}">
                    <a16:rowId xmlns:a16="http://schemas.microsoft.com/office/drawing/2014/main" val="1747342099"/>
                  </a:ext>
                </a:extLst>
              </a:tr>
              <a:tr h="278130">
                <a:tc>
                  <a:txBody>
                    <a:bodyPr/>
                    <a:lstStyle/>
                    <a:p>
                      <a:r>
                        <a:rPr lang="en-US" sz="1400" dirty="0">
                          <a:solidFill>
                            <a:schemeClr val="tx1"/>
                          </a:solidFill>
                        </a:rPr>
                        <a:t>Queue</a:t>
                      </a:r>
                    </a:p>
                  </a:txBody>
                  <a:tcPr marL="68580" marR="68580" marT="34290" marB="34290"/>
                </a:tc>
                <a:tc>
                  <a:txBody>
                    <a:bodyPr/>
                    <a:lstStyle/>
                    <a:p>
                      <a:endParaRPr lang="en-US" sz="1400" dirty="0">
                        <a:solidFill>
                          <a:schemeClr val="tx1"/>
                        </a:solidFill>
                      </a:endParaRPr>
                    </a:p>
                  </a:txBody>
                  <a:tcPr marL="68580" marR="68580" marT="34290" marB="34290"/>
                </a:tc>
                <a:tc>
                  <a:txBody>
                    <a:bodyPr/>
                    <a:lstStyle/>
                    <a:p>
                      <a:endParaRPr lang="en-US" sz="1400" dirty="0">
                        <a:solidFill>
                          <a:schemeClr val="tx1"/>
                        </a:solidFill>
                      </a:endParaRPr>
                    </a:p>
                  </a:txBody>
                  <a:tcPr marL="68580" marR="68580" marT="34290" marB="34290"/>
                </a:tc>
                <a:tc>
                  <a:txBody>
                    <a:bodyPr/>
                    <a:lstStyle/>
                    <a:p>
                      <a:endParaRPr lang="en-US" sz="1400">
                        <a:solidFill>
                          <a:schemeClr val="tx1"/>
                        </a:solidFill>
                      </a:endParaRPr>
                    </a:p>
                  </a:txBody>
                  <a:tcPr marL="68580" marR="68580" marT="34290" marB="34290"/>
                </a:tc>
                <a:extLst>
                  <a:ext uri="{0D108BD9-81ED-4DB2-BD59-A6C34878D82A}">
                    <a16:rowId xmlns:a16="http://schemas.microsoft.com/office/drawing/2014/main" val="4046753284"/>
                  </a:ext>
                </a:extLst>
              </a:tr>
              <a:tr h="278130">
                <a:tc>
                  <a:txBody>
                    <a:bodyPr/>
                    <a:lstStyle/>
                    <a:p>
                      <a:r>
                        <a:rPr lang="en-US" sz="1400" dirty="0">
                          <a:solidFill>
                            <a:schemeClr val="tx1"/>
                          </a:solidFill>
                        </a:rPr>
                        <a:t>Stream</a:t>
                      </a:r>
                    </a:p>
                  </a:txBody>
                  <a:tcPr marL="68580" marR="68580" marT="34290" marB="34290"/>
                </a:tc>
                <a:tc>
                  <a:txBody>
                    <a:bodyPr/>
                    <a:lstStyle/>
                    <a:p>
                      <a:endParaRPr lang="en-US" sz="1400" dirty="0">
                        <a:solidFill>
                          <a:schemeClr val="tx1"/>
                        </a:solidFill>
                      </a:endParaRPr>
                    </a:p>
                  </a:txBody>
                  <a:tcPr marL="68580" marR="68580" marT="34290" marB="34290"/>
                </a:tc>
                <a:tc>
                  <a:txBody>
                    <a:bodyPr/>
                    <a:lstStyle/>
                    <a:p>
                      <a:endParaRPr lang="en-US" sz="1400" dirty="0">
                        <a:solidFill>
                          <a:schemeClr val="tx1"/>
                        </a:solidFill>
                      </a:endParaRPr>
                    </a:p>
                  </a:txBody>
                  <a:tcPr marL="68580" marR="68580" marT="34290" marB="34290"/>
                </a:tc>
                <a:tc>
                  <a:txBody>
                    <a:bodyPr/>
                    <a:lstStyle/>
                    <a:p>
                      <a:endParaRPr lang="en-US" sz="1400" dirty="0">
                        <a:solidFill>
                          <a:schemeClr val="tx1"/>
                        </a:solidFill>
                      </a:endParaRPr>
                    </a:p>
                  </a:txBody>
                  <a:tcPr marL="68580" marR="68580" marT="34290" marB="34290"/>
                </a:tc>
                <a:extLst>
                  <a:ext uri="{0D108BD9-81ED-4DB2-BD59-A6C34878D82A}">
                    <a16:rowId xmlns:a16="http://schemas.microsoft.com/office/drawing/2014/main" val="3251659570"/>
                  </a:ext>
                </a:extLst>
              </a:tr>
            </a:tbl>
          </a:graphicData>
        </a:graphic>
      </p:graphicFrame>
      <p:pic>
        <p:nvPicPr>
          <p:cNvPr id="7" name="Graphic 6" descr="Tick">
            <a:extLst>
              <a:ext uri="{FF2B5EF4-FFF2-40B4-BE49-F238E27FC236}">
                <a16:creationId xmlns:a16="http://schemas.microsoft.com/office/drawing/2014/main" id="{8F22262C-5B1A-9306-FDC5-4481E672AE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35111" y="4153045"/>
            <a:ext cx="275811" cy="275811"/>
          </a:xfrm>
          <a:prstGeom prst="rect">
            <a:avLst/>
          </a:prstGeom>
        </p:spPr>
      </p:pic>
      <p:pic>
        <p:nvPicPr>
          <p:cNvPr id="12" name="Graphic 11" descr="Tick">
            <a:extLst>
              <a:ext uri="{FF2B5EF4-FFF2-40B4-BE49-F238E27FC236}">
                <a16:creationId xmlns:a16="http://schemas.microsoft.com/office/drawing/2014/main" id="{C9B2B4CA-2235-EBDC-99F0-5629B87FD6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63858" y="4149413"/>
            <a:ext cx="275811" cy="275811"/>
          </a:xfrm>
          <a:prstGeom prst="rect">
            <a:avLst/>
          </a:prstGeom>
        </p:spPr>
      </p:pic>
      <p:pic>
        <p:nvPicPr>
          <p:cNvPr id="14" name="Graphic 13" descr="Close">
            <a:extLst>
              <a:ext uri="{FF2B5EF4-FFF2-40B4-BE49-F238E27FC236}">
                <a16:creationId xmlns:a16="http://schemas.microsoft.com/office/drawing/2014/main" id="{E801E524-DDEB-C5A3-9B19-8FE815267DB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872" y="4428856"/>
            <a:ext cx="273326" cy="273326"/>
          </a:xfrm>
          <a:prstGeom prst="rect">
            <a:avLst/>
          </a:prstGeom>
        </p:spPr>
      </p:pic>
      <p:pic>
        <p:nvPicPr>
          <p:cNvPr id="15" name="Graphic 14" descr="Tick">
            <a:extLst>
              <a:ext uri="{FF2B5EF4-FFF2-40B4-BE49-F238E27FC236}">
                <a16:creationId xmlns:a16="http://schemas.microsoft.com/office/drawing/2014/main" id="{C2F82D16-2CBD-219E-952D-B1E8AC5786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25372" y="4451219"/>
            <a:ext cx="275811" cy="275811"/>
          </a:xfrm>
          <a:prstGeom prst="rect">
            <a:avLst/>
          </a:prstGeom>
        </p:spPr>
      </p:pic>
      <p:pic>
        <p:nvPicPr>
          <p:cNvPr id="16" name="Graphic 15" descr="Close">
            <a:extLst>
              <a:ext uri="{FF2B5EF4-FFF2-40B4-BE49-F238E27FC236}">
                <a16:creationId xmlns:a16="http://schemas.microsoft.com/office/drawing/2014/main" id="{0437D3C5-3C06-0C12-EBBF-5C8D2A0544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45710" y="4177893"/>
            <a:ext cx="273326" cy="273326"/>
          </a:xfrm>
          <a:prstGeom prst="rect">
            <a:avLst/>
          </a:prstGeom>
        </p:spPr>
      </p:pic>
      <p:pic>
        <p:nvPicPr>
          <p:cNvPr id="17" name="Graphic 16" descr="Close">
            <a:extLst>
              <a:ext uri="{FF2B5EF4-FFF2-40B4-BE49-F238E27FC236}">
                <a16:creationId xmlns:a16="http://schemas.microsoft.com/office/drawing/2014/main" id="{2D76B4B1-3AA0-C1B2-92C2-3265F2B1409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40844" y="4170439"/>
            <a:ext cx="273326" cy="273326"/>
          </a:xfrm>
          <a:prstGeom prst="rect">
            <a:avLst/>
          </a:prstGeom>
        </p:spPr>
      </p:pic>
      <p:pic>
        <p:nvPicPr>
          <p:cNvPr id="11" name="Graphic 10" descr="Tick">
            <a:extLst>
              <a:ext uri="{FF2B5EF4-FFF2-40B4-BE49-F238E27FC236}">
                <a16:creationId xmlns:a16="http://schemas.microsoft.com/office/drawing/2014/main" id="{74200377-7762-0B29-AE9E-000D651DA594}"/>
              </a:ext>
            </a:extLst>
          </p:cNvPr>
          <p:cNvPicPr>
            <a:picLocks noChangeAspect="1"/>
          </p:cNvPicPr>
          <p:nvPr/>
        </p:nvPicPr>
        <p:blipFill>
          <a:blip r:embed="rId2">
            <a:extLst>
              <a:ext uri="{96DAC541-7B7A-43D3-8B79-37D633B846F1}">
                <asvg:svgBlip xmlns:asvg="http://schemas.microsoft.com/office/drawing/2016/SVG/main" r:embed="rId6"/>
              </a:ext>
            </a:extLst>
          </a:blip>
          <a:stretch>
            <a:fillRect/>
          </a:stretch>
        </p:blipFill>
        <p:spPr>
          <a:xfrm>
            <a:off x="3373016" y="4451218"/>
            <a:ext cx="275811" cy="275811"/>
          </a:xfrm>
          <a:prstGeom prst="rect">
            <a:avLst/>
          </a:prstGeom>
        </p:spPr>
      </p:pic>
    </p:spTree>
    <p:extLst>
      <p:ext uri="{BB962C8B-B14F-4D97-AF65-F5344CB8AC3E}">
        <p14:creationId xmlns:p14="http://schemas.microsoft.com/office/powerpoint/2010/main" val="245038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26338D-9536-1854-7B13-874ED4A6D3D1}"/>
              </a:ext>
            </a:extLst>
          </p:cNvPr>
          <p:cNvSpPr>
            <a:spLocks noGrp="1"/>
          </p:cNvSpPr>
          <p:nvPr>
            <p:ph type="sldNum" sz="quarter" idx="12"/>
          </p:nvPr>
        </p:nvSpPr>
        <p:spPr/>
        <p:txBody>
          <a:bodyPr/>
          <a:lstStyle/>
          <a:p>
            <a:fld id="{867D4A06-35AE-BD4A-84A9-613A26F3D41D}" type="slidenum">
              <a:rPr lang="en-US" smtClean="0"/>
              <a:pPr/>
              <a:t>90</a:t>
            </a:fld>
            <a:endParaRPr lang="en-US"/>
          </a:p>
        </p:txBody>
      </p:sp>
      <p:sp>
        <p:nvSpPr>
          <p:cNvPr id="6" name="TextBox 5">
            <a:extLst>
              <a:ext uri="{FF2B5EF4-FFF2-40B4-BE49-F238E27FC236}">
                <a16:creationId xmlns:a16="http://schemas.microsoft.com/office/drawing/2014/main" id="{6AD21055-9C29-81E5-40C2-ACB07B1D300D}"/>
              </a:ext>
            </a:extLst>
          </p:cNvPr>
          <p:cNvSpPr txBox="1"/>
          <p:nvPr/>
        </p:nvSpPr>
        <p:spPr>
          <a:xfrm>
            <a:off x="671513" y="2715578"/>
            <a:ext cx="2928937" cy="646331"/>
          </a:xfrm>
          <a:prstGeom prst="rect">
            <a:avLst/>
          </a:prstGeom>
          <a:noFill/>
        </p:spPr>
        <p:txBody>
          <a:bodyPr wrap="square" rtlCol="0">
            <a:spAutoFit/>
          </a:bodyPr>
          <a:lstStyle/>
          <a:p>
            <a:pPr marL="457200" indent="-457200">
              <a:buFont typeface="Arial" panose="020B0604020202020204" pitchFamily="34" charset="0"/>
              <a:buChar char="•"/>
            </a:pPr>
            <a:r>
              <a:rPr lang="en-GB" dirty="0"/>
              <a:t>Readme</a:t>
            </a:r>
          </a:p>
          <a:p>
            <a:pPr marL="457200" indent="-457200">
              <a:buFont typeface="Arial" panose="020B0604020202020204" pitchFamily="34" charset="0"/>
              <a:buChar char="•"/>
            </a:pPr>
            <a:r>
              <a:rPr lang="en-GB" dirty="0"/>
              <a:t>Slides</a:t>
            </a:r>
          </a:p>
        </p:txBody>
      </p:sp>
      <p:sp>
        <p:nvSpPr>
          <p:cNvPr id="7" name="TextBox 6">
            <a:extLst>
              <a:ext uri="{FF2B5EF4-FFF2-40B4-BE49-F238E27FC236}">
                <a16:creationId xmlns:a16="http://schemas.microsoft.com/office/drawing/2014/main" id="{FFBD4C44-64B5-C976-522F-289FCDE72BA0}"/>
              </a:ext>
            </a:extLst>
          </p:cNvPr>
          <p:cNvSpPr txBox="1"/>
          <p:nvPr/>
        </p:nvSpPr>
        <p:spPr>
          <a:xfrm>
            <a:off x="742188" y="1866553"/>
            <a:ext cx="3451860" cy="400110"/>
          </a:xfrm>
          <a:prstGeom prst="rect">
            <a:avLst/>
          </a:prstGeom>
          <a:noFill/>
        </p:spPr>
        <p:txBody>
          <a:bodyPr wrap="square" rtlCol="0">
            <a:spAutoFit/>
          </a:bodyPr>
          <a:lstStyle/>
          <a:p>
            <a:r>
              <a:rPr lang="en-GB" sz="2000" dirty="0"/>
              <a:t>Introduction to Kafka</a:t>
            </a:r>
          </a:p>
        </p:txBody>
      </p:sp>
      <p:sp>
        <p:nvSpPr>
          <p:cNvPr id="2" name="Title 3">
            <a:extLst>
              <a:ext uri="{FF2B5EF4-FFF2-40B4-BE49-F238E27FC236}">
                <a16:creationId xmlns:a16="http://schemas.microsoft.com/office/drawing/2014/main" id="{58A39F6F-5345-6CDB-0B28-4A9C0105D039}"/>
              </a:ext>
            </a:extLst>
          </p:cNvPr>
          <p:cNvSpPr>
            <a:spLocks noGrp="1"/>
          </p:cNvSpPr>
          <p:nvPr>
            <p:ph type="title"/>
          </p:nvPr>
        </p:nvSpPr>
        <p:spPr>
          <a:xfrm>
            <a:off x="457200" y="274638"/>
            <a:ext cx="8229600" cy="1143000"/>
          </a:xfrm>
        </p:spPr>
        <p:txBody>
          <a:bodyPr>
            <a:normAutofit/>
          </a:bodyPr>
          <a:lstStyle/>
          <a:p>
            <a:pPr algn="l"/>
            <a:r>
              <a:rPr lang="en-US" sz="2800" dirty="0"/>
              <a:t>Exercise material</a:t>
            </a:r>
          </a:p>
        </p:txBody>
      </p:sp>
      <p:pic>
        <p:nvPicPr>
          <p:cNvPr id="1026" name="Picture 2" descr="Don't Panic text decor, The Hitchhiker's Guide to the Galaxy ...">
            <a:extLst>
              <a:ext uri="{FF2B5EF4-FFF2-40B4-BE49-F238E27FC236}">
                <a16:creationId xmlns:a16="http://schemas.microsoft.com/office/drawing/2014/main" id="{6C2874BE-3D54-23C4-74E5-E7642F1AECD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194048" y="1702773"/>
            <a:ext cx="4718304" cy="2948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65058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0D765B-7B89-F1F4-62DB-5BC4E867818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9B12185E-069E-2F95-D254-C78280432FAE}"/>
              </a:ext>
            </a:extLst>
          </p:cNvPr>
          <p:cNvSpPr txBox="1">
            <a:spLocks/>
          </p:cNvSpPr>
          <p:nvPr/>
        </p:nvSpPr>
        <p:spPr>
          <a:xfrm>
            <a:off x="628650" y="451381"/>
            <a:ext cx="7884414" cy="4066540"/>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b="1" kern="1200" dirty="0">
                <a:solidFill>
                  <a:schemeClr val="tx1"/>
                </a:solidFill>
                <a:latin typeface="Chalkboard" panose="03050602040202020205" pitchFamily="66" charset="77"/>
              </a:rPr>
              <a:t>Transactional Messaging</a:t>
            </a:r>
          </a:p>
        </p:txBody>
      </p:sp>
      <p:sp>
        <p:nvSpPr>
          <p:cNvPr id="12"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C6DD56A8-F919-54FB-D661-5A7F61EC25D6}"/>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a:pPr defTabSz="914400">
                <a:spcAft>
                  <a:spcPts val="600"/>
                </a:spcAft>
              </a:pPr>
              <a:t>91</a:t>
            </a:fld>
            <a:endParaRPr lang="en-US"/>
          </a:p>
        </p:txBody>
      </p:sp>
    </p:spTree>
    <p:extLst>
      <p:ext uri="{BB962C8B-B14F-4D97-AF65-F5344CB8AC3E}">
        <p14:creationId xmlns:p14="http://schemas.microsoft.com/office/powerpoint/2010/main" val="18869707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D850E-AE29-65B3-4C15-69E95F5EB665}"/>
            </a:ext>
          </a:extLst>
        </p:cNvPr>
        <p:cNvGrpSpPr/>
        <p:nvPr/>
      </p:nvGrpSpPr>
      <p:grpSpPr>
        <a:xfrm>
          <a:off x="0" y="0"/>
          <a:ext cx="0" cy="0"/>
          <a:chOff x="0" y="0"/>
          <a:chExt cx="0" cy="0"/>
        </a:xfrm>
      </p:grpSpPr>
      <p:pic>
        <p:nvPicPr>
          <p:cNvPr id="9" name="Picture 8" descr="A blue object with white text&#10;&#10;AI-generated content may be incorrect.">
            <a:extLst>
              <a:ext uri="{FF2B5EF4-FFF2-40B4-BE49-F238E27FC236}">
                <a16:creationId xmlns:a16="http://schemas.microsoft.com/office/drawing/2014/main" id="{1081EE30-88BF-FB96-6840-13DAE54BFC56}"/>
              </a:ext>
            </a:extLst>
          </p:cNvPr>
          <p:cNvPicPr>
            <a:picLocks noChangeAspect="1"/>
          </p:cNvPicPr>
          <p:nvPr/>
        </p:nvPicPr>
        <p:blipFill>
          <a:blip r:embed="rId3"/>
          <a:stretch>
            <a:fillRect/>
          </a:stretch>
        </p:blipFill>
        <p:spPr>
          <a:xfrm>
            <a:off x="1100836" y="1449903"/>
            <a:ext cx="6942327" cy="2915777"/>
          </a:xfrm>
          <a:prstGeom prst="rect">
            <a:avLst/>
          </a:prstGeom>
        </p:spPr>
      </p:pic>
      <p:sp>
        <p:nvSpPr>
          <p:cNvPr id="10" name="TextBox 9">
            <a:extLst>
              <a:ext uri="{FF2B5EF4-FFF2-40B4-BE49-F238E27FC236}">
                <a16:creationId xmlns:a16="http://schemas.microsoft.com/office/drawing/2014/main" id="{FA9F5267-A2E5-0413-427F-416CC9127C8B}"/>
              </a:ext>
            </a:extLst>
          </p:cNvPr>
          <p:cNvSpPr txBox="1"/>
          <p:nvPr/>
        </p:nvSpPr>
        <p:spPr>
          <a:xfrm>
            <a:off x="985097" y="4870408"/>
            <a:ext cx="3143250" cy="738664"/>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No transaction spans both my write to the Db for an entity, and my sending of a message.</a:t>
            </a:r>
          </a:p>
        </p:txBody>
      </p:sp>
      <p:cxnSp>
        <p:nvCxnSpPr>
          <p:cNvPr id="11" name="Straight Arrow Connector 10">
            <a:extLst>
              <a:ext uri="{FF2B5EF4-FFF2-40B4-BE49-F238E27FC236}">
                <a16:creationId xmlns:a16="http://schemas.microsoft.com/office/drawing/2014/main" id="{39A32B79-A0DE-A67D-5868-2FD18D6DCFE4}"/>
              </a:ext>
            </a:extLst>
          </p:cNvPr>
          <p:cNvCxnSpPr>
            <a:cxnSpLocks/>
          </p:cNvCxnSpPr>
          <p:nvPr/>
        </p:nvCxnSpPr>
        <p:spPr>
          <a:xfrm flipV="1">
            <a:off x="2417572" y="2624328"/>
            <a:ext cx="539496" cy="2203704"/>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DE6D3E7-1955-2EF6-0237-F70D6BF4ED7C}"/>
              </a:ext>
            </a:extLst>
          </p:cNvPr>
          <p:cNvSpPr txBox="1"/>
          <p:nvPr/>
        </p:nvSpPr>
        <p:spPr>
          <a:xfrm>
            <a:off x="4587704" y="3218060"/>
            <a:ext cx="4020355" cy="523220"/>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If the message send fails, downstream systems will not be consistent with upstream systems.</a:t>
            </a:r>
          </a:p>
        </p:txBody>
      </p:sp>
      <p:cxnSp>
        <p:nvCxnSpPr>
          <p:cNvPr id="15" name="Straight Arrow Connector 14">
            <a:extLst>
              <a:ext uri="{FF2B5EF4-FFF2-40B4-BE49-F238E27FC236}">
                <a16:creationId xmlns:a16="http://schemas.microsoft.com/office/drawing/2014/main" id="{1B8D31A3-A347-AA80-CCED-31B9AB19DBCD}"/>
              </a:ext>
            </a:extLst>
          </p:cNvPr>
          <p:cNvCxnSpPr>
            <a:cxnSpLocks/>
          </p:cNvCxnSpPr>
          <p:nvPr/>
        </p:nvCxnSpPr>
        <p:spPr>
          <a:xfrm flipH="1" flipV="1">
            <a:off x="5453380" y="2634085"/>
            <a:ext cx="566800" cy="541599"/>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5ABCA7C-6A51-0354-C722-E8201CEC6B92}"/>
              </a:ext>
            </a:extLst>
          </p:cNvPr>
          <p:cNvSpPr txBox="1"/>
          <p:nvPr/>
        </p:nvSpPr>
        <p:spPr>
          <a:xfrm>
            <a:off x="4858175" y="4682231"/>
            <a:ext cx="4020355" cy="738664"/>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If we reverse the operations and the message is sent but the Db write fails, the upstream is inconsistent.</a:t>
            </a:r>
          </a:p>
        </p:txBody>
      </p:sp>
      <p:cxnSp>
        <p:nvCxnSpPr>
          <p:cNvPr id="19" name="Straight Arrow Connector 18">
            <a:extLst>
              <a:ext uri="{FF2B5EF4-FFF2-40B4-BE49-F238E27FC236}">
                <a16:creationId xmlns:a16="http://schemas.microsoft.com/office/drawing/2014/main" id="{FBC807F8-C516-97BD-2E99-C9C9534EA590}"/>
              </a:ext>
            </a:extLst>
          </p:cNvPr>
          <p:cNvCxnSpPr>
            <a:cxnSpLocks/>
            <a:stCxn id="18" idx="1"/>
          </p:cNvCxnSpPr>
          <p:nvPr/>
        </p:nvCxnSpPr>
        <p:spPr>
          <a:xfrm flipH="1" flipV="1">
            <a:off x="3377692" y="3575304"/>
            <a:ext cx="1480483" cy="1476259"/>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127A80E4-B572-8C65-C1D1-D29A8352102A}"/>
              </a:ext>
            </a:extLst>
          </p:cNvPr>
          <p:cNvSpPr txBox="1"/>
          <p:nvPr/>
        </p:nvSpPr>
        <p:spPr>
          <a:xfrm>
            <a:off x="2358533" y="317905"/>
            <a:ext cx="4426931" cy="523220"/>
          </a:xfrm>
          <a:prstGeom prst="rect">
            <a:avLst/>
          </a:prstGeom>
          <a:noFill/>
        </p:spPr>
        <p:txBody>
          <a:bodyPr wrap="square" rtlCol="0">
            <a:spAutoFit/>
          </a:bodyPr>
          <a:lstStyle/>
          <a:p>
            <a:r>
              <a:rPr lang="en-US" sz="2800" dirty="0">
                <a:latin typeface="Chalkboard" panose="03050602040202020205" pitchFamily="66" charset="77"/>
              </a:rPr>
              <a:t>Transactional Messaging</a:t>
            </a:r>
          </a:p>
        </p:txBody>
      </p:sp>
    </p:spTree>
    <p:extLst>
      <p:ext uri="{BB962C8B-B14F-4D97-AF65-F5344CB8AC3E}">
        <p14:creationId xmlns:p14="http://schemas.microsoft.com/office/powerpoint/2010/main" val="160722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mputer screen shot of a computer&#10;&#10;AI-generated content may be incorrect.">
            <a:extLst>
              <a:ext uri="{FF2B5EF4-FFF2-40B4-BE49-F238E27FC236}">
                <a16:creationId xmlns:a16="http://schemas.microsoft.com/office/drawing/2014/main" id="{8620A58A-A10A-8D7A-862E-9157D6F14890}"/>
              </a:ext>
            </a:extLst>
          </p:cNvPr>
          <p:cNvPicPr>
            <a:picLocks noChangeAspect="1"/>
          </p:cNvPicPr>
          <p:nvPr/>
        </p:nvPicPr>
        <p:blipFill>
          <a:blip r:embed="rId2"/>
          <a:stretch>
            <a:fillRect/>
          </a:stretch>
        </p:blipFill>
        <p:spPr>
          <a:xfrm>
            <a:off x="737653" y="970973"/>
            <a:ext cx="7772400" cy="5100981"/>
          </a:xfrm>
          <a:prstGeom prst="rect">
            <a:avLst/>
          </a:prstGeom>
        </p:spPr>
      </p:pic>
      <p:sp>
        <p:nvSpPr>
          <p:cNvPr id="2" name="TextBox 1">
            <a:extLst>
              <a:ext uri="{FF2B5EF4-FFF2-40B4-BE49-F238E27FC236}">
                <a16:creationId xmlns:a16="http://schemas.microsoft.com/office/drawing/2014/main" id="{06765E32-A3B4-2D72-31D6-A9FBDADD1F1C}"/>
              </a:ext>
            </a:extLst>
          </p:cNvPr>
          <p:cNvSpPr txBox="1"/>
          <p:nvPr/>
        </p:nvSpPr>
        <p:spPr>
          <a:xfrm>
            <a:off x="3880903" y="351156"/>
            <a:ext cx="1382194" cy="523220"/>
          </a:xfrm>
          <a:prstGeom prst="rect">
            <a:avLst/>
          </a:prstGeom>
          <a:noFill/>
        </p:spPr>
        <p:txBody>
          <a:bodyPr wrap="square" rtlCol="0">
            <a:spAutoFit/>
          </a:bodyPr>
          <a:lstStyle/>
          <a:p>
            <a:r>
              <a:rPr lang="en-US" sz="2800" dirty="0">
                <a:latin typeface="Chalkboard" panose="03050602040202020205" pitchFamily="66" charset="77"/>
              </a:rPr>
              <a:t>Outbox</a:t>
            </a:r>
          </a:p>
        </p:txBody>
      </p:sp>
      <p:sp>
        <p:nvSpPr>
          <p:cNvPr id="3" name="TextBox 2">
            <a:extLst>
              <a:ext uri="{FF2B5EF4-FFF2-40B4-BE49-F238E27FC236}">
                <a16:creationId xmlns:a16="http://schemas.microsoft.com/office/drawing/2014/main" id="{09ADEF21-D575-B4A4-D5A0-398C7F3753B2}"/>
              </a:ext>
            </a:extLst>
          </p:cNvPr>
          <p:cNvSpPr txBox="1"/>
          <p:nvPr/>
        </p:nvSpPr>
        <p:spPr>
          <a:xfrm>
            <a:off x="5675699" y="344062"/>
            <a:ext cx="3143250" cy="1169551"/>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Instead of writing directly to the channel, we open a transaction, update our entity, and write the message we want to send to an Outbox table as Pending.</a:t>
            </a:r>
          </a:p>
        </p:txBody>
      </p:sp>
      <p:cxnSp>
        <p:nvCxnSpPr>
          <p:cNvPr id="4" name="Straight Arrow Connector 3">
            <a:extLst>
              <a:ext uri="{FF2B5EF4-FFF2-40B4-BE49-F238E27FC236}">
                <a16:creationId xmlns:a16="http://schemas.microsoft.com/office/drawing/2014/main" id="{E2416CB8-CFCC-CF51-63F1-51C66A8D255C}"/>
              </a:ext>
            </a:extLst>
          </p:cNvPr>
          <p:cNvCxnSpPr>
            <a:cxnSpLocks/>
          </p:cNvCxnSpPr>
          <p:nvPr/>
        </p:nvCxnSpPr>
        <p:spPr>
          <a:xfrm flipH="1" flipV="1">
            <a:off x="3039533" y="3234267"/>
            <a:ext cx="2327270" cy="215879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94F7192-29C7-5D33-40F4-8805F8836609}"/>
              </a:ext>
            </a:extLst>
          </p:cNvPr>
          <p:cNvSpPr txBox="1"/>
          <p:nvPr/>
        </p:nvSpPr>
        <p:spPr>
          <a:xfrm>
            <a:off x="5366803" y="5468138"/>
            <a:ext cx="3143250" cy="738664"/>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Once we have sent, we mark the message as Sent in the Outbox table</a:t>
            </a:r>
          </a:p>
        </p:txBody>
      </p:sp>
      <p:cxnSp>
        <p:nvCxnSpPr>
          <p:cNvPr id="10" name="Straight Arrow Connector 9">
            <a:extLst>
              <a:ext uri="{FF2B5EF4-FFF2-40B4-BE49-F238E27FC236}">
                <a16:creationId xmlns:a16="http://schemas.microsoft.com/office/drawing/2014/main" id="{5C31651E-4847-C08F-6C35-7C3763FAA608}"/>
              </a:ext>
            </a:extLst>
          </p:cNvPr>
          <p:cNvCxnSpPr>
            <a:cxnSpLocks/>
            <a:stCxn id="3" idx="1"/>
          </p:cNvCxnSpPr>
          <p:nvPr/>
        </p:nvCxnSpPr>
        <p:spPr>
          <a:xfrm flipH="1">
            <a:off x="3666067" y="928838"/>
            <a:ext cx="2009632" cy="1906827"/>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6E02E7B-3BBB-FDB9-F9C2-74C665A26CD0}"/>
              </a:ext>
            </a:extLst>
          </p:cNvPr>
          <p:cNvSpPr txBox="1"/>
          <p:nvPr/>
        </p:nvSpPr>
        <p:spPr>
          <a:xfrm>
            <a:off x="5550812" y="3043319"/>
            <a:ext cx="3143250" cy="954107"/>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A background “sweeper” process can then run at an interval to flush any Pending items (over an age) from the Outbox table</a:t>
            </a:r>
          </a:p>
        </p:txBody>
      </p:sp>
      <p:cxnSp>
        <p:nvCxnSpPr>
          <p:cNvPr id="15" name="Straight Arrow Connector 14">
            <a:extLst>
              <a:ext uri="{FF2B5EF4-FFF2-40B4-BE49-F238E27FC236}">
                <a16:creationId xmlns:a16="http://schemas.microsoft.com/office/drawing/2014/main" id="{57013FDD-5E73-7662-445B-AB69B374D26C}"/>
              </a:ext>
            </a:extLst>
          </p:cNvPr>
          <p:cNvCxnSpPr>
            <a:cxnSpLocks/>
            <a:stCxn id="14" idx="1"/>
          </p:cNvCxnSpPr>
          <p:nvPr/>
        </p:nvCxnSpPr>
        <p:spPr>
          <a:xfrm flipH="1">
            <a:off x="3880903" y="3520373"/>
            <a:ext cx="1669909" cy="139944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3BCBFEAC-CD00-9002-2F57-F0C425C74326}"/>
              </a:ext>
            </a:extLst>
          </p:cNvPr>
          <p:cNvSpPr txBox="1"/>
          <p:nvPr/>
        </p:nvSpPr>
        <p:spPr>
          <a:xfrm>
            <a:off x="5654243" y="4220093"/>
            <a:ext cx="3143250" cy="954107"/>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To reduce latency, we can send from the application, after writing as well, with the sweeper just a backup</a:t>
            </a:r>
          </a:p>
        </p:txBody>
      </p:sp>
    </p:spTree>
    <p:extLst>
      <p:ext uri="{BB962C8B-B14F-4D97-AF65-F5344CB8AC3E}">
        <p14:creationId xmlns:p14="http://schemas.microsoft.com/office/powerpoint/2010/main" val="236421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4" grpId="0" animBg="1"/>
      <p:bldP spid="1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descr="A black background with arrows pointing to a rectangular object&#10;&#10;AI-generated content may be incorrect.">
            <a:extLst>
              <a:ext uri="{FF2B5EF4-FFF2-40B4-BE49-F238E27FC236}">
                <a16:creationId xmlns:a16="http://schemas.microsoft.com/office/drawing/2014/main" id="{62FD9A93-A24F-2B33-0FA4-96EBD7334D67}"/>
              </a:ext>
            </a:extLst>
          </p:cNvPr>
          <p:cNvPicPr>
            <a:picLocks noChangeAspect="1"/>
          </p:cNvPicPr>
          <p:nvPr/>
        </p:nvPicPr>
        <p:blipFill>
          <a:blip r:embed="rId2"/>
          <a:stretch>
            <a:fillRect/>
          </a:stretch>
        </p:blipFill>
        <p:spPr>
          <a:xfrm>
            <a:off x="262467" y="1529261"/>
            <a:ext cx="8440344" cy="3288272"/>
          </a:xfrm>
          <a:prstGeom prst="rect">
            <a:avLst/>
          </a:prstGeom>
        </p:spPr>
      </p:pic>
      <p:sp>
        <p:nvSpPr>
          <p:cNvPr id="2" name="Slide Number Placeholder 1">
            <a:extLst>
              <a:ext uri="{FF2B5EF4-FFF2-40B4-BE49-F238E27FC236}">
                <a16:creationId xmlns:a16="http://schemas.microsoft.com/office/drawing/2014/main" id="{86261886-6267-3E6C-6A87-60CCBDEEDB62}"/>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94</a:t>
            </a:fld>
            <a:endParaRPr lang="en-US"/>
          </a:p>
        </p:txBody>
      </p:sp>
      <p:sp>
        <p:nvSpPr>
          <p:cNvPr id="6" name="TextBox 5">
            <a:extLst>
              <a:ext uri="{FF2B5EF4-FFF2-40B4-BE49-F238E27FC236}">
                <a16:creationId xmlns:a16="http://schemas.microsoft.com/office/drawing/2014/main" id="{D0884976-F189-109C-08FB-3DBA48D09301}"/>
              </a:ext>
            </a:extLst>
          </p:cNvPr>
          <p:cNvSpPr txBox="1"/>
          <p:nvPr/>
        </p:nvSpPr>
        <p:spPr>
          <a:xfrm>
            <a:off x="1784199" y="5267704"/>
            <a:ext cx="3143250" cy="954107"/>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We cannot guarantee that we fail not mark dispatched after a send, so we may send the same message twice</a:t>
            </a:r>
          </a:p>
        </p:txBody>
      </p:sp>
      <p:cxnSp>
        <p:nvCxnSpPr>
          <p:cNvPr id="7" name="Straight Arrow Connector 6">
            <a:extLst>
              <a:ext uri="{FF2B5EF4-FFF2-40B4-BE49-F238E27FC236}">
                <a16:creationId xmlns:a16="http://schemas.microsoft.com/office/drawing/2014/main" id="{C3F14A9B-BD31-A859-653E-E8BFA2CA5286}"/>
              </a:ext>
            </a:extLst>
          </p:cNvPr>
          <p:cNvCxnSpPr>
            <a:cxnSpLocks/>
          </p:cNvCxnSpPr>
          <p:nvPr/>
        </p:nvCxnSpPr>
        <p:spPr>
          <a:xfrm flipH="1" flipV="1">
            <a:off x="1784199" y="3064933"/>
            <a:ext cx="1255334" cy="200660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8AE51BD-0F49-481D-009A-EA1E40D076D6}"/>
              </a:ext>
            </a:extLst>
          </p:cNvPr>
          <p:cNvSpPr txBox="1"/>
          <p:nvPr/>
        </p:nvSpPr>
        <p:spPr>
          <a:xfrm>
            <a:off x="3880903" y="351156"/>
            <a:ext cx="1382194" cy="523220"/>
          </a:xfrm>
          <a:prstGeom prst="rect">
            <a:avLst/>
          </a:prstGeom>
          <a:noFill/>
        </p:spPr>
        <p:txBody>
          <a:bodyPr wrap="square" rtlCol="0">
            <a:spAutoFit/>
          </a:bodyPr>
          <a:lstStyle/>
          <a:p>
            <a:r>
              <a:rPr lang="en-US" sz="2800" dirty="0">
                <a:latin typeface="Chalkboard" panose="03050602040202020205" pitchFamily="66" charset="77"/>
              </a:rPr>
              <a:t>Inbox</a:t>
            </a:r>
          </a:p>
        </p:txBody>
      </p:sp>
      <p:sp>
        <p:nvSpPr>
          <p:cNvPr id="12" name="TextBox 11">
            <a:extLst>
              <a:ext uri="{FF2B5EF4-FFF2-40B4-BE49-F238E27FC236}">
                <a16:creationId xmlns:a16="http://schemas.microsoft.com/office/drawing/2014/main" id="{A4992061-8F86-1618-C74D-E5F7999AB7D0}"/>
              </a:ext>
            </a:extLst>
          </p:cNvPr>
          <p:cNvSpPr txBox="1"/>
          <p:nvPr/>
        </p:nvSpPr>
        <p:spPr>
          <a:xfrm>
            <a:off x="5720443" y="5089904"/>
            <a:ext cx="3143250" cy="1169551"/>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If the message is not idempotent (side-effect free), then we use an Inbox to record messages seen (working on) and processed (might fail)</a:t>
            </a:r>
          </a:p>
        </p:txBody>
      </p:sp>
      <p:cxnSp>
        <p:nvCxnSpPr>
          <p:cNvPr id="13" name="Straight Arrow Connector 12">
            <a:extLst>
              <a:ext uri="{FF2B5EF4-FFF2-40B4-BE49-F238E27FC236}">
                <a16:creationId xmlns:a16="http://schemas.microsoft.com/office/drawing/2014/main" id="{192C5A2B-F6C4-2AAD-8953-8B0B5FA62163}"/>
              </a:ext>
            </a:extLst>
          </p:cNvPr>
          <p:cNvCxnSpPr>
            <a:cxnSpLocks/>
          </p:cNvCxnSpPr>
          <p:nvPr/>
        </p:nvCxnSpPr>
        <p:spPr>
          <a:xfrm flipV="1">
            <a:off x="7043510" y="4106333"/>
            <a:ext cx="601890" cy="897467"/>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868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614A10-04AC-361D-DC04-DB2895B443B3}"/>
              </a:ext>
            </a:extLst>
          </p:cNvPr>
          <p:cNvSpPr>
            <a:spLocks noGrp="1"/>
          </p:cNvSpPr>
          <p:nvPr>
            <p:ph type="sldNum" sz="quarter" idx="12"/>
          </p:nvPr>
        </p:nvSpPr>
        <p:spPr/>
        <p:txBody>
          <a:bodyPr/>
          <a:lstStyle/>
          <a:p>
            <a:fld id="{867D4A06-35AE-BD4A-84A9-613A26F3D41D}" type="slidenum">
              <a:rPr lang="en-US" smtClean="0"/>
              <a:pPr/>
              <a:t>95</a:t>
            </a:fld>
            <a:endParaRPr lang="en-US"/>
          </a:p>
        </p:txBody>
      </p:sp>
      <p:sp>
        <p:nvSpPr>
          <p:cNvPr id="3" name="TextBox 2">
            <a:extLst>
              <a:ext uri="{FF2B5EF4-FFF2-40B4-BE49-F238E27FC236}">
                <a16:creationId xmlns:a16="http://schemas.microsoft.com/office/drawing/2014/main" id="{8330E1F8-867E-5876-BD81-0F67E7A32F84}"/>
              </a:ext>
            </a:extLst>
          </p:cNvPr>
          <p:cNvSpPr txBox="1"/>
          <p:nvPr/>
        </p:nvSpPr>
        <p:spPr>
          <a:xfrm>
            <a:off x="3635370" y="469689"/>
            <a:ext cx="1994964" cy="523220"/>
          </a:xfrm>
          <a:prstGeom prst="rect">
            <a:avLst/>
          </a:prstGeom>
          <a:noFill/>
        </p:spPr>
        <p:txBody>
          <a:bodyPr wrap="square" rtlCol="0">
            <a:spAutoFit/>
          </a:bodyPr>
          <a:lstStyle/>
          <a:p>
            <a:r>
              <a:rPr lang="en-US" sz="2800" dirty="0">
                <a:latin typeface="Chalkboard" panose="03050602040202020205" pitchFamily="66" charset="77"/>
              </a:rPr>
              <a:t>Log Tailing</a:t>
            </a:r>
          </a:p>
        </p:txBody>
      </p:sp>
      <p:pic>
        <p:nvPicPr>
          <p:cNvPr id="5" name="Picture 4" descr="A computer screen shot of a computer&#10;&#10;AI-generated content may be incorrect.">
            <a:extLst>
              <a:ext uri="{FF2B5EF4-FFF2-40B4-BE49-F238E27FC236}">
                <a16:creationId xmlns:a16="http://schemas.microsoft.com/office/drawing/2014/main" id="{7DBE6B12-5F04-03E8-40F9-94C4849D340C}"/>
              </a:ext>
            </a:extLst>
          </p:cNvPr>
          <p:cNvPicPr>
            <a:picLocks noChangeAspect="1"/>
          </p:cNvPicPr>
          <p:nvPr/>
        </p:nvPicPr>
        <p:blipFill>
          <a:blip r:embed="rId2"/>
          <a:stretch>
            <a:fillRect/>
          </a:stretch>
        </p:blipFill>
        <p:spPr>
          <a:xfrm>
            <a:off x="181923" y="1739674"/>
            <a:ext cx="8504877" cy="3551991"/>
          </a:xfrm>
          <a:prstGeom prst="rect">
            <a:avLst/>
          </a:prstGeom>
        </p:spPr>
      </p:pic>
      <p:sp>
        <p:nvSpPr>
          <p:cNvPr id="6" name="TextBox 5">
            <a:extLst>
              <a:ext uri="{FF2B5EF4-FFF2-40B4-BE49-F238E27FC236}">
                <a16:creationId xmlns:a16="http://schemas.microsoft.com/office/drawing/2014/main" id="{A81DCB54-ED49-23F7-FAF4-B2D1825BB2D4}"/>
              </a:ext>
            </a:extLst>
          </p:cNvPr>
          <p:cNvSpPr txBox="1"/>
          <p:nvPr/>
        </p:nvSpPr>
        <p:spPr>
          <a:xfrm>
            <a:off x="361799" y="992909"/>
            <a:ext cx="3143250" cy="738664"/>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We may not be using a database that supports ACID transactions, across Outbox and Entity tables</a:t>
            </a:r>
          </a:p>
        </p:txBody>
      </p:sp>
      <p:cxnSp>
        <p:nvCxnSpPr>
          <p:cNvPr id="7" name="Straight Arrow Connector 6">
            <a:extLst>
              <a:ext uri="{FF2B5EF4-FFF2-40B4-BE49-F238E27FC236}">
                <a16:creationId xmlns:a16="http://schemas.microsoft.com/office/drawing/2014/main" id="{045B1940-AB31-C5F9-CFC4-66EF81A4EF36}"/>
              </a:ext>
            </a:extLst>
          </p:cNvPr>
          <p:cNvCxnSpPr>
            <a:cxnSpLocks/>
          </p:cNvCxnSpPr>
          <p:nvPr/>
        </p:nvCxnSpPr>
        <p:spPr>
          <a:xfrm>
            <a:off x="1591733" y="2184400"/>
            <a:ext cx="2472267" cy="220133"/>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A5A64FA-1CAF-EB69-8A0B-1AE10CBB8A8C}"/>
              </a:ext>
            </a:extLst>
          </p:cNvPr>
          <p:cNvSpPr txBox="1"/>
          <p:nvPr/>
        </p:nvSpPr>
        <p:spPr>
          <a:xfrm>
            <a:off x="361799" y="5594724"/>
            <a:ext cx="3143250" cy="954107"/>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In this case we can tail the transaction log, translate the log (via domain code) into a message and store in the Outbox</a:t>
            </a:r>
          </a:p>
        </p:txBody>
      </p:sp>
      <p:cxnSp>
        <p:nvCxnSpPr>
          <p:cNvPr id="11" name="Straight Arrow Connector 10">
            <a:extLst>
              <a:ext uri="{FF2B5EF4-FFF2-40B4-BE49-F238E27FC236}">
                <a16:creationId xmlns:a16="http://schemas.microsoft.com/office/drawing/2014/main" id="{D968212E-90BF-9185-B544-B6649BEA0303}"/>
              </a:ext>
            </a:extLst>
          </p:cNvPr>
          <p:cNvCxnSpPr>
            <a:cxnSpLocks/>
          </p:cNvCxnSpPr>
          <p:nvPr/>
        </p:nvCxnSpPr>
        <p:spPr>
          <a:xfrm flipV="1">
            <a:off x="1083733" y="3749316"/>
            <a:ext cx="861332" cy="1845408"/>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5ADA38E-C222-60CD-87B2-8872473BCCFF}"/>
              </a:ext>
            </a:extLst>
          </p:cNvPr>
          <p:cNvSpPr txBox="1"/>
          <p:nvPr/>
        </p:nvSpPr>
        <p:spPr>
          <a:xfrm>
            <a:off x="5475666" y="5434204"/>
            <a:ext cx="3143250" cy="738664"/>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Again, our sender, sends the outstanding Outbox entries and marks them as sent in the Outbox</a:t>
            </a:r>
          </a:p>
        </p:txBody>
      </p:sp>
      <p:cxnSp>
        <p:nvCxnSpPr>
          <p:cNvPr id="17" name="Straight Arrow Connector 16">
            <a:extLst>
              <a:ext uri="{FF2B5EF4-FFF2-40B4-BE49-F238E27FC236}">
                <a16:creationId xmlns:a16="http://schemas.microsoft.com/office/drawing/2014/main" id="{135B1CEB-D9E9-1952-A19F-4310F81FA2AA}"/>
              </a:ext>
            </a:extLst>
          </p:cNvPr>
          <p:cNvCxnSpPr>
            <a:cxnSpLocks/>
          </p:cNvCxnSpPr>
          <p:nvPr/>
        </p:nvCxnSpPr>
        <p:spPr>
          <a:xfrm flipH="1" flipV="1">
            <a:off x="5475666" y="4901304"/>
            <a:ext cx="1571625" cy="461631"/>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3F58A7CD-F1E0-C9D0-E48B-B164BC8D0516}"/>
              </a:ext>
            </a:extLst>
          </p:cNvPr>
          <p:cNvSpPr txBox="1"/>
          <p:nvPr/>
        </p:nvSpPr>
        <p:spPr>
          <a:xfrm>
            <a:off x="6261478" y="3542858"/>
            <a:ext cx="2779334" cy="1199737"/>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A common mistake is to send the transaction log directly, which couples the Db schema to the outgoing event, and can only block if the broker is down</a:t>
            </a:r>
          </a:p>
        </p:txBody>
      </p:sp>
    </p:spTree>
    <p:extLst>
      <p:ext uri="{BB962C8B-B14F-4D97-AF65-F5344CB8AC3E}">
        <p14:creationId xmlns:p14="http://schemas.microsoft.com/office/powerpoint/2010/main" val="132006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5" grpId="0" animBg="1"/>
      <p:bldP spid="19"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C9CC5E-094F-DF60-2256-7844990B99F8}"/>
              </a:ext>
            </a:extLst>
          </p:cNvPr>
          <p:cNvSpPr>
            <a:spLocks noGrp="1"/>
          </p:cNvSpPr>
          <p:nvPr>
            <p:ph type="sldNum" sz="quarter" idx="12"/>
          </p:nvPr>
        </p:nvSpPr>
        <p:spPr/>
        <p:txBody>
          <a:bodyPr/>
          <a:lstStyle/>
          <a:p>
            <a:fld id="{867D4A06-35AE-BD4A-84A9-613A26F3D41D}" type="slidenum">
              <a:rPr lang="en-US" smtClean="0"/>
              <a:pPr/>
              <a:t>96</a:t>
            </a:fld>
            <a:endParaRPr lang="en-US"/>
          </a:p>
        </p:txBody>
      </p:sp>
      <p:sp>
        <p:nvSpPr>
          <p:cNvPr id="3" name="TextBox 2">
            <a:extLst>
              <a:ext uri="{FF2B5EF4-FFF2-40B4-BE49-F238E27FC236}">
                <a16:creationId xmlns:a16="http://schemas.microsoft.com/office/drawing/2014/main" id="{B1C2D2A2-1250-7547-883D-1174C9309CF5}"/>
              </a:ext>
            </a:extLst>
          </p:cNvPr>
          <p:cNvSpPr txBox="1"/>
          <p:nvPr/>
        </p:nvSpPr>
        <p:spPr>
          <a:xfrm>
            <a:off x="2634718" y="478156"/>
            <a:ext cx="3874563" cy="523220"/>
          </a:xfrm>
          <a:prstGeom prst="rect">
            <a:avLst/>
          </a:prstGeom>
          <a:noFill/>
        </p:spPr>
        <p:txBody>
          <a:bodyPr wrap="square" rtlCol="0">
            <a:spAutoFit/>
          </a:bodyPr>
          <a:lstStyle/>
          <a:p>
            <a:r>
              <a:rPr lang="en-US" sz="2800" dirty="0">
                <a:latin typeface="Chalkboard" panose="03050602040202020205" pitchFamily="66" charset="77"/>
              </a:rPr>
              <a:t>State Change Capture</a:t>
            </a:r>
          </a:p>
        </p:txBody>
      </p:sp>
      <p:pic>
        <p:nvPicPr>
          <p:cNvPr id="5" name="Picture 4" descr="A computer screen shot of a computer&#10;&#10;AI-generated content may be incorrect.">
            <a:extLst>
              <a:ext uri="{FF2B5EF4-FFF2-40B4-BE49-F238E27FC236}">
                <a16:creationId xmlns:a16="http://schemas.microsoft.com/office/drawing/2014/main" id="{9604462F-BBB0-E17F-CBF3-400A3671AF50}"/>
              </a:ext>
            </a:extLst>
          </p:cNvPr>
          <p:cNvPicPr>
            <a:picLocks noChangeAspect="1"/>
          </p:cNvPicPr>
          <p:nvPr/>
        </p:nvPicPr>
        <p:blipFill>
          <a:blip r:embed="rId2"/>
          <a:stretch>
            <a:fillRect/>
          </a:stretch>
        </p:blipFill>
        <p:spPr>
          <a:xfrm>
            <a:off x="1617133" y="1947017"/>
            <a:ext cx="5780616" cy="3793785"/>
          </a:xfrm>
          <a:prstGeom prst="rect">
            <a:avLst/>
          </a:prstGeom>
        </p:spPr>
      </p:pic>
      <p:sp>
        <p:nvSpPr>
          <p:cNvPr id="6" name="TextBox 5">
            <a:extLst>
              <a:ext uri="{FF2B5EF4-FFF2-40B4-BE49-F238E27FC236}">
                <a16:creationId xmlns:a16="http://schemas.microsoft.com/office/drawing/2014/main" id="{3206CF23-FD9A-70E7-7D10-38BB3C6A6C03}"/>
              </a:ext>
            </a:extLst>
          </p:cNvPr>
          <p:cNvSpPr txBox="1"/>
          <p:nvPr/>
        </p:nvSpPr>
        <p:spPr>
          <a:xfrm>
            <a:off x="361799" y="992910"/>
            <a:ext cx="3710668" cy="954107"/>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A low-cost alternative is to send the message before we write to the entity. If the message sends, we have guaranteed delivery. </a:t>
            </a:r>
          </a:p>
        </p:txBody>
      </p:sp>
      <p:cxnSp>
        <p:nvCxnSpPr>
          <p:cNvPr id="7" name="Straight Arrow Connector 6">
            <a:extLst>
              <a:ext uri="{FF2B5EF4-FFF2-40B4-BE49-F238E27FC236}">
                <a16:creationId xmlns:a16="http://schemas.microsoft.com/office/drawing/2014/main" id="{90EA4577-9313-2064-C922-10D9C668EBC7}"/>
              </a:ext>
            </a:extLst>
          </p:cNvPr>
          <p:cNvCxnSpPr>
            <a:cxnSpLocks/>
          </p:cNvCxnSpPr>
          <p:nvPr/>
        </p:nvCxnSpPr>
        <p:spPr>
          <a:xfrm>
            <a:off x="4224867" y="1516130"/>
            <a:ext cx="762000" cy="59207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30BA984-B3AE-8EE9-6073-008765FFCE73}"/>
              </a:ext>
            </a:extLst>
          </p:cNvPr>
          <p:cNvSpPr txBox="1"/>
          <p:nvPr/>
        </p:nvSpPr>
        <p:spPr>
          <a:xfrm>
            <a:off x="4942415" y="5402243"/>
            <a:ext cx="3710668" cy="1169551"/>
          </a:xfrm>
          <a:prstGeom prst="rect">
            <a:avLst/>
          </a:prstGeom>
          <a:noFill/>
          <a:ln>
            <a:solidFill>
              <a:schemeClr val="accent1"/>
            </a:solidFill>
          </a:ln>
        </p:spPr>
        <p:txBody>
          <a:bodyPr wrap="square" rtlCol="0">
            <a:spAutoFit/>
          </a:bodyPr>
          <a:lstStyle/>
          <a:p>
            <a:r>
              <a:rPr lang="en-US" sz="1400" dirty="0">
                <a:latin typeface="Chalkboard" panose="03050602040202020205" pitchFamily="66" charset="77"/>
              </a:rPr>
              <a:t>We read the message from the channel and then update the entity. The main issue is that we must be able to cope with EVENTUAL CONSISTENCY, which is not always simple.</a:t>
            </a:r>
          </a:p>
        </p:txBody>
      </p:sp>
      <p:cxnSp>
        <p:nvCxnSpPr>
          <p:cNvPr id="13" name="Straight Arrow Connector 12">
            <a:extLst>
              <a:ext uri="{FF2B5EF4-FFF2-40B4-BE49-F238E27FC236}">
                <a16:creationId xmlns:a16="http://schemas.microsoft.com/office/drawing/2014/main" id="{A9D691AB-EEC9-A1BA-AAF4-8792CD249ECD}"/>
              </a:ext>
            </a:extLst>
          </p:cNvPr>
          <p:cNvCxnSpPr>
            <a:cxnSpLocks/>
          </p:cNvCxnSpPr>
          <p:nvPr/>
        </p:nvCxnSpPr>
        <p:spPr>
          <a:xfrm flipH="1" flipV="1">
            <a:off x="3632200" y="5816600"/>
            <a:ext cx="1185333" cy="110067"/>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898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28650" y="451381"/>
            <a:ext cx="7884414" cy="4066540"/>
          </a:xfrm>
        </p:spPr>
        <p:txBody>
          <a:bodyPr vert="horz" lIns="91440" tIns="45720" rIns="91440" bIns="45720" rtlCol="0" anchor="b">
            <a:normAutofit/>
          </a:bodyPr>
          <a:lstStyle/>
          <a:p>
            <a:pPr defTabSz="914400">
              <a:lnSpc>
                <a:spcPct val="90000"/>
              </a:lnSpc>
            </a:pPr>
            <a:r>
              <a:rPr lang="en-US" sz="5700" kern="1200" dirty="0">
                <a:solidFill>
                  <a:schemeClr val="tx1"/>
                </a:solidFill>
                <a:latin typeface="Chalkboard" panose="03050602040202020205" pitchFamily="66" charset="77"/>
              </a:rPr>
              <a:t>Managing Asynchronous APIs</a:t>
            </a:r>
          </a:p>
        </p:txBody>
      </p:sp>
      <p:sp>
        <p:nvSpPr>
          <p:cNvPr id="4" name="Text Placeholder 3"/>
          <p:cNvSpPr>
            <a:spLocks noGrp="1"/>
          </p:cNvSpPr>
          <p:nvPr>
            <p:ph type="body" idx="1"/>
          </p:nvPr>
        </p:nvSpPr>
        <p:spPr>
          <a:xfrm>
            <a:off x="628649" y="4983276"/>
            <a:ext cx="7884414" cy="1126680"/>
          </a:xfrm>
        </p:spPr>
        <p:txBody>
          <a:bodyPr vert="horz" lIns="91440" tIns="45720" rIns="91440" bIns="45720" rtlCol="0">
            <a:normAutofit/>
          </a:bodyPr>
          <a:lstStyle/>
          <a:p>
            <a:pPr defTabSz="914400">
              <a:lnSpc>
                <a:spcPct val="90000"/>
              </a:lnSpc>
              <a:spcBef>
                <a:spcPts val="1000"/>
              </a:spcBef>
            </a:pPr>
            <a:endParaRPr lang="en-US" sz="2400" kern="1200">
              <a:solidFill>
                <a:schemeClr val="tx1"/>
              </a:solidFill>
              <a:latin typeface="+mn-lt"/>
              <a:ea typeface="+mn-ea"/>
              <a:cs typeface="+mn-cs"/>
            </a:endParaRPr>
          </a:p>
        </p:txBody>
      </p:sp>
      <p:sp>
        <p:nvSpPr>
          <p:cNvPr id="1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97</a:t>
            </a:fld>
            <a:endParaRPr lang="en-US"/>
          </a:p>
        </p:txBody>
      </p:sp>
    </p:spTree>
    <p:extLst>
      <p:ext uri="{BB962C8B-B14F-4D97-AF65-F5344CB8AC3E}">
        <p14:creationId xmlns:p14="http://schemas.microsoft.com/office/powerpoint/2010/main" val="21291627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9DBBD8-E527-75C3-9E5C-735A816DD74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CF74964-ED52-F826-219E-1A2F555E4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43442FD-CC78-B7E6-1578-0D95283DB7E7}"/>
              </a:ext>
            </a:extLst>
          </p:cNvPr>
          <p:cNvSpPr txBox="1"/>
          <p:nvPr/>
        </p:nvSpPr>
        <p:spPr>
          <a:xfrm>
            <a:off x="628650" y="451381"/>
            <a:ext cx="7884414" cy="4066540"/>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700" b="1" kern="1200" dirty="0">
                <a:solidFill>
                  <a:schemeClr val="tx1"/>
                </a:solidFill>
                <a:latin typeface="Chalkboard" panose="03050602040202020205" pitchFamily="66" charset="77"/>
                <a:ea typeface="+mj-ea"/>
                <a:cs typeface="+mj-cs"/>
              </a:rPr>
              <a:t>Versioning</a:t>
            </a:r>
          </a:p>
        </p:txBody>
      </p:sp>
      <p:sp>
        <p:nvSpPr>
          <p:cNvPr id="11" name="sketch line">
            <a:extLst>
              <a:ext uri="{FF2B5EF4-FFF2-40B4-BE49-F238E27FC236}">
                <a16:creationId xmlns:a16="http://schemas.microsoft.com/office/drawing/2014/main" id="{CBE980AA-5331-FAAA-0BA8-2D672D1B3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506692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7F02E9-7C62-534C-816A-CF1B1507DA4E}"/>
              </a:ext>
            </a:extLst>
          </p:cNvPr>
          <p:cNvSpPr>
            <a:spLocks noGrp="1"/>
          </p:cNvSpPr>
          <p:nvPr>
            <p:ph type="sldNum" sz="quarter" idx="12"/>
          </p:nvPr>
        </p:nvSpPr>
        <p:spPr/>
        <p:txBody>
          <a:bodyPr/>
          <a:lstStyle/>
          <a:p>
            <a:fld id="{867D4A06-35AE-BD4A-84A9-613A26F3D41D}" type="slidenum">
              <a:rPr lang="en-US" smtClean="0"/>
              <a:pPr/>
              <a:t>99</a:t>
            </a:fld>
            <a:endParaRPr lang="en-US"/>
          </a:p>
        </p:txBody>
      </p:sp>
      <p:sp>
        <p:nvSpPr>
          <p:cNvPr id="5" name="Rectangle 4">
            <a:extLst>
              <a:ext uri="{FF2B5EF4-FFF2-40B4-BE49-F238E27FC236}">
                <a16:creationId xmlns:a16="http://schemas.microsoft.com/office/drawing/2014/main" id="{E6FF0A19-57D5-4142-8038-D326B536F986}"/>
              </a:ext>
            </a:extLst>
          </p:cNvPr>
          <p:cNvSpPr/>
          <p:nvPr/>
        </p:nvSpPr>
        <p:spPr>
          <a:xfrm>
            <a:off x="440267" y="2270631"/>
            <a:ext cx="8246533" cy="1569660"/>
          </a:xfrm>
          <a:prstGeom prst="rect">
            <a:avLst/>
          </a:prstGeom>
        </p:spPr>
        <p:txBody>
          <a:bodyPr wrap="square">
            <a:spAutoFit/>
          </a:bodyPr>
          <a:lstStyle/>
          <a:p>
            <a:pPr algn="ctr"/>
            <a:r>
              <a:rPr lang="en-GB" sz="2400" b="1" dirty="0">
                <a:latin typeface="Chalkboard" panose="03050602040202020205" pitchFamily="66" charset="77"/>
              </a:rPr>
              <a:t>Be strict when sending and tolerant when receiving.</a:t>
            </a:r>
            <a:r>
              <a:rPr lang="en-GB" sz="2400" dirty="0">
                <a:latin typeface="Chalkboard" panose="03050602040202020205" pitchFamily="66" charset="77"/>
              </a:rPr>
              <a:t> Implementations must follow specifications precisely when sending to the network, and tolerate faulty input from the network.</a:t>
            </a:r>
            <a:endParaRPr lang="en-US" sz="2400" dirty="0">
              <a:latin typeface="Chalkboard" panose="03050602040202020205" pitchFamily="66" charset="77"/>
            </a:endParaRPr>
          </a:p>
        </p:txBody>
      </p:sp>
      <p:sp>
        <p:nvSpPr>
          <p:cNvPr id="6" name="Rectangle 5">
            <a:extLst>
              <a:ext uri="{FF2B5EF4-FFF2-40B4-BE49-F238E27FC236}">
                <a16:creationId xmlns:a16="http://schemas.microsoft.com/office/drawing/2014/main" id="{C76F5866-E485-7041-A30E-031DB1CD04AF}"/>
              </a:ext>
            </a:extLst>
          </p:cNvPr>
          <p:cNvSpPr/>
          <p:nvPr/>
        </p:nvSpPr>
        <p:spPr>
          <a:xfrm>
            <a:off x="2065867" y="3859368"/>
            <a:ext cx="6366933" cy="369332"/>
          </a:xfrm>
          <a:prstGeom prst="rect">
            <a:avLst/>
          </a:prstGeom>
        </p:spPr>
        <p:txBody>
          <a:bodyPr wrap="square">
            <a:spAutoFit/>
          </a:bodyPr>
          <a:lstStyle/>
          <a:p>
            <a:pPr algn="r"/>
            <a:r>
              <a:rPr lang="en-GB" dirty="0">
                <a:latin typeface="Chalkboard" panose="03050602040202020205" pitchFamily="66" charset="77"/>
              </a:rPr>
              <a:t>Robustness Principal or </a:t>
            </a:r>
            <a:r>
              <a:rPr lang="en-GB" dirty="0" err="1">
                <a:latin typeface="Chalkboard" panose="03050602040202020205" pitchFamily="66" charset="77"/>
              </a:rPr>
              <a:t>Postel’s</a:t>
            </a:r>
            <a:r>
              <a:rPr lang="en-GB" dirty="0">
                <a:latin typeface="Chalkboard" panose="03050602040202020205" pitchFamily="66" charset="77"/>
              </a:rPr>
              <a:t> Law – Jon </a:t>
            </a:r>
            <a:r>
              <a:rPr lang="en-GB" dirty="0" err="1">
                <a:latin typeface="Chalkboard" panose="03050602040202020205" pitchFamily="66" charset="77"/>
              </a:rPr>
              <a:t>Postel</a:t>
            </a:r>
            <a:r>
              <a:rPr lang="en-GB" dirty="0">
                <a:latin typeface="Chalkboard" panose="03050602040202020205" pitchFamily="66" charset="77"/>
              </a:rPr>
              <a:t> RFC 1958</a:t>
            </a:r>
            <a:endParaRPr lang="en-US" dirty="0">
              <a:latin typeface="Chalkboard" panose="03050602040202020205" pitchFamily="66" charset="77"/>
            </a:endParaRPr>
          </a:p>
        </p:txBody>
      </p:sp>
    </p:spTree>
    <p:extLst>
      <p:ext uri="{BB962C8B-B14F-4D97-AF65-F5344CB8AC3E}">
        <p14:creationId xmlns:p14="http://schemas.microsoft.com/office/powerpoint/2010/main" val="12475218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67D4A06-35AE-BD4A-84A9-613A26F3D41D}" type="slidenum">
              <a:rPr lang="en-US" smtClean="0"/>
              <a:pPr/>
              <a:t>100</a:t>
            </a:fld>
            <a:endParaRPr lang="en-US"/>
          </a:p>
        </p:txBody>
      </p:sp>
      <p:sp>
        <p:nvSpPr>
          <p:cNvPr id="5" name="TextBox 4"/>
          <p:cNvSpPr txBox="1"/>
          <p:nvPr/>
        </p:nvSpPr>
        <p:spPr>
          <a:xfrm>
            <a:off x="567267" y="1650999"/>
            <a:ext cx="4004733" cy="3170099"/>
          </a:xfrm>
          <a:prstGeom prst="rect">
            <a:avLst/>
          </a:prstGeom>
          <a:noFill/>
          <a:ln>
            <a:solidFill>
              <a:schemeClr val="accent1">
                <a:shade val="95000"/>
                <a:satMod val="105000"/>
              </a:schemeClr>
            </a:solidFill>
          </a:ln>
        </p:spPr>
        <p:txBody>
          <a:bodyPr wrap="square" rtlCol="0">
            <a:spAutoFit/>
          </a:bodyPr>
          <a:lstStyle/>
          <a:p>
            <a:r>
              <a:rPr lang="en-US" sz="800" dirty="0">
                <a:latin typeface="Consolas" panose="020B0609020204030204" pitchFamily="49" charset="0"/>
              </a:rPr>
              <a:t>{</a:t>
            </a:r>
          </a:p>
          <a:p>
            <a:r>
              <a:rPr lang="en-US" sz="800" dirty="0">
                <a:latin typeface="Consolas" panose="020B0609020204030204" pitchFamily="49" charset="0"/>
              </a:rPr>
              <a:t>  "$schema": "http://</a:t>
            </a:r>
            <a:r>
              <a:rPr lang="en-US" sz="800" dirty="0" err="1">
                <a:latin typeface="Consolas" panose="020B0609020204030204" pitchFamily="49" charset="0"/>
              </a:rPr>
              <a:t>json-schema.org</a:t>
            </a:r>
            <a:r>
              <a:rPr lang="en-US" sz="800" dirty="0">
                <a:latin typeface="Consolas" panose="020B0609020204030204" pitchFamily="49" charset="0"/>
              </a:rPr>
              <a:t>/draft-07/schema#",</a:t>
            </a:r>
          </a:p>
          <a:p>
            <a:r>
              <a:rPr lang="en-US" sz="800" dirty="0">
                <a:latin typeface="Consolas" panose="020B0609020204030204" pitchFamily="49" charset="0"/>
              </a:rPr>
              <a:t>  "type": "object",</a:t>
            </a:r>
          </a:p>
          <a:p>
            <a:r>
              <a:rPr lang="en-US" sz="800" dirty="0">
                <a:latin typeface="Consolas" panose="020B0609020204030204" pitchFamily="49" charset="0"/>
              </a:rPr>
              <a:t>  "properties": {</a:t>
            </a:r>
          </a:p>
          <a:p>
            <a:r>
              <a:rPr lang="en-US" sz="800" dirty="0">
                <a:latin typeface="Consolas" panose="020B0609020204030204" pitchFamily="49" charset="0"/>
              </a:rPr>
              <a:t>    "</a:t>
            </a:r>
            <a:r>
              <a:rPr lang="en-US" sz="800" dirty="0" err="1">
                <a:latin typeface="Consolas" panose="020B0609020204030204" pitchFamily="49" charset="0"/>
              </a:rPr>
              <a:t>orderid</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customerName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addressLineOne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postCode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pinCode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"pattern": "^[0-9]+$"</a:t>
            </a:r>
          </a:p>
          <a:p>
            <a:r>
              <a:rPr lang="en-US" sz="800" dirty="0">
                <a:latin typeface="Consolas" panose="020B0609020204030204" pitchFamily="49" charset="0"/>
              </a:rPr>
              <a:t>    }</a:t>
            </a:r>
          </a:p>
          <a:p>
            <a:r>
              <a:rPr lang="en-US" sz="800" dirty="0">
                <a:latin typeface="Consolas" panose="020B0609020204030204" pitchFamily="49" charset="0"/>
              </a:rPr>
              <a:t>  },</a:t>
            </a:r>
          </a:p>
          <a:p>
            <a:r>
              <a:rPr lang="en-US" sz="800" dirty="0">
                <a:latin typeface="Consolas" panose="020B0609020204030204" pitchFamily="49" charset="0"/>
              </a:rPr>
              <a:t>  "required": ["</a:t>
            </a:r>
            <a:r>
              <a:rPr lang="en-US" sz="800" dirty="0" err="1">
                <a:latin typeface="Consolas" panose="020B0609020204030204" pitchFamily="49" charset="0"/>
              </a:rPr>
              <a:t>orderid</a:t>
            </a:r>
            <a:r>
              <a:rPr lang="en-US" sz="800" dirty="0">
                <a:latin typeface="Consolas" panose="020B0609020204030204" pitchFamily="49" charset="0"/>
              </a:rPr>
              <a:t>", "</a:t>
            </a:r>
            <a:r>
              <a:rPr lang="en-US" sz="800" dirty="0" err="1">
                <a:latin typeface="Consolas" panose="020B0609020204030204" pitchFamily="49" charset="0"/>
              </a:rPr>
              <a:t>customerName</a:t>
            </a:r>
            <a:r>
              <a:rPr lang="en-US" sz="800" dirty="0">
                <a:latin typeface="Consolas" panose="020B0609020204030204" pitchFamily="49" charset="0"/>
              </a:rPr>
              <a:t>", "</a:t>
            </a:r>
            <a:r>
              <a:rPr lang="en-US" sz="800" dirty="0" err="1">
                <a:latin typeface="Consolas" panose="020B0609020204030204" pitchFamily="49" charset="0"/>
              </a:rPr>
              <a:t>addressLineOne</a:t>
            </a:r>
            <a:r>
              <a:rPr lang="en-US" sz="800" dirty="0">
                <a:latin typeface="Consolas" panose="020B0609020204030204" pitchFamily="49" charset="0"/>
              </a:rPr>
              <a:t>", "</a:t>
            </a:r>
            <a:r>
              <a:rPr lang="en-US" sz="800" dirty="0" err="1">
                <a:latin typeface="Consolas" panose="020B0609020204030204" pitchFamily="49" charset="0"/>
              </a:rPr>
              <a:t>postCode</a:t>
            </a:r>
            <a:r>
              <a:rPr lang="en-US" sz="800" dirty="0">
                <a:latin typeface="Consolas" panose="020B0609020204030204" pitchFamily="49" charset="0"/>
              </a:rPr>
              <a:t>", "</a:t>
            </a:r>
            <a:r>
              <a:rPr lang="en-US" sz="800" dirty="0" err="1">
                <a:latin typeface="Consolas" panose="020B0609020204030204" pitchFamily="49" charset="0"/>
              </a:rPr>
              <a:t>pinCode</a:t>
            </a:r>
            <a:r>
              <a:rPr lang="en-US" sz="800" dirty="0">
                <a:latin typeface="Consolas" panose="020B0609020204030204" pitchFamily="49" charset="0"/>
              </a:rPr>
              <a:t>"],</a:t>
            </a:r>
          </a:p>
          <a:p>
            <a:r>
              <a:rPr lang="en-US" sz="800" dirty="0">
                <a:latin typeface="Consolas" panose="020B0609020204030204" pitchFamily="49" charset="0"/>
              </a:rPr>
              <a:t>  "</a:t>
            </a:r>
            <a:r>
              <a:rPr lang="en-US" sz="800" dirty="0" err="1">
                <a:latin typeface="Consolas" panose="020B0609020204030204" pitchFamily="49" charset="0"/>
              </a:rPr>
              <a:t>additionalProperties</a:t>
            </a:r>
            <a:r>
              <a:rPr lang="en-US" sz="800" dirty="0">
                <a:latin typeface="Consolas" panose="020B0609020204030204" pitchFamily="49" charset="0"/>
              </a:rPr>
              <a:t>": false</a:t>
            </a:r>
          </a:p>
          <a:p>
            <a:r>
              <a:rPr lang="en-US" sz="800" dirty="0">
                <a:latin typeface="Consolas" panose="020B0609020204030204" pitchFamily="49" charset="0"/>
              </a:rPr>
              <a:t>}</a:t>
            </a:r>
          </a:p>
        </p:txBody>
      </p:sp>
      <p:sp>
        <p:nvSpPr>
          <p:cNvPr id="6" name="TextBox 5"/>
          <p:cNvSpPr txBox="1"/>
          <p:nvPr/>
        </p:nvSpPr>
        <p:spPr>
          <a:xfrm>
            <a:off x="5133677" y="1650999"/>
            <a:ext cx="3756323" cy="4401205"/>
          </a:xfrm>
          <a:prstGeom prst="rect">
            <a:avLst/>
          </a:prstGeom>
          <a:noFill/>
          <a:ln>
            <a:solidFill>
              <a:schemeClr val="accent1">
                <a:shade val="95000"/>
                <a:satMod val="105000"/>
              </a:schemeClr>
            </a:solidFill>
          </a:ln>
        </p:spPr>
        <p:txBody>
          <a:bodyPr wrap="square" rtlCol="0">
            <a:spAutoFit/>
          </a:bodyPr>
          <a:lstStyle/>
          <a:p>
            <a:r>
              <a:rPr lang="en-US" sz="800" dirty="0">
                <a:latin typeface="Consolas" panose="020B0609020204030204" pitchFamily="49" charset="0"/>
              </a:rPr>
              <a:t>{</a:t>
            </a:r>
          </a:p>
          <a:p>
            <a:r>
              <a:rPr lang="en-US" sz="800" dirty="0">
                <a:latin typeface="Consolas" panose="020B0609020204030204" pitchFamily="49" charset="0"/>
              </a:rPr>
              <a:t>  "$schema": "http://</a:t>
            </a:r>
            <a:r>
              <a:rPr lang="en-US" sz="800" dirty="0" err="1">
                <a:latin typeface="Consolas" panose="020B0609020204030204" pitchFamily="49" charset="0"/>
              </a:rPr>
              <a:t>json-schema.org</a:t>
            </a:r>
            <a:r>
              <a:rPr lang="en-US" sz="800" dirty="0">
                <a:latin typeface="Consolas" panose="020B0609020204030204" pitchFamily="49" charset="0"/>
              </a:rPr>
              <a:t>/draft-07/schema#",</a:t>
            </a:r>
          </a:p>
          <a:p>
            <a:r>
              <a:rPr lang="en-US" sz="800" dirty="0">
                <a:latin typeface="Consolas" panose="020B0609020204030204" pitchFamily="49" charset="0"/>
              </a:rPr>
              <a:t>  "type": "object",</a:t>
            </a:r>
          </a:p>
          <a:p>
            <a:r>
              <a:rPr lang="en-US" sz="800" dirty="0">
                <a:latin typeface="Consolas" panose="020B0609020204030204" pitchFamily="49" charset="0"/>
              </a:rPr>
              <a:t>  "properties": {</a:t>
            </a:r>
          </a:p>
          <a:p>
            <a:r>
              <a:rPr lang="en-US" sz="800" dirty="0">
                <a:latin typeface="Consolas" panose="020B0609020204030204" pitchFamily="49" charset="0"/>
              </a:rPr>
              <a:t>    "</a:t>
            </a:r>
            <a:r>
              <a:rPr lang="en-US" sz="800" dirty="0" err="1">
                <a:latin typeface="Consolas" panose="020B0609020204030204" pitchFamily="49" charset="0"/>
              </a:rPr>
              <a:t>orderid</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customerName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addressLineOne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postCode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pinCode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"pattern": "^[0-9]+$"</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a:solidFill>
                  <a:srgbClr val="FF0000"/>
                </a:solidFill>
                <a:latin typeface="Consolas" panose="020B0609020204030204" pitchFamily="49" charset="0"/>
              </a:rPr>
              <a:t>"latitude": {</a:t>
            </a:r>
          </a:p>
          <a:p>
            <a:r>
              <a:rPr lang="en-US" sz="800" dirty="0">
                <a:solidFill>
                  <a:srgbClr val="FF0000"/>
                </a:solidFill>
                <a:latin typeface="Consolas" panose="020B0609020204030204" pitchFamily="49" charset="0"/>
              </a:rPr>
              <a:t>      "type": "number",</a:t>
            </a:r>
          </a:p>
          <a:p>
            <a:r>
              <a:rPr lang="en-US" sz="800" dirty="0">
                <a:solidFill>
                  <a:srgbClr val="FF0000"/>
                </a:solidFill>
                <a:latin typeface="Consolas" panose="020B0609020204030204" pitchFamily="49" charset="0"/>
              </a:rPr>
              <a:t>      "minimum": -90,</a:t>
            </a:r>
          </a:p>
          <a:p>
            <a:r>
              <a:rPr lang="en-US" sz="800" dirty="0">
                <a:solidFill>
                  <a:srgbClr val="FF0000"/>
                </a:solidFill>
                <a:latin typeface="Consolas" panose="020B0609020204030204" pitchFamily="49" charset="0"/>
              </a:rPr>
              <a:t>      "maximum": 90</a:t>
            </a:r>
          </a:p>
          <a:p>
            <a:r>
              <a:rPr lang="en-US" sz="800" dirty="0">
                <a:solidFill>
                  <a:srgbClr val="FF0000"/>
                </a:solidFill>
                <a:latin typeface="Consolas" panose="020B0609020204030204" pitchFamily="49" charset="0"/>
              </a:rPr>
              <a:t>    },</a:t>
            </a:r>
          </a:p>
          <a:p>
            <a:r>
              <a:rPr lang="en-US" sz="800" dirty="0">
                <a:solidFill>
                  <a:srgbClr val="FF0000"/>
                </a:solidFill>
                <a:latin typeface="Consolas" panose="020B0609020204030204" pitchFamily="49" charset="0"/>
              </a:rPr>
              <a:t>    "longitude": {</a:t>
            </a:r>
          </a:p>
          <a:p>
            <a:r>
              <a:rPr lang="en-US" sz="800" dirty="0">
                <a:solidFill>
                  <a:srgbClr val="FF0000"/>
                </a:solidFill>
                <a:latin typeface="Consolas" panose="020B0609020204030204" pitchFamily="49" charset="0"/>
              </a:rPr>
              <a:t>      "type": "number",</a:t>
            </a:r>
          </a:p>
          <a:p>
            <a:r>
              <a:rPr lang="en-US" sz="800" dirty="0">
                <a:solidFill>
                  <a:srgbClr val="FF0000"/>
                </a:solidFill>
                <a:latin typeface="Consolas" panose="020B0609020204030204" pitchFamily="49" charset="0"/>
              </a:rPr>
              <a:t>      "minimum": -180,</a:t>
            </a:r>
          </a:p>
          <a:p>
            <a:r>
              <a:rPr lang="en-US" sz="800" dirty="0">
                <a:solidFill>
                  <a:srgbClr val="FF0000"/>
                </a:solidFill>
                <a:latin typeface="Consolas" panose="020B0609020204030204" pitchFamily="49" charset="0"/>
              </a:rPr>
              <a:t>      "maximum": 180</a:t>
            </a:r>
          </a:p>
          <a:p>
            <a:r>
              <a:rPr lang="en-US" sz="800" dirty="0">
                <a:solidFill>
                  <a:srgbClr val="FF0000"/>
                </a:solidFill>
                <a:latin typeface="Consolas" panose="020B0609020204030204" pitchFamily="49" charset="0"/>
              </a:rPr>
              <a:t>    }</a:t>
            </a:r>
          </a:p>
          <a:p>
            <a:r>
              <a:rPr lang="en-US" sz="800" dirty="0">
                <a:latin typeface="Consolas" panose="020B0609020204030204" pitchFamily="49" charset="0"/>
              </a:rPr>
              <a:t>  },</a:t>
            </a:r>
          </a:p>
          <a:p>
            <a:r>
              <a:rPr lang="en-US" sz="800" dirty="0">
                <a:latin typeface="Consolas" panose="020B0609020204030204" pitchFamily="49" charset="0"/>
              </a:rPr>
              <a:t>  "required": ["</a:t>
            </a:r>
            <a:r>
              <a:rPr lang="en-US" sz="800" dirty="0" err="1">
                <a:latin typeface="Consolas" panose="020B0609020204030204" pitchFamily="49" charset="0"/>
              </a:rPr>
              <a:t>orderid</a:t>
            </a:r>
            <a:r>
              <a:rPr lang="en-US" sz="800" dirty="0">
                <a:latin typeface="Consolas" panose="020B0609020204030204" pitchFamily="49" charset="0"/>
              </a:rPr>
              <a:t>", "</a:t>
            </a:r>
            <a:r>
              <a:rPr lang="en-US" sz="800" dirty="0" err="1">
                <a:latin typeface="Consolas" panose="020B0609020204030204" pitchFamily="49" charset="0"/>
              </a:rPr>
              <a:t>customerName</a:t>
            </a:r>
            <a:r>
              <a:rPr lang="en-US" sz="800" dirty="0">
                <a:latin typeface="Consolas" panose="020B0609020204030204" pitchFamily="49" charset="0"/>
              </a:rPr>
              <a:t>", "</a:t>
            </a:r>
            <a:r>
              <a:rPr lang="en-US" sz="800" dirty="0" err="1">
                <a:latin typeface="Consolas" panose="020B0609020204030204" pitchFamily="49" charset="0"/>
              </a:rPr>
              <a:t>addressLineOne</a:t>
            </a:r>
            <a:r>
              <a:rPr lang="en-US" sz="800" dirty="0">
                <a:latin typeface="Consolas" panose="020B0609020204030204" pitchFamily="49" charset="0"/>
              </a:rPr>
              <a:t>", "</a:t>
            </a:r>
            <a:r>
              <a:rPr lang="en-US" sz="800" dirty="0" err="1">
                <a:latin typeface="Consolas" panose="020B0609020204030204" pitchFamily="49" charset="0"/>
              </a:rPr>
              <a:t>postCode</a:t>
            </a:r>
            <a:r>
              <a:rPr lang="en-US" sz="800" dirty="0">
                <a:latin typeface="Consolas" panose="020B0609020204030204" pitchFamily="49" charset="0"/>
              </a:rPr>
              <a:t>", "</a:t>
            </a:r>
            <a:r>
              <a:rPr lang="en-US" sz="800" dirty="0" err="1">
                <a:latin typeface="Consolas" panose="020B0609020204030204" pitchFamily="49" charset="0"/>
              </a:rPr>
              <a:t>pinCode</a:t>
            </a:r>
            <a:r>
              <a:rPr lang="en-US" sz="800" dirty="0">
                <a:latin typeface="Consolas" panose="020B0609020204030204" pitchFamily="49" charset="0"/>
              </a:rPr>
              <a:t>"],</a:t>
            </a:r>
          </a:p>
          <a:p>
            <a:r>
              <a:rPr lang="en-US" sz="800" dirty="0">
                <a:latin typeface="Consolas" panose="020B0609020204030204" pitchFamily="49" charset="0"/>
              </a:rPr>
              <a:t>  "</a:t>
            </a:r>
            <a:r>
              <a:rPr lang="en-US" sz="800" dirty="0" err="1">
                <a:latin typeface="Consolas" panose="020B0609020204030204" pitchFamily="49" charset="0"/>
              </a:rPr>
              <a:t>additionalProperties</a:t>
            </a:r>
            <a:r>
              <a:rPr lang="en-US" sz="800" dirty="0">
                <a:latin typeface="Consolas" panose="020B0609020204030204" pitchFamily="49" charset="0"/>
              </a:rPr>
              <a:t>": false</a:t>
            </a:r>
          </a:p>
          <a:p>
            <a:r>
              <a:rPr lang="en-US" sz="800" dirty="0">
                <a:latin typeface="Consolas" panose="020B0609020204030204" pitchFamily="49" charset="0"/>
              </a:rPr>
              <a:t>}</a:t>
            </a:r>
          </a:p>
        </p:txBody>
      </p:sp>
      <p:sp>
        <p:nvSpPr>
          <p:cNvPr id="12" name="TextBox 11">
            <a:extLst>
              <a:ext uri="{FF2B5EF4-FFF2-40B4-BE49-F238E27FC236}">
                <a16:creationId xmlns:a16="http://schemas.microsoft.com/office/drawing/2014/main" id="{410E5ABA-68F7-E144-B863-76D951746989}"/>
              </a:ext>
            </a:extLst>
          </p:cNvPr>
          <p:cNvSpPr txBox="1"/>
          <p:nvPr/>
        </p:nvSpPr>
        <p:spPr>
          <a:xfrm>
            <a:off x="775604" y="5665429"/>
            <a:ext cx="3409238" cy="507831"/>
          </a:xfrm>
          <a:prstGeom prst="rect">
            <a:avLst/>
          </a:prstGeom>
          <a:noFill/>
        </p:spPr>
        <p:txBody>
          <a:bodyPr wrap="square" rtlCol="0">
            <a:spAutoFit/>
          </a:bodyPr>
          <a:lstStyle/>
          <a:p>
            <a:pPr algn="ctr"/>
            <a:r>
              <a:rPr lang="en-US" sz="2700" b="1" dirty="0">
                <a:latin typeface="Chalkboard" panose="03050602040202020205" pitchFamily="66" charset="77"/>
              </a:rPr>
              <a:t>Ignore New Fields</a:t>
            </a:r>
          </a:p>
        </p:txBody>
      </p:sp>
      <p:sp>
        <p:nvSpPr>
          <p:cNvPr id="13" name="TextBox 12">
            <a:extLst>
              <a:ext uri="{FF2B5EF4-FFF2-40B4-BE49-F238E27FC236}">
                <a16:creationId xmlns:a16="http://schemas.microsoft.com/office/drawing/2014/main" id="{E1C11AE0-3006-254D-BACE-AB324DA3EB8F}"/>
              </a:ext>
            </a:extLst>
          </p:cNvPr>
          <p:cNvSpPr txBox="1"/>
          <p:nvPr/>
        </p:nvSpPr>
        <p:spPr>
          <a:xfrm>
            <a:off x="2680604" y="500105"/>
            <a:ext cx="3409238" cy="523220"/>
          </a:xfrm>
          <a:prstGeom prst="rect">
            <a:avLst/>
          </a:prstGeom>
          <a:noFill/>
        </p:spPr>
        <p:txBody>
          <a:bodyPr wrap="square" rtlCol="0">
            <a:spAutoFit/>
          </a:bodyPr>
          <a:lstStyle/>
          <a:p>
            <a:pPr algn="ctr"/>
            <a:r>
              <a:rPr lang="en-US" sz="2800" b="1" dirty="0">
                <a:latin typeface="Chalkboard" panose="03050602040202020205" pitchFamily="66" charset="77"/>
              </a:rPr>
              <a:t>Tolerant Reader</a:t>
            </a:r>
          </a:p>
        </p:txBody>
      </p:sp>
      <p:cxnSp>
        <p:nvCxnSpPr>
          <p:cNvPr id="14" name="Straight Arrow Connector 13">
            <a:extLst>
              <a:ext uri="{FF2B5EF4-FFF2-40B4-BE49-F238E27FC236}">
                <a16:creationId xmlns:a16="http://schemas.microsoft.com/office/drawing/2014/main" id="{BF9EF9C3-F249-A94E-ADCB-53ADF9722628}"/>
              </a:ext>
            </a:extLst>
          </p:cNvPr>
          <p:cNvCxnSpPr>
            <a:cxnSpLocks/>
            <a:stCxn id="5" idx="3"/>
            <a:endCxn id="6" idx="1"/>
          </p:cNvCxnSpPr>
          <p:nvPr/>
        </p:nvCxnSpPr>
        <p:spPr>
          <a:xfrm>
            <a:off x="4572000" y="3236049"/>
            <a:ext cx="561677" cy="61555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656936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29B0DB-CA81-FA4C-9FC6-7B811EE316E7}"/>
              </a:ext>
            </a:extLst>
          </p:cNvPr>
          <p:cNvSpPr>
            <a:spLocks noGrp="1"/>
          </p:cNvSpPr>
          <p:nvPr>
            <p:ph type="sldNum" sz="quarter" idx="12"/>
          </p:nvPr>
        </p:nvSpPr>
        <p:spPr/>
        <p:txBody>
          <a:bodyPr/>
          <a:lstStyle/>
          <a:p>
            <a:fld id="{867D4A06-35AE-BD4A-84A9-613A26F3D41D}" type="slidenum">
              <a:rPr lang="en-US" smtClean="0"/>
              <a:pPr/>
              <a:t>101</a:t>
            </a:fld>
            <a:endParaRPr lang="en-US"/>
          </a:p>
        </p:txBody>
      </p:sp>
      <p:sp>
        <p:nvSpPr>
          <p:cNvPr id="7" name="TextBox 6">
            <a:extLst>
              <a:ext uri="{FF2B5EF4-FFF2-40B4-BE49-F238E27FC236}">
                <a16:creationId xmlns:a16="http://schemas.microsoft.com/office/drawing/2014/main" id="{E59421E8-7C07-2A4D-96BC-C6000FA0DDCF}"/>
              </a:ext>
            </a:extLst>
          </p:cNvPr>
          <p:cNvSpPr txBox="1"/>
          <p:nvPr/>
        </p:nvSpPr>
        <p:spPr>
          <a:xfrm>
            <a:off x="2652115" y="754816"/>
            <a:ext cx="3409238" cy="507831"/>
          </a:xfrm>
          <a:prstGeom prst="rect">
            <a:avLst/>
          </a:prstGeom>
          <a:noFill/>
        </p:spPr>
        <p:txBody>
          <a:bodyPr wrap="square" rtlCol="0">
            <a:spAutoFit/>
          </a:bodyPr>
          <a:lstStyle/>
          <a:p>
            <a:pPr algn="ctr"/>
            <a:r>
              <a:rPr lang="en-US" sz="2700" b="1" dirty="0"/>
              <a:t>Tolerant Reader</a:t>
            </a:r>
          </a:p>
        </p:txBody>
      </p:sp>
      <p:sp>
        <p:nvSpPr>
          <p:cNvPr id="13" name="TextBox 12">
            <a:extLst>
              <a:ext uri="{FF2B5EF4-FFF2-40B4-BE49-F238E27FC236}">
                <a16:creationId xmlns:a16="http://schemas.microsoft.com/office/drawing/2014/main" id="{468613CF-3E24-DC4B-A395-1E16CABF2F67}"/>
              </a:ext>
            </a:extLst>
          </p:cNvPr>
          <p:cNvSpPr txBox="1"/>
          <p:nvPr/>
        </p:nvSpPr>
        <p:spPr>
          <a:xfrm>
            <a:off x="5368642" y="4864548"/>
            <a:ext cx="3409238" cy="507831"/>
          </a:xfrm>
          <a:prstGeom prst="rect">
            <a:avLst/>
          </a:prstGeom>
          <a:noFill/>
        </p:spPr>
        <p:txBody>
          <a:bodyPr wrap="square" rtlCol="0">
            <a:spAutoFit/>
          </a:bodyPr>
          <a:lstStyle/>
          <a:p>
            <a:pPr algn="ctr"/>
            <a:r>
              <a:rPr lang="en-US" sz="2700" b="1" dirty="0"/>
              <a:t>Default Missing Fields</a:t>
            </a:r>
          </a:p>
        </p:txBody>
      </p:sp>
      <p:sp>
        <p:nvSpPr>
          <p:cNvPr id="5" name="TextBox 4">
            <a:extLst>
              <a:ext uri="{FF2B5EF4-FFF2-40B4-BE49-F238E27FC236}">
                <a16:creationId xmlns:a16="http://schemas.microsoft.com/office/drawing/2014/main" id="{09E2BD5E-A4C0-E1F8-7E22-61F3A8AC22D3}"/>
              </a:ext>
            </a:extLst>
          </p:cNvPr>
          <p:cNvSpPr txBox="1"/>
          <p:nvPr/>
        </p:nvSpPr>
        <p:spPr>
          <a:xfrm>
            <a:off x="477011" y="1262647"/>
            <a:ext cx="3756323" cy="4401205"/>
          </a:xfrm>
          <a:prstGeom prst="rect">
            <a:avLst/>
          </a:prstGeom>
          <a:noFill/>
          <a:ln>
            <a:solidFill>
              <a:schemeClr val="accent1">
                <a:shade val="95000"/>
                <a:satMod val="105000"/>
              </a:schemeClr>
            </a:solidFill>
          </a:ln>
        </p:spPr>
        <p:txBody>
          <a:bodyPr wrap="square" rtlCol="0">
            <a:spAutoFit/>
          </a:bodyPr>
          <a:lstStyle/>
          <a:p>
            <a:r>
              <a:rPr lang="en-US" sz="800" dirty="0">
                <a:latin typeface="Consolas" panose="020B0609020204030204" pitchFamily="49" charset="0"/>
              </a:rPr>
              <a:t>{</a:t>
            </a:r>
          </a:p>
          <a:p>
            <a:r>
              <a:rPr lang="en-US" sz="800" dirty="0">
                <a:latin typeface="Consolas" panose="020B0609020204030204" pitchFamily="49" charset="0"/>
              </a:rPr>
              <a:t>  "$schema": "http://</a:t>
            </a:r>
            <a:r>
              <a:rPr lang="en-US" sz="800" dirty="0" err="1">
                <a:latin typeface="Consolas" panose="020B0609020204030204" pitchFamily="49" charset="0"/>
              </a:rPr>
              <a:t>json-schema.org</a:t>
            </a:r>
            <a:r>
              <a:rPr lang="en-US" sz="800" dirty="0">
                <a:latin typeface="Consolas" panose="020B0609020204030204" pitchFamily="49" charset="0"/>
              </a:rPr>
              <a:t>/draft-07/schema#",</a:t>
            </a:r>
          </a:p>
          <a:p>
            <a:r>
              <a:rPr lang="en-US" sz="800" dirty="0">
                <a:latin typeface="Consolas" panose="020B0609020204030204" pitchFamily="49" charset="0"/>
              </a:rPr>
              <a:t>  "type": "object",</a:t>
            </a:r>
          </a:p>
          <a:p>
            <a:r>
              <a:rPr lang="en-US" sz="800" dirty="0">
                <a:latin typeface="Consolas" panose="020B0609020204030204" pitchFamily="49" charset="0"/>
              </a:rPr>
              <a:t>  "properties": {</a:t>
            </a:r>
          </a:p>
          <a:p>
            <a:r>
              <a:rPr lang="en-US" sz="800" dirty="0">
                <a:latin typeface="Consolas" panose="020B0609020204030204" pitchFamily="49" charset="0"/>
              </a:rPr>
              <a:t>    "</a:t>
            </a:r>
            <a:r>
              <a:rPr lang="en-US" sz="800" dirty="0" err="1">
                <a:latin typeface="Consolas" panose="020B0609020204030204" pitchFamily="49" charset="0"/>
              </a:rPr>
              <a:t>orderid</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customerName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addressLineOne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postCode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pinCode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"pattern": "^[0-9]+$"</a:t>
            </a:r>
          </a:p>
          <a:p>
            <a:r>
              <a:rPr lang="en-US" sz="800" dirty="0">
                <a:latin typeface="Consolas" panose="020B0609020204030204" pitchFamily="49" charset="0"/>
              </a:rPr>
              <a:t>    },</a:t>
            </a:r>
          </a:p>
          <a:p>
            <a:r>
              <a:rPr lang="en-US" sz="800" dirty="0">
                <a:solidFill>
                  <a:srgbClr val="FFC000"/>
                </a:solidFill>
                <a:latin typeface="Consolas" panose="020B0609020204030204" pitchFamily="49" charset="0"/>
              </a:rPr>
              <a:t>   </a:t>
            </a:r>
            <a:r>
              <a:rPr lang="en-US" sz="800" dirty="0">
                <a:solidFill>
                  <a:srgbClr val="92D050"/>
                </a:solidFill>
                <a:latin typeface="Consolas" panose="020B0609020204030204" pitchFamily="49" charset="0"/>
              </a:rPr>
              <a:t> "latitude": {</a:t>
            </a:r>
          </a:p>
          <a:p>
            <a:r>
              <a:rPr lang="en-US" sz="800" dirty="0">
                <a:solidFill>
                  <a:srgbClr val="92D050"/>
                </a:solidFill>
                <a:latin typeface="Consolas" panose="020B0609020204030204" pitchFamily="49" charset="0"/>
              </a:rPr>
              <a:t>      "type": "number",</a:t>
            </a:r>
          </a:p>
          <a:p>
            <a:r>
              <a:rPr lang="en-US" sz="800" dirty="0">
                <a:solidFill>
                  <a:srgbClr val="92D050"/>
                </a:solidFill>
                <a:latin typeface="Consolas" panose="020B0609020204030204" pitchFamily="49" charset="0"/>
              </a:rPr>
              <a:t>      "minimum": -90,</a:t>
            </a:r>
          </a:p>
          <a:p>
            <a:r>
              <a:rPr lang="en-US" sz="800" dirty="0">
                <a:solidFill>
                  <a:srgbClr val="92D050"/>
                </a:solidFill>
                <a:latin typeface="Consolas" panose="020B0609020204030204" pitchFamily="49" charset="0"/>
              </a:rPr>
              <a:t>      "maximum": 90</a:t>
            </a:r>
          </a:p>
          <a:p>
            <a:r>
              <a:rPr lang="en-US" sz="800" dirty="0">
                <a:solidFill>
                  <a:srgbClr val="92D050"/>
                </a:solidFill>
                <a:latin typeface="Consolas" panose="020B0609020204030204" pitchFamily="49" charset="0"/>
              </a:rPr>
              <a:t>    },</a:t>
            </a:r>
          </a:p>
          <a:p>
            <a:r>
              <a:rPr lang="en-US" sz="800" dirty="0">
                <a:solidFill>
                  <a:srgbClr val="92D050"/>
                </a:solidFill>
                <a:latin typeface="Consolas" panose="020B0609020204030204" pitchFamily="49" charset="0"/>
              </a:rPr>
              <a:t>    "longitude": {</a:t>
            </a:r>
          </a:p>
          <a:p>
            <a:r>
              <a:rPr lang="en-US" sz="800" dirty="0">
                <a:solidFill>
                  <a:srgbClr val="92D050"/>
                </a:solidFill>
                <a:latin typeface="Consolas" panose="020B0609020204030204" pitchFamily="49" charset="0"/>
              </a:rPr>
              <a:t>      "type": "number",</a:t>
            </a:r>
          </a:p>
          <a:p>
            <a:r>
              <a:rPr lang="en-US" sz="800" dirty="0">
                <a:solidFill>
                  <a:srgbClr val="92D050"/>
                </a:solidFill>
                <a:latin typeface="Consolas" panose="020B0609020204030204" pitchFamily="49" charset="0"/>
              </a:rPr>
              <a:t>      "minimum": -180,</a:t>
            </a:r>
          </a:p>
          <a:p>
            <a:r>
              <a:rPr lang="en-US" sz="800" dirty="0">
                <a:solidFill>
                  <a:srgbClr val="92D050"/>
                </a:solidFill>
                <a:latin typeface="Consolas" panose="020B0609020204030204" pitchFamily="49" charset="0"/>
              </a:rPr>
              <a:t>      "maximum": 180</a:t>
            </a:r>
          </a:p>
          <a:p>
            <a:r>
              <a:rPr lang="en-US" sz="800" dirty="0">
                <a:solidFill>
                  <a:srgbClr val="92D050"/>
                </a:solidFill>
                <a:latin typeface="Consolas" panose="020B0609020204030204" pitchFamily="49" charset="0"/>
              </a:rPr>
              <a:t>    }</a:t>
            </a:r>
          </a:p>
          <a:p>
            <a:r>
              <a:rPr lang="en-US" sz="800" dirty="0">
                <a:solidFill>
                  <a:srgbClr val="92D050"/>
                </a:solidFill>
                <a:latin typeface="Consolas" panose="020B0609020204030204" pitchFamily="49" charset="0"/>
              </a:rPr>
              <a:t>  },</a:t>
            </a:r>
          </a:p>
          <a:p>
            <a:r>
              <a:rPr lang="en-US" sz="800" dirty="0">
                <a:latin typeface="Consolas" panose="020B0609020204030204" pitchFamily="49" charset="0"/>
              </a:rPr>
              <a:t>  "required": ["</a:t>
            </a:r>
            <a:r>
              <a:rPr lang="en-US" sz="800" dirty="0" err="1">
                <a:latin typeface="Consolas" panose="020B0609020204030204" pitchFamily="49" charset="0"/>
              </a:rPr>
              <a:t>orderid</a:t>
            </a:r>
            <a:r>
              <a:rPr lang="en-US" sz="800" dirty="0">
                <a:latin typeface="Consolas" panose="020B0609020204030204" pitchFamily="49" charset="0"/>
              </a:rPr>
              <a:t>", "</a:t>
            </a:r>
            <a:r>
              <a:rPr lang="en-US" sz="800" dirty="0" err="1">
                <a:latin typeface="Consolas" panose="020B0609020204030204" pitchFamily="49" charset="0"/>
              </a:rPr>
              <a:t>customerName</a:t>
            </a:r>
            <a:r>
              <a:rPr lang="en-US" sz="800" dirty="0">
                <a:latin typeface="Consolas" panose="020B0609020204030204" pitchFamily="49" charset="0"/>
              </a:rPr>
              <a:t>", "</a:t>
            </a:r>
            <a:r>
              <a:rPr lang="en-US" sz="800" dirty="0" err="1">
                <a:latin typeface="Consolas" panose="020B0609020204030204" pitchFamily="49" charset="0"/>
              </a:rPr>
              <a:t>addressLineOne</a:t>
            </a:r>
            <a:r>
              <a:rPr lang="en-US" sz="800" dirty="0">
                <a:latin typeface="Consolas" panose="020B0609020204030204" pitchFamily="49" charset="0"/>
              </a:rPr>
              <a:t>", "</a:t>
            </a:r>
            <a:r>
              <a:rPr lang="en-US" sz="800" dirty="0" err="1">
                <a:latin typeface="Consolas" panose="020B0609020204030204" pitchFamily="49" charset="0"/>
              </a:rPr>
              <a:t>postCode</a:t>
            </a:r>
            <a:r>
              <a:rPr lang="en-US" sz="800" dirty="0">
                <a:latin typeface="Consolas" panose="020B0609020204030204" pitchFamily="49" charset="0"/>
              </a:rPr>
              <a:t>", "</a:t>
            </a:r>
            <a:r>
              <a:rPr lang="en-US" sz="800" dirty="0" err="1">
                <a:latin typeface="Consolas" panose="020B0609020204030204" pitchFamily="49" charset="0"/>
              </a:rPr>
              <a:t>pinCode</a:t>
            </a:r>
            <a:r>
              <a:rPr lang="en-US" sz="800" dirty="0">
                <a:latin typeface="Consolas" panose="020B0609020204030204" pitchFamily="49" charset="0"/>
              </a:rPr>
              <a:t>"],</a:t>
            </a:r>
          </a:p>
          <a:p>
            <a:r>
              <a:rPr lang="en-US" sz="800" dirty="0">
                <a:latin typeface="Consolas" panose="020B0609020204030204" pitchFamily="49" charset="0"/>
              </a:rPr>
              <a:t>  "</a:t>
            </a:r>
            <a:r>
              <a:rPr lang="en-US" sz="800" dirty="0" err="1">
                <a:latin typeface="Consolas" panose="020B0609020204030204" pitchFamily="49" charset="0"/>
              </a:rPr>
              <a:t>additionalProperties</a:t>
            </a:r>
            <a:r>
              <a:rPr lang="en-US" sz="800" dirty="0">
                <a:latin typeface="Consolas" panose="020B0609020204030204" pitchFamily="49" charset="0"/>
              </a:rPr>
              <a:t>": false</a:t>
            </a:r>
          </a:p>
          <a:p>
            <a:r>
              <a:rPr lang="en-US" sz="800" dirty="0">
                <a:latin typeface="Consolas" panose="020B0609020204030204" pitchFamily="49" charset="0"/>
              </a:rPr>
              <a:t>}</a:t>
            </a:r>
          </a:p>
        </p:txBody>
      </p:sp>
      <p:sp>
        <p:nvSpPr>
          <p:cNvPr id="9" name="TextBox 8">
            <a:extLst>
              <a:ext uri="{FF2B5EF4-FFF2-40B4-BE49-F238E27FC236}">
                <a16:creationId xmlns:a16="http://schemas.microsoft.com/office/drawing/2014/main" id="{F8388E95-FA38-E8E8-FAC1-A1A168B8CB51}"/>
              </a:ext>
            </a:extLst>
          </p:cNvPr>
          <p:cNvSpPr txBox="1"/>
          <p:nvPr/>
        </p:nvSpPr>
        <p:spPr>
          <a:xfrm>
            <a:off x="5130800" y="2937933"/>
            <a:ext cx="1849096" cy="523220"/>
          </a:xfrm>
          <a:prstGeom prst="rect">
            <a:avLst/>
          </a:prstGeom>
          <a:noFill/>
        </p:spPr>
        <p:txBody>
          <a:bodyPr wrap="none" rtlCol="0">
            <a:spAutoFit/>
          </a:bodyPr>
          <a:lstStyle/>
          <a:p>
            <a:r>
              <a:rPr lang="en-GB" sz="1400" dirty="0">
                <a:latin typeface="Chalkboard" panose="03050602040202020205" pitchFamily="66" charset="77"/>
              </a:rPr>
              <a:t>Default Latitude: 0</a:t>
            </a:r>
          </a:p>
          <a:p>
            <a:r>
              <a:rPr lang="en-GB" sz="1400" dirty="0">
                <a:latin typeface="Chalkboard" panose="03050602040202020205" pitchFamily="66" charset="77"/>
              </a:rPr>
              <a:t>Default Longitude: 0</a:t>
            </a:r>
          </a:p>
        </p:txBody>
      </p:sp>
      <p:cxnSp>
        <p:nvCxnSpPr>
          <p:cNvPr id="10" name="Straight Arrow Connector 9">
            <a:extLst>
              <a:ext uri="{FF2B5EF4-FFF2-40B4-BE49-F238E27FC236}">
                <a16:creationId xmlns:a16="http://schemas.microsoft.com/office/drawing/2014/main" id="{5421F2B2-70DF-1C29-A05A-6B8378715CC7}"/>
              </a:ext>
            </a:extLst>
          </p:cNvPr>
          <p:cNvCxnSpPr>
            <a:cxnSpLocks/>
            <a:stCxn id="9" idx="1"/>
          </p:cNvCxnSpPr>
          <p:nvPr/>
        </p:nvCxnSpPr>
        <p:spPr>
          <a:xfrm flipH="1">
            <a:off x="1947333" y="3199543"/>
            <a:ext cx="3183467" cy="112692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534B438-2F3F-0E46-5FE0-626549E3BAE9}"/>
              </a:ext>
            </a:extLst>
          </p:cNvPr>
          <p:cNvSpPr txBox="1"/>
          <p:nvPr/>
        </p:nvSpPr>
        <p:spPr>
          <a:xfrm>
            <a:off x="5368642" y="3880577"/>
            <a:ext cx="1669881" cy="307777"/>
          </a:xfrm>
          <a:prstGeom prst="rect">
            <a:avLst/>
          </a:prstGeom>
          <a:noFill/>
        </p:spPr>
        <p:txBody>
          <a:bodyPr wrap="none" rtlCol="0">
            <a:spAutoFit/>
          </a:bodyPr>
          <a:lstStyle/>
          <a:p>
            <a:r>
              <a:rPr lang="en-GB" sz="1400" dirty="0">
                <a:latin typeface="Chalkboard" panose="03050602040202020205" pitchFamily="66" charset="77"/>
              </a:rPr>
              <a:t>Note: not required</a:t>
            </a:r>
          </a:p>
        </p:txBody>
      </p:sp>
      <p:cxnSp>
        <p:nvCxnSpPr>
          <p:cNvPr id="16" name="Straight Arrow Connector 15">
            <a:extLst>
              <a:ext uri="{FF2B5EF4-FFF2-40B4-BE49-F238E27FC236}">
                <a16:creationId xmlns:a16="http://schemas.microsoft.com/office/drawing/2014/main" id="{05CF198E-231D-7A32-6252-2E7D49511B58}"/>
              </a:ext>
            </a:extLst>
          </p:cNvPr>
          <p:cNvCxnSpPr>
            <a:cxnSpLocks/>
            <a:stCxn id="15" idx="1"/>
          </p:cNvCxnSpPr>
          <p:nvPr/>
        </p:nvCxnSpPr>
        <p:spPr>
          <a:xfrm flipH="1">
            <a:off x="2185175" y="4034466"/>
            <a:ext cx="3183467" cy="123464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0570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67D4A06-35AE-BD4A-84A9-613A26F3D41D}" type="slidenum">
              <a:rPr lang="en-US" smtClean="0"/>
              <a:pPr/>
              <a:t>102</a:t>
            </a:fld>
            <a:endParaRPr lang="en-US"/>
          </a:p>
        </p:txBody>
      </p:sp>
      <p:sp>
        <p:nvSpPr>
          <p:cNvPr id="6" name="TextBox 5">
            <a:extLst>
              <a:ext uri="{FF2B5EF4-FFF2-40B4-BE49-F238E27FC236}">
                <a16:creationId xmlns:a16="http://schemas.microsoft.com/office/drawing/2014/main" id="{4AE8B6CD-4AD6-4145-8568-BAF8879712E0}"/>
              </a:ext>
            </a:extLst>
          </p:cNvPr>
          <p:cNvSpPr txBox="1"/>
          <p:nvPr/>
        </p:nvSpPr>
        <p:spPr>
          <a:xfrm>
            <a:off x="2652115" y="560083"/>
            <a:ext cx="3409238" cy="507831"/>
          </a:xfrm>
          <a:prstGeom prst="rect">
            <a:avLst/>
          </a:prstGeom>
          <a:noFill/>
        </p:spPr>
        <p:txBody>
          <a:bodyPr wrap="square" rtlCol="0">
            <a:spAutoFit/>
          </a:bodyPr>
          <a:lstStyle/>
          <a:p>
            <a:pPr algn="ctr"/>
            <a:r>
              <a:rPr lang="en-US" sz="2700" b="1" dirty="0">
                <a:latin typeface="Chalkboard" panose="03050602040202020205" pitchFamily="66" charset="77"/>
              </a:rPr>
              <a:t>Breaking Change</a:t>
            </a:r>
          </a:p>
        </p:txBody>
      </p:sp>
      <p:sp>
        <p:nvSpPr>
          <p:cNvPr id="13" name="TextBox 12">
            <a:extLst>
              <a:ext uri="{FF2B5EF4-FFF2-40B4-BE49-F238E27FC236}">
                <a16:creationId xmlns:a16="http://schemas.microsoft.com/office/drawing/2014/main" id="{78DDCDFE-DCFE-D9AB-4F70-1F4A9D90A5ED}"/>
              </a:ext>
            </a:extLst>
          </p:cNvPr>
          <p:cNvSpPr txBox="1"/>
          <p:nvPr/>
        </p:nvSpPr>
        <p:spPr>
          <a:xfrm>
            <a:off x="477011" y="1262647"/>
            <a:ext cx="3756323" cy="4401205"/>
          </a:xfrm>
          <a:prstGeom prst="rect">
            <a:avLst/>
          </a:prstGeom>
          <a:noFill/>
          <a:ln>
            <a:solidFill>
              <a:schemeClr val="accent1">
                <a:shade val="95000"/>
                <a:satMod val="105000"/>
              </a:schemeClr>
            </a:solidFill>
          </a:ln>
        </p:spPr>
        <p:txBody>
          <a:bodyPr wrap="square" rtlCol="0">
            <a:spAutoFit/>
          </a:bodyPr>
          <a:lstStyle/>
          <a:p>
            <a:r>
              <a:rPr lang="en-US" sz="800" dirty="0">
                <a:latin typeface="Consolas" panose="020B0609020204030204" pitchFamily="49" charset="0"/>
              </a:rPr>
              <a:t>{</a:t>
            </a:r>
          </a:p>
          <a:p>
            <a:r>
              <a:rPr lang="en-US" sz="800" dirty="0">
                <a:latin typeface="Consolas" panose="020B0609020204030204" pitchFamily="49" charset="0"/>
              </a:rPr>
              <a:t>  "$schema": "http://</a:t>
            </a:r>
            <a:r>
              <a:rPr lang="en-US" sz="800" dirty="0" err="1">
                <a:latin typeface="Consolas" panose="020B0609020204030204" pitchFamily="49" charset="0"/>
              </a:rPr>
              <a:t>json-schema.org</a:t>
            </a:r>
            <a:r>
              <a:rPr lang="en-US" sz="800" dirty="0">
                <a:latin typeface="Consolas" panose="020B0609020204030204" pitchFamily="49" charset="0"/>
              </a:rPr>
              <a:t>/draft-07/schema#",</a:t>
            </a:r>
          </a:p>
          <a:p>
            <a:r>
              <a:rPr lang="en-US" sz="800" dirty="0">
                <a:latin typeface="Consolas" panose="020B0609020204030204" pitchFamily="49" charset="0"/>
              </a:rPr>
              <a:t>  "type": "object",</a:t>
            </a:r>
          </a:p>
          <a:p>
            <a:r>
              <a:rPr lang="en-US" sz="800" dirty="0">
                <a:latin typeface="Consolas" panose="020B0609020204030204" pitchFamily="49" charset="0"/>
              </a:rPr>
              <a:t>  "properties": {</a:t>
            </a:r>
          </a:p>
          <a:p>
            <a:r>
              <a:rPr lang="en-US" sz="800" dirty="0">
                <a:latin typeface="Consolas" panose="020B0609020204030204" pitchFamily="49" charset="0"/>
              </a:rPr>
              <a:t>    "</a:t>
            </a:r>
            <a:r>
              <a:rPr lang="en-US" sz="800" dirty="0" err="1">
                <a:latin typeface="Consolas" panose="020B0609020204030204" pitchFamily="49" charset="0"/>
              </a:rPr>
              <a:t>orderid</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a:solidFill>
                  <a:srgbClr val="C00000"/>
                </a:solidFill>
                <a:latin typeface="Consolas" panose="020B0609020204030204" pitchFamily="49" charset="0"/>
              </a:rPr>
              <a:t>"</a:t>
            </a:r>
            <a:r>
              <a:rPr lang="en-US" sz="800" dirty="0" err="1">
                <a:solidFill>
                  <a:srgbClr val="C00000"/>
                </a:solidFill>
                <a:latin typeface="Consolas" panose="020B0609020204030204" pitchFamily="49" charset="0"/>
              </a:rPr>
              <a:t>firstName</a:t>
            </a:r>
            <a:r>
              <a:rPr lang="en-US" sz="800" dirty="0">
                <a:solidFill>
                  <a:srgbClr val="C00000"/>
                </a:solidFill>
                <a:latin typeface="Consolas" panose="020B0609020204030204" pitchFamily="49" charset="0"/>
              </a:rPr>
              <a:t>": {</a:t>
            </a:r>
          </a:p>
          <a:p>
            <a:r>
              <a:rPr lang="en-US" sz="800" dirty="0">
                <a:solidFill>
                  <a:srgbClr val="C00000"/>
                </a:solidFill>
                <a:latin typeface="Consolas" panose="020B0609020204030204" pitchFamily="49" charset="0"/>
              </a:rPr>
              <a:t>      "type": "string"</a:t>
            </a:r>
          </a:p>
          <a:p>
            <a:r>
              <a:rPr lang="en-US" sz="800" dirty="0">
                <a:solidFill>
                  <a:srgbClr val="C00000"/>
                </a:solidFill>
                <a:latin typeface="Consolas" panose="020B0609020204030204" pitchFamily="49" charset="0"/>
              </a:rPr>
              <a:t>    },</a:t>
            </a:r>
          </a:p>
          <a:p>
            <a:r>
              <a:rPr lang="en-US" sz="800" dirty="0">
                <a:solidFill>
                  <a:srgbClr val="C00000"/>
                </a:solidFill>
                <a:latin typeface="Consolas" panose="020B0609020204030204" pitchFamily="49" charset="0"/>
              </a:rPr>
              <a:t>    "</a:t>
            </a:r>
            <a:r>
              <a:rPr lang="en-US" sz="800" dirty="0" err="1">
                <a:solidFill>
                  <a:srgbClr val="C00000"/>
                </a:solidFill>
                <a:latin typeface="Consolas" panose="020B0609020204030204" pitchFamily="49" charset="0"/>
              </a:rPr>
              <a:t>surName</a:t>
            </a:r>
            <a:r>
              <a:rPr lang="en-US" sz="800" dirty="0">
                <a:solidFill>
                  <a:srgbClr val="C00000"/>
                </a:solidFill>
                <a:latin typeface="Consolas" panose="020B0609020204030204" pitchFamily="49" charset="0"/>
              </a:rPr>
              <a:t>": {</a:t>
            </a:r>
          </a:p>
          <a:p>
            <a:r>
              <a:rPr lang="en-US" sz="800" dirty="0">
                <a:solidFill>
                  <a:srgbClr val="C00000"/>
                </a:solidFill>
                <a:latin typeface="Consolas" panose="020B0609020204030204" pitchFamily="49" charset="0"/>
              </a:rPr>
              <a:t>      "type": "string"</a:t>
            </a:r>
          </a:p>
          <a:p>
            <a:r>
              <a:rPr lang="en-US" sz="800" dirty="0">
                <a:solidFill>
                  <a:srgbClr val="C00000"/>
                </a:solidFill>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addressLineOne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a:t>
            </a:r>
          </a:p>
          <a:p>
            <a:r>
              <a:rPr lang="en-US" sz="800" dirty="0">
                <a:latin typeface="Consolas" panose="020B0609020204030204" pitchFamily="49" charset="0"/>
              </a:rPr>
              <a:t>    "</a:t>
            </a:r>
            <a:r>
              <a:rPr lang="en-US" sz="800" dirty="0" err="1">
                <a:latin typeface="Consolas" panose="020B0609020204030204" pitchFamily="49" charset="0"/>
              </a:rPr>
              <a:t>pinCode</a:t>
            </a:r>
            <a:r>
              <a:rPr lang="en-US" sz="800" dirty="0">
                <a:latin typeface="Consolas" panose="020B0609020204030204" pitchFamily="49" charset="0"/>
              </a:rPr>
              <a:t>": {</a:t>
            </a:r>
          </a:p>
          <a:p>
            <a:r>
              <a:rPr lang="en-US" sz="800" dirty="0">
                <a:latin typeface="Consolas" panose="020B0609020204030204" pitchFamily="49" charset="0"/>
              </a:rPr>
              <a:t>      "type": "string",</a:t>
            </a:r>
          </a:p>
          <a:p>
            <a:r>
              <a:rPr lang="en-US" sz="800" dirty="0">
                <a:latin typeface="Consolas" panose="020B0609020204030204" pitchFamily="49" charset="0"/>
              </a:rPr>
              <a:t>      "pattern": "^[0-9]+$"</a:t>
            </a:r>
          </a:p>
          <a:p>
            <a:r>
              <a:rPr lang="en-US" sz="800" dirty="0">
                <a:latin typeface="Consolas" panose="020B0609020204030204" pitchFamily="49" charset="0"/>
              </a:rPr>
              <a:t>    },</a:t>
            </a:r>
          </a:p>
          <a:p>
            <a:r>
              <a:rPr lang="en-US" sz="800" dirty="0">
                <a:latin typeface="Consolas" panose="020B0609020204030204" pitchFamily="49" charset="0"/>
              </a:rPr>
              <a:t>    "latitude": {</a:t>
            </a:r>
          </a:p>
          <a:p>
            <a:r>
              <a:rPr lang="en-US" sz="800" dirty="0">
                <a:latin typeface="Consolas" panose="020B0609020204030204" pitchFamily="49" charset="0"/>
              </a:rPr>
              <a:t>      "type": "number",</a:t>
            </a:r>
          </a:p>
          <a:p>
            <a:r>
              <a:rPr lang="en-US" sz="800" dirty="0">
                <a:latin typeface="Consolas" panose="020B0609020204030204" pitchFamily="49" charset="0"/>
              </a:rPr>
              <a:t>      "minimum": -90,</a:t>
            </a:r>
          </a:p>
          <a:p>
            <a:r>
              <a:rPr lang="en-US" sz="800" dirty="0">
                <a:latin typeface="Consolas" panose="020B0609020204030204" pitchFamily="49" charset="0"/>
              </a:rPr>
              <a:t>      "maximum": 90</a:t>
            </a:r>
          </a:p>
          <a:p>
            <a:r>
              <a:rPr lang="en-US" sz="800" dirty="0">
                <a:latin typeface="Consolas" panose="020B0609020204030204" pitchFamily="49" charset="0"/>
              </a:rPr>
              <a:t>    },</a:t>
            </a:r>
          </a:p>
          <a:p>
            <a:r>
              <a:rPr lang="en-US" sz="800" dirty="0">
                <a:latin typeface="Consolas" panose="020B0609020204030204" pitchFamily="49" charset="0"/>
              </a:rPr>
              <a:t>    "longitude": {</a:t>
            </a:r>
          </a:p>
          <a:p>
            <a:r>
              <a:rPr lang="en-US" sz="800" dirty="0">
                <a:latin typeface="Consolas" panose="020B0609020204030204" pitchFamily="49" charset="0"/>
              </a:rPr>
              <a:t>      "type": "number",</a:t>
            </a:r>
          </a:p>
          <a:p>
            <a:r>
              <a:rPr lang="en-US" sz="800" dirty="0">
                <a:latin typeface="Consolas" panose="020B0609020204030204" pitchFamily="49" charset="0"/>
              </a:rPr>
              <a:t>      "minimum": -180,</a:t>
            </a:r>
          </a:p>
          <a:p>
            <a:r>
              <a:rPr lang="en-US" sz="800" dirty="0">
                <a:latin typeface="Consolas" panose="020B0609020204030204" pitchFamily="49" charset="0"/>
              </a:rPr>
              <a:t>      "maximum": 180</a:t>
            </a:r>
          </a:p>
          <a:p>
            <a:r>
              <a:rPr lang="en-US" sz="800" dirty="0">
                <a:latin typeface="Consolas" panose="020B0609020204030204" pitchFamily="49" charset="0"/>
              </a:rPr>
              <a:t>    }</a:t>
            </a:r>
          </a:p>
          <a:p>
            <a:r>
              <a:rPr lang="en-US" sz="800" dirty="0">
                <a:latin typeface="Consolas" panose="020B0609020204030204" pitchFamily="49" charset="0"/>
              </a:rPr>
              <a:t>  },</a:t>
            </a:r>
          </a:p>
          <a:p>
            <a:r>
              <a:rPr lang="en-US" sz="800" dirty="0">
                <a:latin typeface="Consolas" panose="020B0609020204030204" pitchFamily="49" charset="0"/>
              </a:rPr>
              <a:t>  "required": ["</a:t>
            </a:r>
            <a:r>
              <a:rPr lang="en-US" sz="800" dirty="0" err="1">
                <a:latin typeface="Consolas" panose="020B0609020204030204" pitchFamily="49" charset="0"/>
              </a:rPr>
              <a:t>orderid</a:t>
            </a:r>
            <a:r>
              <a:rPr lang="en-US" sz="800" dirty="0">
                <a:latin typeface="Consolas" panose="020B0609020204030204" pitchFamily="49" charset="0"/>
              </a:rPr>
              <a:t>", "</a:t>
            </a:r>
            <a:r>
              <a:rPr lang="en-US" sz="800" dirty="0" err="1">
                <a:latin typeface="Consolas" panose="020B0609020204030204" pitchFamily="49" charset="0"/>
              </a:rPr>
              <a:t>firstName</a:t>
            </a:r>
            <a:r>
              <a:rPr lang="en-US" sz="800" dirty="0">
                <a:latin typeface="Consolas" panose="020B0609020204030204" pitchFamily="49" charset="0"/>
              </a:rPr>
              <a:t>", "</a:t>
            </a:r>
            <a:r>
              <a:rPr lang="en-US" sz="800" dirty="0" err="1">
                <a:latin typeface="Consolas" panose="020B0609020204030204" pitchFamily="49" charset="0"/>
              </a:rPr>
              <a:t>surName</a:t>
            </a:r>
            <a:r>
              <a:rPr lang="en-US" sz="800" dirty="0">
                <a:latin typeface="Consolas" panose="020B0609020204030204" pitchFamily="49" charset="0"/>
              </a:rPr>
              <a:t>", "</a:t>
            </a:r>
            <a:r>
              <a:rPr lang="en-US" sz="800" dirty="0" err="1">
                <a:latin typeface="Consolas" panose="020B0609020204030204" pitchFamily="49" charset="0"/>
              </a:rPr>
              <a:t>addressLineOne</a:t>
            </a:r>
            <a:r>
              <a:rPr lang="en-US" sz="800" dirty="0">
                <a:latin typeface="Consolas" panose="020B0609020204030204" pitchFamily="49" charset="0"/>
              </a:rPr>
              <a:t>", "</a:t>
            </a:r>
            <a:r>
              <a:rPr lang="en-US" sz="800" dirty="0" err="1">
                <a:latin typeface="Consolas" panose="020B0609020204030204" pitchFamily="49" charset="0"/>
              </a:rPr>
              <a:t>pinCode</a:t>
            </a:r>
            <a:r>
              <a:rPr lang="en-US" sz="800" dirty="0">
                <a:latin typeface="Consolas" panose="020B0609020204030204" pitchFamily="49" charset="0"/>
              </a:rPr>
              <a:t>", "latitude", "longitude"],</a:t>
            </a:r>
          </a:p>
          <a:p>
            <a:r>
              <a:rPr lang="en-US" sz="800" dirty="0">
                <a:latin typeface="Consolas" panose="020B0609020204030204" pitchFamily="49" charset="0"/>
              </a:rPr>
              <a:t>  "</a:t>
            </a:r>
            <a:r>
              <a:rPr lang="en-US" sz="800" dirty="0" err="1">
                <a:latin typeface="Consolas" panose="020B0609020204030204" pitchFamily="49" charset="0"/>
              </a:rPr>
              <a:t>additionalProperties</a:t>
            </a:r>
            <a:r>
              <a:rPr lang="en-US" sz="800" dirty="0">
                <a:latin typeface="Consolas" panose="020B0609020204030204" pitchFamily="49" charset="0"/>
              </a:rPr>
              <a:t>": false</a:t>
            </a:r>
          </a:p>
          <a:p>
            <a:r>
              <a:rPr lang="en-US" sz="800" dirty="0">
                <a:latin typeface="Consolas" panose="020B0609020204030204" pitchFamily="49" charset="0"/>
              </a:rPr>
              <a:t>}</a:t>
            </a:r>
          </a:p>
        </p:txBody>
      </p:sp>
      <p:sp>
        <p:nvSpPr>
          <p:cNvPr id="14" name="TextBox 13">
            <a:extLst>
              <a:ext uri="{FF2B5EF4-FFF2-40B4-BE49-F238E27FC236}">
                <a16:creationId xmlns:a16="http://schemas.microsoft.com/office/drawing/2014/main" id="{A8418F5C-625D-95BD-6563-3E30863D2FB0}"/>
              </a:ext>
            </a:extLst>
          </p:cNvPr>
          <p:cNvSpPr txBox="1"/>
          <p:nvPr/>
        </p:nvSpPr>
        <p:spPr>
          <a:xfrm>
            <a:off x="5554134" y="1642533"/>
            <a:ext cx="3132666" cy="1169551"/>
          </a:xfrm>
          <a:prstGeom prst="rect">
            <a:avLst/>
          </a:prstGeom>
          <a:noFill/>
        </p:spPr>
        <p:txBody>
          <a:bodyPr wrap="square" rtlCol="0">
            <a:spAutoFit/>
          </a:bodyPr>
          <a:lstStyle/>
          <a:p>
            <a:r>
              <a:rPr lang="en-GB" sz="1400" dirty="0">
                <a:latin typeface="Chalkboard" panose="03050602040202020205" pitchFamily="66" charset="77"/>
              </a:rPr>
              <a:t>We might be able to write code to deal with this change, but we have to know that a required field is missing and we have new fields instead</a:t>
            </a:r>
          </a:p>
        </p:txBody>
      </p:sp>
      <p:cxnSp>
        <p:nvCxnSpPr>
          <p:cNvPr id="15" name="Straight Arrow Connector 14">
            <a:extLst>
              <a:ext uri="{FF2B5EF4-FFF2-40B4-BE49-F238E27FC236}">
                <a16:creationId xmlns:a16="http://schemas.microsoft.com/office/drawing/2014/main" id="{5EEB96CF-3C2E-91E6-F4E4-210A7486106A}"/>
              </a:ext>
            </a:extLst>
          </p:cNvPr>
          <p:cNvCxnSpPr>
            <a:cxnSpLocks/>
            <a:stCxn id="14" idx="1"/>
          </p:cNvCxnSpPr>
          <p:nvPr/>
        </p:nvCxnSpPr>
        <p:spPr>
          <a:xfrm flipH="1">
            <a:off x="2082800" y="2227309"/>
            <a:ext cx="3471334" cy="3211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15911EF-6556-CC76-0910-5E3EFA630F59}"/>
              </a:ext>
            </a:extLst>
          </p:cNvPr>
          <p:cNvSpPr txBox="1"/>
          <p:nvPr/>
        </p:nvSpPr>
        <p:spPr>
          <a:xfrm>
            <a:off x="5630334" y="3259667"/>
            <a:ext cx="3132666" cy="1384995"/>
          </a:xfrm>
          <a:prstGeom prst="rect">
            <a:avLst/>
          </a:prstGeom>
          <a:noFill/>
        </p:spPr>
        <p:txBody>
          <a:bodyPr wrap="square" rtlCol="0">
            <a:spAutoFit/>
          </a:bodyPr>
          <a:lstStyle/>
          <a:p>
            <a:r>
              <a:rPr lang="en-GB" sz="1400" dirty="0">
                <a:latin typeface="Chalkboard" panose="03050602040202020205" pitchFamily="66" charset="77"/>
              </a:rPr>
              <a:t>For this we need to rely on a version in the header, and the ability to process messages with this new version, alongside old ones to allow us to run out the old until new replaces it.</a:t>
            </a:r>
          </a:p>
        </p:txBody>
      </p:sp>
      <p:cxnSp>
        <p:nvCxnSpPr>
          <p:cNvPr id="19" name="Straight Arrow Connector 18">
            <a:extLst>
              <a:ext uri="{FF2B5EF4-FFF2-40B4-BE49-F238E27FC236}">
                <a16:creationId xmlns:a16="http://schemas.microsoft.com/office/drawing/2014/main" id="{C40A6E91-5F6D-DEFA-2EE4-AFF8B8EFB071}"/>
              </a:ext>
            </a:extLst>
          </p:cNvPr>
          <p:cNvCxnSpPr>
            <a:cxnSpLocks/>
            <a:stCxn id="18" idx="1"/>
          </p:cNvCxnSpPr>
          <p:nvPr/>
        </p:nvCxnSpPr>
        <p:spPr>
          <a:xfrm flipH="1" flipV="1">
            <a:off x="1888067" y="2743200"/>
            <a:ext cx="3742267" cy="120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7791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875CA3-01D2-C49B-4F02-FDE087188E1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1EA8C27-387A-F0A5-0DF7-7AA752101D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FC4CE39-1123-469D-60CA-3BA83A8E56F7}"/>
              </a:ext>
            </a:extLst>
          </p:cNvPr>
          <p:cNvSpPr txBox="1"/>
          <p:nvPr/>
        </p:nvSpPr>
        <p:spPr>
          <a:xfrm>
            <a:off x="628650" y="451381"/>
            <a:ext cx="7884414" cy="4066540"/>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700" b="1" kern="1200" dirty="0">
                <a:solidFill>
                  <a:schemeClr val="tx1"/>
                </a:solidFill>
                <a:latin typeface="Chalkboard" panose="03050602040202020205" pitchFamily="66" charset="77"/>
                <a:ea typeface="+mj-ea"/>
                <a:cs typeface="+mj-cs"/>
              </a:rPr>
              <a:t>Documentation</a:t>
            </a:r>
          </a:p>
        </p:txBody>
      </p:sp>
      <p:sp>
        <p:nvSpPr>
          <p:cNvPr id="11" name="sketch line">
            <a:extLst>
              <a:ext uri="{FF2B5EF4-FFF2-40B4-BE49-F238E27FC236}">
                <a16:creationId xmlns:a16="http://schemas.microsoft.com/office/drawing/2014/main" id="{E5CF3288-24DD-D2E9-A0C7-843137729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702241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77B9A9-DD8B-1B4D-AFA3-0008F2F274EF}"/>
              </a:ext>
            </a:extLst>
          </p:cNvPr>
          <p:cNvSpPr/>
          <p:nvPr/>
        </p:nvSpPr>
        <p:spPr>
          <a:xfrm>
            <a:off x="1463598" y="2189696"/>
            <a:ext cx="6063476" cy="2031325"/>
          </a:xfrm>
          <a:prstGeom prst="rect">
            <a:avLst/>
          </a:prstGeom>
        </p:spPr>
        <p:txBody>
          <a:bodyPr wrap="square">
            <a:spAutoFit/>
          </a:bodyPr>
          <a:lstStyle/>
          <a:p>
            <a:pPr algn="ctr"/>
            <a:r>
              <a:rPr lang="en-GB" i="1" dirty="0">
                <a:latin typeface="Chalkboard" panose="03050602040202020205" pitchFamily="66" charset="77"/>
              </a:rPr>
              <a:t>Endpoints</a:t>
            </a:r>
            <a:r>
              <a:rPr lang="en-GB" dirty="0">
                <a:latin typeface="Chalkboard" panose="03050602040202020205" pitchFamily="66" charset="77"/>
              </a:rPr>
              <a:t> are </a:t>
            </a:r>
            <a:r>
              <a:rPr lang="en-GB" b="1" dirty="0">
                <a:latin typeface="Chalkboard" panose="03050602040202020205" pitchFamily="66" charset="77"/>
              </a:rPr>
              <a:t>places where messages are sent or received</a:t>
            </a:r>
            <a:r>
              <a:rPr lang="en-GB" dirty="0">
                <a:latin typeface="Chalkboard" panose="03050602040202020205" pitchFamily="66" charset="77"/>
              </a:rPr>
              <a:t> (or both), and they define all the information required for the message exchange. </a:t>
            </a:r>
          </a:p>
          <a:p>
            <a:pPr algn="ctr"/>
            <a:endParaRPr lang="en-GB" dirty="0">
              <a:latin typeface="Chalkboard" panose="03050602040202020205" pitchFamily="66" charset="77"/>
            </a:endParaRPr>
          </a:p>
          <a:p>
            <a:pPr algn="ctr"/>
            <a:r>
              <a:rPr lang="en-GB" dirty="0">
                <a:latin typeface="Chalkboard" panose="03050602040202020205" pitchFamily="66" charset="77"/>
              </a:rPr>
              <a:t>An </a:t>
            </a:r>
            <a:r>
              <a:rPr lang="en-GB" i="1" dirty="0">
                <a:latin typeface="Chalkboard" panose="03050602040202020205" pitchFamily="66" charset="77"/>
              </a:rPr>
              <a:t>endpoint</a:t>
            </a:r>
            <a:r>
              <a:rPr lang="en-GB" dirty="0">
                <a:latin typeface="Chalkboard" panose="03050602040202020205" pitchFamily="66" charset="77"/>
              </a:rPr>
              <a:t> describes in a standard-based way </a:t>
            </a:r>
            <a:r>
              <a:rPr lang="en-GB" b="1" dirty="0">
                <a:latin typeface="Chalkboard" panose="03050602040202020205" pitchFamily="66" charset="77"/>
              </a:rPr>
              <a:t>where messages should be sent, how they should be sent, and what the messages should look like</a:t>
            </a:r>
            <a:r>
              <a:rPr lang="en-GB" dirty="0">
                <a:latin typeface="Chalkboard" panose="03050602040202020205" pitchFamily="66" charset="77"/>
              </a:rPr>
              <a:t>. </a:t>
            </a:r>
          </a:p>
        </p:txBody>
      </p:sp>
      <p:sp>
        <p:nvSpPr>
          <p:cNvPr id="5" name="Rectangle 4">
            <a:extLst>
              <a:ext uri="{FF2B5EF4-FFF2-40B4-BE49-F238E27FC236}">
                <a16:creationId xmlns:a16="http://schemas.microsoft.com/office/drawing/2014/main" id="{B6FE2D49-BD35-6B4A-AE72-7F47CB8E7C92}"/>
              </a:ext>
            </a:extLst>
          </p:cNvPr>
          <p:cNvSpPr/>
          <p:nvPr/>
        </p:nvSpPr>
        <p:spPr>
          <a:xfrm>
            <a:off x="3047070" y="5244026"/>
            <a:ext cx="5977054" cy="300082"/>
          </a:xfrm>
          <a:prstGeom prst="rect">
            <a:avLst/>
          </a:prstGeom>
        </p:spPr>
        <p:txBody>
          <a:bodyPr wrap="square">
            <a:spAutoFit/>
          </a:bodyPr>
          <a:lstStyle/>
          <a:p>
            <a:r>
              <a:rPr lang="en-US" sz="1350" dirty="0"/>
              <a:t>https://</a:t>
            </a:r>
            <a:r>
              <a:rPr lang="en-US" sz="1350" dirty="0" err="1"/>
              <a:t>docs.microsoft.com</a:t>
            </a:r>
            <a:r>
              <a:rPr lang="en-US" sz="1350" dirty="0"/>
              <a:t>/</a:t>
            </a:r>
            <a:r>
              <a:rPr lang="en-US" sz="1350" dirty="0" err="1"/>
              <a:t>en</a:t>
            </a:r>
            <a:r>
              <a:rPr lang="en-US" sz="1350" dirty="0"/>
              <a:t>-us/dotnet/framework/</a:t>
            </a:r>
            <a:r>
              <a:rPr lang="en-US" sz="1350" dirty="0" err="1"/>
              <a:t>wcf</a:t>
            </a:r>
            <a:r>
              <a:rPr lang="en-US" sz="1350" dirty="0"/>
              <a:t>/fundamental-concepts</a:t>
            </a:r>
          </a:p>
        </p:txBody>
      </p:sp>
      <p:sp>
        <p:nvSpPr>
          <p:cNvPr id="6" name="Footer Placeholder 5">
            <a:extLst>
              <a:ext uri="{FF2B5EF4-FFF2-40B4-BE49-F238E27FC236}">
                <a16:creationId xmlns:a16="http://schemas.microsoft.com/office/drawing/2014/main" id="{7156D212-59DF-704F-9313-636FFB6DF732}"/>
              </a:ext>
            </a:extLst>
          </p:cNvPr>
          <p:cNvSpPr>
            <a:spLocks noGrp="1"/>
          </p:cNvSpPr>
          <p:nvPr>
            <p:ph type="ftr" sz="quarter" idx="11"/>
          </p:nvPr>
        </p:nvSpPr>
        <p:spPr/>
        <p:txBody>
          <a:bodyPr/>
          <a:lstStyle/>
          <a:p>
            <a:r>
              <a:rPr lang="en-US"/>
              <a:t>@ICooper</a:t>
            </a:r>
          </a:p>
        </p:txBody>
      </p:sp>
      <p:sp>
        <p:nvSpPr>
          <p:cNvPr id="7" name="Slide Number Placeholder 6">
            <a:extLst>
              <a:ext uri="{FF2B5EF4-FFF2-40B4-BE49-F238E27FC236}">
                <a16:creationId xmlns:a16="http://schemas.microsoft.com/office/drawing/2014/main" id="{DA79F831-6443-6645-ADB2-E85B60F0CDCE}"/>
              </a:ext>
            </a:extLst>
          </p:cNvPr>
          <p:cNvSpPr>
            <a:spLocks noGrp="1"/>
          </p:cNvSpPr>
          <p:nvPr>
            <p:ph type="sldNum" sz="quarter" idx="12"/>
          </p:nvPr>
        </p:nvSpPr>
        <p:spPr/>
        <p:txBody>
          <a:bodyPr/>
          <a:lstStyle/>
          <a:p>
            <a:fld id="{53C7D256-7CB4-8D4B-B359-120D79D46DFF}" type="slidenum">
              <a:rPr lang="en-US" smtClean="0"/>
              <a:t>104</a:t>
            </a:fld>
            <a:endParaRPr lang="en-US"/>
          </a:p>
        </p:txBody>
      </p:sp>
    </p:spTree>
    <p:extLst>
      <p:ext uri="{BB962C8B-B14F-4D97-AF65-F5344CB8AC3E}">
        <p14:creationId xmlns:p14="http://schemas.microsoft.com/office/powerpoint/2010/main" val="84233581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95;p29">
            <a:extLst>
              <a:ext uri="{FF2B5EF4-FFF2-40B4-BE49-F238E27FC236}">
                <a16:creationId xmlns:a16="http://schemas.microsoft.com/office/drawing/2014/main" id="{E6C9DAFD-DFB3-D840-823B-AFDE115BD78D}"/>
              </a:ext>
            </a:extLst>
          </p:cNvPr>
          <p:cNvSpPr/>
          <p:nvPr/>
        </p:nvSpPr>
        <p:spPr>
          <a:xfrm>
            <a:off x="2403362" y="3083708"/>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8" name="Google Shape;200;p29">
            <a:extLst>
              <a:ext uri="{FF2B5EF4-FFF2-40B4-BE49-F238E27FC236}">
                <a16:creationId xmlns:a16="http://schemas.microsoft.com/office/drawing/2014/main" id="{95EA0F5B-D9E1-C94D-BFA8-C78EEED0B22E}"/>
              </a:ext>
            </a:extLst>
          </p:cNvPr>
          <p:cNvSpPr txBox="1"/>
          <p:nvPr/>
        </p:nvSpPr>
        <p:spPr>
          <a:xfrm>
            <a:off x="2403362" y="3679189"/>
            <a:ext cx="772200" cy="415476"/>
          </a:xfrm>
          <a:prstGeom prst="rect">
            <a:avLst/>
          </a:prstGeom>
          <a:noFill/>
          <a:ln>
            <a:noFill/>
          </a:ln>
        </p:spPr>
        <p:txBody>
          <a:bodyPr spcFirstLastPara="1" wrap="square" lIns="68569" tIns="68569" rIns="68569" bIns="68569" anchor="t" anchorCtr="0">
            <a:spAutoFit/>
          </a:bodyPr>
          <a:lstStyle/>
          <a:p>
            <a:r>
              <a:rPr lang="en" sz="900" u="sng" dirty="0"/>
              <a:t>Restaurant Availability</a:t>
            </a:r>
            <a:endParaRPr sz="900" u="sng" dirty="0"/>
          </a:p>
        </p:txBody>
      </p:sp>
      <p:cxnSp>
        <p:nvCxnSpPr>
          <p:cNvPr id="15" name="Google Shape;208;p29">
            <a:extLst>
              <a:ext uri="{FF2B5EF4-FFF2-40B4-BE49-F238E27FC236}">
                <a16:creationId xmlns:a16="http://schemas.microsoft.com/office/drawing/2014/main" id="{BFECCF54-40D3-904C-B8AE-BAF3CE467AB9}"/>
              </a:ext>
            </a:extLst>
          </p:cNvPr>
          <p:cNvCxnSpPr>
            <a:cxnSpLocks/>
          </p:cNvCxnSpPr>
          <p:nvPr/>
        </p:nvCxnSpPr>
        <p:spPr>
          <a:xfrm rot="10800000">
            <a:off x="3261530" y="3475470"/>
            <a:ext cx="1990350" cy="5175"/>
          </a:xfrm>
          <a:prstGeom prst="straightConnector1">
            <a:avLst/>
          </a:prstGeom>
          <a:noFill/>
          <a:ln w="19050" cap="flat" cmpd="sng">
            <a:solidFill>
              <a:schemeClr val="tx1"/>
            </a:solidFill>
            <a:prstDash val="dash"/>
            <a:round/>
            <a:headEnd type="none" w="med" len="med"/>
            <a:tailEnd type="triangle" w="med" len="med"/>
          </a:ln>
          <a:effectLst>
            <a:outerShdw blurRad="57150" dist="19050" dir="5400000" algn="bl" rotWithShape="0">
              <a:srgbClr val="000000">
                <a:alpha val="50000"/>
              </a:srgbClr>
            </a:outerShdw>
          </a:effectLst>
        </p:spPr>
      </p:cxnSp>
      <p:sp>
        <p:nvSpPr>
          <p:cNvPr id="17" name="Google Shape;210;p29">
            <a:extLst>
              <a:ext uri="{FF2B5EF4-FFF2-40B4-BE49-F238E27FC236}">
                <a16:creationId xmlns:a16="http://schemas.microsoft.com/office/drawing/2014/main" id="{CC1654DD-4020-9D4A-A6FF-717098A8695A}"/>
              </a:ext>
            </a:extLst>
          </p:cNvPr>
          <p:cNvSpPr txBox="1"/>
          <p:nvPr/>
        </p:nvSpPr>
        <p:spPr>
          <a:xfrm>
            <a:off x="5419274" y="3220180"/>
            <a:ext cx="364371" cy="461643"/>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2100" dirty="0"/>
              <a:t>?</a:t>
            </a:r>
            <a:endParaRPr sz="2100" dirty="0"/>
          </a:p>
        </p:txBody>
      </p:sp>
      <p:sp>
        <p:nvSpPr>
          <p:cNvPr id="19" name="Google Shape;212;p29">
            <a:extLst>
              <a:ext uri="{FF2B5EF4-FFF2-40B4-BE49-F238E27FC236}">
                <a16:creationId xmlns:a16="http://schemas.microsoft.com/office/drawing/2014/main" id="{7DA5849A-68B6-8148-92A9-681764F09DA2}"/>
              </a:ext>
            </a:extLst>
          </p:cNvPr>
          <p:cNvSpPr txBox="1"/>
          <p:nvPr/>
        </p:nvSpPr>
        <p:spPr>
          <a:xfrm>
            <a:off x="3595786" y="4607933"/>
            <a:ext cx="1782544" cy="1061807"/>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GB" sz="1200" dirty="0">
                <a:latin typeface="Chalkboard" panose="03050602040202020205" pitchFamily="66" charset="77"/>
              </a:rPr>
              <a:t>How do I know </a:t>
            </a:r>
            <a:r>
              <a:rPr lang="en-GB" sz="1200" b="1" dirty="0">
                <a:latin typeface="Chalkboard" panose="03050602040202020205" pitchFamily="66" charset="77"/>
              </a:rPr>
              <a:t>who exposes the data</a:t>
            </a:r>
            <a:r>
              <a:rPr lang="en-GB" sz="1200" dirty="0">
                <a:latin typeface="Chalkboard" panose="03050602040202020205" pitchFamily="66" charset="77"/>
              </a:rPr>
              <a:t> that I need? How do I find the endpoint that I want to consume from?</a:t>
            </a:r>
            <a:endParaRPr sz="1200" dirty="0">
              <a:latin typeface="Chalkboard" panose="03050602040202020205" pitchFamily="66" charset="77"/>
            </a:endParaRPr>
          </a:p>
        </p:txBody>
      </p:sp>
      <p:cxnSp>
        <p:nvCxnSpPr>
          <p:cNvPr id="20" name="Google Shape;213;p29">
            <a:extLst>
              <a:ext uri="{FF2B5EF4-FFF2-40B4-BE49-F238E27FC236}">
                <a16:creationId xmlns:a16="http://schemas.microsoft.com/office/drawing/2014/main" id="{30B95CA8-1D6C-F74F-BFF5-56452B38B0ED}"/>
              </a:ext>
            </a:extLst>
          </p:cNvPr>
          <p:cNvCxnSpPr>
            <a:cxnSpLocks/>
            <a:stCxn id="19" idx="0"/>
            <a:endCxn id="17" idx="1"/>
          </p:cNvCxnSpPr>
          <p:nvPr/>
        </p:nvCxnSpPr>
        <p:spPr>
          <a:xfrm flipV="1">
            <a:off x="4487058" y="3451002"/>
            <a:ext cx="932216" cy="1156931"/>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
        <p:nvSpPr>
          <p:cNvPr id="24" name="Google Shape;212;p29">
            <a:extLst>
              <a:ext uri="{FF2B5EF4-FFF2-40B4-BE49-F238E27FC236}">
                <a16:creationId xmlns:a16="http://schemas.microsoft.com/office/drawing/2014/main" id="{AD807901-9194-C74C-AFB1-9ED3DB25630C}"/>
              </a:ext>
            </a:extLst>
          </p:cNvPr>
          <p:cNvSpPr txBox="1"/>
          <p:nvPr/>
        </p:nvSpPr>
        <p:spPr>
          <a:xfrm>
            <a:off x="4460455" y="1225399"/>
            <a:ext cx="1990349" cy="1431139"/>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GB" sz="1200" dirty="0">
                <a:latin typeface="Chalkboard" panose="03050602040202020205" pitchFamily="66" charset="77"/>
              </a:rPr>
              <a:t>- Do I want to search all the GitHub Repos in case you documented it?</a:t>
            </a:r>
          </a:p>
          <a:p>
            <a:r>
              <a:rPr lang="en-GB" sz="1200" dirty="0">
                <a:latin typeface="Chalkboard" panose="03050602040202020205" pitchFamily="66" charset="77"/>
              </a:rPr>
              <a:t>- Do I want to put a message out on Slack or Teams asking if anyone knows who exposes it?</a:t>
            </a:r>
            <a:endParaRPr sz="1200" dirty="0">
              <a:latin typeface="Chalkboard" panose="03050602040202020205" pitchFamily="66" charset="77"/>
            </a:endParaRPr>
          </a:p>
        </p:txBody>
      </p:sp>
      <p:pic>
        <p:nvPicPr>
          <p:cNvPr id="1026" name="Picture 2" descr="Image result for github icon">
            <a:extLst>
              <a:ext uri="{FF2B5EF4-FFF2-40B4-BE49-F238E27FC236}">
                <a16:creationId xmlns:a16="http://schemas.microsoft.com/office/drawing/2014/main" id="{6D5C16B3-63BE-744D-84AF-76E7C393EC28}"/>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069210" y="1739966"/>
            <a:ext cx="484505" cy="4845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slack icon">
            <a:extLst>
              <a:ext uri="{FF2B5EF4-FFF2-40B4-BE49-F238E27FC236}">
                <a16:creationId xmlns:a16="http://schemas.microsoft.com/office/drawing/2014/main" id="{752C6FD1-610E-6840-8453-73AFDDD9690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349523" y="1716786"/>
            <a:ext cx="492525" cy="530865"/>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Google Shape;213;p29">
            <a:extLst>
              <a:ext uri="{FF2B5EF4-FFF2-40B4-BE49-F238E27FC236}">
                <a16:creationId xmlns:a16="http://schemas.microsoft.com/office/drawing/2014/main" id="{9C4595CF-5868-6340-9A4E-2F1F2600CF78}"/>
              </a:ext>
            </a:extLst>
          </p:cNvPr>
          <p:cNvCxnSpPr>
            <a:cxnSpLocks/>
            <a:stCxn id="24" idx="1"/>
            <a:endCxn id="1028" idx="3"/>
          </p:cNvCxnSpPr>
          <p:nvPr/>
        </p:nvCxnSpPr>
        <p:spPr>
          <a:xfrm flipH="1">
            <a:off x="3842048" y="1940969"/>
            <a:ext cx="618407" cy="41250"/>
          </a:xfrm>
          <a:prstGeom prst="straightConnector1">
            <a:avLst/>
          </a:prstGeom>
          <a:noFill/>
          <a:ln w="9525" cap="flat" cmpd="sng">
            <a:solidFill>
              <a:schemeClr val="tx1"/>
            </a:solidFill>
            <a:prstDash val="sysDash"/>
            <a:round/>
            <a:headEnd type="none" w="med" len="med"/>
            <a:tailEnd type="triangle" w="med" len="med"/>
          </a:ln>
          <a:effectLst>
            <a:outerShdw blurRad="57150" dist="19050" dir="5400000" algn="bl" rotWithShape="0">
              <a:srgbClr val="000000">
                <a:alpha val="50000"/>
              </a:srgbClr>
            </a:outerShdw>
          </a:effectLst>
        </p:spPr>
      </p:cxnSp>
      <p:cxnSp>
        <p:nvCxnSpPr>
          <p:cNvPr id="31" name="Google Shape;213;p29">
            <a:extLst>
              <a:ext uri="{FF2B5EF4-FFF2-40B4-BE49-F238E27FC236}">
                <a16:creationId xmlns:a16="http://schemas.microsoft.com/office/drawing/2014/main" id="{EA4BD76C-18CD-6D42-853E-4313681B9E9E}"/>
              </a:ext>
            </a:extLst>
          </p:cNvPr>
          <p:cNvCxnSpPr>
            <a:cxnSpLocks/>
            <a:stCxn id="24" idx="3"/>
            <a:endCxn id="1026" idx="1"/>
          </p:cNvCxnSpPr>
          <p:nvPr/>
        </p:nvCxnSpPr>
        <p:spPr>
          <a:xfrm>
            <a:off x="6450804" y="1940969"/>
            <a:ext cx="618406" cy="41250"/>
          </a:xfrm>
          <a:prstGeom prst="straightConnector1">
            <a:avLst/>
          </a:prstGeom>
          <a:noFill/>
          <a:ln w="9525" cap="flat" cmpd="sng">
            <a:solidFill>
              <a:schemeClr val="tx1"/>
            </a:solidFill>
            <a:prstDash val="sysDash"/>
            <a:round/>
            <a:headEnd type="none" w="med" len="med"/>
            <a:tailEnd type="triangle" w="med" len="med"/>
          </a:ln>
          <a:effectLst>
            <a:outerShdw blurRad="57150" dist="19050" dir="5400000" algn="bl" rotWithShape="0">
              <a:srgbClr val="000000">
                <a:alpha val="50000"/>
              </a:srgbClr>
            </a:outerShdw>
          </a:effectLst>
        </p:spPr>
      </p:cxnSp>
      <p:sp>
        <p:nvSpPr>
          <p:cNvPr id="2" name="Footer Placeholder 1">
            <a:extLst>
              <a:ext uri="{FF2B5EF4-FFF2-40B4-BE49-F238E27FC236}">
                <a16:creationId xmlns:a16="http://schemas.microsoft.com/office/drawing/2014/main" id="{2AEEDA2B-AB55-794A-854F-331777400AE8}"/>
              </a:ext>
            </a:extLst>
          </p:cNvPr>
          <p:cNvSpPr>
            <a:spLocks noGrp="1"/>
          </p:cNvSpPr>
          <p:nvPr>
            <p:ph type="ftr" sz="quarter" idx="11"/>
          </p:nvPr>
        </p:nvSpPr>
        <p:spPr/>
        <p:txBody>
          <a:bodyPr/>
          <a:lstStyle/>
          <a:p>
            <a:r>
              <a:rPr lang="en-US"/>
              <a:t>@ICooper</a:t>
            </a:r>
          </a:p>
        </p:txBody>
      </p:sp>
      <p:sp>
        <p:nvSpPr>
          <p:cNvPr id="3" name="Slide Number Placeholder 2">
            <a:extLst>
              <a:ext uri="{FF2B5EF4-FFF2-40B4-BE49-F238E27FC236}">
                <a16:creationId xmlns:a16="http://schemas.microsoft.com/office/drawing/2014/main" id="{E1CD0DD9-F03E-9E41-8B5A-A6D0434C6BC7}"/>
              </a:ext>
            </a:extLst>
          </p:cNvPr>
          <p:cNvSpPr>
            <a:spLocks noGrp="1"/>
          </p:cNvSpPr>
          <p:nvPr>
            <p:ph type="sldNum" sz="quarter" idx="12"/>
          </p:nvPr>
        </p:nvSpPr>
        <p:spPr/>
        <p:txBody>
          <a:bodyPr/>
          <a:lstStyle/>
          <a:p>
            <a:fld id="{53C7D256-7CB4-8D4B-B359-120D79D46DFF}" type="slidenum">
              <a:rPr lang="en-US" smtClean="0"/>
              <a:t>105</a:t>
            </a:fld>
            <a:endParaRPr lang="en-US"/>
          </a:p>
        </p:txBody>
      </p:sp>
    </p:spTree>
    <p:extLst>
      <p:ext uri="{BB962C8B-B14F-4D97-AF65-F5344CB8AC3E}">
        <p14:creationId xmlns:p14="http://schemas.microsoft.com/office/powerpoint/2010/main" val="347936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6;p29">
            <a:extLst>
              <a:ext uri="{FF2B5EF4-FFF2-40B4-BE49-F238E27FC236}">
                <a16:creationId xmlns:a16="http://schemas.microsoft.com/office/drawing/2014/main" id="{60DF3766-CF7B-9941-B9B0-9C385B99C6DC}"/>
              </a:ext>
            </a:extLst>
          </p:cNvPr>
          <p:cNvSpPr/>
          <p:nvPr/>
        </p:nvSpPr>
        <p:spPr>
          <a:xfrm>
            <a:off x="5309912" y="3083708"/>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 name="Google Shape;201;p29">
            <a:extLst>
              <a:ext uri="{FF2B5EF4-FFF2-40B4-BE49-F238E27FC236}">
                <a16:creationId xmlns:a16="http://schemas.microsoft.com/office/drawing/2014/main" id="{C9B42D74-DBBC-E349-BF64-E9FCC0F1562A}"/>
              </a:ext>
            </a:extLst>
          </p:cNvPr>
          <p:cNvSpPr txBox="1"/>
          <p:nvPr/>
        </p:nvSpPr>
        <p:spPr>
          <a:xfrm>
            <a:off x="5965055" y="3679189"/>
            <a:ext cx="893475" cy="415476"/>
          </a:xfrm>
          <a:prstGeom prst="rect">
            <a:avLst/>
          </a:prstGeom>
          <a:noFill/>
          <a:ln>
            <a:noFill/>
          </a:ln>
        </p:spPr>
        <p:txBody>
          <a:bodyPr spcFirstLastPara="1" wrap="square" lIns="68569" tIns="68569" rIns="68569" bIns="68569" anchor="t" anchorCtr="0">
            <a:spAutoFit/>
          </a:bodyPr>
          <a:lstStyle/>
          <a:p>
            <a:r>
              <a:rPr lang="en" sz="900" u="sng"/>
              <a:t>Restaurant Management</a:t>
            </a:r>
            <a:endParaRPr sz="900" u="sng"/>
          </a:p>
        </p:txBody>
      </p:sp>
      <p:cxnSp>
        <p:nvCxnSpPr>
          <p:cNvPr id="13" name="Google Shape;208;p29">
            <a:extLst>
              <a:ext uri="{FF2B5EF4-FFF2-40B4-BE49-F238E27FC236}">
                <a16:creationId xmlns:a16="http://schemas.microsoft.com/office/drawing/2014/main" id="{0E95891A-C0C8-0B40-BCC1-044E50943F7B}"/>
              </a:ext>
            </a:extLst>
          </p:cNvPr>
          <p:cNvCxnSpPr>
            <a:cxnSpLocks/>
          </p:cNvCxnSpPr>
          <p:nvPr/>
        </p:nvCxnSpPr>
        <p:spPr>
          <a:xfrm flipH="1">
            <a:off x="2673257" y="3480645"/>
            <a:ext cx="2578624" cy="19889"/>
          </a:xfrm>
          <a:prstGeom prst="straightConnector1">
            <a:avLst/>
          </a:prstGeom>
          <a:noFill/>
          <a:ln w="19050" cap="flat" cmpd="sng">
            <a:solidFill>
              <a:schemeClr val="tx1"/>
            </a:solidFill>
            <a:prstDash val="dash"/>
            <a:round/>
            <a:headEnd type="none" w="med" len="med"/>
            <a:tailEnd type="triangle" w="med" len="med"/>
          </a:ln>
          <a:effectLst>
            <a:outerShdw blurRad="57150" dist="19050" dir="5400000" algn="bl" rotWithShape="0">
              <a:srgbClr val="000000">
                <a:alpha val="50000"/>
              </a:srgbClr>
            </a:outerShdw>
          </a:effectLst>
        </p:spPr>
      </p:cxnSp>
      <p:sp>
        <p:nvSpPr>
          <p:cNvPr id="14" name="Google Shape;210;p29">
            <a:extLst>
              <a:ext uri="{FF2B5EF4-FFF2-40B4-BE49-F238E27FC236}">
                <a16:creationId xmlns:a16="http://schemas.microsoft.com/office/drawing/2014/main" id="{580A6412-3703-F34F-81B5-98F17089A886}"/>
              </a:ext>
            </a:extLst>
          </p:cNvPr>
          <p:cNvSpPr txBox="1"/>
          <p:nvPr/>
        </p:nvSpPr>
        <p:spPr>
          <a:xfrm rot="-5400000">
            <a:off x="4859368" y="3315805"/>
            <a:ext cx="1112999"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050" dirty="0"/>
              <a:t>Endpoint</a:t>
            </a:r>
            <a:endParaRPr sz="1050" dirty="0"/>
          </a:p>
        </p:txBody>
      </p:sp>
      <p:sp>
        <p:nvSpPr>
          <p:cNvPr id="17" name="Google Shape;210;p29">
            <a:extLst>
              <a:ext uri="{FF2B5EF4-FFF2-40B4-BE49-F238E27FC236}">
                <a16:creationId xmlns:a16="http://schemas.microsoft.com/office/drawing/2014/main" id="{0A9BBA8E-FEB7-2A4E-8801-E25C8B548134}"/>
              </a:ext>
            </a:extLst>
          </p:cNvPr>
          <p:cNvSpPr txBox="1"/>
          <p:nvPr/>
        </p:nvSpPr>
        <p:spPr>
          <a:xfrm>
            <a:off x="2117439" y="3217547"/>
            <a:ext cx="364371" cy="461643"/>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2100" dirty="0"/>
              <a:t>?</a:t>
            </a:r>
            <a:endParaRPr sz="2100" dirty="0"/>
          </a:p>
        </p:txBody>
      </p:sp>
      <p:sp>
        <p:nvSpPr>
          <p:cNvPr id="18" name="Google Shape;212;p29">
            <a:extLst>
              <a:ext uri="{FF2B5EF4-FFF2-40B4-BE49-F238E27FC236}">
                <a16:creationId xmlns:a16="http://schemas.microsoft.com/office/drawing/2014/main" id="{44CD9E35-BB90-AD43-A624-92F75EF1349A}"/>
              </a:ext>
            </a:extLst>
          </p:cNvPr>
          <p:cNvSpPr txBox="1"/>
          <p:nvPr/>
        </p:nvSpPr>
        <p:spPr>
          <a:xfrm>
            <a:off x="3595786" y="4607933"/>
            <a:ext cx="1782544" cy="877141"/>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GB" sz="1200" dirty="0">
                <a:latin typeface="Chalkboard" panose="03050602040202020205" pitchFamily="66" charset="77"/>
              </a:rPr>
              <a:t>Who consumes the messages I send? Whom do I have a contract with?</a:t>
            </a:r>
            <a:endParaRPr sz="1200" dirty="0">
              <a:latin typeface="Chalkboard" panose="03050602040202020205" pitchFamily="66" charset="77"/>
            </a:endParaRPr>
          </a:p>
        </p:txBody>
      </p:sp>
      <p:cxnSp>
        <p:nvCxnSpPr>
          <p:cNvPr id="19" name="Google Shape;213;p29">
            <a:extLst>
              <a:ext uri="{FF2B5EF4-FFF2-40B4-BE49-F238E27FC236}">
                <a16:creationId xmlns:a16="http://schemas.microsoft.com/office/drawing/2014/main" id="{B9FF37A6-0613-EF4A-ABAD-D8931F1BFE1F}"/>
              </a:ext>
            </a:extLst>
          </p:cNvPr>
          <p:cNvCxnSpPr>
            <a:cxnSpLocks/>
            <a:endCxn id="17" idx="2"/>
          </p:cNvCxnSpPr>
          <p:nvPr/>
        </p:nvCxnSpPr>
        <p:spPr>
          <a:xfrm flipH="1" flipV="1">
            <a:off x="2299625" y="3679190"/>
            <a:ext cx="1621182" cy="911277"/>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
        <p:nvSpPr>
          <p:cNvPr id="21" name="Google Shape;212;p29">
            <a:extLst>
              <a:ext uri="{FF2B5EF4-FFF2-40B4-BE49-F238E27FC236}">
                <a16:creationId xmlns:a16="http://schemas.microsoft.com/office/drawing/2014/main" id="{C4BFAE9E-E7DF-8442-B9FC-945B49FEDD5A}"/>
              </a:ext>
            </a:extLst>
          </p:cNvPr>
          <p:cNvSpPr txBox="1"/>
          <p:nvPr/>
        </p:nvSpPr>
        <p:spPr>
          <a:xfrm>
            <a:off x="4686772" y="711711"/>
            <a:ext cx="1782544" cy="1800471"/>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GB" sz="1200" dirty="0">
                <a:latin typeface="Chalkboard" panose="03050602040202020205" pitchFamily="66" charset="77"/>
              </a:rPr>
              <a:t>- Do I search all the GitHub Repos looking for the name of my message hoping to find it?</a:t>
            </a:r>
          </a:p>
          <a:p>
            <a:r>
              <a:rPr lang="en-GB" sz="1200" dirty="0">
                <a:latin typeface="Chalkboard" panose="03050602040202020205" pitchFamily="66" charset="77"/>
              </a:rPr>
              <a:t>- Do I want to put a message out on Slack or Teams asking if anyone consumes it?</a:t>
            </a:r>
            <a:endParaRPr sz="1200" dirty="0">
              <a:latin typeface="Chalkboard" panose="03050602040202020205" pitchFamily="66" charset="77"/>
            </a:endParaRPr>
          </a:p>
        </p:txBody>
      </p:sp>
      <p:pic>
        <p:nvPicPr>
          <p:cNvPr id="22" name="Picture 2" descr="Image result for github icon">
            <a:extLst>
              <a:ext uri="{FF2B5EF4-FFF2-40B4-BE49-F238E27FC236}">
                <a16:creationId xmlns:a16="http://schemas.microsoft.com/office/drawing/2014/main" id="{66AFBF22-F10F-8048-B0FA-3EEA23077F4A}"/>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800395" y="1795223"/>
            <a:ext cx="484505" cy="484505"/>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Google Shape;213;p29">
            <a:extLst>
              <a:ext uri="{FF2B5EF4-FFF2-40B4-BE49-F238E27FC236}">
                <a16:creationId xmlns:a16="http://schemas.microsoft.com/office/drawing/2014/main" id="{5E70B7FE-5024-C442-8052-7DE437B52AE4}"/>
              </a:ext>
            </a:extLst>
          </p:cNvPr>
          <p:cNvCxnSpPr>
            <a:cxnSpLocks/>
            <a:stCxn id="21" idx="3"/>
            <a:endCxn id="22" idx="1"/>
          </p:cNvCxnSpPr>
          <p:nvPr/>
        </p:nvCxnSpPr>
        <p:spPr>
          <a:xfrm>
            <a:off x="6469316" y="1611947"/>
            <a:ext cx="331079" cy="425529"/>
          </a:xfrm>
          <a:prstGeom prst="straightConnector1">
            <a:avLst/>
          </a:prstGeom>
          <a:noFill/>
          <a:ln w="9525" cap="flat" cmpd="sng">
            <a:solidFill>
              <a:schemeClr val="tx1"/>
            </a:solidFill>
            <a:prstDash val="sysDash"/>
            <a:round/>
            <a:headEnd type="none" w="med" len="med"/>
            <a:tailEnd type="triangle" w="med" len="med"/>
          </a:ln>
          <a:effectLst>
            <a:outerShdw blurRad="57150" dist="19050" dir="5400000" algn="bl" rotWithShape="0">
              <a:srgbClr val="000000">
                <a:alpha val="50000"/>
              </a:srgbClr>
            </a:outerShdw>
          </a:effectLst>
        </p:spPr>
      </p:cxnSp>
      <p:pic>
        <p:nvPicPr>
          <p:cNvPr id="24" name="Picture 4" descr="Image result for slack icon">
            <a:extLst>
              <a:ext uri="{FF2B5EF4-FFF2-40B4-BE49-F238E27FC236}">
                <a16:creationId xmlns:a16="http://schemas.microsoft.com/office/drawing/2014/main" id="{0B5794C7-8DEF-5B48-A83E-609AA5B2001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844657" y="1775615"/>
            <a:ext cx="492525" cy="530865"/>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Google Shape;213;p29">
            <a:extLst>
              <a:ext uri="{FF2B5EF4-FFF2-40B4-BE49-F238E27FC236}">
                <a16:creationId xmlns:a16="http://schemas.microsoft.com/office/drawing/2014/main" id="{CDE9D7C4-9BCD-DB44-AFDE-AE52B023147F}"/>
              </a:ext>
            </a:extLst>
          </p:cNvPr>
          <p:cNvCxnSpPr>
            <a:cxnSpLocks/>
          </p:cNvCxnSpPr>
          <p:nvPr/>
        </p:nvCxnSpPr>
        <p:spPr>
          <a:xfrm flipH="1">
            <a:off x="4337182" y="2037476"/>
            <a:ext cx="331079" cy="3572"/>
          </a:xfrm>
          <a:prstGeom prst="straightConnector1">
            <a:avLst/>
          </a:prstGeom>
          <a:noFill/>
          <a:ln w="9525" cap="flat" cmpd="sng">
            <a:solidFill>
              <a:schemeClr val="tx1"/>
            </a:solidFill>
            <a:prstDash val="sysDash"/>
            <a:round/>
            <a:headEnd type="none" w="med" len="med"/>
            <a:tailEnd type="triangle" w="med" len="med"/>
          </a:ln>
          <a:effectLst>
            <a:outerShdw blurRad="57150" dist="19050" dir="5400000" algn="bl" rotWithShape="0">
              <a:srgbClr val="000000">
                <a:alpha val="50000"/>
              </a:srgbClr>
            </a:outerShdw>
          </a:effectLst>
        </p:spPr>
      </p:cxnSp>
      <p:sp>
        <p:nvSpPr>
          <p:cNvPr id="39" name="Google Shape;203;p29">
            <a:extLst>
              <a:ext uri="{FF2B5EF4-FFF2-40B4-BE49-F238E27FC236}">
                <a16:creationId xmlns:a16="http://schemas.microsoft.com/office/drawing/2014/main" id="{EFE1C1BC-39CB-844D-AE42-9495B9FE8373}"/>
              </a:ext>
            </a:extLst>
          </p:cNvPr>
          <p:cNvSpPr txBox="1"/>
          <p:nvPr/>
        </p:nvSpPr>
        <p:spPr>
          <a:xfrm>
            <a:off x="3240461" y="3365240"/>
            <a:ext cx="1182452" cy="253893"/>
          </a:xfrm>
          <a:prstGeom prst="rect">
            <a:avLst/>
          </a:prstGeom>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16200000" scaled="1"/>
          </a:gra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750" dirty="0" err="1"/>
              <a:t>RestaurantHoursChanged</a:t>
            </a:r>
            <a:endParaRPr sz="750" dirty="0"/>
          </a:p>
        </p:txBody>
      </p:sp>
      <p:sp>
        <p:nvSpPr>
          <p:cNvPr id="2" name="Footer Placeholder 1">
            <a:extLst>
              <a:ext uri="{FF2B5EF4-FFF2-40B4-BE49-F238E27FC236}">
                <a16:creationId xmlns:a16="http://schemas.microsoft.com/office/drawing/2014/main" id="{AD62D2AC-D632-3743-BEB1-9E671600D5A3}"/>
              </a:ext>
            </a:extLst>
          </p:cNvPr>
          <p:cNvSpPr>
            <a:spLocks noGrp="1"/>
          </p:cNvSpPr>
          <p:nvPr>
            <p:ph type="ftr" sz="quarter" idx="11"/>
          </p:nvPr>
        </p:nvSpPr>
        <p:spPr/>
        <p:txBody>
          <a:bodyPr/>
          <a:lstStyle/>
          <a:p>
            <a:r>
              <a:rPr lang="en-US"/>
              <a:t>@ICooper</a:t>
            </a:r>
          </a:p>
        </p:txBody>
      </p:sp>
      <p:sp>
        <p:nvSpPr>
          <p:cNvPr id="3" name="Slide Number Placeholder 2">
            <a:extLst>
              <a:ext uri="{FF2B5EF4-FFF2-40B4-BE49-F238E27FC236}">
                <a16:creationId xmlns:a16="http://schemas.microsoft.com/office/drawing/2014/main" id="{A8BC7C80-10B4-2744-BDB4-C50890892515}"/>
              </a:ext>
            </a:extLst>
          </p:cNvPr>
          <p:cNvSpPr>
            <a:spLocks noGrp="1"/>
          </p:cNvSpPr>
          <p:nvPr>
            <p:ph type="sldNum" sz="quarter" idx="12"/>
          </p:nvPr>
        </p:nvSpPr>
        <p:spPr/>
        <p:txBody>
          <a:bodyPr/>
          <a:lstStyle/>
          <a:p>
            <a:fld id="{53C7D256-7CB4-8D4B-B359-120D79D46DFF}" type="slidenum">
              <a:rPr lang="en-US" smtClean="0"/>
              <a:t>106</a:t>
            </a:fld>
            <a:endParaRPr lang="en-US"/>
          </a:p>
        </p:txBody>
      </p:sp>
    </p:spTree>
    <p:extLst>
      <p:ext uri="{BB962C8B-B14F-4D97-AF65-F5344CB8AC3E}">
        <p14:creationId xmlns:p14="http://schemas.microsoft.com/office/powerpoint/2010/main" val="191934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4;p29">
            <a:extLst>
              <a:ext uri="{FF2B5EF4-FFF2-40B4-BE49-F238E27FC236}">
                <a16:creationId xmlns:a16="http://schemas.microsoft.com/office/drawing/2014/main" id="{04BF9133-191F-1E4B-A4F4-AF9CD70AC7BB}"/>
              </a:ext>
            </a:extLst>
          </p:cNvPr>
          <p:cNvSpPr txBox="1"/>
          <p:nvPr/>
        </p:nvSpPr>
        <p:spPr>
          <a:xfrm>
            <a:off x="357785" y="1190239"/>
            <a:ext cx="5930100" cy="346226"/>
          </a:xfrm>
          <a:prstGeom prst="rect">
            <a:avLst/>
          </a:prstGeom>
          <a:noFill/>
          <a:ln>
            <a:noFill/>
          </a:ln>
        </p:spPr>
        <p:txBody>
          <a:bodyPr spcFirstLastPara="1" wrap="square" lIns="68569" tIns="68569" rIns="68569" bIns="68569" anchor="t" anchorCtr="0">
            <a:spAutoFit/>
          </a:bodyPr>
          <a:lstStyle/>
          <a:p>
            <a:r>
              <a:rPr lang="en" sz="1350" dirty="0"/>
              <a:t>Asynchronous Endpoints</a:t>
            </a:r>
            <a:endParaRPr sz="1350" dirty="0"/>
          </a:p>
        </p:txBody>
      </p:sp>
      <p:sp>
        <p:nvSpPr>
          <p:cNvPr id="3" name="Google Shape;195;p29">
            <a:extLst>
              <a:ext uri="{FF2B5EF4-FFF2-40B4-BE49-F238E27FC236}">
                <a16:creationId xmlns:a16="http://schemas.microsoft.com/office/drawing/2014/main" id="{67711F67-AE59-294E-AB2A-4945F132C682}"/>
              </a:ext>
            </a:extLst>
          </p:cNvPr>
          <p:cNvSpPr/>
          <p:nvPr/>
        </p:nvSpPr>
        <p:spPr>
          <a:xfrm>
            <a:off x="2403362" y="3083708"/>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 name="Google Shape;196;p29">
            <a:extLst>
              <a:ext uri="{FF2B5EF4-FFF2-40B4-BE49-F238E27FC236}">
                <a16:creationId xmlns:a16="http://schemas.microsoft.com/office/drawing/2014/main" id="{1594105C-1FBF-3845-8BE9-1EF3E4951BA6}"/>
              </a:ext>
            </a:extLst>
          </p:cNvPr>
          <p:cNvSpPr/>
          <p:nvPr/>
        </p:nvSpPr>
        <p:spPr>
          <a:xfrm>
            <a:off x="5309912" y="3083708"/>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 name="Google Shape;200;p29">
            <a:extLst>
              <a:ext uri="{FF2B5EF4-FFF2-40B4-BE49-F238E27FC236}">
                <a16:creationId xmlns:a16="http://schemas.microsoft.com/office/drawing/2014/main" id="{545FF081-4DCE-A64F-82AB-CF264D2B504C}"/>
              </a:ext>
            </a:extLst>
          </p:cNvPr>
          <p:cNvSpPr txBox="1"/>
          <p:nvPr/>
        </p:nvSpPr>
        <p:spPr>
          <a:xfrm>
            <a:off x="2403362" y="3679189"/>
            <a:ext cx="772200" cy="415476"/>
          </a:xfrm>
          <a:prstGeom prst="rect">
            <a:avLst/>
          </a:prstGeom>
          <a:noFill/>
          <a:ln>
            <a:noFill/>
          </a:ln>
        </p:spPr>
        <p:txBody>
          <a:bodyPr spcFirstLastPara="1" wrap="square" lIns="68569" tIns="68569" rIns="68569" bIns="68569" anchor="t" anchorCtr="0">
            <a:spAutoFit/>
          </a:bodyPr>
          <a:lstStyle/>
          <a:p>
            <a:r>
              <a:rPr lang="en" sz="900" u="sng"/>
              <a:t>Restaurant Availability</a:t>
            </a:r>
            <a:endParaRPr sz="900" u="sng"/>
          </a:p>
        </p:txBody>
      </p:sp>
      <p:sp>
        <p:nvSpPr>
          <p:cNvPr id="8" name="Google Shape;201;p29">
            <a:extLst>
              <a:ext uri="{FF2B5EF4-FFF2-40B4-BE49-F238E27FC236}">
                <a16:creationId xmlns:a16="http://schemas.microsoft.com/office/drawing/2014/main" id="{FE7843A3-386A-7042-BA36-B9DCBA54185A}"/>
              </a:ext>
            </a:extLst>
          </p:cNvPr>
          <p:cNvSpPr txBox="1"/>
          <p:nvPr/>
        </p:nvSpPr>
        <p:spPr>
          <a:xfrm>
            <a:off x="5965055" y="3679189"/>
            <a:ext cx="893475" cy="415476"/>
          </a:xfrm>
          <a:prstGeom prst="rect">
            <a:avLst/>
          </a:prstGeom>
          <a:noFill/>
          <a:ln>
            <a:noFill/>
          </a:ln>
        </p:spPr>
        <p:txBody>
          <a:bodyPr spcFirstLastPara="1" wrap="square" lIns="68569" tIns="68569" rIns="68569" bIns="68569" anchor="t" anchorCtr="0">
            <a:spAutoFit/>
          </a:bodyPr>
          <a:lstStyle/>
          <a:p>
            <a:r>
              <a:rPr lang="en" sz="900" u="sng"/>
              <a:t>Restaurant Management</a:t>
            </a:r>
            <a:endParaRPr sz="900" u="sng"/>
          </a:p>
        </p:txBody>
      </p:sp>
      <p:sp>
        <p:nvSpPr>
          <p:cNvPr id="13" name="Google Shape;206;p29">
            <a:extLst>
              <a:ext uri="{FF2B5EF4-FFF2-40B4-BE49-F238E27FC236}">
                <a16:creationId xmlns:a16="http://schemas.microsoft.com/office/drawing/2014/main" id="{1ABC6F80-CC47-D84E-81CB-C24482315EDC}"/>
              </a:ext>
            </a:extLst>
          </p:cNvPr>
          <p:cNvSpPr txBox="1"/>
          <p:nvPr/>
        </p:nvSpPr>
        <p:spPr>
          <a:xfrm>
            <a:off x="4299457" y="3679189"/>
            <a:ext cx="567225" cy="230810"/>
          </a:xfrm>
          <a:prstGeom prst="rect">
            <a:avLst/>
          </a:prstGeom>
          <a:noFill/>
          <a:ln>
            <a:noFill/>
          </a:ln>
        </p:spPr>
        <p:txBody>
          <a:bodyPr spcFirstLastPara="1" wrap="square" lIns="68569" tIns="68569" rIns="68569" bIns="68569" anchor="t" anchorCtr="0">
            <a:spAutoFit/>
          </a:bodyPr>
          <a:lstStyle/>
          <a:p>
            <a:r>
              <a:rPr lang="en" sz="600"/>
              <a:t>Downstream</a:t>
            </a:r>
            <a:endParaRPr sz="600"/>
          </a:p>
        </p:txBody>
      </p:sp>
      <p:cxnSp>
        <p:nvCxnSpPr>
          <p:cNvPr id="15" name="Google Shape;208;p29">
            <a:extLst>
              <a:ext uri="{FF2B5EF4-FFF2-40B4-BE49-F238E27FC236}">
                <a16:creationId xmlns:a16="http://schemas.microsoft.com/office/drawing/2014/main" id="{6F0FD18A-4743-D947-8CA2-CE510A1072F6}"/>
              </a:ext>
            </a:extLst>
          </p:cNvPr>
          <p:cNvCxnSpPr>
            <a:cxnSpLocks/>
          </p:cNvCxnSpPr>
          <p:nvPr/>
        </p:nvCxnSpPr>
        <p:spPr>
          <a:xfrm flipH="1">
            <a:off x="4090595" y="3480645"/>
            <a:ext cx="1161285" cy="0"/>
          </a:xfrm>
          <a:prstGeom prst="straightConnector1">
            <a:avLst/>
          </a:prstGeom>
          <a:noFill/>
          <a:ln w="19050" cap="flat" cmpd="sng">
            <a:solidFill>
              <a:schemeClr val="tx1"/>
            </a:solidFill>
            <a:prstDash val="solid"/>
            <a:round/>
            <a:headEnd type="none" w="med" len="med"/>
            <a:tailEnd type="triangle" w="med" len="med"/>
          </a:ln>
          <a:effectLst>
            <a:outerShdw blurRad="57150" dist="19050" dir="5400000" algn="bl" rotWithShape="0">
              <a:srgbClr val="000000">
                <a:alpha val="50000"/>
              </a:srgbClr>
            </a:outerShdw>
          </a:effectLst>
        </p:spPr>
      </p:cxnSp>
      <p:sp>
        <p:nvSpPr>
          <p:cNvPr id="17" name="Google Shape;210;p29">
            <a:extLst>
              <a:ext uri="{FF2B5EF4-FFF2-40B4-BE49-F238E27FC236}">
                <a16:creationId xmlns:a16="http://schemas.microsoft.com/office/drawing/2014/main" id="{0B770F80-7747-1F45-AA86-F5F93BE96A79}"/>
              </a:ext>
            </a:extLst>
          </p:cNvPr>
          <p:cNvSpPr txBox="1"/>
          <p:nvPr/>
        </p:nvSpPr>
        <p:spPr>
          <a:xfrm rot="-5400000">
            <a:off x="4859368" y="3315805"/>
            <a:ext cx="1112999"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050" dirty="0"/>
              <a:t>Endpoint</a:t>
            </a:r>
            <a:endParaRPr sz="1050" dirty="0"/>
          </a:p>
        </p:txBody>
      </p:sp>
      <p:sp>
        <p:nvSpPr>
          <p:cNvPr id="5" name="Footer Placeholder 4">
            <a:extLst>
              <a:ext uri="{FF2B5EF4-FFF2-40B4-BE49-F238E27FC236}">
                <a16:creationId xmlns:a16="http://schemas.microsoft.com/office/drawing/2014/main" id="{12FDF120-CAD2-8F43-B757-84CC7146CF5E}"/>
              </a:ext>
            </a:extLst>
          </p:cNvPr>
          <p:cNvSpPr>
            <a:spLocks noGrp="1"/>
          </p:cNvSpPr>
          <p:nvPr>
            <p:ph type="ftr" sz="quarter" idx="11"/>
          </p:nvPr>
        </p:nvSpPr>
        <p:spPr/>
        <p:txBody>
          <a:bodyPr/>
          <a:lstStyle/>
          <a:p>
            <a:r>
              <a:rPr lang="en-US"/>
              <a:t>@ICooper</a:t>
            </a:r>
          </a:p>
        </p:txBody>
      </p:sp>
      <p:sp>
        <p:nvSpPr>
          <p:cNvPr id="19" name="Slide Number Placeholder 18">
            <a:extLst>
              <a:ext uri="{FF2B5EF4-FFF2-40B4-BE49-F238E27FC236}">
                <a16:creationId xmlns:a16="http://schemas.microsoft.com/office/drawing/2014/main" id="{1094B8DE-48B9-FE4B-82A8-05D5F25475E4}"/>
              </a:ext>
            </a:extLst>
          </p:cNvPr>
          <p:cNvSpPr>
            <a:spLocks noGrp="1"/>
          </p:cNvSpPr>
          <p:nvPr>
            <p:ph type="sldNum" sz="quarter" idx="12"/>
          </p:nvPr>
        </p:nvSpPr>
        <p:spPr/>
        <p:txBody>
          <a:bodyPr/>
          <a:lstStyle/>
          <a:p>
            <a:fld id="{53C7D256-7CB4-8D4B-B359-120D79D46DFF}" type="slidenum">
              <a:rPr lang="en-US" smtClean="0"/>
              <a:t>107</a:t>
            </a:fld>
            <a:endParaRPr lang="en-US" dirty="0"/>
          </a:p>
        </p:txBody>
      </p:sp>
      <p:sp>
        <p:nvSpPr>
          <p:cNvPr id="10" name="Rectangle 9">
            <a:extLst>
              <a:ext uri="{FF2B5EF4-FFF2-40B4-BE49-F238E27FC236}">
                <a16:creationId xmlns:a16="http://schemas.microsoft.com/office/drawing/2014/main" id="{DFC94442-DCDC-214A-890D-FB4C6F837983}"/>
              </a:ext>
            </a:extLst>
          </p:cNvPr>
          <p:cNvSpPr/>
          <p:nvPr/>
        </p:nvSpPr>
        <p:spPr>
          <a:xfrm>
            <a:off x="4477870" y="3083708"/>
            <a:ext cx="266252" cy="266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6" name="Straight Connector 15">
            <a:extLst>
              <a:ext uri="{FF2B5EF4-FFF2-40B4-BE49-F238E27FC236}">
                <a16:creationId xmlns:a16="http://schemas.microsoft.com/office/drawing/2014/main" id="{18DF255E-B2F1-5B4A-99EC-D7A8C4FD60C4}"/>
              </a:ext>
            </a:extLst>
          </p:cNvPr>
          <p:cNvCxnSpPr>
            <a:cxnSpLocks/>
            <a:stCxn id="10" idx="1"/>
          </p:cNvCxnSpPr>
          <p:nvPr/>
        </p:nvCxnSpPr>
        <p:spPr>
          <a:xfrm flipH="1">
            <a:off x="4299457" y="3217022"/>
            <a:ext cx="1784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2530362-F36D-BD41-BF4B-A2D14C602897}"/>
              </a:ext>
            </a:extLst>
          </p:cNvPr>
          <p:cNvCxnSpPr/>
          <p:nvPr/>
        </p:nvCxnSpPr>
        <p:spPr>
          <a:xfrm flipV="1">
            <a:off x="4299457" y="2909336"/>
            <a:ext cx="0" cy="307686"/>
          </a:xfrm>
          <a:prstGeom prst="line">
            <a:avLst/>
          </a:prstGeom>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28CDBE1B-EF8E-9040-9323-FB1DDF20FFB0}"/>
              </a:ext>
            </a:extLst>
          </p:cNvPr>
          <p:cNvSpPr/>
          <p:nvPr/>
        </p:nvSpPr>
        <p:spPr>
          <a:xfrm>
            <a:off x="4211620" y="2745217"/>
            <a:ext cx="193637" cy="1641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TextBox 24">
            <a:extLst>
              <a:ext uri="{FF2B5EF4-FFF2-40B4-BE49-F238E27FC236}">
                <a16:creationId xmlns:a16="http://schemas.microsoft.com/office/drawing/2014/main" id="{65B5DE87-732E-8045-B832-1E409D8ED53D}"/>
              </a:ext>
            </a:extLst>
          </p:cNvPr>
          <p:cNvSpPr txBox="1"/>
          <p:nvPr/>
        </p:nvSpPr>
        <p:spPr>
          <a:xfrm>
            <a:off x="3028951" y="1427155"/>
            <a:ext cx="2936105" cy="738664"/>
          </a:xfrm>
          <a:prstGeom prst="rect">
            <a:avLst/>
          </a:prstGeom>
          <a:noFill/>
          <a:ln w="12700">
            <a:solidFill>
              <a:schemeClr val="accent1">
                <a:shade val="50000"/>
              </a:schemeClr>
            </a:solidFill>
          </a:ln>
        </p:spPr>
        <p:txBody>
          <a:bodyPr wrap="square" rtlCol="0">
            <a:spAutoFit/>
          </a:bodyPr>
          <a:lstStyle/>
          <a:p>
            <a:r>
              <a:rPr lang="en-US" sz="1400" dirty="0">
                <a:latin typeface="Chalkboard" panose="03050602040202020205" pitchFamily="66" charset="77"/>
              </a:rPr>
              <a:t>Our Asynchronous APIs need documenting just like any other API (HTTP </a:t>
            </a:r>
            <a:r>
              <a:rPr lang="en-US" sz="1400" dirty="0" err="1">
                <a:latin typeface="Chalkboard" panose="03050602040202020205" pitchFamily="66" charset="77"/>
              </a:rPr>
              <a:t>etc</a:t>
            </a:r>
            <a:r>
              <a:rPr lang="en-US" sz="1400" dirty="0">
                <a:latin typeface="Chalkboard" panose="03050602040202020205" pitchFamily="66" charset="77"/>
              </a:rPr>
              <a:t>).</a:t>
            </a:r>
          </a:p>
        </p:txBody>
      </p:sp>
      <p:sp>
        <p:nvSpPr>
          <p:cNvPr id="26" name="Google Shape;212;p29">
            <a:extLst>
              <a:ext uri="{FF2B5EF4-FFF2-40B4-BE49-F238E27FC236}">
                <a16:creationId xmlns:a16="http://schemas.microsoft.com/office/drawing/2014/main" id="{5A04D341-FCF8-2648-B0AA-6D4990406B9C}"/>
              </a:ext>
            </a:extLst>
          </p:cNvPr>
          <p:cNvSpPr txBox="1"/>
          <p:nvPr/>
        </p:nvSpPr>
        <p:spPr>
          <a:xfrm>
            <a:off x="439045" y="2204052"/>
            <a:ext cx="1782544" cy="692475"/>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200" dirty="0">
                <a:latin typeface="Chalkboard" panose="03050602040202020205" pitchFamily="66" charset="77"/>
              </a:rPr>
              <a:t>We need to document the message, because it is the contract</a:t>
            </a:r>
            <a:endParaRPr sz="1200" dirty="0">
              <a:latin typeface="Chalkboard" panose="03050602040202020205" pitchFamily="66" charset="77"/>
            </a:endParaRPr>
          </a:p>
        </p:txBody>
      </p:sp>
      <p:cxnSp>
        <p:nvCxnSpPr>
          <p:cNvPr id="27" name="Google Shape;209;p29">
            <a:extLst>
              <a:ext uri="{FF2B5EF4-FFF2-40B4-BE49-F238E27FC236}">
                <a16:creationId xmlns:a16="http://schemas.microsoft.com/office/drawing/2014/main" id="{DA9E03DC-6E6E-EA41-9BC9-F2C299DF9E87}"/>
              </a:ext>
            </a:extLst>
          </p:cNvPr>
          <p:cNvCxnSpPr>
            <a:cxnSpLocks/>
            <a:stCxn id="26" idx="3"/>
          </p:cNvCxnSpPr>
          <p:nvPr/>
        </p:nvCxnSpPr>
        <p:spPr>
          <a:xfrm>
            <a:off x="2221589" y="2550290"/>
            <a:ext cx="2367217" cy="647860"/>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
        <p:nvSpPr>
          <p:cNvPr id="29" name="Google Shape;212;p29">
            <a:extLst>
              <a:ext uri="{FF2B5EF4-FFF2-40B4-BE49-F238E27FC236}">
                <a16:creationId xmlns:a16="http://schemas.microsoft.com/office/drawing/2014/main" id="{1B8EBAED-57F4-F443-9FD4-D30CDD2AFD54}"/>
              </a:ext>
            </a:extLst>
          </p:cNvPr>
          <p:cNvSpPr txBox="1"/>
          <p:nvPr/>
        </p:nvSpPr>
        <p:spPr>
          <a:xfrm>
            <a:off x="456368" y="4658139"/>
            <a:ext cx="1782544" cy="877141"/>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200" dirty="0">
                <a:latin typeface="Chalkboard" panose="03050602040202020205" pitchFamily="66" charset="77"/>
              </a:rPr>
              <a:t>We need to document the channel so we know where the message is flowing</a:t>
            </a:r>
            <a:endParaRPr sz="1200" dirty="0">
              <a:latin typeface="Chalkboard" panose="03050602040202020205" pitchFamily="66" charset="77"/>
            </a:endParaRPr>
          </a:p>
        </p:txBody>
      </p:sp>
      <p:cxnSp>
        <p:nvCxnSpPr>
          <p:cNvPr id="30" name="Google Shape;209;p29">
            <a:extLst>
              <a:ext uri="{FF2B5EF4-FFF2-40B4-BE49-F238E27FC236}">
                <a16:creationId xmlns:a16="http://schemas.microsoft.com/office/drawing/2014/main" id="{90CF8C30-2835-E14A-9E71-937BB60BE9F2}"/>
              </a:ext>
            </a:extLst>
          </p:cNvPr>
          <p:cNvCxnSpPr>
            <a:cxnSpLocks/>
            <a:stCxn id="29" idx="3"/>
          </p:cNvCxnSpPr>
          <p:nvPr/>
        </p:nvCxnSpPr>
        <p:spPr>
          <a:xfrm flipV="1">
            <a:off x="2238912" y="3579644"/>
            <a:ext cx="2432326" cy="1517066"/>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
        <p:nvSpPr>
          <p:cNvPr id="33" name="Google Shape;212;p29">
            <a:extLst>
              <a:ext uri="{FF2B5EF4-FFF2-40B4-BE49-F238E27FC236}">
                <a16:creationId xmlns:a16="http://schemas.microsoft.com/office/drawing/2014/main" id="{B089C52D-743E-AB47-BD52-C5558CA34D15}"/>
              </a:ext>
            </a:extLst>
          </p:cNvPr>
          <p:cNvSpPr txBox="1"/>
          <p:nvPr/>
        </p:nvSpPr>
        <p:spPr>
          <a:xfrm>
            <a:off x="4534533" y="4816563"/>
            <a:ext cx="1782544" cy="877141"/>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200" dirty="0">
                <a:latin typeface="Chalkboard" panose="03050602040202020205" pitchFamily="66" charset="77"/>
              </a:rPr>
              <a:t>We need to document the protocol so we know how to send-receive</a:t>
            </a:r>
            <a:endParaRPr sz="1200" dirty="0">
              <a:latin typeface="Chalkboard" panose="03050602040202020205" pitchFamily="66" charset="77"/>
            </a:endParaRPr>
          </a:p>
        </p:txBody>
      </p:sp>
      <p:cxnSp>
        <p:nvCxnSpPr>
          <p:cNvPr id="34" name="Google Shape;209;p29">
            <a:extLst>
              <a:ext uri="{FF2B5EF4-FFF2-40B4-BE49-F238E27FC236}">
                <a16:creationId xmlns:a16="http://schemas.microsoft.com/office/drawing/2014/main" id="{63C9C9FF-60FD-ED43-B6C6-9E52AA4264DC}"/>
              </a:ext>
            </a:extLst>
          </p:cNvPr>
          <p:cNvCxnSpPr>
            <a:cxnSpLocks/>
            <a:stCxn id="33" idx="0"/>
          </p:cNvCxnSpPr>
          <p:nvPr/>
        </p:nvCxnSpPr>
        <p:spPr>
          <a:xfrm flipH="1" flipV="1">
            <a:off x="4715312" y="3666894"/>
            <a:ext cx="710493" cy="1149669"/>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
        <p:nvSpPr>
          <p:cNvPr id="37" name="Google Shape;212;p29">
            <a:extLst>
              <a:ext uri="{FF2B5EF4-FFF2-40B4-BE49-F238E27FC236}">
                <a16:creationId xmlns:a16="http://schemas.microsoft.com/office/drawing/2014/main" id="{B2031A8B-4C1F-A14C-9B2F-ADFF9EC7FD41}"/>
              </a:ext>
            </a:extLst>
          </p:cNvPr>
          <p:cNvSpPr txBox="1"/>
          <p:nvPr/>
        </p:nvSpPr>
        <p:spPr>
          <a:xfrm>
            <a:off x="6858531" y="4274698"/>
            <a:ext cx="1782544" cy="692475"/>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200" dirty="0">
                <a:latin typeface="Chalkboard" panose="03050602040202020205" pitchFamily="66" charset="77"/>
              </a:rPr>
              <a:t>We need to document who sends and </a:t>
            </a:r>
            <a:r>
              <a:rPr lang="en" sz="1200" dirty="0" err="1">
                <a:latin typeface="Chalkboard" panose="03050602040202020205" pitchFamily="66" charset="77"/>
              </a:rPr>
              <a:t>rece</a:t>
            </a:r>
            <a:r>
              <a:rPr lang="en-GB" sz="1200" dirty="0" err="1">
                <a:latin typeface="Chalkboard" panose="03050602040202020205" pitchFamily="66" charset="77"/>
              </a:rPr>
              <a:t>i</a:t>
            </a:r>
            <a:r>
              <a:rPr lang="en" sz="1200" dirty="0" err="1">
                <a:latin typeface="Chalkboard" panose="03050602040202020205" pitchFamily="66" charset="77"/>
              </a:rPr>
              <a:t>ves</a:t>
            </a:r>
            <a:r>
              <a:rPr lang="en" sz="1200" dirty="0">
                <a:latin typeface="Chalkboard" panose="03050602040202020205" pitchFamily="66" charset="77"/>
              </a:rPr>
              <a:t> to understand flow</a:t>
            </a:r>
            <a:endParaRPr sz="1200" dirty="0">
              <a:latin typeface="Chalkboard" panose="03050602040202020205" pitchFamily="66" charset="77"/>
            </a:endParaRPr>
          </a:p>
        </p:txBody>
      </p:sp>
      <p:cxnSp>
        <p:nvCxnSpPr>
          <p:cNvPr id="38" name="Google Shape;209;p29">
            <a:extLst>
              <a:ext uri="{FF2B5EF4-FFF2-40B4-BE49-F238E27FC236}">
                <a16:creationId xmlns:a16="http://schemas.microsoft.com/office/drawing/2014/main" id="{6FB466F4-5EA9-7944-9D54-1CF1DE05B772}"/>
              </a:ext>
            </a:extLst>
          </p:cNvPr>
          <p:cNvCxnSpPr>
            <a:cxnSpLocks/>
            <a:stCxn id="37" idx="0"/>
          </p:cNvCxnSpPr>
          <p:nvPr/>
        </p:nvCxnSpPr>
        <p:spPr>
          <a:xfrm flipH="1" flipV="1">
            <a:off x="6620330" y="3465835"/>
            <a:ext cx="1129473" cy="808863"/>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cxnSp>
        <p:nvCxnSpPr>
          <p:cNvPr id="41" name="Google Shape;209;p29">
            <a:extLst>
              <a:ext uri="{FF2B5EF4-FFF2-40B4-BE49-F238E27FC236}">
                <a16:creationId xmlns:a16="http://schemas.microsoft.com/office/drawing/2014/main" id="{A294D82E-6D08-4B45-A3EF-A63AAEA1AF4A}"/>
              </a:ext>
            </a:extLst>
          </p:cNvPr>
          <p:cNvCxnSpPr>
            <a:cxnSpLocks/>
            <a:stCxn id="37" idx="0"/>
          </p:cNvCxnSpPr>
          <p:nvPr/>
        </p:nvCxnSpPr>
        <p:spPr>
          <a:xfrm flipH="1" flipV="1">
            <a:off x="3520787" y="3579644"/>
            <a:ext cx="4229016" cy="695054"/>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Tree>
    <p:extLst>
      <p:ext uri="{BB962C8B-B14F-4D97-AF65-F5344CB8AC3E}">
        <p14:creationId xmlns:p14="http://schemas.microsoft.com/office/powerpoint/2010/main" val="1406276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33" grpId="0" animBg="1"/>
      <p:bldP spid="37"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512E1EF-A415-4C4B-A653-1D8EC2BB3490}"/>
              </a:ext>
            </a:extLst>
          </p:cNvPr>
          <p:cNvSpPr/>
          <p:nvPr/>
        </p:nvSpPr>
        <p:spPr>
          <a:xfrm>
            <a:off x="735121" y="2046822"/>
            <a:ext cx="2123162" cy="337733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Google Shape;194;p29">
            <a:extLst>
              <a:ext uri="{FF2B5EF4-FFF2-40B4-BE49-F238E27FC236}">
                <a16:creationId xmlns:a16="http://schemas.microsoft.com/office/drawing/2014/main" id="{04BF9133-191F-1E4B-A4F4-AF9CD70AC7BB}"/>
              </a:ext>
            </a:extLst>
          </p:cNvPr>
          <p:cNvSpPr txBox="1"/>
          <p:nvPr/>
        </p:nvSpPr>
        <p:spPr>
          <a:xfrm>
            <a:off x="357785" y="1190239"/>
            <a:ext cx="5930100" cy="346226"/>
          </a:xfrm>
          <a:prstGeom prst="rect">
            <a:avLst/>
          </a:prstGeom>
          <a:noFill/>
          <a:ln>
            <a:noFill/>
          </a:ln>
        </p:spPr>
        <p:txBody>
          <a:bodyPr spcFirstLastPara="1" wrap="square" lIns="68569" tIns="68569" rIns="68569" bIns="68569" anchor="t" anchorCtr="0">
            <a:spAutoFit/>
          </a:bodyPr>
          <a:lstStyle/>
          <a:p>
            <a:r>
              <a:rPr lang="en" sz="1350" dirty="0"/>
              <a:t>Endpoint – Documenting the Contract</a:t>
            </a:r>
            <a:endParaRPr sz="1350" dirty="0"/>
          </a:p>
        </p:txBody>
      </p:sp>
      <p:sp>
        <p:nvSpPr>
          <p:cNvPr id="4" name="Google Shape;196;p29">
            <a:extLst>
              <a:ext uri="{FF2B5EF4-FFF2-40B4-BE49-F238E27FC236}">
                <a16:creationId xmlns:a16="http://schemas.microsoft.com/office/drawing/2014/main" id="{1594105C-1FBF-3845-8BE9-1EF3E4951BA6}"/>
              </a:ext>
            </a:extLst>
          </p:cNvPr>
          <p:cNvSpPr/>
          <p:nvPr/>
        </p:nvSpPr>
        <p:spPr>
          <a:xfrm>
            <a:off x="5309912" y="3083708"/>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8" name="Google Shape;201;p29">
            <a:extLst>
              <a:ext uri="{FF2B5EF4-FFF2-40B4-BE49-F238E27FC236}">
                <a16:creationId xmlns:a16="http://schemas.microsoft.com/office/drawing/2014/main" id="{FE7843A3-386A-7042-BA36-B9DCBA54185A}"/>
              </a:ext>
            </a:extLst>
          </p:cNvPr>
          <p:cNvSpPr txBox="1"/>
          <p:nvPr/>
        </p:nvSpPr>
        <p:spPr>
          <a:xfrm>
            <a:off x="5965055" y="3679189"/>
            <a:ext cx="893475" cy="415476"/>
          </a:xfrm>
          <a:prstGeom prst="rect">
            <a:avLst/>
          </a:prstGeom>
          <a:noFill/>
          <a:ln>
            <a:noFill/>
          </a:ln>
        </p:spPr>
        <p:txBody>
          <a:bodyPr spcFirstLastPara="1" wrap="square" lIns="68569" tIns="68569" rIns="68569" bIns="68569" anchor="t" anchorCtr="0">
            <a:spAutoFit/>
          </a:bodyPr>
          <a:lstStyle/>
          <a:p>
            <a:r>
              <a:rPr lang="en" sz="900" u="sng"/>
              <a:t>Restaurant Management</a:t>
            </a:r>
            <a:endParaRPr sz="900" u="sng"/>
          </a:p>
        </p:txBody>
      </p:sp>
      <p:sp>
        <p:nvSpPr>
          <p:cNvPr id="10" name="Google Shape;203;p29">
            <a:extLst>
              <a:ext uri="{FF2B5EF4-FFF2-40B4-BE49-F238E27FC236}">
                <a16:creationId xmlns:a16="http://schemas.microsoft.com/office/drawing/2014/main" id="{7C2655C2-761D-7445-91E1-EA7BAD628B43}"/>
              </a:ext>
            </a:extLst>
          </p:cNvPr>
          <p:cNvSpPr txBox="1"/>
          <p:nvPr/>
        </p:nvSpPr>
        <p:spPr>
          <a:xfrm>
            <a:off x="3120349" y="3371625"/>
            <a:ext cx="1145234" cy="253893"/>
          </a:xfrm>
          <a:prstGeom prst="rect">
            <a:avLst/>
          </a:prstGeom>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16200000" scaled="1"/>
          </a:gra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750" dirty="0" err="1"/>
              <a:t>RestaurantHoursChanged</a:t>
            </a:r>
            <a:endParaRPr sz="750" dirty="0"/>
          </a:p>
        </p:txBody>
      </p:sp>
      <p:sp>
        <p:nvSpPr>
          <p:cNvPr id="11" name="Google Shape;204;p29">
            <a:extLst>
              <a:ext uri="{FF2B5EF4-FFF2-40B4-BE49-F238E27FC236}">
                <a16:creationId xmlns:a16="http://schemas.microsoft.com/office/drawing/2014/main" id="{945091C9-97BF-DF4E-AC97-DE6FED4C6BA6}"/>
              </a:ext>
            </a:extLst>
          </p:cNvPr>
          <p:cNvSpPr txBox="1"/>
          <p:nvPr/>
        </p:nvSpPr>
        <p:spPr>
          <a:xfrm>
            <a:off x="4265584" y="2848170"/>
            <a:ext cx="492525" cy="230810"/>
          </a:xfrm>
          <a:prstGeom prst="rect">
            <a:avLst/>
          </a:prstGeom>
          <a:noFill/>
          <a:ln>
            <a:noFill/>
          </a:ln>
        </p:spPr>
        <p:txBody>
          <a:bodyPr spcFirstLastPara="1" wrap="square" lIns="68569" tIns="68569" rIns="68569" bIns="68569" anchor="t" anchorCtr="0">
            <a:spAutoFit/>
          </a:bodyPr>
          <a:lstStyle/>
          <a:p>
            <a:r>
              <a:rPr lang="en" sz="600"/>
              <a:t>Upstream</a:t>
            </a:r>
            <a:endParaRPr sz="600"/>
          </a:p>
        </p:txBody>
      </p:sp>
      <p:sp>
        <p:nvSpPr>
          <p:cNvPr id="13" name="Google Shape;206;p29">
            <a:extLst>
              <a:ext uri="{FF2B5EF4-FFF2-40B4-BE49-F238E27FC236}">
                <a16:creationId xmlns:a16="http://schemas.microsoft.com/office/drawing/2014/main" id="{1ABC6F80-CC47-D84E-81CB-C24482315EDC}"/>
              </a:ext>
            </a:extLst>
          </p:cNvPr>
          <p:cNvSpPr txBox="1"/>
          <p:nvPr/>
        </p:nvSpPr>
        <p:spPr>
          <a:xfrm>
            <a:off x="4299457" y="3679189"/>
            <a:ext cx="567225" cy="230810"/>
          </a:xfrm>
          <a:prstGeom prst="rect">
            <a:avLst/>
          </a:prstGeom>
          <a:noFill/>
          <a:ln>
            <a:noFill/>
          </a:ln>
        </p:spPr>
        <p:txBody>
          <a:bodyPr spcFirstLastPara="1" wrap="square" lIns="68569" tIns="68569" rIns="68569" bIns="68569" anchor="t" anchorCtr="0">
            <a:spAutoFit/>
          </a:bodyPr>
          <a:lstStyle/>
          <a:p>
            <a:r>
              <a:rPr lang="en" sz="600"/>
              <a:t>Downstream</a:t>
            </a:r>
            <a:endParaRPr sz="600"/>
          </a:p>
        </p:txBody>
      </p:sp>
      <p:sp>
        <p:nvSpPr>
          <p:cNvPr id="14" name="Google Shape;207;p29">
            <a:extLst>
              <a:ext uri="{FF2B5EF4-FFF2-40B4-BE49-F238E27FC236}">
                <a16:creationId xmlns:a16="http://schemas.microsoft.com/office/drawing/2014/main" id="{C0894513-13F6-C040-B23B-AC920389D06A}"/>
              </a:ext>
            </a:extLst>
          </p:cNvPr>
          <p:cNvSpPr txBox="1"/>
          <p:nvPr/>
        </p:nvSpPr>
        <p:spPr>
          <a:xfrm>
            <a:off x="934755" y="2284303"/>
            <a:ext cx="1723895" cy="32314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t>Endpoint</a:t>
            </a:r>
            <a:endParaRPr sz="1200" dirty="0"/>
          </a:p>
        </p:txBody>
      </p:sp>
      <p:cxnSp>
        <p:nvCxnSpPr>
          <p:cNvPr id="15" name="Google Shape;208;p29">
            <a:extLst>
              <a:ext uri="{FF2B5EF4-FFF2-40B4-BE49-F238E27FC236}">
                <a16:creationId xmlns:a16="http://schemas.microsoft.com/office/drawing/2014/main" id="{6F0FD18A-4743-D947-8CA2-CE510A1072F6}"/>
              </a:ext>
            </a:extLst>
          </p:cNvPr>
          <p:cNvCxnSpPr>
            <a:cxnSpLocks/>
            <a:stCxn id="17" idx="0"/>
          </p:cNvCxnSpPr>
          <p:nvPr/>
        </p:nvCxnSpPr>
        <p:spPr>
          <a:xfrm flipH="1">
            <a:off x="4155555" y="3465835"/>
            <a:ext cx="1110283" cy="14810"/>
          </a:xfrm>
          <a:prstGeom prst="straightConnector1">
            <a:avLst/>
          </a:prstGeom>
          <a:noFill/>
          <a:ln w="19050" cap="flat" cmpd="sng">
            <a:solidFill>
              <a:schemeClr val="tx1"/>
            </a:solidFill>
            <a:prstDash val="dash"/>
            <a:round/>
            <a:headEnd type="none" w="med" len="med"/>
            <a:tailEnd type="triangle" w="med" len="med"/>
          </a:ln>
          <a:effectLst>
            <a:outerShdw blurRad="57150" dist="19050" dir="5400000" algn="bl" rotWithShape="0">
              <a:srgbClr val="000000">
                <a:alpha val="50000"/>
              </a:srgbClr>
            </a:outerShdw>
          </a:effectLst>
        </p:spPr>
      </p:cxnSp>
      <p:sp>
        <p:nvSpPr>
          <p:cNvPr id="17" name="Google Shape;210;p29">
            <a:extLst>
              <a:ext uri="{FF2B5EF4-FFF2-40B4-BE49-F238E27FC236}">
                <a16:creationId xmlns:a16="http://schemas.microsoft.com/office/drawing/2014/main" id="{0B770F80-7747-1F45-AA86-F5F93BE96A79}"/>
              </a:ext>
            </a:extLst>
          </p:cNvPr>
          <p:cNvSpPr txBox="1"/>
          <p:nvPr/>
        </p:nvSpPr>
        <p:spPr>
          <a:xfrm rot="-5400000">
            <a:off x="4859368" y="3315805"/>
            <a:ext cx="1112999"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050" dirty="0"/>
              <a:t>Endpoint</a:t>
            </a:r>
            <a:endParaRPr sz="1050" dirty="0"/>
          </a:p>
        </p:txBody>
      </p:sp>
      <p:sp>
        <p:nvSpPr>
          <p:cNvPr id="19" name="Google Shape;212;p29">
            <a:extLst>
              <a:ext uri="{FF2B5EF4-FFF2-40B4-BE49-F238E27FC236}">
                <a16:creationId xmlns:a16="http://schemas.microsoft.com/office/drawing/2014/main" id="{6F65ACF6-BB8C-9045-9783-30C648B85C3A}"/>
              </a:ext>
            </a:extLst>
          </p:cNvPr>
          <p:cNvSpPr txBox="1"/>
          <p:nvPr/>
        </p:nvSpPr>
        <p:spPr>
          <a:xfrm>
            <a:off x="3788523" y="1231387"/>
            <a:ext cx="2156318" cy="946391"/>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lvl="0"/>
            <a:r>
              <a:rPr lang="en" sz="1050" dirty="0">
                <a:latin typeface="Chalkboard" panose="03050602040202020205" pitchFamily="66" charset="77"/>
              </a:rPr>
              <a:t>An </a:t>
            </a:r>
            <a:r>
              <a:rPr lang="en" sz="1050" b="1" dirty="0">
                <a:latin typeface="Chalkboard" panose="03050602040202020205" pitchFamily="66" charset="77"/>
              </a:rPr>
              <a:t>endpoint </a:t>
            </a:r>
            <a:r>
              <a:rPr lang="en" sz="1050" dirty="0">
                <a:latin typeface="Chalkboard" panose="03050602040202020205" pitchFamily="66" charset="77"/>
              </a:rPr>
              <a:t>is </a:t>
            </a:r>
            <a:r>
              <a:rPr lang="en-GB" sz="1050" dirty="0">
                <a:latin typeface="Chalkboard" panose="03050602040202020205" pitchFamily="66" charset="77"/>
              </a:rPr>
              <a:t>where</a:t>
            </a:r>
            <a:r>
              <a:rPr lang="en-GB" sz="1050" b="1" dirty="0">
                <a:latin typeface="Chalkboard" panose="03050602040202020205" pitchFamily="66" charset="77"/>
              </a:rPr>
              <a:t> messages should be sent, how they should be sent, and what the messages should look like</a:t>
            </a:r>
            <a:r>
              <a:rPr lang="en-GB" sz="1050" dirty="0">
                <a:latin typeface="Chalkboard" panose="03050602040202020205" pitchFamily="66" charset="77"/>
              </a:rPr>
              <a:t>. </a:t>
            </a:r>
            <a:r>
              <a:rPr lang="en" sz="1050" dirty="0">
                <a:latin typeface="Chalkboard" panose="03050602040202020205" pitchFamily="66" charset="77"/>
              </a:rPr>
              <a:t>What </a:t>
            </a:r>
            <a:r>
              <a:rPr lang="en" sz="1050" i="1" dirty="0">
                <a:latin typeface="Chalkboard" panose="03050602040202020205" pitchFamily="66" charset="77"/>
              </a:rPr>
              <a:t>promises</a:t>
            </a:r>
            <a:r>
              <a:rPr lang="en" sz="1050" dirty="0">
                <a:latin typeface="Chalkboard" panose="03050602040202020205" pitchFamily="66" charset="77"/>
              </a:rPr>
              <a:t> do we make.</a:t>
            </a:r>
            <a:endParaRPr sz="1050" dirty="0">
              <a:latin typeface="Chalkboard" panose="03050602040202020205" pitchFamily="66" charset="77"/>
            </a:endParaRPr>
          </a:p>
        </p:txBody>
      </p:sp>
      <p:sp>
        <p:nvSpPr>
          <p:cNvPr id="21" name="Google Shape;207;p29">
            <a:extLst>
              <a:ext uri="{FF2B5EF4-FFF2-40B4-BE49-F238E27FC236}">
                <a16:creationId xmlns:a16="http://schemas.microsoft.com/office/drawing/2014/main" id="{3C47584F-5D37-7D40-BD12-726A76EBCA2E}"/>
              </a:ext>
            </a:extLst>
          </p:cNvPr>
          <p:cNvSpPr txBox="1"/>
          <p:nvPr/>
        </p:nvSpPr>
        <p:spPr>
          <a:xfrm>
            <a:off x="934755" y="3791010"/>
            <a:ext cx="1723895" cy="32314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t>Channel</a:t>
            </a:r>
            <a:endParaRPr sz="1200" dirty="0"/>
          </a:p>
        </p:txBody>
      </p:sp>
      <p:sp>
        <p:nvSpPr>
          <p:cNvPr id="22" name="Google Shape;207;p29">
            <a:extLst>
              <a:ext uri="{FF2B5EF4-FFF2-40B4-BE49-F238E27FC236}">
                <a16:creationId xmlns:a16="http://schemas.microsoft.com/office/drawing/2014/main" id="{B78C5B94-B95E-D34B-867E-FEC81E870065}"/>
              </a:ext>
            </a:extLst>
          </p:cNvPr>
          <p:cNvSpPr txBox="1"/>
          <p:nvPr/>
        </p:nvSpPr>
        <p:spPr>
          <a:xfrm>
            <a:off x="936770" y="4413677"/>
            <a:ext cx="1723895" cy="32314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t>Binding</a:t>
            </a:r>
            <a:endParaRPr sz="1200" dirty="0"/>
          </a:p>
        </p:txBody>
      </p:sp>
      <p:sp>
        <p:nvSpPr>
          <p:cNvPr id="23" name="Google Shape;207;p29">
            <a:extLst>
              <a:ext uri="{FF2B5EF4-FFF2-40B4-BE49-F238E27FC236}">
                <a16:creationId xmlns:a16="http://schemas.microsoft.com/office/drawing/2014/main" id="{55370121-ADD9-474F-BA27-632D81A7667C}"/>
              </a:ext>
            </a:extLst>
          </p:cNvPr>
          <p:cNvSpPr txBox="1"/>
          <p:nvPr/>
        </p:nvSpPr>
        <p:spPr>
          <a:xfrm>
            <a:off x="934755" y="2840825"/>
            <a:ext cx="1723895" cy="32314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t>Message</a:t>
            </a:r>
            <a:endParaRPr sz="1200" dirty="0"/>
          </a:p>
        </p:txBody>
      </p:sp>
      <p:cxnSp>
        <p:nvCxnSpPr>
          <p:cNvPr id="25" name="Straight Arrow Connector 24">
            <a:extLst>
              <a:ext uri="{FF2B5EF4-FFF2-40B4-BE49-F238E27FC236}">
                <a16:creationId xmlns:a16="http://schemas.microsoft.com/office/drawing/2014/main" id="{2E7C1D03-9C82-7A42-9A8C-DD67B46096C0}"/>
              </a:ext>
            </a:extLst>
          </p:cNvPr>
          <p:cNvCxnSpPr>
            <a:stCxn id="19" idx="1"/>
            <a:endCxn id="14" idx="3"/>
          </p:cNvCxnSpPr>
          <p:nvPr/>
        </p:nvCxnSpPr>
        <p:spPr>
          <a:xfrm flipH="1">
            <a:off x="2658650" y="1704583"/>
            <a:ext cx="1129873" cy="7412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Google Shape;212;p29">
            <a:extLst>
              <a:ext uri="{FF2B5EF4-FFF2-40B4-BE49-F238E27FC236}">
                <a16:creationId xmlns:a16="http://schemas.microsoft.com/office/drawing/2014/main" id="{5E5D6696-FAF8-5443-8420-BCB1D81F85E5}"/>
              </a:ext>
            </a:extLst>
          </p:cNvPr>
          <p:cNvSpPr txBox="1"/>
          <p:nvPr/>
        </p:nvSpPr>
        <p:spPr>
          <a:xfrm>
            <a:off x="3397387" y="4270337"/>
            <a:ext cx="2321951" cy="623225"/>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latin typeface="Chalkboard" panose="03050602040202020205" pitchFamily="66" charset="77"/>
              </a:rPr>
              <a:t>A </a:t>
            </a:r>
            <a:r>
              <a:rPr lang="en" sz="1050" b="1" dirty="0">
                <a:latin typeface="Chalkboard" panose="03050602040202020205" pitchFamily="66" charset="77"/>
              </a:rPr>
              <a:t>channel </a:t>
            </a:r>
            <a:r>
              <a:rPr lang="en" sz="1050" dirty="0">
                <a:latin typeface="Chalkboard" panose="03050602040202020205" pitchFamily="66" charset="77"/>
              </a:rPr>
              <a:t>is the logical pipe over which messages flow. It is our address.</a:t>
            </a:r>
            <a:endParaRPr sz="1050" dirty="0">
              <a:latin typeface="Chalkboard" panose="03050602040202020205" pitchFamily="66" charset="77"/>
            </a:endParaRPr>
          </a:p>
        </p:txBody>
      </p:sp>
      <p:cxnSp>
        <p:nvCxnSpPr>
          <p:cNvPr id="27" name="Straight Arrow Connector 26">
            <a:extLst>
              <a:ext uri="{FF2B5EF4-FFF2-40B4-BE49-F238E27FC236}">
                <a16:creationId xmlns:a16="http://schemas.microsoft.com/office/drawing/2014/main" id="{F7F67DC3-FD67-114B-8BCE-8ED015F4C3A4}"/>
              </a:ext>
            </a:extLst>
          </p:cNvPr>
          <p:cNvCxnSpPr>
            <a:cxnSpLocks/>
            <a:stCxn id="26" idx="1"/>
            <a:endCxn id="21" idx="3"/>
          </p:cNvCxnSpPr>
          <p:nvPr/>
        </p:nvCxnSpPr>
        <p:spPr>
          <a:xfrm flipH="1" flipV="1">
            <a:off x="2658650" y="3952582"/>
            <a:ext cx="738737" cy="62936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Google Shape;212;p29">
            <a:extLst>
              <a:ext uri="{FF2B5EF4-FFF2-40B4-BE49-F238E27FC236}">
                <a16:creationId xmlns:a16="http://schemas.microsoft.com/office/drawing/2014/main" id="{677607BE-FC58-4E49-9652-B2476B19C65A}"/>
              </a:ext>
            </a:extLst>
          </p:cNvPr>
          <p:cNvSpPr txBox="1"/>
          <p:nvPr/>
        </p:nvSpPr>
        <p:spPr>
          <a:xfrm>
            <a:off x="3387923" y="2329345"/>
            <a:ext cx="2493450" cy="461643"/>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latin typeface="Chalkboard" panose="03050602040202020205" pitchFamily="66" charset="77"/>
              </a:rPr>
              <a:t>An </a:t>
            </a:r>
            <a:r>
              <a:rPr lang="en" sz="1050" b="1" dirty="0">
                <a:latin typeface="Chalkboard" panose="03050602040202020205" pitchFamily="66" charset="77"/>
              </a:rPr>
              <a:t>message </a:t>
            </a:r>
            <a:r>
              <a:rPr lang="en" sz="1050" dirty="0">
                <a:latin typeface="Chalkboard" panose="03050602040202020205" pitchFamily="66" charset="77"/>
              </a:rPr>
              <a:t>is data that we send or receive</a:t>
            </a:r>
            <a:endParaRPr sz="1050" dirty="0">
              <a:latin typeface="Chalkboard" panose="03050602040202020205" pitchFamily="66" charset="77"/>
            </a:endParaRPr>
          </a:p>
        </p:txBody>
      </p:sp>
      <p:cxnSp>
        <p:nvCxnSpPr>
          <p:cNvPr id="33" name="Straight Arrow Connector 32">
            <a:extLst>
              <a:ext uri="{FF2B5EF4-FFF2-40B4-BE49-F238E27FC236}">
                <a16:creationId xmlns:a16="http://schemas.microsoft.com/office/drawing/2014/main" id="{583F865F-CD6C-F74A-B4FD-EC918E7D8759}"/>
              </a:ext>
            </a:extLst>
          </p:cNvPr>
          <p:cNvCxnSpPr>
            <a:cxnSpLocks/>
            <a:stCxn id="32" idx="1"/>
            <a:endCxn id="23" idx="3"/>
          </p:cNvCxnSpPr>
          <p:nvPr/>
        </p:nvCxnSpPr>
        <p:spPr>
          <a:xfrm flipH="1">
            <a:off x="2658650" y="2560167"/>
            <a:ext cx="729273" cy="44223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Google Shape;212;p29">
            <a:extLst>
              <a:ext uri="{FF2B5EF4-FFF2-40B4-BE49-F238E27FC236}">
                <a16:creationId xmlns:a16="http://schemas.microsoft.com/office/drawing/2014/main" id="{DC3FAAFF-F3B2-654C-9F3D-0972CE7CF34C}"/>
              </a:ext>
            </a:extLst>
          </p:cNvPr>
          <p:cNvSpPr txBox="1"/>
          <p:nvPr/>
        </p:nvSpPr>
        <p:spPr>
          <a:xfrm>
            <a:off x="3473672" y="5113774"/>
            <a:ext cx="2321951" cy="1107973"/>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latin typeface="Chalkboard" panose="03050602040202020205" pitchFamily="66" charset="77"/>
              </a:rPr>
              <a:t>A </a:t>
            </a:r>
            <a:r>
              <a:rPr lang="en" sz="1050" b="1" dirty="0">
                <a:latin typeface="Chalkboard" panose="03050602040202020205" pitchFamily="66" charset="77"/>
              </a:rPr>
              <a:t>binding </a:t>
            </a:r>
            <a:r>
              <a:rPr lang="en" sz="1050" dirty="0">
                <a:latin typeface="Chalkboard" panose="03050602040202020205" pitchFamily="66" charset="77"/>
              </a:rPr>
              <a:t>is the details of how we implement the channel: what transport and encoding does the service support that allows messages to flow for example AMQP and Plain/Text.</a:t>
            </a:r>
            <a:endParaRPr sz="1050" dirty="0">
              <a:latin typeface="Chalkboard" panose="03050602040202020205" pitchFamily="66" charset="77"/>
            </a:endParaRPr>
          </a:p>
        </p:txBody>
      </p:sp>
      <p:cxnSp>
        <p:nvCxnSpPr>
          <p:cNvPr id="37" name="Straight Arrow Connector 36">
            <a:extLst>
              <a:ext uri="{FF2B5EF4-FFF2-40B4-BE49-F238E27FC236}">
                <a16:creationId xmlns:a16="http://schemas.microsoft.com/office/drawing/2014/main" id="{41DE266C-F435-494C-A93C-6E30E0CF5685}"/>
              </a:ext>
            </a:extLst>
          </p:cNvPr>
          <p:cNvCxnSpPr>
            <a:cxnSpLocks/>
            <a:stCxn id="36" idx="1"/>
            <a:endCxn id="22" idx="3"/>
          </p:cNvCxnSpPr>
          <p:nvPr/>
        </p:nvCxnSpPr>
        <p:spPr>
          <a:xfrm flipH="1" flipV="1">
            <a:off x="2660665" y="4575249"/>
            <a:ext cx="813007" cy="109251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209D132-CD99-BE4B-A725-AB8A9EE4F904}"/>
              </a:ext>
            </a:extLst>
          </p:cNvPr>
          <p:cNvCxnSpPr>
            <a:cxnSpLocks/>
            <a:endCxn id="22" idx="0"/>
          </p:cNvCxnSpPr>
          <p:nvPr/>
        </p:nvCxnSpPr>
        <p:spPr>
          <a:xfrm>
            <a:off x="1796703" y="4081375"/>
            <a:ext cx="2015" cy="33230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Google Shape;212;p29">
            <a:extLst>
              <a:ext uri="{FF2B5EF4-FFF2-40B4-BE49-F238E27FC236}">
                <a16:creationId xmlns:a16="http://schemas.microsoft.com/office/drawing/2014/main" id="{32C9FBE3-0978-B84C-8EC6-728E8A4F1733}"/>
              </a:ext>
            </a:extLst>
          </p:cNvPr>
          <p:cNvSpPr txBox="1"/>
          <p:nvPr/>
        </p:nvSpPr>
        <p:spPr>
          <a:xfrm>
            <a:off x="6305573" y="5193330"/>
            <a:ext cx="2393003" cy="461643"/>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latin typeface="Chalkboard" panose="03050602040202020205" pitchFamily="66" charset="77"/>
              </a:rPr>
              <a:t>In principle you can have </a:t>
            </a:r>
            <a:r>
              <a:rPr lang="en" sz="1050" b="1" dirty="0">
                <a:latin typeface="Chalkboard" panose="03050602040202020205" pitchFamily="66" charset="77"/>
              </a:rPr>
              <a:t>multiple</a:t>
            </a:r>
            <a:r>
              <a:rPr lang="en" sz="1050" dirty="0">
                <a:latin typeface="Chalkboard" panose="03050602040202020205" pitchFamily="66" charset="77"/>
              </a:rPr>
              <a:t> </a:t>
            </a:r>
            <a:r>
              <a:rPr lang="en" sz="1050" b="1" dirty="0">
                <a:latin typeface="Chalkboard" panose="03050602040202020205" pitchFamily="66" charset="77"/>
              </a:rPr>
              <a:t>bindings</a:t>
            </a:r>
            <a:r>
              <a:rPr lang="en" sz="1050" dirty="0">
                <a:latin typeface="Chalkboard" panose="03050602040202020205" pitchFamily="66" charset="77"/>
              </a:rPr>
              <a:t> for a </a:t>
            </a:r>
            <a:r>
              <a:rPr lang="en" sz="1050" b="1" dirty="0">
                <a:latin typeface="Chalkboard" panose="03050602040202020205" pitchFamily="66" charset="77"/>
              </a:rPr>
              <a:t>channel</a:t>
            </a:r>
            <a:r>
              <a:rPr lang="en" sz="1050" dirty="0">
                <a:latin typeface="Chalkboard" panose="03050602040202020205" pitchFamily="66" charset="77"/>
              </a:rPr>
              <a:t>.</a:t>
            </a:r>
            <a:endParaRPr sz="1050" dirty="0">
              <a:latin typeface="Chalkboard" panose="03050602040202020205" pitchFamily="66" charset="77"/>
            </a:endParaRPr>
          </a:p>
        </p:txBody>
      </p:sp>
      <p:sp>
        <p:nvSpPr>
          <p:cNvPr id="7" name="TextBox 6">
            <a:extLst>
              <a:ext uri="{FF2B5EF4-FFF2-40B4-BE49-F238E27FC236}">
                <a16:creationId xmlns:a16="http://schemas.microsoft.com/office/drawing/2014/main" id="{42BB1908-37C2-5B45-B830-7C5EB135597E}"/>
              </a:ext>
            </a:extLst>
          </p:cNvPr>
          <p:cNvSpPr txBox="1"/>
          <p:nvPr/>
        </p:nvSpPr>
        <p:spPr>
          <a:xfrm>
            <a:off x="934755" y="3196001"/>
            <a:ext cx="1723895" cy="23083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16200000" scaled="1"/>
            <a:tileRect/>
          </a:gradFill>
        </p:spPr>
        <p:txBody>
          <a:bodyPr wrap="square" rtlCol="0">
            <a:spAutoFit/>
          </a:bodyPr>
          <a:lstStyle/>
          <a:p>
            <a:pPr algn="ctr"/>
            <a:r>
              <a:rPr lang="en-US" sz="900" dirty="0"/>
              <a:t>Metadata (Headers)</a:t>
            </a:r>
          </a:p>
        </p:txBody>
      </p:sp>
      <p:sp>
        <p:nvSpPr>
          <p:cNvPr id="29" name="TextBox 28">
            <a:extLst>
              <a:ext uri="{FF2B5EF4-FFF2-40B4-BE49-F238E27FC236}">
                <a16:creationId xmlns:a16="http://schemas.microsoft.com/office/drawing/2014/main" id="{FA7E170A-5E36-BD41-96CB-B52C06B4F62B}"/>
              </a:ext>
            </a:extLst>
          </p:cNvPr>
          <p:cNvSpPr txBox="1"/>
          <p:nvPr/>
        </p:nvSpPr>
        <p:spPr>
          <a:xfrm>
            <a:off x="938449" y="3449637"/>
            <a:ext cx="1723895" cy="23083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16200000" scaled="1"/>
            <a:tileRect/>
          </a:gradFill>
        </p:spPr>
        <p:txBody>
          <a:bodyPr wrap="square" rtlCol="0">
            <a:spAutoFit/>
          </a:bodyPr>
          <a:lstStyle/>
          <a:p>
            <a:pPr algn="ctr"/>
            <a:r>
              <a:rPr lang="en-US" sz="900" dirty="0"/>
              <a:t>Data  (Payload)</a:t>
            </a:r>
          </a:p>
        </p:txBody>
      </p:sp>
      <p:sp>
        <p:nvSpPr>
          <p:cNvPr id="30" name="Google Shape;212;p29">
            <a:extLst>
              <a:ext uri="{FF2B5EF4-FFF2-40B4-BE49-F238E27FC236}">
                <a16:creationId xmlns:a16="http://schemas.microsoft.com/office/drawing/2014/main" id="{B0F5F904-34D0-0D40-A930-66CACB2CEC43}"/>
              </a:ext>
            </a:extLst>
          </p:cNvPr>
          <p:cNvSpPr txBox="1"/>
          <p:nvPr/>
        </p:nvSpPr>
        <p:spPr>
          <a:xfrm>
            <a:off x="6727633" y="2216118"/>
            <a:ext cx="1863341" cy="946391"/>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latin typeface="Chalkboard" panose="03050602040202020205" pitchFamily="66" charset="77"/>
              </a:rPr>
              <a:t>We will need to agree what the metadata – the </a:t>
            </a:r>
            <a:r>
              <a:rPr lang="en" sz="1050" b="1" dirty="0">
                <a:latin typeface="Chalkboard" panose="03050602040202020205" pitchFamily="66" charset="77"/>
              </a:rPr>
              <a:t>headers</a:t>
            </a:r>
            <a:r>
              <a:rPr lang="en" sz="1050" dirty="0">
                <a:latin typeface="Chalkboard" panose="03050602040202020205" pitchFamily="66" charset="77"/>
              </a:rPr>
              <a:t> are – and we will need to agree the </a:t>
            </a:r>
            <a:r>
              <a:rPr lang="en" sz="1050" i="1" dirty="0">
                <a:latin typeface="Chalkboard" panose="03050602040202020205" pitchFamily="66" charset="77"/>
              </a:rPr>
              <a:t>encoding</a:t>
            </a:r>
            <a:r>
              <a:rPr lang="en" sz="1050" dirty="0">
                <a:latin typeface="Chalkboard" panose="03050602040202020205" pitchFamily="66" charset="77"/>
              </a:rPr>
              <a:t> and </a:t>
            </a:r>
            <a:r>
              <a:rPr lang="en" sz="1050" i="1" dirty="0">
                <a:latin typeface="Chalkboard" panose="03050602040202020205" pitchFamily="66" charset="77"/>
              </a:rPr>
              <a:t>schema</a:t>
            </a:r>
            <a:r>
              <a:rPr lang="en" sz="1050" dirty="0">
                <a:latin typeface="Chalkboard" panose="03050602040202020205" pitchFamily="66" charset="77"/>
              </a:rPr>
              <a:t> of the </a:t>
            </a:r>
            <a:r>
              <a:rPr lang="en" sz="1050" b="1" dirty="0">
                <a:latin typeface="Chalkboard" panose="03050602040202020205" pitchFamily="66" charset="77"/>
              </a:rPr>
              <a:t>body</a:t>
            </a:r>
            <a:r>
              <a:rPr lang="en" sz="1050" dirty="0">
                <a:latin typeface="Chalkboard" panose="03050602040202020205" pitchFamily="66" charset="77"/>
              </a:rPr>
              <a:t>.</a:t>
            </a:r>
            <a:endParaRPr sz="1050" dirty="0">
              <a:latin typeface="Chalkboard" panose="03050602040202020205" pitchFamily="66" charset="77"/>
            </a:endParaRPr>
          </a:p>
        </p:txBody>
      </p:sp>
      <p:cxnSp>
        <p:nvCxnSpPr>
          <p:cNvPr id="31" name="Straight Arrow Connector 30">
            <a:extLst>
              <a:ext uri="{FF2B5EF4-FFF2-40B4-BE49-F238E27FC236}">
                <a16:creationId xmlns:a16="http://schemas.microsoft.com/office/drawing/2014/main" id="{9D4BA2FF-204B-B94D-86EF-A38BF4E9F97F}"/>
              </a:ext>
            </a:extLst>
          </p:cNvPr>
          <p:cNvCxnSpPr>
            <a:cxnSpLocks/>
            <a:stCxn id="30" idx="1"/>
          </p:cNvCxnSpPr>
          <p:nvPr/>
        </p:nvCxnSpPr>
        <p:spPr>
          <a:xfrm flipH="1">
            <a:off x="3649989" y="2689314"/>
            <a:ext cx="3077644" cy="71278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D74BD98-615D-2B4B-895F-86332DE55716}"/>
              </a:ext>
            </a:extLst>
          </p:cNvPr>
          <p:cNvCxnSpPr>
            <a:cxnSpLocks/>
            <a:stCxn id="32" idx="3"/>
            <a:endCxn id="30" idx="1"/>
          </p:cNvCxnSpPr>
          <p:nvPr/>
        </p:nvCxnSpPr>
        <p:spPr>
          <a:xfrm>
            <a:off x="5881373" y="2560167"/>
            <a:ext cx="846260" cy="129147"/>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679C838-E13A-3E47-8373-40D561CE6A6F}"/>
              </a:ext>
            </a:extLst>
          </p:cNvPr>
          <p:cNvCxnSpPr>
            <a:cxnSpLocks/>
            <a:endCxn id="45" idx="1"/>
          </p:cNvCxnSpPr>
          <p:nvPr/>
        </p:nvCxnSpPr>
        <p:spPr>
          <a:xfrm>
            <a:off x="5826862" y="5376797"/>
            <a:ext cx="478711" cy="47355"/>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B0C98FF4-7549-9543-BD12-B6F51E572AAF}"/>
              </a:ext>
            </a:extLst>
          </p:cNvPr>
          <p:cNvSpPr>
            <a:spLocks noGrp="1"/>
          </p:cNvSpPr>
          <p:nvPr>
            <p:ph type="ftr" sz="quarter" idx="11"/>
          </p:nvPr>
        </p:nvSpPr>
        <p:spPr/>
        <p:txBody>
          <a:bodyPr/>
          <a:lstStyle/>
          <a:p>
            <a:r>
              <a:rPr lang="en-US"/>
              <a:t>@ICooper</a:t>
            </a:r>
          </a:p>
        </p:txBody>
      </p:sp>
      <p:sp>
        <p:nvSpPr>
          <p:cNvPr id="6" name="Slide Number Placeholder 5">
            <a:extLst>
              <a:ext uri="{FF2B5EF4-FFF2-40B4-BE49-F238E27FC236}">
                <a16:creationId xmlns:a16="http://schemas.microsoft.com/office/drawing/2014/main" id="{82347551-04AF-3C4F-A388-FCB374DC3158}"/>
              </a:ext>
            </a:extLst>
          </p:cNvPr>
          <p:cNvSpPr>
            <a:spLocks noGrp="1"/>
          </p:cNvSpPr>
          <p:nvPr>
            <p:ph type="sldNum" sz="quarter" idx="12"/>
          </p:nvPr>
        </p:nvSpPr>
        <p:spPr/>
        <p:txBody>
          <a:bodyPr/>
          <a:lstStyle/>
          <a:p>
            <a:fld id="{53C7D256-7CB4-8D4B-B359-120D79D46DFF}" type="slidenum">
              <a:rPr lang="en-US" smtClean="0"/>
              <a:t>108</a:t>
            </a:fld>
            <a:endParaRPr lang="en-US"/>
          </a:p>
        </p:txBody>
      </p:sp>
    </p:spTree>
    <p:extLst>
      <p:ext uri="{BB962C8B-B14F-4D97-AF65-F5344CB8AC3E}">
        <p14:creationId xmlns:p14="http://schemas.microsoft.com/office/powerpoint/2010/main" val="14253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21" grpId="0" animBg="1"/>
      <p:bldP spid="22" grpId="0" animBg="1"/>
      <p:bldP spid="23" grpId="0" animBg="1"/>
      <p:bldP spid="26" grpId="0" animBg="1"/>
      <p:bldP spid="32" grpId="0" animBg="1"/>
      <p:bldP spid="36" grpId="0" animBg="1"/>
      <p:bldP spid="45" grpId="0" animBg="1"/>
      <p:bldP spid="7" grpId="0" animBg="1"/>
      <p:bldP spid="29" grpId="0" animBg="1"/>
      <p:bldP spid="30"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383058-CFBB-9D40-BF87-3296723BCE0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1000" y="1308109"/>
            <a:ext cx="8763000" cy="4434590"/>
          </a:xfrm>
          <a:prstGeom prst="rect">
            <a:avLst/>
          </a:prstGeom>
        </p:spPr>
      </p:pic>
      <p:sp>
        <p:nvSpPr>
          <p:cNvPr id="7" name="Footer Placeholder 6">
            <a:extLst>
              <a:ext uri="{FF2B5EF4-FFF2-40B4-BE49-F238E27FC236}">
                <a16:creationId xmlns:a16="http://schemas.microsoft.com/office/drawing/2014/main" id="{ADB6F3A8-26AF-A447-9B89-C235883834ED}"/>
              </a:ext>
            </a:extLst>
          </p:cNvPr>
          <p:cNvSpPr>
            <a:spLocks noGrp="1"/>
          </p:cNvSpPr>
          <p:nvPr>
            <p:ph type="ftr" sz="quarter" idx="11"/>
          </p:nvPr>
        </p:nvSpPr>
        <p:spPr/>
        <p:txBody>
          <a:bodyPr/>
          <a:lstStyle/>
          <a:p>
            <a:r>
              <a:rPr lang="en-US"/>
              <a:t>@ICooper</a:t>
            </a:r>
          </a:p>
        </p:txBody>
      </p:sp>
      <p:sp>
        <p:nvSpPr>
          <p:cNvPr id="8" name="Slide Number Placeholder 7">
            <a:extLst>
              <a:ext uri="{FF2B5EF4-FFF2-40B4-BE49-F238E27FC236}">
                <a16:creationId xmlns:a16="http://schemas.microsoft.com/office/drawing/2014/main" id="{2E3C7F51-8CA7-D54D-A91D-DB56695097B9}"/>
              </a:ext>
            </a:extLst>
          </p:cNvPr>
          <p:cNvSpPr>
            <a:spLocks noGrp="1"/>
          </p:cNvSpPr>
          <p:nvPr>
            <p:ph type="sldNum" sz="quarter" idx="12"/>
          </p:nvPr>
        </p:nvSpPr>
        <p:spPr/>
        <p:txBody>
          <a:bodyPr/>
          <a:lstStyle/>
          <a:p>
            <a:fld id="{53C7D256-7CB4-8D4B-B359-120D79D46DFF}" type="slidenum">
              <a:rPr lang="en-US" smtClean="0"/>
              <a:t>109</a:t>
            </a:fld>
            <a:endParaRPr lang="en-US"/>
          </a:p>
        </p:txBody>
      </p:sp>
    </p:spTree>
    <p:extLst>
      <p:ext uri="{BB962C8B-B14F-4D97-AF65-F5344CB8AC3E}">
        <p14:creationId xmlns:p14="http://schemas.microsoft.com/office/powerpoint/2010/main" val="65683186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0" name="Straight Arrow Connector 59">
            <a:extLst>
              <a:ext uri="{FF2B5EF4-FFF2-40B4-BE49-F238E27FC236}">
                <a16:creationId xmlns:a16="http://schemas.microsoft.com/office/drawing/2014/main" id="{2C22440A-A235-6945-8F6F-B7123BC131F3}"/>
              </a:ext>
            </a:extLst>
          </p:cNvPr>
          <p:cNvCxnSpPr>
            <a:cxnSpLocks/>
            <a:stCxn id="57" idx="1"/>
            <a:endCxn id="54" idx="2"/>
          </p:cNvCxnSpPr>
          <p:nvPr/>
        </p:nvCxnSpPr>
        <p:spPr>
          <a:xfrm flipH="1" flipV="1">
            <a:off x="3239370" y="2863619"/>
            <a:ext cx="3119662" cy="2107709"/>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28FB302-52A0-6046-B01E-E42B103E1483}"/>
              </a:ext>
            </a:extLst>
          </p:cNvPr>
          <p:cNvCxnSpPr>
            <a:cxnSpLocks/>
            <a:stCxn id="57" idx="1"/>
            <a:endCxn id="59" idx="3"/>
          </p:cNvCxnSpPr>
          <p:nvPr/>
        </p:nvCxnSpPr>
        <p:spPr>
          <a:xfrm flipH="1" flipV="1">
            <a:off x="4762851" y="3545963"/>
            <a:ext cx="1596181" cy="1425365"/>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Google Shape;208;p29">
            <a:extLst>
              <a:ext uri="{FF2B5EF4-FFF2-40B4-BE49-F238E27FC236}">
                <a16:creationId xmlns:a16="http://schemas.microsoft.com/office/drawing/2014/main" id="{F7E6B050-317B-D245-950E-5503BB6D0C9F}"/>
              </a:ext>
            </a:extLst>
          </p:cNvPr>
          <p:cNvCxnSpPr>
            <a:cxnSpLocks/>
            <a:stCxn id="2" idx="1"/>
            <a:endCxn id="13" idx="3"/>
          </p:cNvCxnSpPr>
          <p:nvPr/>
        </p:nvCxnSpPr>
        <p:spPr>
          <a:xfrm flipH="1">
            <a:off x="2312455" y="3569824"/>
            <a:ext cx="49973" cy="570230"/>
          </a:xfrm>
          <a:prstGeom prst="straightConnector1">
            <a:avLst/>
          </a:prstGeom>
          <a:noFill/>
          <a:ln w="19050" cap="flat" cmpd="sng">
            <a:solidFill>
              <a:schemeClr val="tx1"/>
            </a:solidFill>
            <a:prstDash val="dash"/>
            <a:round/>
            <a:headEnd type="none" w="med" len="med"/>
            <a:tailEnd type="triangle" w="med" len="med"/>
          </a:ln>
          <a:effectLst>
            <a:outerShdw blurRad="57150" dist="19050" dir="5400000" algn="bl" rotWithShape="0">
              <a:srgbClr val="000000">
                <a:alpha val="50000"/>
              </a:srgbClr>
            </a:outerShdw>
          </a:effectLst>
        </p:spPr>
      </p:cxnSp>
      <p:sp>
        <p:nvSpPr>
          <p:cNvPr id="2" name="Google Shape;195;p29">
            <a:extLst>
              <a:ext uri="{FF2B5EF4-FFF2-40B4-BE49-F238E27FC236}">
                <a16:creationId xmlns:a16="http://schemas.microsoft.com/office/drawing/2014/main" id="{2310F35A-CDE6-9F48-BA18-CC6F4EF40466}"/>
              </a:ext>
            </a:extLst>
          </p:cNvPr>
          <p:cNvSpPr/>
          <p:nvPr/>
        </p:nvSpPr>
        <p:spPr>
          <a:xfrm>
            <a:off x="1707218" y="2632195"/>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 name="Google Shape;194;p29">
            <a:extLst>
              <a:ext uri="{FF2B5EF4-FFF2-40B4-BE49-F238E27FC236}">
                <a16:creationId xmlns:a16="http://schemas.microsoft.com/office/drawing/2014/main" id="{4E277EBB-0F3B-0645-B6B8-E71296F187A2}"/>
              </a:ext>
            </a:extLst>
          </p:cNvPr>
          <p:cNvSpPr txBox="1"/>
          <p:nvPr/>
        </p:nvSpPr>
        <p:spPr>
          <a:xfrm>
            <a:off x="0" y="857251"/>
            <a:ext cx="914400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err="1"/>
              <a:t>AsyncAPI</a:t>
            </a:r>
            <a:r>
              <a:rPr lang="en" dirty="0"/>
              <a:t> Elements (V3)</a:t>
            </a:r>
            <a:endParaRPr dirty="0"/>
          </a:p>
        </p:txBody>
      </p:sp>
      <p:sp>
        <p:nvSpPr>
          <p:cNvPr id="4" name="Google Shape;195;p29">
            <a:extLst>
              <a:ext uri="{FF2B5EF4-FFF2-40B4-BE49-F238E27FC236}">
                <a16:creationId xmlns:a16="http://schemas.microsoft.com/office/drawing/2014/main" id="{04DC9767-F132-F040-B4A2-6BBA1D00BB51}"/>
              </a:ext>
            </a:extLst>
          </p:cNvPr>
          <p:cNvSpPr/>
          <p:nvPr/>
        </p:nvSpPr>
        <p:spPr>
          <a:xfrm>
            <a:off x="6994430" y="2254709"/>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 name="Google Shape;200;p29">
            <a:extLst>
              <a:ext uri="{FF2B5EF4-FFF2-40B4-BE49-F238E27FC236}">
                <a16:creationId xmlns:a16="http://schemas.microsoft.com/office/drawing/2014/main" id="{FA080D31-0FC5-0C49-A526-411AFC8619FE}"/>
              </a:ext>
            </a:extLst>
          </p:cNvPr>
          <p:cNvSpPr txBox="1"/>
          <p:nvPr/>
        </p:nvSpPr>
        <p:spPr>
          <a:xfrm>
            <a:off x="2080368" y="2919112"/>
            <a:ext cx="627320" cy="276977"/>
          </a:xfrm>
          <a:prstGeom prst="rect">
            <a:avLst/>
          </a:prstGeom>
          <a:noFill/>
          <a:ln>
            <a:noFill/>
          </a:ln>
        </p:spPr>
        <p:txBody>
          <a:bodyPr spcFirstLastPara="1" wrap="square" lIns="68569" tIns="68569" rIns="68569" bIns="68569" anchor="t" anchorCtr="0">
            <a:spAutoFit/>
          </a:bodyPr>
          <a:lstStyle/>
          <a:p>
            <a:r>
              <a:rPr lang="en" sz="900" u="sng" dirty="0"/>
              <a:t>Channels</a:t>
            </a:r>
            <a:endParaRPr sz="900" u="sng" dirty="0"/>
          </a:p>
        </p:txBody>
      </p:sp>
      <p:sp>
        <p:nvSpPr>
          <p:cNvPr id="6" name="Google Shape;200;p29">
            <a:extLst>
              <a:ext uri="{FF2B5EF4-FFF2-40B4-BE49-F238E27FC236}">
                <a16:creationId xmlns:a16="http://schemas.microsoft.com/office/drawing/2014/main" id="{78134124-0526-574E-82F0-D890ECEF0712}"/>
              </a:ext>
            </a:extLst>
          </p:cNvPr>
          <p:cNvSpPr txBox="1"/>
          <p:nvPr/>
        </p:nvSpPr>
        <p:spPr>
          <a:xfrm>
            <a:off x="7335979" y="2592990"/>
            <a:ext cx="753002" cy="276977"/>
          </a:xfrm>
          <a:prstGeom prst="rect">
            <a:avLst/>
          </a:prstGeom>
          <a:noFill/>
          <a:ln>
            <a:noFill/>
          </a:ln>
        </p:spPr>
        <p:txBody>
          <a:bodyPr spcFirstLastPara="1" wrap="square" lIns="68569" tIns="68569" rIns="68569" bIns="68569" anchor="t" anchorCtr="0">
            <a:spAutoFit/>
          </a:bodyPr>
          <a:lstStyle/>
          <a:p>
            <a:r>
              <a:rPr lang="en" sz="900" u="sng" dirty="0"/>
              <a:t>Application</a:t>
            </a:r>
            <a:endParaRPr sz="900" u="sng" dirty="0"/>
          </a:p>
        </p:txBody>
      </p:sp>
      <p:sp>
        <p:nvSpPr>
          <p:cNvPr id="7" name="Google Shape;203;p29">
            <a:extLst>
              <a:ext uri="{FF2B5EF4-FFF2-40B4-BE49-F238E27FC236}">
                <a16:creationId xmlns:a16="http://schemas.microsoft.com/office/drawing/2014/main" id="{9567C3E7-AC34-A448-B595-ACD35B4D4441}"/>
              </a:ext>
            </a:extLst>
          </p:cNvPr>
          <p:cNvSpPr txBox="1"/>
          <p:nvPr/>
        </p:nvSpPr>
        <p:spPr>
          <a:xfrm>
            <a:off x="3176461" y="3314390"/>
            <a:ext cx="564443" cy="253893"/>
          </a:xfrm>
          <a:prstGeom prst="rect">
            <a:avLst/>
          </a:prstGeom>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16200000" scaled="1"/>
          </a:gra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750" u="sng" dirty="0"/>
              <a:t>Message</a:t>
            </a:r>
            <a:endParaRPr sz="750" u="sng" dirty="0"/>
          </a:p>
        </p:txBody>
      </p:sp>
      <p:sp>
        <p:nvSpPr>
          <p:cNvPr id="13" name="Google Shape;195;p29">
            <a:extLst>
              <a:ext uri="{FF2B5EF4-FFF2-40B4-BE49-F238E27FC236}">
                <a16:creationId xmlns:a16="http://schemas.microsoft.com/office/drawing/2014/main" id="{F5A9C0C3-D9C2-9D48-941A-6877551B438C}"/>
              </a:ext>
            </a:extLst>
          </p:cNvPr>
          <p:cNvSpPr/>
          <p:nvPr/>
        </p:nvSpPr>
        <p:spPr>
          <a:xfrm>
            <a:off x="1657246" y="4086386"/>
            <a:ext cx="1310418" cy="938628"/>
          </a:xfrm>
          <a:prstGeom prst="cloud">
            <a:avLst/>
          </a:prstGeom>
          <a:solidFill>
            <a:schemeClr val="tx2">
              <a:lumMod val="40000"/>
              <a:lumOff val="60000"/>
            </a:schemeClr>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dirty="0"/>
          </a:p>
        </p:txBody>
      </p:sp>
      <p:cxnSp>
        <p:nvCxnSpPr>
          <p:cNvPr id="15" name="Google Shape;208;p29">
            <a:extLst>
              <a:ext uri="{FF2B5EF4-FFF2-40B4-BE49-F238E27FC236}">
                <a16:creationId xmlns:a16="http://schemas.microsoft.com/office/drawing/2014/main" id="{AB514365-2D0D-0848-8706-01310007781A}"/>
              </a:ext>
            </a:extLst>
          </p:cNvPr>
          <p:cNvCxnSpPr>
            <a:cxnSpLocks/>
            <a:stCxn id="4" idx="2"/>
          </p:cNvCxnSpPr>
          <p:nvPr/>
        </p:nvCxnSpPr>
        <p:spPr>
          <a:xfrm flipH="1">
            <a:off x="5803991" y="2724024"/>
            <a:ext cx="1194505" cy="118640"/>
          </a:xfrm>
          <a:prstGeom prst="straightConnector1">
            <a:avLst/>
          </a:prstGeom>
          <a:noFill/>
          <a:ln w="19050" cap="flat" cmpd="sng">
            <a:solidFill>
              <a:schemeClr val="tx1"/>
            </a:solidFill>
            <a:prstDash val="dash"/>
            <a:round/>
            <a:headEnd type="none" w="med" len="med"/>
            <a:tailEnd type="triangle" w="med" len="med"/>
          </a:ln>
          <a:effectLst>
            <a:outerShdw blurRad="57150" dist="19050" dir="5400000" algn="bl" rotWithShape="0">
              <a:srgbClr val="000000">
                <a:alpha val="50000"/>
              </a:srgbClr>
            </a:outerShdw>
          </a:effectLst>
        </p:spPr>
      </p:cxnSp>
      <p:sp>
        <p:nvSpPr>
          <p:cNvPr id="24" name="Google Shape;200;p29">
            <a:extLst>
              <a:ext uri="{FF2B5EF4-FFF2-40B4-BE49-F238E27FC236}">
                <a16:creationId xmlns:a16="http://schemas.microsoft.com/office/drawing/2014/main" id="{3430FB8B-FB9B-964A-A4BF-6713E3CBA7DB}"/>
              </a:ext>
            </a:extLst>
          </p:cNvPr>
          <p:cNvSpPr txBox="1"/>
          <p:nvPr/>
        </p:nvSpPr>
        <p:spPr>
          <a:xfrm>
            <a:off x="2123928" y="4354003"/>
            <a:ext cx="457537" cy="276977"/>
          </a:xfrm>
          <a:prstGeom prst="rect">
            <a:avLst/>
          </a:prstGeom>
          <a:noFill/>
          <a:ln>
            <a:noFill/>
          </a:ln>
        </p:spPr>
        <p:txBody>
          <a:bodyPr spcFirstLastPara="1" wrap="square" lIns="68569" tIns="68569" rIns="68569" bIns="68569" anchor="t" anchorCtr="0">
            <a:spAutoFit/>
          </a:bodyPr>
          <a:lstStyle/>
          <a:p>
            <a:r>
              <a:rPr lang="en" sz="900" u="sng" dirty="0"/>
              <a:t>Server</a:t>
            </a:r>
            <a:endParaRPr sz="900" u="sng" dirty="0"/>
          </a:p>
        </p:txBody>
      </p:sp>
      <p:sp>
        <p:nvSpPr>
          <p:cNvPr id="25" name="Google Shape;212;p29">
            <a:extLst>
              <a:ext uri="{FF2B5EF4-FFF2-40B4-BE49-F238E27FC236}">
                <a16:creationId xmlns:a16="http://schemas.microsoft.com/office/drawing/2014/main" id="{780FDB1C-6D50-0C4E-BAD4-B2B84576D2DA}"/>
              </a:ext>
            </a:extLst>
          </p:cNvPr>
          <p:cNvSpPr txBox="1"/>
          <p:nvPr/>
        </p:nvSpPr>
        <p:spPr>
          <a:xfrm>
            <a:off x="6046297" y="3481781"/>
            <a:ext cx="2156318" cy="784808"/>
          </a:xfrm>
          <a:prstGeom prst="rect">
            <a:avLst/>
          </a:prstGeom>
          <a:noFill/>
          <a:ln w="9525" cap="flat" cmpd="sng">
            <a:solidFill>
              <a:schemeClr val="accent2"/>
            </a:solidFill>
            <a:prstDash val="solid"/>
            <a:round/>
            <a:headEnd type="none" w="sm" len="sm"/>
            <a:tailEnd type="none" w="sm" len="sm"/>
          </a:ln>
        </p:spPr>
        <p:txBody>
          <a:bodyPr spcFirstLastPara="1" wrap="square" lIns="68569" tIns="68569" rIns="68569" bIns="68569" anchor="t" anchorCtr="0">
            <a:spAutoFit/>
          </a:bodyPr>
          <a:lstStyle/>
          <a:p>
            <a:r>
              <a:rPr lang="en" sz="1050" dirty="0"/>
              <a:t>An application is running code that has operations: </a:t>
            </a:r>
          </a:p>
          <a:p>
            <a:pPr marL="214313" indent="-214313">
              <a:buFontTx/>
              <a:buChar char="-"/>
            </a:pPr>
            <a:r>
              <a:rPr lang="en" sz="1050" dirty="0"/>
              <a:t>producer (sends messages) -  -</a:t>
            </a:r>
          </a:p>
          <a:p>
            <a:pPr marL="214313" indent="-214313">
              <a:buFontTx/>
              <a:buChar char="-"/>
            </a:pPr>
            <a:r>
              <a:rPr lang="en" sz="1050" dirty="0"/>
              <a:t>consumer (receives messages)</a:t>
            </a:r>
            <a:endParaRPr sz="1050" dirty="0"/>
          </a:p>
        </p:txBody>
      </p:sp>
      <p:cxnSp>
        <p:nvCxnSpPr>
          <p:cNvPr id="28" name="Straight Arrow Connector 27">
            <a:extLst>
              <a:ext uri="{FF2B5EF4-FFF2-40B4-BE49-F238E27FC236}">
                <a16:creationId xmlns:a16="http://schemas.microsoft.com/office/drawing/2014/main" id="{83C05983-7F83-A94E-B860-E04E49750420}"/>
              </a:ext>
            </a:extLst>
          </p:cNvPr>
          <p:cNvCxnSpPr>
            <a:cxnSpLocks/>
            <a:stCxn id="25" idx="0"/>
            <a:endCxn id="4" idx="1"/>
          </p:cNvCxnSpPr>
          <p:nvPr/>
        </p:nvCxnSpPr>
        <p:spPr>
          <a:xfrm flipV="1">
            <a:off x="7124456" y="3192338"/>
            <a:ext cx="525183" cy="289443"/>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68725B4-D56E-0640-AC0E-875EFAEF8EF6}"/>
              </a:ext>
            </a:extLst>
          </p:cNvPr>
          <p:cNvCxnSpPr>
            <a:cxnSpLocks/>
            <a:stCxn id="31" idx="0"/>
          </p:cNvCxnSpPr>
          <p:nvPr/>
        </p:nvCxnSpPr>
        <p:spPr>
          <a:xfrm flipH="1" flipV="1">
            <a:off x="3697738" y="3537311"/>
            <a:ext cx="814766" cy="546662"/>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6" name="Google Shape;203;p29">
            <a:extLst>
              <a:ext uri="{FF2B5EF4-FFF2-40B4-BE49-F238E27FC236}">
                <a16:creationId xmlns:a16="http://schemas.microsoft.com/office/drawing/2014/main" id="{5341985E-5566-F348-82D5-CEC385C0E235}"/>
              </a:ext>
            </a:extLst>
          </p:cNvPr>
          <p:cNvSpPr txBox="1"/>
          <p:nvPr/>
        </p:nvSpPr>
        <p:spPr>
          <a:xfrm>
            <a:off x="3174013" y="3569335"/>
            <a:ext cx="282734" cy="25389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750" b="1" dirty="0"/>
              <a:t>P</a:t>
            </a:r>
            <a:endParaRPr sz="750" b="1" dirty="0"/>
          </a:p>
        </p:txBody>
      </p:sp>
      <p:sp>
        <p:nvSpPr>
          <p:cNvPr id="37" name="Google Shape;203;p29">
            <a:extLst>
              <a:ext uri="{FF2B5EF4-FFF2-40B4-BE49-F238E27FC236}">
                <a16:creationId xmlns:a16="http://schemas.microsoft.com/office/drawing/2014/main" id="{CFBF4557-F614-8E40-B1A4-58C42D5FD104}"/>
              </a:ext>
            </a:extLst>
          </p:cNvPr>
          <p:cNvSpPr txBox="1"/>
          <p:nvPr/>
        </p:nvSpPr>
        <p:spPr>
          <a:xfrm>
            <a:off x="3468196" y="3568283"/>
            <a:ext cx="282734" cy="25389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750" b="1" dirty="0"/>
              <a:t>H</a:t>
            </a:r>
            <a:endParaRPr sz="750" b="1" dirty="0"/>
          </a:p>
        </p:txBody>
      </p:sp>
      <p:sp>
        <p:nvSpPr>
          <p:cNvPr id="40" name="Google Shape;212;p29">
            <a:extLst>
              <a:ext uri="{FF2B5EF4-FFF2-40B4-BE49-F238E27FC236}">
                <a16:creationId xmlns:a16="http://schemas.microsoft.com/office/drawing/2014/main" id="{6CC8FB03-3ED7-7E4E-906B-D3C171D0C3CE}"/>
              </a:ext>
            </a:extLst>
          </p:cNvPr>
          <p:cNvSpPr txBox="1"/>
          <p:nvPr/>
        </p:nvSpPr>
        <p:spPr>
          <a:xfrm>
            <a:off x="405981" y="1960335"/>
            <a:ext cx="2156318" cy="461643"/>
          </a:xfrm>
          <a:prstGeom prst="rect">
            <a:avLst/>
          </a:prstGeom>
          <a:noFill/>
          <a:ln w="9525" cap="flat" cmpd="sng">
            <a:solidFill>
              <a:schemeClr val="accent2"/>
            </a:solidFill>
            <a:prstDash val="solid"/>
            <a:round/>
            <a:headEnd type="none" w="sm" len="sm"/>
            <a:tailEnd type="none" w="sm" len="sm"/>
          </a:ln>
        </p:spPr>
        <p:txBody>
          <a:bodyPr spcFirstLastPara="1" wrap="square" lIns="68569" tIns="68569" rIns="68569" bIns="68569" anchor="t" anchorCtr="0">
            <a:spAutoFit/>
          </a:bodyPr>
          <a:lstStyle/>
          <a:p>
            <a:r>
              <a:rPr lang="en-GB" sz="1050" dirty="0"/>
              <a:t>Operations send or receive messages over channels. </a:t>
            </a:r>
            <a:endParaRPr sz="1050" dirty="0"/>
          </a:p>
        </p:txBody>
      </p:sp>
      <p:cxnSp>
        <p:nvCxnSpPr>
          <p:cNvPr id="46" name="Straight Arrow Connector 45">
            <a:extLst>
              <a:ext uri="{FF2B5EF4-FFF2-40B4-BE49-F238E27FC236}">
                <a16:creationId xmlns:a16="http://schemas.microsoft.com/office/drawing/2014/main" id="{4B99CF49-34F4-BE44-99DA-25F3CC107B54}"/>
              </a:ext>
            </a:extLst>
          </p:cNvPr>
          <p:cNvCxnSpPr>
            <a:cxnSpLocks/>
            <a:stCxn id="40" idx="2"/>
          </p:cNvCxnSpPr>
          <p:nvPr/>
        </p:nvCxnSpPr>
        <p:spPr>
          <a:xfrm>
            <a:off x="1484140" y="2421978"/>
            <a:ext cx="440818" cy="565819"/>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9" name="Google Shape;212;p29">
            <a:extLst>
              <a:ext uri="{FF2B5EF4-FFF2-40B4-BE49-F238E27FC236}">
                <a16:creationId xmlns:a16="http://schemas.microsoft.com/office/drawing/2014/main" id="{645DB1FF-2645-B446-8685-46345F2CDF9C}"/>
              </a:ext>
            </a:extLst>
          </p:cNvPr>
          <p:cNvSpPr txBox="1"/>
          <p:nvPr/>
        </p:nvSpPr>
        <p:spPr>
          <a:xfrm>
            <a:off x="798466" y="5257197"/>
            <a:ext cx="2156318" cy="461643"/>
          </a:xfrm>
          <a:prstGeom prst="rect">
            <a:avLst/>
          </a:prstGeom>
          <a:noFill/>
          <a:ln w="9525" cap="flat" cmpd="sng">
            <a:solidFill>
              <a:schemeClr val="accent2"/>
            </a:solidFill>
            <a:prstDash val="solid"/>
            <a:round/>
            <a:headEnd type="none" w="sm" len="sm"/>
            <a:tailEnd type="none" w="sm" len="sm"/>
          </a:ln>
        </p:spPr>
        <p:txBody>
          <a:bodyPr spcFirstLastPara="1" wrap="square" lIns="68569" tIns="68569" rIns="68569" bIns="68569" anchor="t" anchorCtr="0">
            <a:spAutoFit/>
          </a:bodyPr>
          <a:lstStyle/>
          <a:p>
            <a:r>
              <a:rPr lang="en-GB" sz="1050" dirty="0"/>
              <a:t>A server has a protocol by which messages are exchanged.</a:t>
            </a:r>
            <a:endParaRPr sz="1050" dirty="0"/>
          </a:p>
        </p:txBody>
      </p:sp>
      <p:cxnSp>
        <p:nvCxnSpPr>
          <p:cNvPr id="50" name="Straight Arrow Connector 49">
            <a:extLst>
              <a:ext uri="{FF2B5EF4-FFF2-40B4-BE49-F238E27FC236}">
                <a16:creationId xmlns:a16="http://schemas.microsoft.com/office/drawing/2014/main" id="{ECAB2BCD-8A86-6844-B066-A39E2384D639}"/>
              </a:ext>
            </a:extLst>
          </p:cNvPr>
          <p:cNvCxnSpPr>
            <a:cxnSpLocks/>
            <a:stCxn id="49" idx="0"/>
          </p:cNvCxnSpPr>
          <p:nvPr/>
        </p:nvCxnSpPr>
        <p:spPr>
          <a:xfrm flipV="1">
            <a:off x="1876625" y="4707198"/>
            <a:ext cx="354491" cy="549999"/>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4" name="Folded Corner 53">
            <a:extLst>
              <a:ext uri="{FF2B5EF4-FFF2-40B4-BE49-F238E27FC236}">
                <a16:creationId xmlns:a16="http://schemas.microsoft.com/office/drawing/2014/main" id="{75684643-F85D-EE41-A7ED-0773AC1E65E0}"/>
              </a:ext>
            </a:extLst>
          </p:cNvPr>
          <p:cNvSpPr/>
          <p:nvPr/>
        </p:nvSpPr>
        <p:spPr>
          <a:xfrm>
            <a:off x="2869178" y="2522407"/>
            <a:ext cx="740384" cy="341212"/>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u="sng" dirty="0">
                <a:solidFill>
                  <a:schemeClr val="tx1"/>
                </a:solidFill>
              </a:rPr>
              <a:t>Binding</a:t>
            </a:r>
            <a:endParaRPr lang="en-US" sz="900" u="sng" dirty="0"/>
          </a:p>
        </p:txBody>
      </p:sp>
      <p:sp>
        <p:nvSpPr>
          <p:cNvPr id="57" name="Google Shape;212;p29">
            <a:extLst>
              <a:ext uri="{FF2B5EF4-FFF2-40B4-BE49-F238E27FC236}">
                <a16:creationId xmlns:a16="http://schemas.microsoft.com/office/drawing/2014/main" id="{1150BB5B-6FD6-AF4B-9D99-74B53FB1372B}"/>
              </a:ext>
            </a:extLst>
          </p:cNvPr>
          <p:cNvSpPr txBox="1"/>
          <p:nvPr/>
        </p:nvSpPr>
        <p:spPr>
          <a:xfrm>
            <a:off x="6359032" y="4740506"/>
            <a:ext cx="2156318" cy="461643"/>
          </a:xfrm>
          <a:prstGeom prst="rect">
            <a:avLst/>
          </a:prstGeom>
          <a:noFill/>
          <a:ln w="9525" cap="flat" cmpd="sng">
            <a:solidFill>
              <a:schemeClr val="accent2"/>
            </a:solidFill>
            <a:prstDash val="solid"/>
            <a:round/>
            <a:headEnd type="none" w="sm" len="sm"/>
            <a:tailEnd type="none" w="sm" len="sm"/>
          </a:ln>
        </p:spPr>
        <p:txBody>
          <a:bodyPr spcFirstLastPara="1" wrap="square" lIns="68569" tIns="68569" rIns="68569" bIns="68569" anchor="t" anchorCtr="0">
            <a:spAutoFit/>
          </a:bodyPr>
          <a:lstStyle/>
          <a:p>
            <a:r>
              <a:rPr lang="en-GB" sz="1050" dirty="0"/>
              <a:t>Bindings are protocol specific information </a:t>
            </a:r>
            <a:endParaRPr sz="1050" dirty="0"/>
          </a:p>
        </p:txBody>
      </p:sp>
      <p:sp>
        <p:nvSpPr>
          <p:cNvPr id="58" name="Folded Corner 57">
            <a:extLst>
              <a:ext uri="{FF2B5EF4-FFF2-40B4-BE49-F238E27FC236}">
                <a16:creationId xmlns:a16="http://schemas.microsoft.com/office/drawing/2014/main" id="{6CF03267-A338-DD4E-A7D2-34218FFEF677}"/>
              </a:ext>
            </a:extLst>
          </p:cNvPr>
          <p:cNvSpPr/>
          <p:nvPr/>
        </p:nvSpPr>
        <p:spPr>
          <a:xfrm>
            <a:off x="2965746" y="4974363"/>
            <a:ext cx="740384" cy="341212"/>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u="sng" dirty="0">
                <a:solidFill>
                  <a:schemeClr val="tx1"/>
                </a:solidFill>
              </a:rPr>
              <a:t>Binding</a:t>
            </a:r>
            <a:endParaRPr lang="en-US" sz="900" u="sng" dirty="0"/>
          </a:p>
        </p:txBody>
      </p:sp>
      <p:sp>
        <p:nvSpPr>
          <p:cNvPr id="59" name="Folded Corner 58">
            <a:extLst>
              <a:ext uri="{FF2B5EF4-FFF2-40B4-BE49-F238E27FC236}">
                <a16:creationId xmlns:a16="http://schemas.microsoft.com/office/drawing/2014/main" id="{12B4D78D-D234-244C-B182-ECF971D0853D}"/>
              </a:ext>
            </a:extLst>
          </p:cNvPr>
          <p:cNvSpPr/>
          <p:nvPr/>
        </p:nvSpPr>
        <p:spPr>
          <a:xfrm>
            <a:off x="4022467" y="3375357"/>
            <a:ext cx="740384" cy="341212"/>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u="sng" dirty="0">
                <a:solidFill>
                  <a:schemeClr val="tx1"/>
                </a:solidFill>
              </a:rPr>
              <a:t>Binding</a:t>
            </a:r>
            <a:endParaRPr lang="en-US" sz="900" u="sng" dirty="0"/>
          </a:p>
        </p:txBody>
      </p:sp>
      <p:cxnSp>
        <p:nvCxnSpPr>
          <p:cNvPr id="63" name="Straight Arrow Connector 62">
            <a:extLst>
              <a:ext uri="{FF2B5EF4-FFF2-40B4-BE49-F238E27FC236}">
                <a16:creationId xmlns:a16="http://schemas.microsoft.com/office/drawing/2014/main" id="{659F6DF4-987E-4D4B-9AB1-2E136589F085}"/>
              </a:ext>
            </a:extLst>
          </p:cNvPr>
          <p:cNvCxnSpPr>
            <a:cxnSpLocks/>
            <a:stCxn id="57" idx="1"/>
            <a:endCxn id="58" idx="3"/>
          </p:cNvCxnSpPr>
          <p:nvPr/>
        </p:nvCxnSpPr>
        <p:spPr>
          <a:xfrm flipH="1">
            <a:off x="3706130" y="4971328"/>
            <a:ext cx="2652902" cy="173641"/>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64A1D-4D40-7F4C-A420-3CC331F32272}"/>
              </a:ext>
            </a:extLst>
          </p:cNvPr>
          <p:cNvSpPr>
            <a:spLocks noGrp="1"/>
          </p:cNvSpPr>
          <p:nvPr>
            <p:ph type="ftr" sz="quarter" idx="11"/>
          </p:nvPr>
        </p:nvSpPr>
        <p:spPr/>
        <p:txBody>
          <a:bodyPr/>
          <a:lstStyle/>
          <a:p>
            <a:r>
              <a:rPr lang="en-US"/>
              <a:t>Ian Cooper</a:t>
            </a:r>
          </a:p>
        </p:txBody>
      </p:sp>
      <p:sp>
        <p:nvSpPr>
          <p:cNvPr id="10" name="Slide Number Placeholder 9">
            <a:extLst>
              <a:ext uri="{FF2B5EF4-FFF2-40B4-BE49-F238E27FC236}">
                <a16:creationId xmlns:a16="http://schemas.microsoft.com/office/drawing/2014/main" id="{3FD46A8D-27E3-A74A-856C-0E3916E80870}"/>
              </a:ext>
            </a:extLst>
          </p:cNvPr>
          <p:cNvSpPr>
            <a:spLocks noGrp="1"/>
          </p:cNvSpPr>
          <p:nvPr>
            <p:ph type="sldNum" sz="quarter" idx="12"/>
          </p:nvPr>
        </p:nvSpPr>
        <p:spPr/>
        <p:txBody>
          <a:bodyPr/>
          <a:lstStyle/>
          <a:p>
            <a:fld id="{53C7D256-7CB4-8D4B-B359-120D79D46DFF}" type="slidenum">
              <a:rPr lang="en-US" smtClean="0"/>
              <a:t>110</a:t>
            </a:fld>
            <a:endParaRPr lang="en-US"/>
          </a:p>
        </p:txBody>
      </p:sp>
      <p:cxnSp>
        <p:nvCxnSpPr>
          <p:cNvPr id="23" name="Google Shape;208;p29">
            <a:extLst>
              <a:ext uri="{FF2B5EF4-FFF2-40B4-BE49-F238E27FC236}">
                <a16:creationId xmlns:a16="http://schemas.microsoft.com/office/drawing/2014/main" id="{460508F3-D967-1CBF-8CCB-126C36A72EA5}"/>
              </a:ext>
            </a:extLst>
          </p:cNvPr>
          <p:cNvCxnSpPr>
            <a:cxnSpLocks/>
            <a:stCxn id="2" idx="1"/>
          </p:cNvCxnSpPr>
          <p:nvPr/>
        </p:nvCxnSpPr>
        <p:spPr>
          <a:xfrm flipV="1">
            <a:off x="2362428" y="3568282"/>
            <a:ext cx="824204" cy="1541"/>
          </a:xfrm>
          <a:prstGeom prst="straightConnector1">
            <a:avLst/>
          </a:prstGeom>
          <a:noFill/>
          <a:ln w="19050" cap="flat" cmpd="sng">
            <a:solidFill>
              <a:schemeClr val="tx1"/>
            </a:solidFill>
            <a:prstDash val="dash"/>
            <a:round/>
            <a:headEnd type="none" w="med" len="med"/>
            <a:tailEnd type="triangle" w="med" len="med"/>
          </a:ln>
          <a:effectLst>
            <a:outerShdw blurRad="57150" dist="19050" dir="5400000" algn="bl" rotWithShape="0">
              <a:srgbClr val="000000">
                <a:alpha val="50000"/>
              </a:srgbClr>
            </a:outerShdw>
          </a:effectLst>
        </p:spPr>
      </p:cxnSp>
      <p:sp>
        <p:nvSpPr>
          <p:cNvPr id="32" name="Google Shape;195;p29">
            <a:extLst>
              <a:ext uri="{FF2B5EF4-FFF2-40B4-BE49-F238E27FC236}">
                <a16:creationId xmlns:a16="http://schemas.microsoft.com/office/drawing/2014/main" id="{6AE946CF-A69F-5C2B-E0FC-7ED0CA17FB2B}"/>
              </a:ext>
            </a:extLst>
          </p:cNvPr>
          <p:cNvSpPr/>
          <p:nvPr/>
        </p:nvSpPr>
        <p:spPr>
          <a:xfrm>
            <a:off x="4493573" y="2408035"/>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4" name="Google Shape;200;p29">
            <a:extLst>
              <a:ext uri="{FF2B5EF4-FFF2-40B4-BE49-F238E27FC236}">
                <a16:creationId xmlns:a16="http://schemas.microsoft.com/office/drawing/2014/main" id="{9137FA51-9756-64F8-8757-D36B1FF6195F}"/>
              </a:ext>
            </a:extLst>
          </p:cNvPr>
          <p:cNvSpPr txBox="1"/>
          <p:nvPr/>
        </p:nvSpPr>
        <p:spPr>
          <a:xfrm>
            <a:off x="4866722" y="2694952"/>
            <a:ext cx="670211" cy="276977"/>
          </a:xfrm>
          <a:prstGeom prst="rect">
            <a:avLst/>
          </a:prstGeom>
          <a:noFill/>
          <a:ln>
            <a:noFill/>
          </a:ln>
        </p:spPr>
        <p:txBody>
          <a:bodyPr spcFirstLastPara="1" wrap="square" lIns="68569" tIns="68569" rIns="68569" bIns="68569" anchor="t" anchorCtr="0">
            <a:spAutoFit/>
          </a:bodyPr>
          <a:lstStyle/>
          <a:p>
            <a:r>
              <a:rPr lang="en" sz="900" u="sng" dirty="0"/>
              <a:t>Operations</a:t>
            </a:r>
            <a:endParaRPr sz="900" u="sng" dirty="0"/>
          </a:p>
        </p:txBody>
      </p:sp>
      <p:cxnSp>
        <p:nvCxnSpPr>
          <p:cNvPr id="42" name="Google Shape;208;p29">
            <a:extLst>
              <a:ext uri="{FF2B5EF4-FFF2-40B4-BE49-F238E27FC236}">
                <a16:creationId xmlns:a16="http://schemas.microsoft.com/office/drawing/2014/main" id="{B2D4D4CB-2B94-9BD0-65B9-B6FAF0F5ED81}"/>
              </a:ext>
            </a:extLst>
          </p:cNvPr>
          <p:cNvCxnSpPr>
            <a:cxnSpLocks/>
            <a:stCxn id="32" idx="2"/>
          </p:cNvCxnSpPr>
          <p:nvPr/>
        </p:nvCxnSpPr>
        <p:spPr>
          <a:xfrm flipH="1">
            <a:off x="2980656" y="2877349"/>
            <a:ext cx="1516982" cy="130603"/>
          </a:xfrm>
          <a:prstGeom prst="straightConnector1">
            <a:avLst/>
          </a:prstGeom>
          <a:noFill/>
          <a:ln w="19050" cap="flat" cmpd="sng">
            <a:solidFill>
              <a:schemeClr val="tx1"/>
            </a:solidFill>
            <a:prstDash val="dash"/>
            <a:round/>
            <a:headEnd type="none" w="med" len="med"/>
            <a:tailEnd type="triangle" w="med" len="med"/>
          </a:ln>
          <a:effectLst>
            <a:outerShdw blurRad="57150" dist="19050" dir="5400000" algn="bl" rotWithShape="0">
              <a:srgbClr val="000000">
                <a:alpha val="50000"/>
              </a:srgbClr>
            </a:outerShdw>
          </a:effectLst>
        </p:spPr>
      </p:cxnSp>
      <p:sp>
        <p:nvSpPr>
          <p:cNvPr id="31" name="Google Shape;212;p29">
            <a:extLst>
              <a:ext uri="{FF2B5EF4-FFF2-40B4-BE49-F238E27FC236}">
                <a16:creationId xmlns:a16="http://schemas.microsoft.com/office/drawing/2014/main" id="{E6D36B3F-347D-1849-892D-422BF60F8A72}"/>
              </a:ext>
            </a:extLst>
          </p:cNvPr>
          <p:cNvSpPr txBox="1"/>
          <p:nvPr/>
        </p:nvSpPr>
        <p:spPr>
          <a:xfrm>
            <a:off x="3434345" y="4083973"/>
            <a:ext cx="2156318" cy="623225"/>
          </a:xfrm>
          <a:prstGeom prst="rect">
            <a:avLst/>
          </a:prstGeom>
          <a:solidFill>
            <a:schemeClr val="bg1"/>
          </a:solidFill>
          <a:ln w="9525" cap="flat" cmpd="sng">
            <a:solidFill>
              <a:schemeClr val="accent2"/>
            </a:solidFill>
            <a:prstDash val="solid"/>
            <a:round/>
            <a:headEnd type="none" w="sm" len="sm"/>
            <a:tailEnd type="none" w="sm" len="sm"/>
          </a:ln>
        </p:spPr>
        <p:txBody>
          <a:bodyPr spcFirstLastPara="1" wrap="square" lIns="68569" tIns="68569" rIns="68569" bIns="68569" anchor="t" anchorCtr="0">
            <a:spAutoFit/>
          </a:bodyPr>
          <a:lstStyle/>
          <a:p>
            <a:r>
              <a:rPr lang="en" sz="1050" dirty="0"/>
              <a:t>A message must have a payload and can have headers. Headers may protocol or application spec</a:t>
            </a:r>
            <a:r>
              <a:rPr lang="en-GB" sz="1050" dirty="0" err="1"/>
              <a:t>i</a:t>
            </a:r>
            <a:r>
              <a:rPr lang="en" sz="1050" dirty="0"/>
              <a:t>fic.</a:t>
            </a:r>
            <a:endParaRPr sz="1050" dirty="0"/>
          </a:p>
        </p:txBody>
      </p:sp>
    </p:spTree>
    <p:extLst>
      <p:ext uri="{BB962C8B-B14F-4D97-AF65-F5344CB8AC3E}">
        <p14:creationId xmlns:p14="http://schemas.microsoft.com/office/powerpoint/2010/main" val="1168043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0" grpId="0" animBg="1"/>
      <p:bldP spid="49" grpId="0" animBg="1"/>
      <p:bldP spid="54" grpId="0" animBg="1"/>
      <p:bldP spid="57" grpId="0" animBg="1"/>
      <p:bldP spid="58" grpId="0" animBg="1"/>
      <p:bldP spid="59" grpId="0" animBg="1"/>
      <p:bldP spid="31"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12;p29">
            <a:extLst>
              <a:ext uri="{FF2B5EF4-FFF2-40B4-BE49-F238E27FC236}">
                <a16:creationId xmlns:a16="http://schemas.microsoft.com/office/drawing/2014/main" id="{4AC469BD-915F-7644-AA45-B975E56C7074}"/>
              </a:ext>
            </a:extLst>
          </p:cNvPr>
          <p:cNvSpPr txBox="1"/>
          <p:nvPr/>
        </p:nvSpPr>
        <p:spPr>
          <a:xfrm>
            <a:off x="568210" y="1706174"/>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err="1"/>
              <a:t>AsyncAPI</a:t>
            </a:r>
            <a:r>
              <a:rPr lang="en" sz="1050" dirty="0"/>
              <a:t> Object</a:t>
            </a:r>
            <a:endParaRPr sz="1050" dirty="0"/>
          </a:p>
        </p:txBody>
      </p:sp>
      <p:sp>
        <p:nvSpPr>
          <p:cNvPr id="3" name="Google Shape;194;p29">
            <a:extLst>
              <a:ext uri="{FF2B5EF4-FFF2-40B4-BE49-F238E27FC236}">
                <a16:creationId xmlns:a16="http://schemas.microsoft.com/office/drawing/2014/main" id="{31CBBBAB-428E-1341-AB03-3EBB35542B33}"/>
              </a:ext>
            </a:extLst>
          </p:cNvPr>
          <p:cNvSpPr txBox="1"/>
          <p:nvPr/>
        </p:nvSpPr>
        <p:spPr>
          <a:xfrm>
            <a:off x="0" y="867271"/>
            <a:ext cx="914400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Document Structure (V3)</a:t>
            </a:r>
            <a:endParaRPr dirty="0"/>
          </a:p>
        </p:txBody>
      </p:sp>
      <p:sp>
        <p:nvSpPr>
          <p:cNvPr id="4" name="Google Shape;212;p29">
            <a:extLst>
              <a:ext uri="{FF2B5EF4-FFF2-40B4-BE49-F238E27FC236}">
                <a16:creationId xmlns:a16="http://schemas.microsoft.com/office/drawing/2014/main" id="{A2720FC4-8AF9-7F43-BD8C-21848512790A}"/>
              </a:ext>
            </a:extLst>
          </p:cNvPr>
          <p:cNvSpPr txBox="1"/>
          <p:nvPr/>
        </p:nvSpPr>
        <p:spPr>
          <a:xfrm>
            <a:off x="1142195" y="2440397"/>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Info Object</a:t>
            </a:r>
            <a:endParaRPr sz="1050" dirty="0"/>
          </a:p>
        </p:txBody>
      </p:sp>
      <p:sp>
        <p:nvSpPr>
          <p:cNvPr id="5" name="Google Shape;212;p29">
            <a:extLst>
              <a:ext uri="{FF2B5EF4-FFF2-40B4-BE49-F238E27FC236}">
                <a16:creationId xmlns:a16="http://schemas.microsoft.com/office/drawing/2014/main" id="{A8497F9F-3CFE-C24E-AF3E-FDD5367A222A}"/>
              </a:ext>
            </a:extLst>
          </p:cNvPr>
          <p:cNvSpPr txBox="1"/>
          <p:nvPr/>
        </p:nvSpPr>
        <p:spPr>
          <a:xfrm>
            <a:off x="1142195" y="2967378"/>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Servers Object</a:t>
            </a:r>
            <a:endParaRPr sz="1050" dirty="0"/>
          </a:p>
        </p:txBody>
      </p:sp>
      <p:sp>
        <p:nvSpPr>
          <p:cNvPr id="6" name="Google Shape;212;p29">
            <a:extLst>
              <a:ext uri="{FF2B5EF4-FFF2-40B4-BE49-F238E27FC236}">
                <a16:creationId xmlns:a16="http://schemas.microsoft.com/office/drawing/2014/main" id="{62A4D56A-F49F-7B48-AD77-E544970F0724}"/>
              </a:ext>
            </a:extLst>
          </p:cNvPr>
          <p:cNvSpPr txBox="1"/>
          <p:nvPr/>
        </p:nvSpPr>
        <p:spPr>
          <a:xfrm>
            <a:off x="1142195" y="3541570"/>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Channels Object</a:t>
            </a:r>
            <a:endParaRPr sz="1050" dirty="0"/>
          </a:p>
        </p:txBody>
      </p:sp>
      <p:sp>
        <p:nvSpPr>
          <p:cNvPr id="7" name="Google Shape;212;p29">
            <a:extLst>
              <a:ext uri="{FF2B5EF4-FFF2-40B4-BE49-F238E27FC236}">
                <a16:creationId xmlns:a16="http://schemas.microsoft.com/office/drawing/2014/main" id="{A33F051A-1349-8345-B5B5-65C51E7A7F77}"/>
              </a:ext>
            </a:extLst>
          </p:cNvPr>
          <p:cNvSpPr txBox="1"/>
          <p:nvPr/>
        </p:nvSpPr>
        <p:spPr>
          <a:xfrm>
            <a:off x="1142195" y="4673848"/>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Components Object</a:t>
            </a:r>
            <a:endParaRPr sz="1050" dirty="0"/>
          </a:p>
        </p:txBody>
      </p:sp>
      <p:sp>
        <p:nvSpPr>
          <p:cNvPr id="8" name="Google Shape;212;p29">
            <a:extLst>
              <a:ext uri="{FF2B5EF4-FFF2-40B4-BE49-F238E27FC236}">
                <a16:creationId xmlns:a16="http://schemas.microsoft.com/office/drawing/2014/main" id="{318F1DA9-6C4B-7D4A-81D4-B7BBA2C944F9}"/>
              </a:ext>
            </a:extLst>
          </p:cNvPr>
          <p:cNvSpPr txBox="1"/>
          <p:nvPr/>
        </p:nvSpPr>
        <p:spPr>
          <a:xfrm>
            <a:off x="1142195" y="5147390"/>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Tags Object</a:t>
            </a:r>
            <a:endParaRPr sz="1050" dirty="0"/>
          </a:p>
        </p:txBody>
      </p:sp>
      <p:sp>
        <p:nvSpPr>
          <p:cNvPr id="10" name="Google Shape;212;p29">
            <a:extLst>
              <a:ext uri="{FF2B5EF4-FFF2-40B4-BE49-F238E27FC236}">
                <a16:creationId xmlns:a16="http://schemas.microsoft.com/office/drawing/2014/main" id="{1905BB71-A4C1-EF4B-B0C0-7CAEF11C787B}"/>
              </a:ext>
            </a:extLst>
          </p:cNvPr>
          <p:cNvSpPr txBox="1"/>
          <p:nvPr/>
        </p:nvSpPr>
        <p:spPr>
          <a:xfrm>
            <a:off x="1099885" y="4088969"/>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Operation Object</a:t>
            </a:r>
            <a:endParaRPr sz="1050" dirty="0"/>
          </a:p>
        </p:txBody>
      </p:sp>
      <p:sp>
        <p:nvSpPr>
          <p:cNvPr id="12" name="Google Shape;207;p29">
            <a:extLst>
              <a:ext uri="{FF2B5EF4-FFF2-40B4-BE49-F238E27FC236}">
                <a16:creationId xmlns:a16="http://schemas.microsoft.com/office/drawing/2014/main" id="{E975DC5A-A1A7-A949-93D0-55ADBE25353F}"/>
              </a:ext>
            </a:extLst>
          </p:cNvPr>
          <p:cNvSpPr txBox="1"/>
          <p:nvPr/>
        </p:nvSpPr>
        <p:spPr>
          <a:xfrm>
            <a:off x="5422573" y="1832098"/>
            <a:ext cx="2706263" cy="461643"/>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The root object. Identifies the application being documented</a:t>
            </a:r>
            <a:endParaRPr sz="1050" dirty="0"/>
          </a:p>
        </p:txBody>
      </p:sp>
      <p:cxnSp>
        <p:nvCxnSpPr>
          <p:cNvPr id="13" name="Straight Arrow Connector 12">
            <a:extLst>
              <a:ext uri="{FF2B5EF4-FFF2-40B4-BE49-F238E27FC236}">
                <a16:creationId xmlns:a16="http://schemas.microsoft.com/office/drawing/2014/main" id="{0604040B-DF73-3D48-86B6-790D094B250C}"/>
              </a:ext>
            </a:extLst>
          </p:cNvPr>
          <p:cNvCxnSpPr>
            <a:cxnSpLocks/>
            <a:stCxn id="12" idx="1"/>
            <a:endCxn id="2" idx="3"/>
          </p:cNvCxnSpPr>
          <p:nvPr/>
        </p:nvCxnSpPr>
        <p:spPr>
          <a:xfrm flipH="1" flipV="1">
            <a:off x="3028950" y="1856204"/>
            <a:ext cx="2393623" cy="20671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Google Shape;207;p29">
            <a:extLst>
              <a:ext uri="{FF2B5EF4-FFF2-40B4-BE49-F238E27FC236}">
                <a16:creationId xmlns:a16="http://schemas.microsoft.com/office/drawing/2014/main" id="{03E096F1-500A-2D43-BCA5-B6708732ABC4}"/>
              </a:ext>
            </a:extLst>
          </p:cNvPr>
          <p:cNvSpPr txBox="1"/>
          <p:nvPr/>
        </p:nvSpPr>
        <p:spPr>
          <a:xfrm>
            <a:off x="5395596" y="2406210"/>
            <a:ext cx="2706263"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Metadata for this specification</a:t>
            </a:r>
            <a:endParaRPr sz="1050" dirty="0"/>
          </a:p>
        </p:txBody>
      </p:sp>
      <p:cxnSp>
        <p:nvCxnSpPr>
          <p:cNvPr id="17" name="Straight Arrow Connector 16">
            <a:extLst>
              <a:ext uri="{FF2B5EF4-FFF2-40B4-BE49-F238E27FC236}">
                <a16:creationId xmlns:a16="http://schemas.microsoft.com/office/drawing/2014/main" id="{9A7BFDC2-9FAD-9245-A65B-E771DFA1F1C2}"/>
              </a:ext>
            </a:extLst>
          </p:cNvPr>
          <p:cNvCxnSpPr>
            <a:cxnSpLocks/>
            <a:stCxn id="16" idx="1"/>
            <a:endCxn id="4" idx="3"/>
          </p:cNvCxnSpPr>
          <p:nvPr/>
        </p:nvCxnSpPr>
        <p:spPr>
          <a:xfrm flipH="1">
            <a:off x="3602935" y="2556240"/>
            <a:ext cx="1792661" cy="3418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Google Shape;207;p29">
            <a:extLst>
              <a:ext uri="{FF2B5EF4-FFF2-40B4-BE49-F238E27FC236}">
                <a16:creationId xmlns:a16="http://schemas.microsoft.com/office/drawing/2014/main" id="{9CFB8CFE-0AAC-7341-87B0-E43562EFBC36}"/>
              </a:ext>
            </a:extLst>
          </p:cNvPr>
          <p:cNvSpPr txBox="1"/>
          <p:nvPr/>
        </p:nvSpPr>
        <p:spPr>
          <a:xfrm>
            <a:off x="5395596" y="2843091"/>
            <a:ext cx="2706263"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Connection details for the server</a:t>
            </a:r>
            <a:endParaRPr sz="1050" dirty="0"/>
          </a:p>
        </p:txBody>
      </p:sp>
      <p:cxnSp>
        <p:nvCxnSpPr>
          <p:cNvPr id="21" name="Straight Arrow Connector 20">
            <a:extLst>
              <a:ext uri="{FF2B5EF4-FFF2-40B4-BE49-F238E27FC236}">
                <a16:creationId xmlns:a16="http://schemas.microsoft.com/office/drawing/2014/main" id="{C23F7ED5-CC0D-2542-842F-F63F2FCF2881}"/>
              </a:ext>
            </a:extLst>
          </p:cNvPr>
          <p:cNvCxnSpPr>
            <a:cxnSpLocks/>
            <a:stCxn id="20" idx="1"/>
            <a:endCxn id="5" idx="3"/>
          </p:cNvCxnSpPr>
          <p:nvPr/>
        </p:nvCxnSpPr>
        <p:spPr>
          <a:xfrm flipH="1">
            <a:off x="3602935" y="2993121"/>
            <a:ext cx="1792661" cy="12428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Google Shape;207;p29">
            <a:extLst>
              <a:ext uri="{FF2B5EF4-FFF2-40B4-BE49-F238E27FC236}">
                <a16:creationId xmlns:a16="http://schemas.microsoft.com/office/drawing/2014/main" id="{DAD49AFE-8D5C-2749-A777-A737DAE0E767}"/>
              </a:ext>
            </a:extLst>
          </p:cNvPr>
          <p:cNvSpPr txBox="1"/>
          <p:nvPr/>
        </p:nvSpPr>
        <p:spPr>
          <a:xfrm>
            <a:off x="5383891" y="3313890"/>
            <a:ext cx="2706263"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The channels being used by the application</a:t>
            </a:r>
            <a:endParaRPr sz="1050" dirty="0"/>
          </a:p>
        </p:txBody>
      </p:sp>
      <p:cxnSp>
        <p:nvCxnSpPr>
          <p:cNvPr id="25" name="Straight Arrow Connector 24">
            <a:extLst>
              <a:ext uri="{FF2B5EF4-FFF2-40B4-BE49-F238E27FC236}">
                <a16:creationId xmlns:a16="http://schemas.microsoft.com/office/drawing/2014/main" id="{4EFD92FD-E691-7043-ABDA-94A258D91D8D}"/>
              </a:ext>
            </a:extLst>
          </p:cNvPr>
          <p:cNvCxnSpPr>
            <a:cxnSpLocks/>
            <a:stCxn id="24" idx="1"/>
            <a:endCxn id="6" idx="3"/>
          </p:cNvCxnSpPr>
          <p:nvPr/>
        </p:nvCxnSpPr>
        <p:spPr>
          <a:xfrm flipH="1">
            <a:off x="3602935" y="3463920"/>
            <a:ext cx="1780956" cy="22768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Google Shape;207;p29">
            <a:extLst>
              <a:ext uri="{FF2B5EF4-FFF2-40B4-BE49-F238E27FC236}">
                <a16:creationId xmlns:a16="http://schemas.microsoft.com/office/drawing/2014/main" id="{FFD9D259-6D50-7C45-8801-4B1B4A8C3BC0}"/>
              </a:ext>
            </a:extLst>
          </p:cNvPr>
          <p:cNvSpPr txBox="1"/>
          <p:nvPr/>
        </p:nvSpPr>
        <p:spPr>
          <a:xfrm>
            <a:off x="5255308" y="4002910"/>
            <a:ext cx="2706263" cy="623225"/>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Defines an operation – publish or subscribe – made available by the application on this channel</a:t>
            </a:r>
            <a:endParaRPr sz="1050" dirty="0"/>
          </a:p>
        </p:txBody>
      </p:sp>
      <p:cxnSp>
        <p:nvCxnSpPr>
          <p:cNvPr id="33" name="Straight Arrow Connector 32">
            <a:extLst>
              <a:ext uri="{FF2B5EF4-FFF2-40B4-BE49-F238E27FC236}">
                <a16:creationId xmlns:a16="http://schemas.microsoft.com/office/drawing/2014/main" id="{D605DA54-ABEC-354D-8C14-96A66739FC50}"/>
              </a:ext>
            </a:extLst>
          </p:cNvPr>
          <p:cNvCxnSpPr>
            <a:cxnSpLocks/>
            <a:stCxn id="32" idx="1"/>
            <a:endCxn id="10" idx="3"/>
          </p:cNvCxnSpPr>
          <p:nvPr/>
        </p:nvCxnSpPr>
        <p:spPr>
          <a:xfrm flipH="1" flipV="1">
            <a:off x="3560625" y="4238999"/>
            <a:ext cx="1694683" cy="755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Google Shape;207;p29">
            <a:extLst>
              <a:ext uri="{FF2B5EF4-FFF2-40B4-BE49-F238E27FC236}">
                <a16:creationId xmlns:a16="http://schemas.microsoft.com/office/drawing/2014/main" id="{B1BD586A-4156-ED40-AC6F-D5F4C7A71BE8}"/>
              </a:ext>
            </a:extLst>
          </p:cNvPr>
          <p:cNvSpPr txBox="1"/>
          <p:nvPr/>
        </p:nvSpPr>
        <p:spPr>
          <a:xfrm>
            <a:off x="5347306" y="5003684"/>
            <a:ext cx="2706263"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Re-usable components</a:t>
            </a:r>
            <a:endParaRPr sz="1050" dirty="0"/>
          </a:p>
        </p:txBody>
      </p:sp>
      <p:cxnSp>
        <p:nvCxnSpPr>
          <p:cNvPr id="37" name="Straight Arrow Connector 36">
            <a:extLst>
              <a:ext uri="{FF2B5EF4-FFF2-40B4-BE49-F238E27FC236}">
                <a16:creationId xmlns:a16="http://schemas.microsoft.com/office/drawing/2014/main" id="{71F87083-511A-B545-852A-6C1AB21CD429}"/>
              </a:ext>
            </a:extLst>
          </p:cNvPr>
          <p:cNvCxnSpPr>
            <a:cxnSpLocks/>
            <a:stCxn id="36" idx="1"/>
            <a:endCxn id="7" idx="3"/>
          </p:cNvCxnSpPr>
          <p:nvPr/>
        </p:nvCxnSpPr>
        <p:spPr>
          <a:xfrm flipH="1" flipV="1">
            <a:off x="3602935" y="4823878"/>
            <a:ext cx="1744371" cy="32983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Google Shape;207;p29">
            <a:extLst>
              <a:ext uri="{FF2B5EF4-FFF2-40B4-BE49-F238E27FC236}">
                <a16:creationId xmlns:a16="http://schemas.microsoft.com/office/drawing/2014/main" id="{E7B584B5-F014-054D-ACDA-50E87F1E33BB}"/>
              </a:ext>
            </a:extLst>
          </p:cNvPr>
          <p:cNvSpPr txBox="1"/>
          <p:nvPr/>
        </p:nvSpPr>
        <p:spPr>
          <a:xfrm>
            <a:off x="5333542" y="5419741"/>
            <a:ext cx="2706263"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User defined tags for this specification</a:t>
            </a:r>
            <a:endParaRPr sz="1050" dirty="0"/>
          </a:p>
        </p:txBody>
      </p:sp>
      <p:cxnSp>
        <p:nvCxnSpPr>
          <p:cNvPr id="50" name="Straight Arrow Connector 49">
            <a:extLst>
              <a:ext uri="{FF2B5EF4-FFF2-40B4-BE49-F238E27FC236}">
                <a16:creationId xmlns:a16="http://schemas.microsoft.com/office/drawing/2014/main" id="{9F07F084-01E2-8942-86AB-8F33587A4B2C}"/>
              </a:ext>
            </a:extLst>
          </p:cNvPr>
          <p:cNvCxnSpPr>
            <a:cxnSpLocks/>
            <a:stCxn id="49" idx="1"/>
            <a:endCxn id="8" idx="3"/>
          </p:cNvCxnSpPr>
          <p:nvPr/>
        </p:nvCxnSpPr>
        <p:spPr>
          <a:xfrm flipH="1" flipV="1">
            <a:off x="3602935" y="5297420"/>
            <a:ext cx="1730607" cy="27235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Elbow Connector 54">
            <a:extLst>
              <a:ext uri="{FF2B5EF4-FFF2-40B4-BE49-F238E27FC236}">
                <a16:creationId xmlns:a16="http://schemas.microsoft.com/office/drawing/2014/main" id="{FF4E7BEA-9E71-D046-9A31-70F223D578FC}"/>
              </a:ext>
            </a:extLst>
          </p:cNvPr>
          <p:cNvCxnSpPr>
            <a:cxnSpLocks/>
            <a:endCxn id="5" idx="1"/>
          </p:cNvCxnSpPr>
          <p:nvPr/>
        </p:nvCxnSpPr>
        <p:spPr>
          <a:xfrm rot="16200000" flipH="1">
            <a:off x="576502" y="2551715"/>
            <a:ext cx="863834" cy="267551"/>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58" name="Elbow Connector 57">
            <a:extLst>
              <a:ext uri="{FF2B5EF4-FFF2-40B4-BE49-F238E27FC236}">
                <a16:creationId xmlns:a16="http://schemas.microsoft.com/office/drawing/2014/main" id="{4452C16B-4822-AD41-8EEF-E173B602B88C}"/>
              </a:ext>
            </a:extLst>
          </p:cNvPr>
          <p:cNvCxnSpPr>
            <a:cxnSpLocks/>
          </p:cNvCxnSpPr>
          <p:nvPr/>
        </p:nvCxnSpPr>
        <p:spPr>
          <a:xfrm rot="16200000" flipH="1">
            <a:off x="259761" y="2828359"/>
            <a:ext cx="1478123" cy="248357"/>
          </a:xfrm>
          <a:prstGeom prst="bentConnector3">
            <a:avLst>
              <a:gd name="adj1" fmla="val 100431"/>
            </a:avLst>
          </a:prstGeom>
          <a:ln w="38100"/>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7E2E7668-AFD0-B343-B3EE-BA18D4F740AF}"/>
              </a:ext>
            </a:extLst>
          </p:cNvPr>
          <p:cNvCxnSpPr>
            <a:cxnSpLocks/>
          </p:cNvCxnSpPr>
          <p:nvPr/>
        </p:nvCxnSpPr>
        <p:spPr>
          <a:xfrm rot="16200000" flipH="1">
            <a:off x="-428027" y="3313468"/>
            <a:ext cx="2853336" cy="248237"/>
          </a:xfrm>
          <a:prstGeom prst="bentConnector3">
            <a:avLst>
              <a:gd name="adj1" fmla="val 99812"/>
            </a:avLst>
          </a:prstGeom>
          <a:ln w="38100"/>
        </p:spPr>
        <p:style>
          <a:lnRef idx="1">
            <a:schemeClr val="accent1"/>
          </a:lnRef>
          <a:fillRef idx="0">
            <a:schemeClr val="accent1"/>
          </a:fillRef>
          <a:effectRef idx="0">
            <a:schemeClr val="accent1"/>
          </a:effectRef>
          <a:fontRef idx="minor">
            <a:schemeClr val="tx1"/>
          </a:fontRef>
        </p:style>
      </p:cxnSp>
      <p:cxnSp>
        <p:nvCxnSpPr>
          <p:cNvPr id="64" name="Elbow Connector 63">
            <a:extLst>
              <a:ext uri="{FF2B5EF4-FFF2-40B4-BE49-F238E27FC236}">
                <a16:creationId xmlns:a16="http://schemas.microsoft.com/office/drawing/2014/main" id="{433D776D-9717-8C43-88FA-C64BC27F21CD}"/>
              </a:ext>
            </a:extLst>
          </p:cNvPr>
          <p:cNvCxnSpPr>
            <a:cxnSpLocks/>
          </p:cNvCxnSpPr>
          <p:nvPr/>
        </p:nvCxnSpPr>
        <p:spPr>
          <a:xfrm rot="16200000" flipH="1">
            <a:off x="-660804" y="3554608"/>
            <a:ext cx="3303725" cy="233072"/>
          </a:xfrm>
          <a:prstGeom prst="bentConnector3">
            <a:avLst>
              <a:gd name="adj1" fmla="val 99941"/>
            </a:avLst>
          </a:prstGeom>
          <a:ln w="38100"/>
        </p:spPr>
        <p:style>
          <a:lnRef idx="1">
            <a:schemeClr val="accent1"/>
          </a:lnRef>
          <a:fillRef idx="0">
            <a:schemeClr val="accent1"/>
          </a:fillRef>
          <a:effectRef idx="0">
            <a:schemeClr val="accent1"/>
          </a:effectRef>
          <a:fontRef idx="minor">
            <a:schemeClr val="tx1"/>
          </a:fontRef>
        </p:style>
      </p:cxnSp>
      <p:cxnSp>
        <p:nvCxnSpPr>
          <p:cNvPr id="71" name="Elbow Connector 70">
            <a:extLst>
              <a:ext uri="{FF2B5EF4-FFF2-40B4-BE49-F238E27FC236}">
                <a16:creationId xmlns:a16="http://schemas.microsoft.com/office/drawing/2014/main" id="{BA3C7092-483E-BD46-B735-485411D8F482}"/>
              </a:ext>
            </a:extLst>
          </p:cNvPr>
          <p:cNvCxnSpPr>
            <a:cxnSpLocks/>
            <a:endCxn id="4" idx="1"/>
          </p:cNvCxnSpPr>
          <p:nvPr/>
        </p:nvCxnSpPr>
        <p:spPr>
          <a:xfrm rot="16200000" flipH="1">
            <a:off x="819941" y="2268173"/>
            <a:ext cx="376954" cy="267553"/>
          </a:xfrm>
          <a:prstGeom prst="bentConnector2">
            <a:avLst/>
          </a:prstGeom>
          <a:ln w="38100"/>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A2959C97-0D8E-D343-80D1-0BA5C832B531}"/>
              </a:ext>
            </a:extLst>
          </p:cNvPr>
          <p:cNvSpPr>
            <a:spLocks noGrp="1"/>
          </p:cNvSpPr>
          <p:nvPr>
            <p:ph type="ftr" sz="quarter" idx="11"/>
          </p:nvPr>
        </p:nvSpPr>
        <p:spPr/>
        <p:txBody>
          <a:bodyPr/>
          <a:lstStyle/>
          <a:p>
            <a:r>
              <a:rPr lang="en-US"/>
              <a:t>Ian Cooper</a:t>
            </a:r>
          </a:p>
        </p:txBody>
      </p:sp>
      <p:sp>
        <p:nvSpPr>
          <p:cNvPr id="14" name="Slide Number Placeholder 13">
            <a:extLst>
              <a:ext uri="{FF2B5EF4-FFF2-40B4-BE49-F238E27FC236}">
                <a16:creationId xmlns:a16="http://schemas.microsoft.com/office/drawing/2014/main" id="{FEDF9D8D-A761-B14C-ABE8-6C36E1DAC0CD}"/>
              </a:ext>
            </a:extLst>
          </p:cNvPr>
          <p:cNvSpPr>
            <a:spLocks noGrp="1"/>
          </p:cNvSpPr>
          <p:nvPr>
            <p:ph type="sldNum" sz="quarter" idx="12"/>
          </p:nvPr>
        </p:nvSpPr>
        <p:spPr/>
        <p:txBody>
          <a:bodyPr/>
          <a:lstStyle/>
          <a:p>
            <a:fld id="{53C7D256-7CB4-8D4B-B359-120D79D46DFF}" type="slidenum">
              <a:rPr lang="en-US" smtClean="0"/>
              <a:t>111</a:t>
            </a:fld>
            <a:endParaRPr lang="en-US"/>
          </a:p>
        </p:txBody>
      </p:sp>
      <p:cxnSp>
        <p:nvCxnSpPr>
          <p:cNvPr id="44" name="Elbow Connector 43">
            <a:extLst>
              <a:ext uri="{FF2B5EF4-FFF2-40B4-BE49-F238E27FC236}">
                <a16:creationId xmlns:a16="http://schemas.microsoft.com/office/drawing/2014/main" id="{D169238C-3E32-00C7-D7DD-C1D74ECCBD3D}"/>
              </a:ext>
            </a:extLst>
          </p:cNvPr>
          <p:cNvCxnSpPr>
            <a:cxnSpLocks/>
          </p:cNvCxnSpPr>
          <p:nvPr/>
        </p:nvCxnSpPr>
        <p:spPr>
          <a:xfrm rot="16200000" flipH="1">
            <a:off x="259398" y="3407866"/>
            <a:ext cx="1478123" cy="248357"/>
          </a:xfrm>
          <a:prstGeom prst="bentConnector3">
            <a:avLst>
              <a:gd name="adj1" fmla="val 100431"/>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473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10" grpId="0" animBg="1"/>
      <p:bldP spid="12" grpId="0" animBg="1"/>
      <p:bldP spid="16" grpId="0" animBg="1"/>
      <p:bldP spid="20" grpId="0" animBg="1"/>
      <p:bldP spid="24" grpId="0" animBg="1"/>
      <p:bldP spid="32" grpId="0" animBg="1"/>
      <p:bldP spid="36" grpId="0" animBg="1"/>
      <p:bldP spid="49"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12;p29">
            <a:extLst>
              <a:ext uri="{FF2B5EF4-FFF2-40B4-BE49-F238E27FC236}">
                <a16:creationId xmlns:a16="http://schemas.microsoft.com/office/drawing/2014/main" id="{4AC469BD-915F-7644-AA45-B975E56C7074}"/>
              </a:ext>
            </a:extLst>
          </p:cNvPr>
          <p:cNvSpPr txBox="1"/>
          <p:nvPr/>
        </p:nvSpPr>
        <p:spPr>
          <a:xfrm>
            <a:off x="321487" y="1686492"/>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err="1"/>
              <a:t>AsyncAPI</a:t>
            </a:r>
            <a:r>
              <a:rPr lang="en" sz="1050" dirty="0"/>
              <a:t> Object</a:t>
            </a:r>
            <a:endParaRPr sz="1050" dirty="0"/>
          </a:p>
        </p:txBody>
      </p:sp>
      <p:sp>
        <p:nvSpPr>
          <p:cNvPr id="3" name="Google Shape;194;p29">
            <a:extLst>
              <a:ext uri="{FF2B5EF4-FFF2-40B4-BE49-F238E27FC236}">
                <a16:creationId xmlns:a16="http://schemas.microsoft.com/office/drawing/2014/main" id="{31CBBBAB-428E-1341-AB03-3EBB35542B33}"/>
              </a:ext>
            </a:extLst>
          </p:cNvPr>
          <p:cNvSpPr txBox="1"/>
          <p:nvPr/>
        </p:nvSpPr>
        <p:spPr>
          <a:xfrm>
            <a:off x="0" y="855460"/>
            <a:ext cx="914400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err="1"/>
              <a:t>AsyncAPI</a:t>
            </a:r>
            <a:r>
              <a:rPr lang="en" dirty="0"/>
              <a:t> (V3) and Endpoint ABCs</a:t>
            </a:r>
            <a:endParaRPr dirty="0"/>
          </a:p>
        </p:txBody>
      </p:sp>
      <p:sp>
        <p:nvSpPr>
          <p:cNvPr id="4" name="Google Shape;212;p29">
            <a:extLst>
              <a:ext uri="{FF2B5EF4-FFF2-40B4-BE49-F238E27FC236}">
                <a16:creationId xmlns:a16="http://schemas.microsoft.com/office/drawing/2014/main" id="{A2720FC4-8AF9-7F43-BD8C-21848512790A}"/>
              </a:ext>
            </a:extLst>
          </p:cNvPr>
          <p:cNvSpPr txBox="1"/>
          <p:nvPr/>
        </p:nvSpPr>
        <p:spPr>
          <a:xfrm>
            <a:off x="1142195" y="2440397"/>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Info Object</a:t>
            </a:r>
            <a:endParaRPr sz="1050" dirty="0"/>
          </a:p>
        </p:txBody>
      </p:sp>
      <p:sp>
        <p:nvSpPr>
          <p:cNvPr id="5" name="Google Shape;212;p29">
            <a:extLst>
              <a:ext uri="{FF2B5EF4-FFF2-40B4-BE49-F238E27FC236}">
                <a16:creationId xmlns:a16="http://schemas.microsoft.com/office/drawing/2014/main" id="{A8497F9F-3CFE-C24E-AF3E-FDD5367A222A}"/>
              </a:ext>
            </a:extLst>
          </p:cNvPr>
          <p:cNvSpPr txBox="1"/>
          <p:nvPr/>
        </p:nvSpPr>
        <p:spPr>
          <a:xfrm>
            <a:off x="1142195" y="2967378"/>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Servers Object</a:t>
            </a:r>
            <a:endParaRPr sz="1050" dirty="0"/>
          </a:p>
        </p:txBody>
      </p:sp>
      <p:sp>
        <p:nvSpPr>
          <p:cNvPr id="6" name="Google Shape;212;p29">
            <a:extLst>
              <a:ext uri="{FF2B5EF4-FFF2-40B4-BE49-F238E27FC236}">
                <a16:creationId xmlns:a16="http://schemas.microsoft.com/office/drawing/2014/main" id="{62A4D56A-F49F-7B48-AD77-E544970F0724}"/>
              </a:ext>
            </a:extLst>
          </p:cNvPr>
          <p:cNvSpPr txBox="1"/>
          <p:nvPr/>
        </p:nvSpPr>
        <p:spPr>
          <a:xfrm>
            <a:off x="1142195" y="3541570"/>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Channels Object</a:t>
            </a:r>
            <a:endParaRPr sz="1050" dirty="0"/>
          </a:p>
        </p:txBody>
      </p:sp>
      <p:sp>
        <p:nvSpPr>
          <p:cNvPr id="7" name="Google Shape;212;p29">
            <a:extLst>
              <a:ext uri="{FF2B5EF4-FFF2-40B4-BE49-F238E27FC236}">
                <a16:creationId xmlns:a16="http://schemas.microsoft.com/office/drawing/2014/main" id="{A33F051A-1349-8345-B5B5-65C51E7A7F77}"/>
              </a:ext>
            </a:extLst>
          </p:cNvPr>
          <p:cNvSpPr txBox="1"/>
          <p:nvPr/>
        </p:nvSpPr>
        <p:spPr>
          <a:xfrm>
            <a:off x="1107715" y="4667395"/>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Components Object</a:t>
            </a:r>
            <a:endParaRPr sz="1050" dirty="0"/>
          </a:p>
        </p:txBody>
      </p:sp>
      <p:sp>
        <p:nvSpPr>
          <p:cNvPr id="8" name="Google Shape;212;p29">
            <a:extLst>
              <a:ext uri="{FF2B5EF4-FFF2-40B4-BE49-F238E27FC236}">
                <a16:creationId xmlns:a16="http://schemas.microsoft.com/office/drawing/2014/main" id="{318F1DA9-6C4B-7D4A-81D4-B7BBA2C944F9}"/>
              </a:ext>
            </a:extLst>
          </p:cNvPr>
          <p:cNvSpPr txBox="1"/>
          <p:nvPr/>
        </p:nvSpPr>
        <p:spPr>
          <a:xfrm>
            <a:off x="1107715" y="5140938"/>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Tags Object</a:t>
            </a:r>
            <a:endParaRPr sz="1050" dirty="0"/>
          </a:p>
        </p:txBody>
      </p:sp>
      <p:sp>
        <p:nvSpPr>
          <p:cNvPr id="10" name="Google Shape;212;p29">
            <a:extLst>
              <a:ext uri="{FF2B5EF4-FFF2-40B4-BE49-F238E27FC236}">
                <a16:creationId xmlns:a16="http://schemas.microsoft.com/office/drawing/2014/main" id="{1905BB71-A4C1-EF4B-B0C0-7CAEF11C787B}"/>
              </a:ext>
            </a:extLst>
          </p:cNvPr>
          <p:cNvSpPr txBox="1"/>
          <p:nvPr/>
        </p:nvSpPr>
        <p:spPr>
          <a:xfrm>
            <a:off x="1122880" y="4115761"/>
            <a:ext cx="2460740"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Operation Object</a:t>
            </a:r>
            <a:endParaRPr sz="1050" dirty="0"/>
          </a:p>
        </p:txBody>
      </p:sp>
      <p:cxnSp>
        <p:nvCxnSpPr>
          <p:cNvPr id="13" name="Straight Arrow Connector 12">
            <a:extLst>
              <a:ext uri="{FF2B5EF4-FFF2-40B4-BE49-F238E27FC236}">
                <a16:creationId xmlns:a16="http://schemas.microsoft.com/office/drawing/2014/main" id="{0604040B-DF73-3D48-86B6-790D094B250C}"/>
              </a:ext>
            </a:extLst>
          </p:cNvPr>
          <p:cNvCxnSpPr>
            <a:cxnSpLocks/>
            <a:stCxn id="2" idx="3"/>
          </p:cNvCxnSpPr>
          <p:nvPr/>
        </p:nvCxnSpPr>
        <p:spPr>
          <a:xfrm>
            <a:off x="2782227" y="1836522"/>
            <a:ext cx="2340546" cy="22235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Elbow Connector 53">
            <a:extLst>
              <a:ext uri="{FF2B5EF4-FFF2-40B4-BE49-F238E27FC236}">
                <a16:creationId xmlns:a16="http://schemas.microsoft.com/office/drawing/2014/main" id="{83E05DE9-D09C-7E40-ADA9-2A7747572139}"/>
              </a:ext>
            </a:extLst>
          </p:cNvPr>
          <p:cNvCxnSpPr>
            <a:cxnSpLocks/>
          </p:cNvCxnSpPr>
          <p:nvPr/>
        </p:nvCxnSpPr>
        <p:spPr>
          <a:xfrm rot="16200000" flipH="1">
            <a:off x="804281" y="3962590"/>
            <a:ext cx="395901" cy="249749"/>
          </a:xfrm>
          <a:prstGeom prst="bentConnector3">
            <a:avLst>
              <a:gd name="adj1" fmla="val 102721"/>
            </a:avLst>
          </a:prstGeom>
          <a:ln w="38100"/>
        </p:spPr>
        <p:style>
          <a:lnRef idx="1">
            <a:schemeClr val="accent1"/>
          </a:lnRef>
          <a:fillRef idx="0">
            <a:schemeClr val="accent1"/>
          </a:fillRef>
          <a:effectRef idx="0">
            <a:schemeClr val="accent1"/>
          </a:effectRef>
          <a:fontRef idx="minor">
            <a:schemeClr val="tx1"/>
          </a:fontRef>
        </p:style>
      </p:cxnSp>
      <p:cxnSp>
        <p:nvCxnSpPr>
          <p:cNvPr id="55" name="Elbow Connector 54">
            <a:extLst>
              <a:ext uri="{FF2B5EF4-FFF2-40B4-BE49-F238E27FC236}">
                <a16:creationId xmlns:a16="http://schemas.microsoft.com/office/drawing/2014/main" id="{FF4E7BEA-9E71-D046-9A31-70F223D578FC}"/>
              </a:ext>
            </a:extLst>
          </p:cNvPr>
          <p:cNvCxnSpPr>
            <a:cxnSpLocks/>
            <a:endCxn id="5" idx="1"/>
          </p:cNvCxnSpPr>
          <p:nvPr/>
        </p:nvCxnSpPr>
        <p:spPr>
          <a:xfrm rot="16200000" flipH="1">
            <a:off x="576502" y="2551715"/>
            <a:ext cx="863834" cy="267551"/>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58" name="Elbow Connector 57">
            <a:extLst>
              <a:ext uri="{FF2B5EF4-FFF2-40B4-BE49-F238E27FC236}">
                <a16:creationId xmlns:a16="http://schemas.microsoft.com/office/drawing/2014/main" id="{4452C16B-4822-AD41-8EEF-E173B602B88C}"/>
              </a:ext>
            </a:extLst>
          </p:cNvPr>
          <p:cNvCxnSpPr>
            <a:cxnSpLocks/>
          </p:cNvCxnSpPr>
          <p:nvPr/>
        </p:nvCxnSpPr>
        <p:spPr>
          <a:xfrm rot="16200000" flipH="1">
            <a:off x="265528" y="2829059"/>
            <a:ext cx="1478123" cy="248357"/>
          </a:xfrm>
          <a:prstGeom prst="bentConnector3">
            <a:avLst>
              <a:gd name="adj1" fmla="val 101535"/>
            </a:avLst>
          </a:prstGeom>
          <a:ln w="38100"/>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7E2E7668-AFD0-B343-B3EE-BA18D4F740AF}"/>
              </a:ext>
            </a:extLst>
          </p:cNvPr>
          <p:cNvCxnSpPr>
            <a:cxnSpLocks/>
          </p:cNvCxnSpPr>
          <p:nvPr/>
        </p:nvCxnSpPr>
        <p:spPr>
          <a:xfrm rot="16200000" flipH="1">
            <a:off x="-429922" y="3304882"/>
            <a:ext cx="2853336" cy="248237"/>
          </a:xfrm>
          <a:prstGeom prst="bentConnector3">
            <a:avLst>
              <a:gd name="adj1" fmla="val 99812"/>
            </a:avLst>
          </a:prstGeom>
          <a:ln w="38100"/>
        </p:spPr>
        <p:style>
          <a:lnRef idx="1">
            <a:schemeClr val="accent1"/>
          </a:lnRef>
          <a:fillRef idx="0">
            <a:schemeClr val="accent1"/>
          </a:fillRef>
          <a:effectRef idx="0">
            <a:schemeClr val="accent1"/>
          </a:effectRef>
          <a:fontRef idx="minor">
            <a:schemeClr val="tx1"/>
          </a:fontRef>
        </p:style>
      </p:cxnSp>
      <p:cxnSp>
        <p:nvCxnSpPr>
          <p:cNvPr id="64" name="Elbow Connector 63">
            <a:extLst>
              <a:ext uri="{FF2B5EF4-FFF2-40B4-BE49-F238E27FC236}">
                <a16:creationId xmlns:a16="http://schemas.microsoft.com/office/drawing/2014/main" id="{433D776D-9717-8C43-88FA-C64BC27F21CD}"/>
              </a:ext>
            </a:extLst>
          </p:cNvPr>
          <p:cNvCxnSpPr>
            <a:cxnSpLocks/>
          </p:cNvCxnSpPr>
          <p:nvPr/>
        </p:nvCxnSpPr>
        <p:spPr>
          <a:xfrm rot="16200000" flipH="1">
            <a:off x="-660684" y="3537658"/>
            <a:ext cx="3303725" cy="233072"/>
          </a:xfrm>
          <a:prstGeom prst="bentConnector3">
            <a:avLst>
              <a:gd name="adj1" fmla="val 99941"/>
            </a:avLst>
          </a:prstGeom>
          <a:ln w="38100"/>
        </p:spPr>
        <p:style>
          <a:lnRef idx="1">
            <a:schemeClr val="accent1"/>
          </a:lnRef>
          <a:fillRef idx="0">
            <a:schemeClr val="accent1"/>
          </a:fillRef>
          <a:effectRef idx="0">
            <a:schemeClr val="accent1"/>
          </a:effectRef>
          <a:fontRef idx="minor">
            <a:schemeClr val="tx1"/>
          </a:fontRef>
        </p:style>
      </p:cxnSp>
      <p:cxnSp>
        <p:nvCxnSpPr>
          <p:cNvPr id="71" name="Elbow Connector 70">
            <a:extLst>
              <a:ext uri="{FF2B5EF4-FFF2-40B4-BE49-F238E27FC236}">
                <a16:creationId xmlns:a16="http://schemas.microsoft.com/office/drawing/2014/main" id="{BA3C7092-483E-BD46-B735-485411D8F482}"/>
              </a:ext>
            </a:extLst>
          </p:cNvPr>
          <p:cNvCxnSpPr>
            <a:cxnSpLocks/>
            <a:endCxn id="4" idx="1"/>
          </p:cNvCxnSpPr>
          <p:nvPr/>
        </p:nvCxnSpPr>
        <p:spPr>
          <a:xfrm rot="16200000" flipH="1">
            <a:off x="819941" y="2268173"/>
            <a:ext cx="376954" cy="267553"/>
          </a:xfrm>
          <a:prstGeom prst="bentConnector2">
            <a:avLst/>
          </a:prstGeom>
          <a:ln w="38100"/>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EF06F463-7E84-6F47-8A48-26CAAAFDD967}"/>
              </a:ext>
            </a:extLst>
          </p:cNvPr>
          <p:cNvSpPr/>
          <p:nvPr/>
        </p:nvSpPr>
        <p:spPr>
          <a:xfrm>
            <a:off x="5541067" y="2004813"/>
            <a:ext cx="2123162" cy="337733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8" name="Google Shape;207;p29">
            <a:extLst>
              <a:ext uri="{FF2B5EF4-FFF2-40B4-BE49-F238E27FC236}">
                <a16:creationId xmlns:a16="http://schemas.microsoft.com/office/drawing/2014/main" id="{86C28281-05A5-F742-9276-FB109091C58B}"/>
              </a:ext>
            </a:extLst>
          </p:cNvPr>
          <p:cNvSpPr txBox="1"/>
          <p:nvPr/>
        </p:nvSpPr>
        <p:spPr>
          <a:xfrm>
            <a:off x="5740700" y="2242294"/>
            <a:ext cx="1723895" cy="32314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t>Endpoint</a:t>
            </a:r>
            <a:endParaRPr sz="1200" dirty="0"/>
          </a:p>
        </p:txBody>
      </p:sp>
      <p:sp>
        <p:nvSpPr>
          <p:cNvPr id="39" name="Google Shape;207;p29">
            <a:extLst>
              <a:ext uri="{FF2B5EF4-FFF2-40B4-BE49-F238E27FC236}">
                <a16:creationId xmlns:a16="http://schemas.microsoft.com/office/drawing/2014/main" id="{393601B1-C033-FA4C-80A4-0A66B233D4D6}"/>
              </a:ext>
            </a:extLst>
          </p:cNvPr>
          <p:cNvSpPr txBox="1"/>
          <p:nvPr/>
        </p:nvSpPr>
        <p:spPr>
          <a:xfrm>
            <a:off x="5740700" y="3749001"/>
            <a:ext cx="1723895" cy="32314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t>Channel</a:t>
            </a:r>
            <a:endParaRPr sz="1200" dirty="0"/>
          </a:p>
        </p:txBody>
      </p:sp>
      <p:sp>
        <p:nvSpPr>
          <p:cNvPr id="40" name="Google Shape;207;p29">
            <a:extLst>
              <a:ext uri="{FF2B5EF4-FFF2-40B4-BE49-F238E27FC236}">
                <a16:creationId xmlns:a16="http://schemas.microsoft.com/office/drawing/2014/main" id="{A641A031-9603-FD4F-A2A1-388C80D8B22A}"/>
              </a:ext>
            </a:extLst>
          </p:cNvPr>
          <p:cNvSpPr txBox="1"/>
          <p:nvPr/>
        </p:nvSpPr>
        <p:spPr>
          <a:xfrm>
            <a:off x="5742715" y="4371668"/>
            <a:ext cx="1723895" cy="32314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t>Binding</a:t>
            </a:r>
            <a:endParaRPr sz="1200" dirty="0"/>
          </a:p>
        </p:txBody>
      </p:sp>
      <p:sp>
        <p:nvSpPr>
          <p:cNvPr id="41" name="Google Shape;207;p29">
            <a:extLst>
              <a:ext uri="{FF2B5EF4-FFF2-40B4-BE49-F238E27FC236}">
                <a16:creationId xmlns:a16="http://schemas.microsoft.com/office/drawing/2014/main" id="{EE8E0D7C-1489-C546-AAF7-4D586620A790}"/>
              </a:ext>
            </a:extLst>
          </p:cNvPr>
          <p:cNvSpPr txBox="1"/>
          <p:nvPr/>
        </p:nvSpPr>
        <p:spPr>
          <a:xfrm>
            <a:off x="5740700" y="2798816"/>
            <a:ext cx="1723895" cy="323143"/>
          </a:xfrm>
          <a:prstGeom prst="rect">
            <a:avLst/>
          </a:prstGeom>
          <a:solidFill>
            <a:schemeClr val="bg1"/>
          </a:solid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200" dirty="0"/>
              <a:t>Message</a:t>
            </a:r>
            <a:endParaRPr sz="1200" dirty="0"/>
          </a:p>
        </p:txBody>
      </p:sp>
      <p:cxnSp>
        <p:nvCxnSpPr>
          <p:cNvPr id="42" name="Straight Arrow Connector 41">
            <a:extLst>
              <a:ext uri="{FF2B5EF4-FFF2-40B4-BE49-F238E27FC236}">
                <a16:creationId xmlns:a16="http://schemas.microsoft.com/office/drawing/2014/main" id="{348070AA-A369-6643-BA03-B97FBDE76A15}"/>
              </a:ext>
            </a:extLst>
          </p:cNvPr>
          <p:cNvCxnSpPr>
            <a:cxnSpLocks/>
            <a:endCxn id="40" idx="0"/>
          </p:cNvCxnSpPr>
          <p:nvPr/>
        </p:nvCxnSpPr>
        <p:spPr>
          <a:xfrm>
            <a:off x="6602648" y="4039366"/>
            <a:ext cx="2015" cy="33230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FD1E490-C13A-6648-8E49-0E71B6F5B4BD}"/>
              </a:ext>
            </a:extLst>
          </p:cNvPr>
          <p:cNvSpPr txBox="1"/>
          <p:nvPr/>
        </p:nvSpPr>
        <p:spPr>
          <a:xfrm>
            <a:off x="5740700" y="3153992"/>
            <a:ext cx="1723895" cy="23083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16200000" scaled="1"/>
            <a:tileRect/>
          </a:gradFill>
        </p:spPr>
        <p:txBody>
          <a:bodyPr wrap="square" rtlCol="0">
            <a:spAutoFit/>
          </a:bodyPr>
          <a:lstStyle/>
          <a:p>
            <a:pPr algn="ctr"/>
            <a:r>
              <a:rPr lang="en-US" sz="900" dirty="0"/>
              <a:t>Metadata (Headers)</a:t>
            </a:r>
          </a:p>
        </p:txBody>
      </p:sp>
      <p:sp>
        <p:nvSpPr>
          <p:cNvPr id="44" name="TextBox 43">
            <a:extLst>
              <a:ext uri="{FF2B5EF4-FFF2-40B4-BE49-F238E27FC236}">
                <a16:creationId xmlns:a16="http://schemas.microsoft.com/office/drawing/2014/main" id="{58360B57-23CC-E34F-BEC5-E73FB4EA2B5B}"/>
              </a:ext>
            </a:extLst>
          </p:cNvPr>
          <p:cNvSpPr txBox="1"/>
          <p:nvPr/>
        </p:nvSpPr>
        <p:spPr>
          <a:xfrm>
            <a:off x="5744394" y="3407628"/>
            <a:ext cx="1723895" cy="23083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16200000" scaled="1"/>
            <a:tileRect/>
          </a:gradFill>
        </p:spPr>
        <p:txBody>
          <a:bodyPr wrap="square" rtlCol="0">
            <a:spAutoFit/>
          </a:bodyPr>
          <a:lstStyle/>
          <a:p>
            <a:pPr algn="ctr"/>
            <a:r>
              <a:rPr lang="en-US" sz="900" dirty="0"/>
              <a:t>Data  (Payload)</a:t>
            </a:r>
          </a:p>
        </p:txBody>
      </p:sp>
      <p:cxnSp>
        <p:nvCxnSpPr>
          <p:cNvPr id="46" name="Straight Arrow Connector 45">
            <a:extLst>
              <a:ext uri="{FF2B5EF4-FFF2-40B4-BE49-F238E27FC236}">
                <a16:creationId xmlns:a16="http://schemas.microsoft.com/office/drawing/2014/main" id="{CE0E4E36-AD70-9344-B2C7-26B7A4E6371D}"/>
              </a:ext>
            </a:extLst>
          </p:cNvPr>
          <p:cNvCxnSpPr>
            <a:cxnSpLocks/>
            <a:stCxn id="4" idx="3"/>
            <a:endCxn id="38" idx="1"/>
          </p:cNvCxnSpPr>
          <p:nvPr/>
        </p:nvCxnSpPr>
        <p:spPr>
          <a:xfrm flipV="1">
            <a:off x="3602935" y="2403866"/>
            <a:ext cx="2137765" cy="18656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E9C61C9-075E-AD40-AC3D-54B3B5D1F995}"/>
              </a:ext>
            </a:extLst>
          </p:cNvPr>
          <p:cNvCxnSpPr>
            <a:cxnSpLocks/>
            <a:stCxn id="5" idx="3"/>
            <a:endCxn id="39" idx="1"/>
          </p:cNvCxnSpPr>
          <p:nvPr/>
        </p:nvCxnSpPr>
        <p:spPr>
          <a:xfrm>
            <a:off x="3602935" y="3117408"/>
            <a:ext cx="2137765" cy="79316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A140B4D7-1CE0-2A4D-A731-4128FE99EAB4}"/>
              </a:ext>
            </a:extLst>
          </p:cNvPr>
          <p:cNvCxnSpPr>
            <a:cxnSpLocks/>
            <a:stCxn id="6" idx="3"/>
            <a:endCxn id="39" idx="1"/>
          </p:cNvCxnSpPr>
          <p:nvPr/>
        </p:nvCxnSpPr>
        <p:spPr>
          <a:xfrm>
            <a:off x="3602935" y="3691600"/>
            <a:ext cx="2137765" cy="21897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A8E52DE-9F94-A249-8744-04960E95174F}"/>
              </a:ext>
            </a:extLst>
          </p:cNvPr>
          <p:cNvCxnSpPr>
            <a:cxnSpLocks/>
            <a:stCxn id="10" idx="3"/>
            <a:endCxn id="38" idx="1"/>
          </p:cNvCxnSpPr>
          <p:nvPr/>
        </p:nvCxnSpPr>
        <p:spPr>
          <a:xfrm flipV="1">
            <a:off x="3583620" y="2403866"/>
            <a:ext cx="2157080" cy="186192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B552AD3F-2632-F843-845D-138E641CD9D7}"/>
              </a:ext>
            </a:extLst>
          </p:cNvPr>
          <p:cNvCxnSpPr>
            <a:cxnSpLocks/>
            <a:stCxn id="6" idx="3"/>
            <a:endCxn id="41" idx="1"/>
          </p:cNvCxnSpPr>
          <p:nvPr/>
        </p:nvCxnSpPr>
        <p:spPr>
          <a:xfrm flipV="1">
            <a:off x="3602935" y="2960388"/>
            <a:ext cx="2137765" cy="73121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F41DBB3-73E2-8240-9B93-765F5FECC81F}"/>
              </a:ext>
            </a:extLst>
          </p:cNvPr>
          <p:cNvCxnSpPr>
            <a:cxnSpLocks/>
            <a:stCxn id="5" idx="3"/>
            <a:endCxn id="40" idx="1"/>
          </p:cNvCxnSpPr>
          <p:nvPr/>
        </p:nvCxnSpPr>
        <p:spPr>
          <a:xfrm>
            <a:off x="3602935" y="3117408"/>
            <a:ext cx="2139780" cy="1415832"/>
          </a:xfrm>
          <a:prstGeom prst="straightConnector1">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B1AFF10-EC07-A045-9E57-F7B49BFE127E}"/>
              </a:ext>
            </a:extLst>
          </p:cNvPr>
          <p:cNvCxnSpPr>
            <a:cxnSpLocks/>
            <a:stCxn id="6" idx="3"/>
            <a:endCxn id="40" idx="1"/>
          </p:cNvCxnSpPr>
          <p:nvPr/>
        </p:nvCxnSpPr>
        <p:spPr>
          <a:xfrm>
            <a:off x="3602935" y="3691600"/>
            <a:ext cx="2139780" cy="841640"/>
          </a:xfrm>
          <a:prstGeom prst="straightConnector1">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Footer Placeholder 13">
            <a:extLst>
              <a:ext uri="{FF2B5EF4-FFF2-40B4-BE49-F238E27FC236}">
                <a16:creationId xmlns:a16="http://schemas.microsoft.com/office/drawing/2014/main" id="{CFDE9EFF-4431-564E-B46B-FFEC1EF49F10}"/>
              </a:ext>
            </a:extLst>
          </p:cNvPr>
          <p:cNvSpPr>
            <a:spLocks noGrp="1"/>
          </p:cNvSpPr>
          <p:nvPr>
            <p:ph type="ftr" sz="quarter" idx="11"/>
          </p:nvPr>
        </p:nvSpPr>
        <p:spPr/>
        <p:txBody>
          <a:bodyPr/>
          <a:lstStyle/>
          <a:p>
            <a:r>
              <a:rPr lang="en-US"/>
              <a:t>Ian Cooper</a:t>
            </a:r>
          </a:p>
        </p:txBody>
      </p:sp>
      <p:sp>
        <p:nvSpPr>
          <p:cNvPr id="15" name="Slide Number Placeholder 14">
            <a:extLst>
              <a:ext uri="{FF2B5EF4-FFF2-40B4-BE49-F238E27FC236}">
                <a16:creationId xmlns:a16="http://schemas.microsoft.com/office/drawing/2014/main" id="{B57E6D4D-78C5-904F-A442-9B1AD876D3E2}"/>
              </a:ext>
            </a:extLst>
          </p:cNvPr>
          <p:cNvSpPr>
            <a:spLocks noGrp="1"/>
          </p:cNvSpPr>
          <p:nvPr>
            <p:ph type="sldNum" sz="quarter" idx="12"/>
          </p:nvPr>
        </p:nvSpPr>
        <p:spPr/>
        <p:txBody>
          <a:bodyPr/>
          <a:lstStyle/>
          <a:p>
            <a:fld id="{53C7D256-7CB4-8D4B-B359-120D79D46DFF}" type="slidenum">
              <a:rPr lang="en-US" smtClean="0"/>
              <a:t>112</a:t>
            </a:fld>
            <a:endParaRPr lang="en-US"/>
          </a:p>
        </p:txBody>
      </p:sp>
    </p:spTree>
    <p:extLst>
      <p:ext uri="{BB962C8B-B14F-4D97-AF65-F5344CB8AC3E}">
        <p14:creationId xmlns:p14="http://schemas.microsoft.com/office/powerpoint/2010/main" val="2070321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10"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198B2B-0876-4249-9512-6ABD3413DE41}"/>
              </a:ext>
            </a:extLst>
          </p:cNvPr>
          <p:cNvSpPr/>
          <p:nvPr/>
        </p:nvSpPr>
        <p:spPr>
          <a:xfrm>
            <a:off x="1132576" y="1715073"/>
            <a:ext cx="7106479" cy="3970318"/>
          </a:xfrm>
          <a:prstGeom prst="rect">
            <a:avLst/>
          </a:prstGeom>
          <a:ln w="19050">
            <a:solidFill>
              <a:srgbClr val="000000"/>
            </a:solidFill>
          </a:ln>
          <a:effectLst>
            <a:outerShdw blurRad="50800" dist="38100" dir="2700000" algn="tl" rotWithShape="0">
              <a:prstClr val="black">
                <a:alpha val="40000"/>
              </a:prstClr>
            </a:outerShdw>
          </a:effectLst>
        </p:spPr>
        <p:txBody>
          <a:bodyPr wrap="square">
            <a:spAutoFit/>
          </a:bodyPr>
          <a:lstStyle/>
          <a:p>
            <a:r>
              <a:rPr lang="en-GB" dirty="0"/>
              <a:t>info:</a:t>
            </a:r>
          </a:p>
          <a:p>
            <a:r>
              <a:rPr lang="en-GB" dirty="0"/>
              <a:t>  contact: </a:t>
            </a:r>
          </a:p>
          <a:p>
            <a:r>
              <a:rPr lang="en-GB" dirty="0"/>
              <a:t>    name: Paramore Brighter</a:t>
            </a:r>
          </a:p>
          <a:p>
            <a:r>
              <a:rPr lang="en-GB" dirty="0"/>
              <a:t>    </a:t>
            </a:r>
            <a:r>
              <a:rPr lang="en-GB" dirty="0" err="1"/>
              <a:t>url</a:t>
            </a:r>
            <a:r>
              <a:rPr lang="en-GB" dirty="0"/>
              <a:t>: https://</a:t>
            </a:r>
            <a:r>
              <a:rPr lang="en-GB" dirty="0" err="1"/>
              <a:t>goparamore.io</a:t>
            </a:r>
            <a:r>
              <a:rPr lang="en-GB" dirty="0"/>
              <a:t>/support</a:t>
            </a:r>
          </a:p>
          <a:p>
            <a:r>
              <a:rPr lang="en-GB" dirty="0"/>
              <a:t>    email: </a:t>
            </a:r>
            <a:r>
              <a:rPr lang="en-GB" dirty="0" err="1"/>
              <a:t>support@goparamore.io</a:t>
            </a:r>
            <a:endParaRPr lang="en-GB" dirty="0"/>
          </a:p>
          <a:p>
            <a:r>
              <a:rPr lang="en-GB" dirty="0"/>
              <a:t>  license:</a:t>
            </a:r>
          </a:p>
          <a:p>
            <a:r>
              <a:rPr lang="en-GB" dirty="0"/>
              <a:t>    name: Apache 2.0 </a:t>
            </a:r>
          </a:p>
          <a:p>
            <a:r>
              <a:rPr lang="en-GB" dirty="0"/>
              <a:t>    </a:t>
            </a:r>
            <a:r>
              <a:rPr lang="en-GB" dirty="0" err="1"/>
              <a:t>url</a:t>
            </a:r>
            <a:r>
              <a:rPr lang="en-GB" dirty="0"/>
              <a:t>: https://</a:t>
            </a:r>
            <a:r>
              <a:rPr lang="en-GB" dirty="0" err="1"/>
              <a:t>www.apache.org</a:t>
            </a:r>
            <a:r>
              <a:rPr lang="en-GB" dirty="0"/>
              <a:t>/licenses/LICENSE-2.0.html </a:t>
            </a:r>
          </a:p>
          <a:p>
            <a:r>
              <a:rPr lang="en-GB" dirty="0"/>
              <a:t>  description: Demonstrates sending a greeting over a messaging transport.</a:t>
            </a:r>
          </a:p>
          <a:p>
            <a:r>
              <a:rPr lang="en-GB" dirty="0"/>
              <a:t>  title: Brighter Sample App</a:t>
            </a:r>
          </a:p>
          <a:p>
            <a:r>
              <a:rPr lang="en-GB" dirty="0"/>
              <a:t>  version: 1.0.0</a:t>
            </a:r>
          </a:p>
          <a:p>
            <a:r>
              <a:rPr lang="en-GB" dirty="0"/>
              <a:t>tags:</a:t>
            </a:r>
          </a:p>
          <a:p>
            <a:r>
              <a:rPr lang="en-GB" dirty="0"/>
              <a:t>  - name: brighter examples</a:t>
            </a:r>
          </a:p>
        </p:txBody>
      </p:sp>
      <p:sp>
        <p:nvSpPr>
          <p:cNvPr id="3" name="Google Shape;194;p29">
            <a:extLst>
              <a:ext uri="{FF2B5EF4-FFF2-40B4-BE49-F238E27FC236}">
                <a16:creationId xmlns:a16="http://schemas.microsoft.com/office/drawing/2014/main" id="{FE47BEA1-E716-174A-B7D3-9E39092F61CB}"/>
              </a:ext>
            </a:extLst>
          </p:cNvPr>
          <p:cNvSpPr txBox="1"/>
          <p:nvPr/>
        </p:nvSpPr>
        <p:spPr>
          <a:xfrm>
            <a:off x="0" y="857251"/>
            <a:ext cx="914400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Info Object</a:t>
            </a:r>
            <a:endParaRPr dirty="0"/>
          </a:p>
        </p:txBody>
      </p:sp>
      <p:sp>
        <p:nvSpPr>
          <p:cNvPr id="4" name="Footer Placeholder 3">
            <a:extLst>
              <a:ext uri="{FF2B5EF4-FFF2-40B4-BE49-F238E27FC236}">
                <a16:creationId xmlns:a16="http://schemas.microsoft.com/office/drawing/2014/main" id="{F1D3E09A-9F6A-9D4E-BFEB-1C542EE2BF90}"/>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072F2F7E-8800-0442-8459-4DDE31A94E3D}"/>
              </a:ext>
            </a:extLst>
          </p:cNvPr>
          <p:cNvSpPr>
            <a:spLocks noGrp="1"/>
          </p:cNvSpPr>
          <p:nvPr>
            <p:ph type="sldNum" sz="quarter" idx="12"/>
          </p:nvPr>
        </p:nvSpPr>
        <p:spPr/>
        <p:txBody>
          <a:bodyPr/>
          <a:lstStyle/>
          <a:p>
            <a:fld id="{53C7D256-7CB4-8D4B-B359-120D79D46DFF}" type="slidenum">
              <a:rPr lang="en-US" smtClean="0"/>
              <a:t>113</a:t>
            </a:fld>
            <a:endParaRPr lang="en-US"/>
          </a:p>
        </p:txBody>
      </p:sp>
    </p:spTree>
    <p:extLst>
      <p:ext uri="{BB962C8B-B14F-4D97-AF65-F5344CB8AC3E}">
        <p14:creationId xmlns:p14="http://schemas.microsoft.com/office/powerpoint/2010/main" val="5894747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198B2B-0876-4249-9512-6ABD3413DE41}"/>
              </a:ext>
            </a:extLst>
          </p:cNvPr>
          <p:cNvSpPr/>
          <p:nvPr/>
        </p:nvSpPr>
        <p:spPr>
          <a:xfrm>
            <a:off x="1018761" y="2833710"/>
            <a:ext cx="7106479" cy="1200329"/>
          </a:xfrm>
          <a:prstGeom prst="rect">
            <a:avLst/>
          </a:prstGeom>
          <a:ln w="19050">
            <a:solidFill>
              <a:srgbClr val="000000"/>
            </a:solidFill>
          </a:ln>
          <a:effectLst>
            <a:outerShdw blurRad="50800" dist="38100" dir="2700000" algn="tl" rotWithShape="0">
              <a:prstClr val="black">
                <a:alpha val="40000"/>
              </a:prstClr>
            </a:outerShdw>
          </a:effectLst>
        </p:spPr>
        <p:txBody>
          <a:bodyPr wrap="square">
            <a:spAutoFit/>
          </a:bodyPr>
          <a:lstStyle/>
          <a:p>
            <a:r>
              <a:rPr lang="en-GB" dirty="0"/>
              <a:t>development:</a:t>
            </a:r>
          </a:p>
          <a:p>
            <a:r>
              <a:rPr lang="en-GB" dirty="0"/>
              <a:t>  description: A Kafka broker for local development</a:t>
            </a:r>
          </a:p>
          <a:p>
            <a:r>
              <a:rPr lang="en-GB" dirty="0"/>
              <a:t>  </a:t>
            </a:r>
            <a:r>
              <a:rPr lang="en-GB" dirty="0" err="1"/>
              <a:t>url</a:t>
            </a:r>
            <a:r>
              <a:rPr lang="en-GB" dirty="0"/>
              <a:t>: localhost:9092</a:t>
            </a:r>
          </a:p>
          <a:p>
            <a:r>
              <a:rPr lang="en-GB" dirty="0"/>
              <a:t>  protocol: </a:t>
            </a:r>
            <a:r>
              <a:rPr lang="en-GB" dirty="0" err="1"/>
              <a:t>kafka</a:t>
            </a:r>
            <a:endParaRPr lang="en-GB" dirty="0"/>
          </a:p>
        </p:txBody>
      </p:sp>
      <p:sp>
        <p:nvSpPr>
          <p:cNvPr id="3" name="Google Shape;194;p29">
            <a:extLst>
              <a:ext uri="{FF2B5EF4-FFF2-40B4-BE49-F238E27FC236}">
                <a16:creationId xmlns:a16="http://schemas.microsoft.com/office/drawing/2014/main" id="{FE47BEA1-E716-174A-B7D3-9E39092F61CB}"/>
              </a:ext>
            </a:extLst>
          </p:cNvPr>
          <p:cNvSpPr txBox="1"/>
          <p:nvPr/>
        </p:nvSpPr>
        <p:spPr>
          <a:xfrm>
            <a:off x="0" y="857251"/>
            <a:ext cx="914400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Servers Object</a:t>
            </a:r>
            <a:endParaRPr dirty="0"/>
          </a:p>
        </p:txBody>
      </p:sp>
      <p:sp>
        <p:nvSpPr>
          <p:cNvPr id="4" name="Footer Placeholder 3">
            <a:extLst>
              <a:ext uri="{FF2B5EF4-FFF2-40B4-BE49-F238E27FC236}">
                <a16:creationId xmlns:a16="http://schemas.microsoft.com/office/drawing/2014/main" id="{22A85F45-4121-6B4A-8AAF-185F404BD31C}"/>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FB190390-559C-6045-85BF-B5D02D04AE92}"/>
              </a:ext>
            </a:extLst>
          </p:cNvPr>
          <p:cNvSpPr>
            <a:spLocks noGrp="1"/>
          </p:cNvSpPr>
          <p:nvPr>
            <p:ph type="sldNum" sz="quarter" idx="12"/>
          </p:nvPr>
        </p:nvSpPr>
        <p:spPr/>
        <p:txBody>
          <a:bodyPr/>
          <a:lstStyle/>
          <a:p>
            <a:fld id="{53C7D256-7CB4-8D4B-B359-120D79D46DFF}" type="slidenum">
              <a:rPr lang="en-US" smtClean="0"/>
              <a:t>114</a:t>
            </a:fld>
            <a:endParaRPr lang="en-US"/>
          </a:p>
        </p:txBody>
      </p:sp>
    </p:spTree>
    <p:extLst>
      <p:ext uri="{BB962C8B-B14F-4D97-AF65-F5344CB8AC3E}">
        <p14:creationId xmlns:p14="http://schemas.microsoft.com/office/powerpoint/2010/main" val="362373857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198B2B-0876-4249-9512-6ABD3413DE41}"/>
              </a:ext>
            </a:extLst>
          </p:cNvPr>
          <p:cNvSpPr/>
          <p:nvPr/>
        </p:nvSpPr>
        <p:spPr>
          <a:xfrm>
            <a:off x="558508" y="1776212"/>
            <a:ext cx="8229623" cy="3693319"/>
          </a:xfrm>
          <a:prstGeom prst="rect">
            <a:avLst/>
          </a:prstGeom>
          <a:ln w="19050">
            <a:solidFill>
              <a:srgbClr val="000000"/>
            </a:solidFill>
          </a:ln>
          <a:effectLst>
            <a:outerShdw blurRad="50800" dist="38100" dir="2700000" algn="tl" rotWithShape="0">
              <a:prstClr val="black">
                <a:alpha val="40000"/>
              </a:prstClr>
            </a:outerShdw>
          </a:effectLst>
        </p:spPr>
        <p:txBody>
          <a:bodyPr wrap="square">
            <a:spAutoFit/>
          </a:bodyPr>
          <a:lstStyle/>
          <a:p>
            <a:r>
              <a:rPr lang="en-GB" dirty="0"/>
              <a:t>greeting:</a:t>
            </a:r>
          </a:p>
          <a:p>
            <a:r>
              <a:rPr lang="en-GB" dirty="0"/>
              <a:t>  address: ‘</a:t>
            </a:r>
            <a:r>
              <a:rPr lang="en-GB" dirty="0" err="1"/>
              <a:t>goparamore.io.greeting</a:t>
            </a:r>
            <a:r>
              <a:rPr lang="en-GB" dirty="0"/>
              <a:t>’</a:t>
            </a:r>
          </a:p>
          <a:p>
            <a:r>
              <a:rPr lang="en-GB" dirty="0"/>
              <a:t>    summary: For sending greetings</a:t>
            </a:r>
          </a:p>
          <a:p>
            <a:r>
              <a:rPr lang="en-GB" dirty="0"/>
              <a:t>    description: This channel contains greeting messages </a:t>
            </a:r>
          </a:p>
          <a:p>
            <a:r>
              <a:rPr lang="en-GB" dirty="0"/>
              <a:t>    s</a:t>
            </a:r>
            <a:r>
              <a:rPr lang="en-GB" dirty="0">
                <a:latin typeface="Fira Code VF"/>
              </a:rPr>
              <a:t>ervers: </a:t>
            </a:r>
          </a:p>
          <a:p>
            <a:r>
              <a:rPr lang="en-GB" dirty="0">
                <a:latin typeface="Fira Code VF"/>
              </a:rPr>
              <a:t>       - $ref: '#/servers/development’</a:t>
            </a:r>
          </a:p>
          <a:p>
            <a:r>
              <a:rPr lang="en-GB" dirty="0"/>
              <a:t>    messages:</a:t>
            </a:r>
          </a:p>
          <a:p>
            <a:r>
              <a:rPr lang="en-GB" dirty="0"/>
              <a:t>          greeting:  </a:t>
            </a:r>
          </a:p>
          <a:p>
            <a:r>
              <a:rPr lang="en-GB" dirty="0"/>
              <a:t>             $ref: "#/components/messages/greeting”</a:t>
            </a:r>
          </a:p>
          <a:p>
            <a:r>
              <a:rPr lang="en-GB" dirty="0">
                <a:latin typeface="Fira Code VF"/>
              </a:rPr>
              <a:t>    bindings:</a:t>
            </a:r>
          </a:p>
          <a:p>
            <a:r>
              <a:rPr lang="en-GB" dirty="0">
                <a:latin typeface="Fira Code VF"/>
              </a:rPr>
              <a:t>        </a:t>
            </a:r>
            <a:r>
              <a:rPr lang="en-GB" dirty="0" err="1"/>
              <a:t>kafka</a:t>
            </a:r>
            <a:r>
              <a:rPr lang="en-GB" dirty="0"/>
              <a:t>: </a:t>
            </a:r>
          </a:p>
          <a:p>
            <a:r>
              <a:rPr lang="en-GB" dirty="0"/>
              <a:t>            partitions: 20 </a:t>
            </a:r>
          </a:p>
          <a:p>
            <a:r>
              <a:rPr lang="en-GB" dirty="0"/>
              <a:t>            replicas: 3 </a:t>
            </a:r>
          </a:p>
        </p:txBody>
      </p:sp>
      <p:sp>
        <p:nvSpPr>
          <p:cNvPr id="3" name="Google Shape;194;p29">
            <a:extLst>
              <a:ext uri="{FF2B5EF4-FFF2-40B4-BE49-F238E27FC236}">
                <a16:creationId xmlns:a16="http://schemas.microsoft.com/office/drawing/2014/main" id="{FE47BEA1-E716-174A-B7D3-9E39092F61CB}"/>
              </a:ext>
            </a:extLst>
          </p:cNvPr>
          <p:cNvSpPr txBox="1"/>
          <p:nvPr/>
        </p:nvSpPr>
        <p:spPr>
          <a:xfrm>
            <a:off x="-648" y="857251"/>
            <a:ext cx="9144648"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Channels (V3)</a:t>
            </a:r>
            <a:endParaRPr dirty="0"/>
          </a:p>
        </p:txBody>
      </p:sp>
      <p:sp>
        <p:nvSpPr>
          <p:cNvPr id="4" name="Footer Placeholder 3">
            <a:extLst>
              <a:ext uri="{FF2B5EF4-FFF2-40B4-BE49-F238E27FC236}">
                <a16:creationId xmlns:a16="http://schemas.microsoft.com/office/drawing/2014/main" id="{D45AA114-767C-EC47-8F2B-3B7922900C40}"/>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CF82CBB9-1A9E-CA4F-901C-BDD6A0603DC1}"/>
              </a:ext>
            </a:extLst>
          </p:cNvPr>
          <p:cNvSpPr>
            <a:spLocks noGrp="1"/>
          </p:cNvSpPr>
          <p:nvPr>
            <p:ph type="sldNum" sz="quarter" idx="12"/>
          </p:nvPr>
        </p:nvSpPr>
        <p:spPr/>
        <p:txBody>
          <a:bodyPr/>
          <a:lstStyle/>
          <a:p>
            <a:fld id="{53C7D256-7CB4-8D4B-B359-120D79D46DFF}" type="slidenum">
              <a:rPr lang="en-US" smtClean="0"/>
              <a:t>115</a:t>
            </a:fld>
            <a:endParaRPr lang="en-US"/>
          </a:p>
        </p:txBody>
      </p:sp>
    </p:spTree>
    <p:extLst>
      <p:ext uri="{BB962C8B-B14F-4D97-AF65-F5344CB8AC3E}">
        <p14:creationId xmlns:p14="http://schemas.microsoft.com/office/powerpoint/2010/main" val="8302765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198B2B-0876-4249-9512-6ABD3413DE41}"/>
              </a:ext>
            </a:extLst>
          </p:cNvPr>
          <p:cNvSpPr/>
          <p:nvPr/>
        </p:nvSpPr>
        <p:spPr>
          <a:xfrm>
            <a:off x="456865" y="1985296"/>
            <a:ext cx="8229623" cy="2862322"/>
          </a:xfrm>
          <a:prstGeom prst="rect">
            <a:avLst/>
          </a:prstGeom>
          <a:ln w="19050">
            <a:solidFill>
              <a:srgbClr val="000000"/>
            </a:solidFill>
          </a:ln>
          <a:effectLst>
            <a:outerShdw blurRad="50800" dist="38100" dir="2700000" algn="tl" rotWithShape="0">
              <a:prstClr val="black">
                <a:alpha val="40000"/>
              </a:prstClr>
            </a:outerShdw>
          </a:effectLst>
        </p:spPr>
        <p:txBody>
          <a:bodyPr wrap="square">
            <a:spAutoFit/>
          </a:bodyPr>
          <a:lstStyle/>
          <a:p>
            <a:r>
              <a:rPr lang="en-GB" dirty="0" err="1"/>
              <a:t>sendGreeting</a:t>
            </a:r>
            <a:r>
              <a:rPr lang="en-GB" dirty="0"/>
              <a:t> :</a:t>
            </a:r>
          </a:p>
          <a:p>
            <a:r>
              <a:rPr lang="en-GB" dirty="0"/>
              <a:t>    action: send</a:t>
            </a:r>
          </a:p>
          <a:p>
            <a:r>
              <a:rPr lang="en-GB" dirty="0"/>
              <a:t>    summary: sends a greeting</a:t>
            </a:r>
          </a:p>
          <a:p>
            <a:r>
              <a:rPr lang="en-GB" dirty="0"/>
              <a:t>    description: The application sends a greeting to a consumer.</a:t>
            </a:r>
          </a:p>
          <a:p>
            <a:r>
              <a:rPr lang="en-GB" dirty="0"/>
              <a:t>    channel:</a:t>
            </a:r>
          </a:p>
          <a:p>
            <a:r>
              <a:rPr lang="en-GB" dirty="0"/>
              <a:t>      $ref: "#/channels/greeting”</a:t>
            </a:r>
          </a:p>
          <a:p>
            <a:r>
              <a:rPr lang="en-GB" dirty="0"/>
              <a:t>    </a:t>
            </a:r>
            <a:r>
              <a:rPr lang="en-GB" dirty="0">
                <a:latin typeface="Fira Code VF"/>
              </a:rPr>
              <a:t>bindings:</a:t>
            </a:r>
          </a:p>
          <a:p>
            <a:r>
              <a:rPr lang="en-GB" dirty="0">
                <a:latin typeface="Fira Code VF"/>
              </a:rPr>
              <a:t>        </a:t>
            </a:r>
            <a:r>
              <a:rPr lang="en-GB" dirty="0" err="1"/>
              <a:t>kafka</a:t>
            </a:r>
            <a:r>
              <a:rPr lang="en-GB" dirty="0"/>
              <a:t>: </a:t>
            </a:r>
          </a:p>
          <a:p>
            <a:r>
              <a:rPr lang="en-GB" dirty="0"/>
              <a:t>            partitions: 20 </a:t>
            </a:r>
          </a:p>
          <a:p>
            <a:r>
              <a:rPr lang="en-GB" dirty="0"/>
              <a:t>            replicas: 3</a:t>
            </a:r>
          </a:p>
        </p:txBody>
      </p:sp>
      <p:sp>
        <p:nvSpPr>
          <p:cNvPr id="3" name="Google Shape;194;p29">
            <a:extLst>
              <a:ext uri="{FF2B5EF4-FFF2-40B4-BE49-F238E27FC236}">
                <a16:creationId xmlns:a16="http://schemas.microsoft.com/office/drawing/2014/main" id="{FE47BEA1-E716-174A-B7D3-9E39092F61CB}"/>
              </a:ext>
            </a:extLst>
          </p:cNvPr>
          <p:cNvSpPr txBox="1"/>
          <p:nvPr/>
        </p:nvSpPr>
        <p:spPr>
          <a:xfrm>
            <a:off x="-648" y="857251"/>
            <a:ext cx="9144648"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Operations (V3)</a:t>
            </a:r>
            <a:endParaRPr dirty="0"/>
          </a:p>
        </p:txBody>
      </p:sp>
      <p:sp>
        <p:nvSpPr>
          <p:cNvPr id="4" name="Footer Placeholder 3">
            <a:extLst>
              <a:ext uri="{FF2B5EF4-FFF2-40B4-BE49-F238E27FC236}">
                <a16:creationId xmlns:a16="http://schemas.microsoft.com/office/drawing/2014/main" id="{D45AA114-767C-EC47-8F2B-3B7922900C40}"/>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CF82CBB9-1A9E-CA4F-901C-BDD6A0603DC1}"/>
              </a:ext>
            </a:extLst>
          </p:cNvPr>
          <p:cNvSpPr>
            <a:spLocks noGrp="1"/>
          </p:cNvSpPr>
          <p:nvPr>
            <p:ph type="sldNum" sz="quarter" idx="12"/>
          </p:nvPr>
        </p:nvSpPr>
        <p:spPr/>
        <p:txBody>
          <a:bodyPr/>
          <a:lstStyle/>
          <a:p>
            <a:fld id="{53C7D256-7CB4-8D4B-B359-120D79D46DFF}" type="slidenum">
              <a:rPr lang="en-US" smtClean="0"/>
              <a:t>116</a:t>
            </a:fld>
            <a:endParaRPr lang="en-US"/>
          </a:p>
        </p:txBody>
      </p:sp>
    </p:spTree>
    <p:extLst>
      <p:ext uri="{BB962C8B-B14F-4D97-AF65-F5344CB8AC3E}">
        <p14:creationId xmlns:p14="http://schemas.microsoft.com/office/powerpoint/2010/main" val="39155096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198B2B-0876-4249-9512-6ABD3413DE41}"/>
              </a:ext>
            </a:extLst>
          </p:cNvPr>
          <p:cNvSpPr/>
          <p:nvPr/>
        </p:nvSpPr>
        <p:spPr>
          <a:xfrm>
            <a:off x="357786" y="1605715"/>
            <a:ext cx="8229623" cy="4247317"/>
          </a:xfrm>
          <a:prstGeom prst="rect">
            <a:avLst/>
          </a:prstGeom>
          <a:ln w="19050">
            <a:solidFill>
              <a:srgbClr val="000000"/>
            </a:solidFill>
          </a:ln>
          <a:effectLst>
            <a:outerShdw blurRad="50800" dist="38100" dir="2700000" algn="tl" rotWithShape="0">
              <a:prstClr val="black">
                <a:alpha val="40000"/>
              </a:prstClr>
            </a:outerShdw>
          </a:effectLst>
        </p:spPr>
        <p:txBody>
          <a:bodyPr wrap="square">
            <a:spAutoFit/>
          </a:bodyPr>
          <a:lstStyle/>
          <a:p>
            <a:r>
              <a:rPr lang="en-GB" sz="1350" dirty="0"/>
              <a:t>components:</a:t>
            </a:r>
          </a:p>
          <a:p>
            <a:r>
              <a:rPr lang="en-GB" sz="1350" dirty="0"/>
              <a:t>  messages:</a:t>
            </a:r>
          </a:p>
          <a:p>
            <a:r>
              <a:rPr lang="en-GB" sz="1350" dirty="0"/>
              <a:t>    greeting:</a:t>
            </a:r>
          </a:p>
          <a:p>
            <a:r>
              <a:rPr lang="en-GB" sz="1350" dirty="0"/>
              <a:t>      name: greeting</a:t>
            </a:r>
          </a:p>
          <a:p>
            <a:r>
              <a:rPr lang="en-GB" sz="1350" dirty="0"/>
              <a:t>      title: A salutation</a:t>
            </a:r>
          </a:p>
          <a:p>
            <a:r>
              <a:rPr lang="en-GB" sz="1350" dirty="0"/>
              <a:t>      summary: This is how we send you a salutation</a:t>
            </a:r>
          </a:p>
          <a:p>
            <a:r>
              <a:rPr lang="en-GB" sz="1350" dirty="0"/>
              <a:t>      </a:t>
            </a:r>
            <a:r>
              <a:rPr lang="en-GB" sz="1350" dirty="0" err="1"/>
              <a:t>contentType</a:t>
            </a:r>
            <a:r>
              <a:rPr lang="en-GB" sz="1350" dirty="0"/>
              <a:t>: application/json</a:t>
            </a:r>
          </a:p>
          <a:p>
            <a:r>
              <a:rPr lang="en-GB" sz="1350" dirty="0"/>
              <a:t>      traits:</a:t>
            </a:r>
          </a:p>
          <a:p>
            <a:r>
              <a:rPr lang="en-GB" sz="1350" dirty="0"/>
              <a:t>        - $ref: '#/components/</a:t>
            </a:r>
            <a:r>
              <a:rPr lang="en-GB" sz="1350" dirty="0" err="1"/>
              <a:t>messageTraits</a:t>
            </a:r>
            <a:r>
              <a:rPr lang="en-GB" sz="1350" dirty="0"/>
              <a:t>/</a:t>
            </a:r>
            <a:r>
              <a:rPr lang="en-GB" sz="1350" dirty="0" err="1"/>
              <a:t>commonHeaders</a:t>
            </a:r>
            <a:r>
              <a:rPr lang="en-GB" sz="1350" dirty="0"/>
              <a:t>'</a:t>
            </a:r>
          </a:p>
          <a:p>
            <a:r>
              <a:rPr lang="en-GB" sz="1350" dirty="0"/>
              <a:t>      payload:</a:t>
            </a:r>
          </a:p>
          <a:p>
            <a:r>
              <a:rPr lang="en-GB" sz="1350" dirty="0"/>
              <a:t>        $ref: "#/components/schemas/</a:t>
            </a:r>
            <a:r>
              <a:rPr lang="en-GB" sz="1350" dirty="0" err="1"/>
              <a:t>greetingContent</a:t>
            </a:r>
            <a:r>
              <a:rPr lang="en-GB" sz="1350" dirty="0"/>
              <a:t>"</a:t>
            </a:r>
          </a:p>
          <a:p>
            <a:endParaRPr lang="en-GB" sz="1350" dirty="0"/>
          </a:p>
          <a:p>
            <a:r>
              <a:rPr lang="en-GB" sz="1350" dirty="0"/>
              <a:t>  schemas:</a:t>
            </a:r>
          </a:p>
          <a:p>
            <a:r>
              <a:rPr lang="en-GB" sz="1350" dirty="0"/>
              <a:t>    </a:t>
            </a:r>
            <a:r>
              <a:rPr lang="en-GB" sz="1350" dirty="0" err="1"/>
              <a:t>greetingContent</a:t>
            </a:r>
            <a:r>
              <a:rPr lang="en-GB" sz="1350" dirty="0"/>
              <a:t>:</a:t>
            </a:r>
          </a:p>
          <a:p>
            <a:r>
              <a:rPr lang="en-GB" sz="1350" dirty="0"/>
              <a:t>      type: object</a:t>
            </a:r>
          </a:p>
          <a:p>
            <a:r>
              <a:rPr lang="en-GB" sz="1350" dirty="0"/>
              <a:t>      properties:</a:t>
            </a:r>
          </a:p>
          <a:p>
            <a:r>
              <a:rPr lang="en-GB" sz="1350" dirty="0"/>
              <a:t>        greeting: </a:t>
            </a:r>
          </a:p>
          <a:p>
            <a:r>
              <a:rPr lang="en-GB" sz="1350" dirty="0"/>
              <a:t>          type: string</a:t>
            </a:r>
          </a:p>
          <a:p>
            <a:r>
              <a:rPr lang="en-GB" sz="1350" dirty="0"/>
              <a:t>          description: The salutation you want to send</a:t>
            </a:r>
          </a:p>
          <a:p>
            <a:r>
              <a:rPr lang="en-GB" sz="1350" dirty="0"/>
              <a:t> … 	</a:t>
            </a:r>
          </a:p>
        </p:txBody>
      </p:sp>
      <p:sp>
        <p:nvSpPr>
          <p:cNvPr id="3" name="Google Shape;194;p29">
            <a:extLst>
              <a:ext uri="{FF2B5EF4-FFF2-40B4-BE49-F238E27FC236}">
                <a16:creationId xmlns:a16="http://schemas.microsoft.com/office/drawing/2014/main" id="{FE47BEA1-E716-174A-B7D3-9E39092F61CB}"/>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Components</a:t>
            </a:r>
            <a:endParaRPr dirty="0"/>
          </a:p>
        </p:txBody>
      </p:sp>
      <p:sp>
        <p:nvSpPr>
          <p:cNvPr id="4" name="Footer Placeholder 3">
            <a:extLst>
              <a:ext uri="{FF2B5EF4-FFF2-40B4-BE49-F238E27FC236}">
                <a16:creationId xmlns:a16="http://schemas.microsoft.com/office/drawing/2014/main" id="{8D82804F-3A0B-E94A-891B-0E312799BBE7}"/>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6906BA5D-03C3-0247-ABA5-B3E3704601F5}"/>
              </a:ext>
            </a:extLst>
          </p:cNvPr>
          <p:cNvSpPr>
            <a:spLocks noGrp="1"/>
          </p:cNvSpPr>
          <p:nvPr>
            <p:ph type="sldNum" sz="quarter" idx="12"/>
          </p:nvPr>
        </p:nvSpPr>
        <p:spPr/>
        <p:txBody>
          <a:bodyPr/>
          <a:lstStyle/>
          <a:p>
            <a:fld id="{53C7D256-7CB4-8D4B-B359-120D79D46DFF}" type="slidenum">
              <a:rPr lang="en-US" smtClean="0"/>
              <a:t>117</a:t>
            </a:fld>
            <a:endParaRPr lang="en-US"/>
          </a:p>
        </p:txBody>
      </p:sp>
    </p:spTree>
    <p:extLst>
      <p:ext uri="{BB962C8B-B14F-4D97-AF65-F5344CB8AC3E}">
        <p14:creationId xmlns:p14="http://schemas.microsoft.com/office/powerpoint/2010/main" val="159339673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1C177F-69E4-75AB-5D1F-C75547202EFE}"/>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13853FBB-B97A-170A-F090-AB5A86EEEFCE}"/>
              </a:ext>
            </a:extLst>
          </p:cNvPr>
          <p:cNvSpPr>
            <a:spLocks noGrp="1"/>
          </p:cNvSpPr>
          <p:nvPr>
            <p:ph type="sldNum" sz="quarter" idx="12"/>
          </p:nvPr>
        </p:nvSpPr>
        <p:spPr/>
        <p:txBody>
          <a:bodyPr/>
          <a:lstStyle/>
          <a:p>
            <a:fld id="{53C7D256-7CB4-8D4B-B359-120D79D46DFF}" type="slidenum">
              <a:rPr lang="en-US" smtClean="0"/>
              <a:t>118</a:t>
            </a:fld>
            <a:endParaRPr lang="en-US"/>
          </a:p>
        </p:txBody>
      </p:sp>
      <p:sp>
        <p:nvSpPr>
          <p:cNvPr id="6" name="Google Shape;194;p29">
            <a:extLst>
              <a:ext uri="{FF2B5EF4-FFF2-40B4-BE49-F238E27FC236}">
                <a16:creationId xmlns:a16="http://schemas.microsoft.com/office/drawing/2014/main" id="{30454BB9-FBCB-6FA1-2AE8-EE22709C0F25}"/>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JSON Schema (</a:t>
            </a:r>
            <a:r>
              <a:rPr lang="en" dirty="0" err="1"/>
              <a:t>AsyncAPI</a:t>
            </a:r>
            <a:r>
              <a:rPr lang="en" dirty="0"/>
              <a:t> Schema Object)</a:t>
            </a:r>
            <a:endParaRPr dirty="0"/>
          </a:p>
        </p:txBody>
      </p:sp>
      <p:sp>
        <p:nvSpPr>
          <p:cNvPr id="12" name="TextBox 11">
            <a:extLst>
              <a:ext uri="{FF2B5EF4-FFF2-40B4-BE49-F238E27FC236}">
                <a16:creationId xmlns:a16="http://schemas.microsoft.com/office/drawing/2014/main" id="{D8DF8685-6CE5-3D37-5D7D-EC6C78C5E371}"/>
              </a:ext>
            </a:extLst>
          </p:cNvPr>
          <p:cNvSpPr txBox="1"/>
          <p:nvPr/>
        </p:nvSpPr>
        <p:spPr>
          <a:xfrm>
            <a:off x="611710" y="2264723"/>
            <a:ext cx="1820258" cy="300082"/>
          </a:xfrm>
          <a:prstGeom prst="rect">
            <a:avLst/>
          </a:prstGeom>
          <a:noFill/>
          <a:ln w="25400">
            <a:solidFill>
              <a:schemeClr val="dk2"/>
            </a:solidFill>
          </a:ln>
        </p:spPr>
        <p:txBody>
          <a:bodyPr wrap="square" rtlCol="0">
            <a:spAutoFit/>
          </a:bodyPr>
          <a:lstStyle/>
          <a:p>
            <a:r>
              <a:rPr lang="en-US" sz="1350" b="1" dirty="0"/>
              <a:t>$schema</a:t>
            </a:r>
          </a:p>
        </p:txBody>
      </p:sp>
      <p:sp>
        <p:nvSpPr>
          <p:cNvPr id="13" name="TextBox 12">
            <a:extLst>
              <a:ext uri="{FF2B5EF4-FFF2-40B4-BE49-F238E27FC236}">
                <a16:creationId xmlns:a16="http://schemas.microsoft.com/office/drawing/2014/main" id="{E0D38424-D941-1195-3865-7A2ED5668E2F}"/>
              </a:ext>
            </a:extLst>
          </p:cNvPr>
          <p:cNvSpPr txBox="1"/>
          <p:nvPr/>
        </p:nvSpPr>
        <p:spPr>
          <a:xfrm>
            <a:off x="611710" y="2671366"/>
            <a:ext cx="1820258" cy="300082"/>
          </a:xfrm>
          <a:prstGeom prst="rect">
            <a:avLst/>
          </a:prstGeom>
          <a:noFill/>
          <a:ln w="25400">
            <a:solidFill>
              <a:schemeClr val="dk2"/>
            </a:solidFill>
          </a:ln>
        </p:spPr>
        <p:txBody>
          <a:bodyPr wrap="square" rtlCol="0">
            <a:spAutoFit/>
          </a:bodyPr>
          <a:lstStyle/>
          <a:p>
            <a:r>
              <a:rPr lang="en-US" sz="1350" b="1" dirty="0"/>
              <a:t>$id</a:t>
            </a:r>
          </a:p>
        </p:txBody>
      </p:sp>
      <p:sp>
        <p:nvSpPr>
          <p:cNvPr id="14" name="TextBox 13">
            <a:extLst>
              <a:ext uri="{FF2B5EF4-FFF2-40B4-BE49-F238E27FC236}">
                <a16:creationId xmlns:a16="http://schemas.microsoft.com/office/drawing/2014/main" id="{B5A07D61-4460-EFCF-E9CE-E52FDAE46426}"/>
              </a:ext>
            </a:extLst>
          </p:cNvPr>
          <p:cNvSpPr txBox="1"/>
          <p:nvPr/>
        </p:nvSpPr>
        <p:spPr>
          <a:xfrm>
            <a:off x="611710" y="3108177"/>
            <a:ext cx="1820258" cy="300082"/>
          </a:xfrm>
          <a:prstGeom prst="rect">
            <a:avLst/>
          </a:prstGeom>
          <a:noFill/>
          <a:ln w="25400">
            <a:solidFill>
              <a:schemeClr val="dk2"/>
            </a:solidFill>
          </a:ln>
        </p:spPr>
        <p:txBody>
          <a:bodyPr wrap="square" rtlCol="0">
            <a:spAutoFit/>
          </a:bodyPr>
          <a:lstStyle/>
          <a:p>
            <a:r>
              <a:rPr lang="en-US" sz="1350" b="1" dirty="0"/>
              <a:t>title</a:t>
            </a:r>
          </a:p>
        </p:txBody>
      </p:sp>
      <p:sp>
        <p:nvSpPr>
          <p:cNvPr id="15" name="TextBox 14">
            <a:extLst>
              <a:ext uri="{FF2B5EF4-FFF2-40B4-BE49-F238E27FC236}">
                <a16:creationId xmlns:a16="http://schemas.microsoft.com/office/drawing/2014/main" id="{0DBDF9B0-250A-8550-1DA8-30D15BEC68FC}"/>
              </a:ext>
            </a:extLst>
          </p:cNvPr>
          <p:cNvSpPr txBox="1"/>
          <p:nvPr/>
        </p:nvSpPr>
        <p:spPr>
          <a:xfrm>
            <a:off x="611710" y="3544987"/>
            <a:ext cx="1820258" cy="300082"/>
          </a:xfrm>
          <a:prstGeom prst="rect">
            <a:avLst/>
          </a:prstGeom>
          <a:noFill/>
          <a:ln w="25400">
            <a:solidFill>
              <a:schemeClr val="dk2"/>
            </a:solidFill>
          </a:ln>
        </p:spPr>
        <p:txBody>
          <a:bodyPr wrap="square" rtlCol="0">
            <a:spAutoFit/>
          </a:bodyPr>
          <a:lstStyle/>
          <a:p>
            <a:r>
              <a:rPr lang="en-US" sz="1350" b="1" dirty="0"/>
              <a:t>description</a:t>
            </a:r>
          </a:p>
        </p:txBody>
      </p:sp>
      <p:sp>
        <p:nvSpPr>
          <p:cNvPr id="16" name="TextBox 15">
            <a:extLst>
              <a:ext uri="{FF2B5EF4-FFF2-40B4-BE49-F238E27FC236}">
                <a16:creationId xmlns:a16="http://schemas.microsoft.com/office/drawing/2014/main" id="{19B5AC84-A0E4-0DED-2877-F63FB4F63449}"/>
              </a:ext>
            </a:extLst>
          </p:cNvPr>
          <p:cNvSpPr txBox="1"/>
          <p:nvPr/>
        </p:nvSpPr>
        <p:spPr>
          <a:xfrm>
            <a:off x="611710" y="3981798"/>
            <a:ext cx="1820258" cy="300082"/>
          </a:xfrm>
          <a:prstGeom prst="rect">
            <a:avLst/>
          </a:prstGeom>
          <a:noFill/>
          <a:ln w="25400">
            <a:solidFill>
              <a:schemeClr val="dk2"/>
            </a:solidFill>
          </a:ln>
        </p:spPr>
        <p:txBody>
          <a:bodyPr wrap="square" rtlCol="0">
            <a:spAutoFit/>
          </a:bodyPr>
          <a:lstStyle/>
          <a:p>
            <a:r>
              <a:rPr lang="en-US" sz="1350" b="1" dirty="0"/>
              <a:t>type</a:t>
            </a:r>
          </a:p>
        </p:txBody>
      </p:sp>
      <p:sp>
        <p:nvSpPr>
          <p:cNvPr id="17" name="TextBox 16">
            <a:extLst>
              <a:ext uri="{FF2B5EF4-FFF2-40B4-BE49-F238E27FC236}">
                <a16:creationId xmlns:a16="http://schemas.microsoft.com/office/drawing/2014/main" id="{EBBCE1DD-47AA-E8B1-32B5-0D73F97B5696}"/>
              </a:ext>
            </a:extLst>
          </p:cNvPr>
          <p:cNvSpPr txBox="1"/>
          <p:nvPr/>
        </p:nvSpPr>
        <p:spPr>
          <a:xfrm>
            <a:off x="611710" y="4451228"/>
            <a:ext cx="1820258" cy="300082"/>
          </a:xfrm>
          <a:prstGeom prst="rect">
            <a:avLst/>
          </a:prstGeom>
          <a:noFill/>
          <a:ln w="25400">
            <a:solidFill>
              <a:schemeClr val="dk2"/>
            </a:solidFill>
          </a:ln>
        </p:spPr>
        <p:txBody>
          <a:bodyPr wrap="square" rtlCol="0">
            <a:spAutoFit/>
          </a:bodyPr>
          <a:lstStyle/>
          <a:p>
            <a:r>
              <a:rPr lang="en-US" sz="1350" b="1" dirty="0"/>
              <a:t>properties</a:t>
            </a:r>
          </a:p>
        </p:txBody>
      </p:sp>
      <p:sp>
        <p:nvSpPr>
          <p:cNvPr id="18" name="TextBox 17">
            <a:extLst>
              <a:ext uri="{FF2B5EF4-FFF2-40B4-BE49-F238E27FC236}">
                <a16:creationId xmlns:a16="http://schemas.microsoft.com/office/drawing/2014/main" id="{30AFF214-C39F-163A-2636-2327CB2C1C0A}"/>
              </a:ext>
            </a:extLst>
          </p:cNvPr>
          <p:cNvSpPr txBox="1"/>
          <p:nvPr/>
        </p:nvSpPr>
        <p:spPr>
          <a:xfrm>
            <a:off x="4031166" y="2264723"/>
            <a:ext cx="4800600" cy="2793072"/>
          </a:xfrm>
          <a:prstGeom prst="rect">
            <a:avLst/>
          </a:prstGeom>
          <a:noFill/>
          <a:ln w="25400">
            <a:solidFill>
              <a:schemeClr val="dk2"/>
            </a:solidFill>
          </a:ln>
        </p:spPr>
        <p:txBody>
          <a:bodyPr wrap="square" rtlCol="0">
            <a:spAutoFit/>
          </a:bodyPr>
          <a:lstStyle/>
          <a:p>
            <a:r>
              <a:rPr lang="en-US" sz="1350" b="1" dirty="0"/>
              <a:t>{</a:t>
            </a:r>
          </a:p>
          <a:p>
            <a:r>
              <a:rPr lang="en-US" sz="1350" b="1" dirty="0"/>
              <a:t>   ”$schema” : </a:t>
            </a:r>
            <a:r>
              <a:rPr lang="en-GB" sz="1350" dirty="0"/>
              <a:t>"https://</a:t>
            </a:r>
            <a:r>
              <a:rPr lang="en-GB" sz="1350" dirty="0" err="1"/>
              <a:t>json-schema.org</a:t>
            </a:r>
            <a:r>
              <a:rPr lang="en-GB" sz="1350" dirty="0"/>
              <a:t>/draft/2020-12/schema",</a:t>
            </a:r>
          </a:p>
          <a:p>
            <a:r>
              <a:rPr lang="en-GB" sz="1350" b="1" dirty="0"/>
              <a:t>   “$id” : “</a:t>
            </a:r>
            <a:r>
              <a:rPr lang="en-GB" sz="1350" dirty="0"/>
              <a:t>https://</a:t>
            </a:r>
            <a:r>
              <a:rPr lang="en-GB" sz="1350" dirty="0" err="1"/>
              <a:t>goparamore.io</a:t>
            </a:r>
            <a:r>
              <a:rPr lang="en-GB" sz="1350" dirty="0"/>
              <a:t>/</a:t>
            </a:r>
            <a:r>
              <a:rPr lang="en-GB" sz="1350" dirty="0" err="1"/>
              <a:t>greeting.schema.json</a:t>
            </a:r>
            <a:r>
              <a:rPr lang="en-GB" sz="1350" b="1" dirty="0"/>
              <a:t>”,</a:t>
            </a:r>
          </a:p>
          <a:p>
            <a:r>
              <a:rPr lang="en-GB" sz="1350" b="1" dirty="0"/>
              <a:t>   “title” : </a:t>
            </a:r>
            <a:r>
              <a:rPr lang="en-GB" sz="1350" dirty="0"/>
              <a:t>“greeting”,</a:t>
            </a:r>
          </a:p>
          <a:p>
            <a:r>
              <a:rPr lang="en-GB" sz="1350" b="1" dirty="0"/>
              <a:t>   “description” : </a:t>
            </a:r>
            <a:r>
              <a:rPr lang="en-GB" sz="1350" dirty="0"/>
              <a:t>“A greeting message”,</a:t>
            </a:r>
          </a:p>
          <a:p>
            <a:r>
              <a:rPr lang="en-GB" sz="1350" b="1" dirty="0"/>
              <a:t>   “type” : </a:t>
            </a:r>
            <a:r>
              <a:rPr lang="en-GB" sz="1350" dirty="0"/>
              <a:t>“object”,</a:t>
            </a:r>
          </a:p>
          <a:p>
            <a:r>
              <a:rPr lang="en-GB" sz="1350" b="1" dirty="0"/>
              <a:t>   “properties” : </a:t>
            </a:r>
            <a:r>
              <a:rPr lang="en-GB" sz="1350" dirty="0"/>
              <a:t>{</a:t>
            </a:r>
          </a:p>
          <a:p>
            <a:r>
              <a:rPr lang="en-GB" sz="1350" dirty="0"/>
              <a:t>        “greeting” : { </a:t>
            </a:r>
          </a:p>
          <a:p>
            <a:r>
              <a:rPr lang="en-GB" sz="1350" dirty="0"/>
              <a:t>            </a:t>
            </a:r>
            <a:r>
              <a:rPr lang="en-GB" sz="1350" b="1" dirty="0"/>
              <a:t>“description”</a:t>
            </a:r>
            <a:r>
              <a:rPr lang="en-GB" sz="1350" dirty="0"/>
              <a:t> : “the salutation”</a:t>
            </a:r>
          </a:p>
          <a:p>
            <a:r>
              <a:rPr lang="en-GB" sz="1350" dirty="0"/>
              <a:t>            </a:t>
            </a:r>
            <a:r>
              <a:rPr lang="en-GB" sz="1350" b="1" dirty="0"/>
              <a:t>“type”</a:t>
            </a:r>
            <a:r>
              <a:rPr lang="en-GB" sz="1350" dirty="0"/>
              <a:t> : string </a:t>
            </a:r>
          </a:p>
          <a:p>
            <a:r>
              <a:rPr lang="en-GB" sz="1350" dirty="0"/>
              <a:t>          }</a:t>
            </a:r>
          </a:p>
          <a:p>
            <a:r>
              <a:rPr lang="en-GB" sz="1350" b="1" dirty="0"/>
              <a:t>  }</a:t>
            </a:r>
            <a:endParaRPr lang="en-US" sz="1350" b="1" dirty="0"/>
          </a:p>
          <a:p>
            <a:r>
              <a:rPr lang="en-US" sz="1350" b="1" dirty="0"/>
              <a:t>}</a:t>
            </a:r>
          </a:p>
        </p:txBody>
      </p:sp>
    </p:spTree>
    <p:extLst>
      <p:ext uri="{BB962C8B-B14F-4D97-AF65-F5344CB8AC3E}">
        <p14:creationId xmlns:p14="http://schemas.microsoft.com/office/powerpoint/2010/main" val="2724114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1C177F-69E4-75AB-5D1F-C75547202EFE}"/>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13853FBB-B97A-170A-F090-AB5A86EEEFCE}"/>
              </a:ext>
            </a:extLst>
          </p:cNvPr>
          <p:cNvSpPr>
            <a:spLocks noGrp="1"/>
          </p:cNvSpPr>
          <p:nvPr>
            <p:ph type="sldNum" sz="quarter" idx="12"/>
          </p:nvPr>
        </p:nvSpPr>
        <p:spPr/>
        <p:txBody>
          <a:bodyPr/>
          <a:lstStyle/>
          <a:p>
            <a:fld id="{53C7D256-7CB4-8D4B-B359-120D79D46DFF}" type="slidenum">
              <a:rPr lang="en-US" smtClean="0"/>
              <a:t>119</a:t>
            </a:fld>
            <a:endParaRPr lang="en-US"/>
          </a:p>
        </p:txBody>
      </p:sp>
      <p:sp>
        <p:nvSpPr>
          <p:cNvPr id="6" name="Google Shape;194;p29">
            <a:extLst>
              <a:ext uri="{FF2B5EF4-FFF2-40B4-BE49-F238E27FC236}">
                <a16:creationId xmlns:a16="http://schemas.microsoft.com/office/drawing/2014/main" id="{30454BB9-FBCB-6FA1-2AE8-EE22709C0F25}"/>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Avro</a:t>
            </a:r>
            <a:endParaRPr dirty="0"/>
          </a:p>
        </p:txBody>
      </p:sp>
      <p:sp>
        <p:nvSpPr>
          <p:cNvPr id="10" name="TextBox 9">
            <a:extLst>
              <a:ext uri="{FF2B5EF4-FFF2-40B4-BE49-F238E27FC236}">
                <a16:creationId xmlns:a16="http://schemas.microsoft.com/office/drawing/2014/main" id="{8D1DE841-855D-B584-A7AC-052A2BF4E80E}"/>
              </a:ext>
            </a:extLst>
          </p:cNvPr>
          <p:cNvSpPr txBox="1"/>
          <p:nvPr/>
        </p:nvSpPr>
        <p:spPr>
          <a:xfrm>
            <a:off x="1841132" y="1817864"/>
            <a:ext cx="851888" cy="300082"/>
          </a:xfrm>
          <a:prstGeom prst="rect">
            <a:avLst/>
          </a:prstGeom>
          <a:noFill/>
          <a:ln w="25400">
            <a:solidFill>
              <a:schemeClr val="dk2"/>
            </a:solidFill>
          </a:ln>
        </p:spPr>
        <p:txBody>
          <a:bodyPr wrap="square" rtlCol="0">
            <a:spAutoFit/>
          </a:bodyPr>
          <a:lstStyle/>
          <a:p>
            <a:r>
              <a:rPr lang="en-US" sz="1350" b="1" dirty="0"/>
              <a:t>records</a:t>
            </a:r>
          </a:p>
        </p:txBody>
      </p:sp>
      <p:sp>
        <p:nvSpPr>
          <p:cNvPr id="11" name="TextBox 10">
            <a:extLst>
              <a:ext uri="{FF2B5EF4-FFF2-40B4-BE49-F238E27FC236}">
                <a16:creationId xmlns:a16="http://schemas.microsoft.com/office/drawing/2014/main" id="{D5DA221E-5BD3-B5DA-9AA5-EA107E8561CF}"/>
              </a:ext>
            </a:extLst>
          </p:cNvPr>
          <p:cNvSpPr txBox="1"/>
          <p:nvPr/>
        </p:nvSpPr>
        <p:spPr>
          <a:xfrm>
            <a:off x="292720" y="1809036"/>
            <a:ext cx="1283428" cy="300082"/>
          </a:xfrm>
          <a:prstGeom prst="rect">
            <a:avLst/>
          </a:prstGeom>
          <a:noFill/>
        </p:spPr>
        <p:txBody>
          <a:bodyPr wrap="none" rtlCol="0">
            <a:spAutoFit/>
          </a:bodyPr>
          <a:lstStyle/>
          <a:p>
            <a:r>
              <a:rPr lang="en-GB" sz="1350" dirty="0"/>
              <a:t>Complex Types:</a:t>
            </a:r>
          </a:p>
        </p:txBody>
      </p:sp>
      <p:sp>
        <p:nvSpPr>
          <p:cNvPr id="12" name="TextBox 11">
            <a:extLst>
              <a:ext uri="{FF2B5EF4-FFF2-40B4-BE49-F238E27FC236}">
                <a16:creationId xmlns:a16="http://schemas.microsoft.com/office/drawing/2014/main" id="{132F8832-4F69-1391-6190-5D47A2103769}"/>
              </a:ext>
            </a:extLst>
          </p:cNvPr>
          <p:cNvSpPr txBox="1"/>
          <p:nvPr/>
        </p:nvSpPr>
        <p:spPr>
          <a:xfrm>
            <a:off x="2867044" y="1828311"/>
            <a:ext cx="851888" cy="300082"/>
          </a:xfrm>
          <a:prstGeom prst="rect">
            <a:avLst/>
          </a:prstGeom>
          <a:noFill/>
          <a:ln w="25400">
            <a:solidFill>
              <a:schemeClr val="dk2"/>
            </a:solidFill>
          </a:ln>
        </p:spPr>
        <p:txBody>
          <a:bodyPr wrap="square" rtlCol="0">
            <a:spAutoFit/>
          </a:bodyPr>
          <a:lstStyle/>
          <a:p>
            <a:r>
              <a:rPr lang="en-US" sz="1350" b="1" dirty="0" err="1"/>
              <a:t>enums</a:t>
            </a:r>
            <a:endParaRPr lang="en-US" sz="1350" b="1" dirty="0"/>
          </a:p>
        </p:txBody>
      </p:sp>
      <p:sp>
        <p:nvSpPr>
          <p:cNvPr id="13" name="TextBox 12">
            <a:extLst>
              <a:ext uri="{FF2B5EF4-FFF2-40B4-BE49-F238E27FC236}">
                <a16:creationId xmlns:a16="http://schemas.microsoft.com/office/drawing/2014/main" id="{A8443F79-D1BF-0B3A-8334-495D90B06321}"/>
              </a:ext>
            </a:extLst>
          </p:cNvPr>
          <p:cNvSpPr txBox="1"/>
          <p:nvPr/>
        </p:nvSpPr>
        <p:spPr>
          <a:xfrm>
            <a:off x="3842890" y="1826227"/>
            <a:ext cx="851888" cy="300082"/>
          </a:xfrm>
          <a:prstGeom prst="rect">
            <a:avLst/>
          </a:prstGeom>
          <a:noFill/>
          <a:ln w="25400">
            <a:solidFill>
              <a:schemeClr val="dk2"/>
            </a:solidFill>
          </a:ln>
        </p:spPr>
        <p:txBody>
          <a:bodyPr wrap="square" rtlCol="0">
            <a:spAutoFit/>
          </a:bodyPr>
          <a:lstStyle/>
          <a:p>
            <a:r>
              <a:rPr lang="en-US" sz="1350" b="1" dirty="0"/>
              <a:t>arrays</a:t>
            </a:r>
          </a:p>
        </p:txBody>
      </p:sp>
      <p:sp>
        <p:nvSpPr>
          <p:cNvPr id="14" name="TextBox 13">
            <a:extLst>
              <a:ext uri="{FF2B5EF4-FFF2-40B4-BE49-F238E27FC236}">
                <a16:creationId xmlns:a16="http://schemas.microsoft.com/office/drawing/2014/main" id="{D13D0653-B304-E655-3055-60CC76EE3663}"/>
              </a:ext>
            </a:extLst>
          </p:cNvPr>
          <p:cNvSpPr txBox="1"/>
          <p:nvPr/>
        </p:nvSpPr>
        <p:spPr>
          <a:xfrm>
            <a:off x="4852075" y="1825762"/>
            <a:ext cx="851888" cy="300082"/>
          </a:xfrm>
          <a:prstGeom prst="rect">
            <a:avLst/>
          </a:prstGeom>
          <a:noFill/>
          <a:ln w="25400">
            <a:solidFill>
              <a:schemeClr val="dk2"/>
            </a:solidFill>
          </a:ln>
        </p:spPr>
        <p:txBody>
          <a:bodyPr wrap="square" rtlCol="0">
            <a:spAutoFit/>
          </a:bodyPr>
          <a:lstStyle/>
          <a:p>
            <a:r>
              <a:rPr lang="en-US" sz="1350" b="1" dirty="0"/>
              <a:t>maps</a:t>
            </a:r>
          </a:p>
        </p:txBody>
      </p:sp>
      <p:sp>
        <p:nvSpPr>
          <p:cNvPr id="15" name="TextBox 14">
            <a:extLst>
              <a:ext uri="{FF2B5EF4-FFF2-40B4-BE49-F238E27FC236}">
                <a16:creationId xmlns:a16="http://schemas.microsoft.com/office/drawing/2014/main" id="{607B71CD-2E57-A75A-6C9B-5D3502343228}"/>
              </a:ext>
            </a:extLst>
          </p:cNvPr>
          <p:cNvSpPr txBox="1"/>
          <p:nvPr/>
        </p:nvSpPr>
        <p:spPr>
          <a:xfrm>
            <a:off x="5861261" y="1825762"/>
            <a:ext cx="851888" cy="300082"/>
          </a:xfrm>
          <a:prstGeom prst="rect">
            <a:avLst/>
          </a:prstGeom>
          <a:noFill/>
          <a:ln w="25400">
            <a:solidFill>
              <a:schemeClr val="dk2"/>
            </a:solidFill>
          </a:ln>
        </p:spPr>
        <p:txBody>
          <a:bodyPr wrap="square" rtlCol="0">
            <a:spAutoFit/>
          </a:bodyPr>
          <a:lstStyle/>
          <a:p>
            <a:r>
              <a:rPr lang="en-US" sz="1350" b="1" dirty="0"/>
              <a:t>unions</a:t>
            </a:r>
          </a:p>
        </p:txBody>
      </p:sp>
      <p:sp>
        <p:nvSpPr>
          <p:cNvPr id="16" name="TextBox 15">
            <a:extLst>
              <a:ext uri="{FF2B5EF4-FFF2-40B4-BE49-F238E27FC236}">
                <a16:creationId xmlns:a16="http://schemas.microsoft.com/office/drawing/2014/main" id="{5333A87C-9ACD-503D-33F3-AA36826A0B37}"/>
              </a:ext>
            </a:extLst>
          </p:cNvPr>
          <p:cNvSpPr txBox="1"/>
          <p:nvPr/>
        </p:nvSpPr>
        <p:spPr>
          <a:xfrm>
            <a:off x="6876924" y="1825762"/>
            <a:ext cx="851888" cy="300082"/>
          </a:xfrm>
          <a:prstGeom prst="rect">
            <a:avLst/>
          </a:prstGeom>
          <a:noFill/>
          <a:ln w="25400">
            <a:solidFill>
              <a:schemeClr val="dk2"/>
            </a:solidFill>
          </a:ln>
        </p:spPr>
        <p:txBody>
          <a:bodyPr wrap="square" rtlCol="0">
            <a:spAutoFit/>
          </a:bodyPr>
          <a:lstStyle/>
          <a:p>
            <a:r>
              <a:rPr lang="en-US" sz="1350" b="1" dirty="0"/>
              <a:t>fixed</a:t>
            </a:r>
          </a:p>
        </p:txBody>
      </p:sp>
      <p:sp>
        <p:nvSpPr>
          <p:cNvPr id="17" name="TextBox 16">
            <a:extLst>
              <a:ext uri="{FF2B5EF4-FFF2-40B4-BE49-F238E27FC236}">
                <a16:creationId xmlns:a16="http://schemas.microsoft.com/office/drawing/2014/main" id="{0ABADA34-A4FB-ECB4-D18D-6496C477FB1C}"/>
              </a:ext>
            </a:extLst>
          </p:cNvPr>
          <p:cNvSpPr txBox="1"/>
          <p:nvPr/>
        </p:nvSpPr>
        <p:spPr>
          <a:xfrm>
            <a:off x="282725" y="2458594"/>
            <a:ext cx="790216" cy="300082"/>
          </a:xfrm>
          <a:prstGeom prst="rect">
            <a:avLst/>
          </a:prstGeom>
          <a:noFill/>
        </p:spPr>
        <p:txBody>
          <a:bodyPr wrap="none" rtlCol="0">
            <a:spAutoFit/>
          </a:bodyPr>
          <a:lstStyle/>
          <a:p>
            <a:r>
              <a:rPr lang="en-GB" sz="1350" dirty="0"/>
              <a:t>Records:</a:t>
            </a:r>
          </a:p>
        </p:txBody>
      </p:sp>
      <p:sp>
        <p:nvSpPr>
          <p:cNvPr id="18" name="TextBox 17">
            <a:extLst>
              <a:ext uri="{FF2B5EF4-FFF2-40B4-BE49-F238E27FC236}">
                <a16:creationId xmlns:a16="http://schemas.microsoft.com/office/drawing/2014/main" id="{991F4DC1-7E74-D7CD-F6A5-FDD72110557A}"/>
              </a:ext>
            </a:extLst>
          </p:cNvPr>
          <p:cNvSpPr txBox="1"/>
          <p:nvPr/>
        </p:nvSpPr>
        <p:spPr>
          <a:xfrm>
            <a:off x="1311449" y="2458594"/>
            <a:ext cx="851888" cy="300082"/>
          </a:xfrm>
          <a:prstGeom prst="rect">
            <a:avLst/>
          </a:prstGeom>
          <a:noFill/>
          <a:ln w="25400">
            <a:solidFill>
              <a:schemeClr val="dk2"/>
            </a:solidFill>
          </a:ln>
        </p:spPr>
        <p:txBody>
          <a:bodyPr wrap="square" rtlCol="0">
            <a:spAutoFit/>
          </a:bodyPr>
          <a:lstStyle/>
          <a:p>
            <a:r>
              <a:rPr lang="en-US" sz="1350" b="1" dirty="0"/>
              <a:t>name</a:t>
            </a:r>
          </a:p>
        </p:txBody>
      </p:sp>
      <p:sp>
        <p:nvSpPr>
          <p:cNvPr id="19" name="TextBox 18">
            <a:extLst>
              <a:ext uri="{FF2B5EF4-FFF2-40B4-BE49-F238E27FC236}">
                <a16:creationId xmlns:a16="http://schemas.microsoft.com/office/drawing/2014/main" id="{4A1CA2E5-57F4-5F9D-81C4-99596106AB45}"/>
              </a:ext>
            </a:extLst>
          </p:cNvPr>
          <p:cNvSpPr txBox="1"/>
          <p:nvPr/>
        </p:nvSpPr>
        <p:spPr>
          <a:xfrm>
            <a:off x="1311449" y="2960825"/>
            <a:ext cx="1037468" cy="300082"/>
          </a:xfrm>
          <a:prstGeom prst="rect">
            <a:avLst/>
          </a:prstGeom>
          <a:noFill/>
          <a:ln w="25400">
            <a:solidFill>
              <a:schemeClr val="dk2"/>
            </a:solidFill>
          </a:ln>
        </p:spPr>
        <p:txBody>
          <a:bodyPr wrap="square" rtlCol="0">
            <a:spAutoFit/>
          </a:bodyPr>
          <a:lstStyle/>
          <a:p>
            <a:r>
              <a:rPr lang="en-US" sz="1350" b="1" dirty="0"/>
              <a:t>namespace</a:t>
            </a:r>
          </a:p>
        </p:txBody>
      </p:sp>
      <p:sp>
        <p:nvSpPr>
          <p:cNvPr id="20" name="TextBox 19">
            <a:extLst>
              <a:ext uri="{FF2B5EF4-FFF2-40B4-BE49-F238E27FC236}">
                <a16:creationId xmlns:a16="http://schemas.microsoft.com/office/drawing/2014/main" id="{75848927-399D-CA88-6F68-524A1428A01C}"/>
              </a:ext>
            </a:extLst>
          </p:cNvPr>
          <p:cNvSpPr txBox="1"/>
          <p:nvPr/>
        </p:nvSpPr>
        <p:spPr>
          <a:xfrm>
            <a:off x="1311449" y="3429000"/>
            <a:ext cx="971763" cy="300082"/>
          </a:xfrm>
          <a:prstGeom prst="rect">
            <a:avLst/>
          </a:prstGeom>
          <a:noFill/>
          <a:ln w="25400">
            <a:solidFill>
              <a:schemeClr val="dk2"/>
            </a:solidFill>
          </a:ln>
        </p:spPr>
        <p:txBody>
          <a:bodyPr wrap="square" rtlCol="0">
            <a:spAutoFit/>
          </a:bodyPr>
          <a:lstStyle/>
          <a:p>
            <a:r>
              <a:rPr lang="en-US" sz="1350" b="1" dirty="0"/>
              <a:t>doc</a:t>
            </a:r>
          </a:p>
        </p:txBody>
      </p:sp>
      <p:sp>
        <p:nvSpPr>
          <p:cNvPr id="21" name="TextBox 20">
            <a:extLst>
              <a:ext uri="{FF2B5EF4-FFF2-40B4-BE49-F238E27FC236}">
                <a16:creationId xmlns:a16="http://schemas.microsoft.com/office/drawing/2014/main" id="{68F4FD0F-92C1-FABC-9414-2AFCFE08E7E1}"/>
              </a:ext>
            </a:extLst>
          </p:cNvPr>
          <p:cNvSpPr txBox="1"/>
          <p:nvPr/>
        </p:nvSpPr>
        <p:spPr>
          <a:xfrm>
            <a:off x="1311449" y="3897175"/>
            <a:ext cx="971763" cy="300082"/>
          </a:xfrm>
          <a:prstGeom prst="rect">
            <a:avLst/>
          </a:prstGeom>
          <a:noFill/>
          <a:ln w="25400">
            <a:solidFill>
              <a:schemeClr val="dk2"/>
            </a:solidFill>
          </a:ln>
        </p:spPr>
        <p:txBody>
          <a:bodyPr wrap="square" rtlCol="0">
            <a:spAutoFit/>
          </a:bodyPr>
          <a:lstStyle/>
          <a:p>
            <a:r>
              <a:rPr lang="en-US" sz="1350" b="1" dirty="0"/>
              <a:t>alias</a:t>
            </a:r>
          </a:p>
        </p:txBody>
      </p:sp>
      <p:sp>
        <p:nvSpPr>
          <p:cNvPr id="22" name="TextBox 21">
            <a:extLst>
              <a:ext uri="{FF2B5EF4-FFF2-40B4-BE49-F238E27FC236}">
                <a16:creationId xmlns:a16="http://schemas.microsoft.com/office/drawing/2014/main" id="{69BFC201-2BA4-6371-CCB4-0FC1D8D75FBC}"/>
              </a:ext>
            </a:extLst>
          </p:cNvPr>
          <p:cNvSpPr txBox="1"/>
          <p:nvPr/>
        </p:nvSpPr>
        <p:spPr>
          <a:xfrm>
            <a:off x="1295313" y="4365349"/>
            <a:ext cx="971763" cy="300082"/>
          </a:xfrm>
          <a:prstGeom prst="rect">
            <a:avLst/>
          </a:prstGeom>
          <a:noFill/>
          <a:ln w="25400">
            <a:solidFill>
              <a:schemeClr val="dk2"/>
            </a:solidFill>
          </a:ln>
        </p:spPr>
        <p:txBody>
          <a:bodyPr wrap="square" rtlCol="0">
            <a:spAutoFit/>
          </a:bodyPr>
          <a:lstStyle/>
          <a:p>
            <a:r>
              <a:rPr lang="en-US" sz="1350" b="1" dirty="0"/>
              <a:t>fields</a:t>
            </a:r>
          </a:p>
        </p:txBody>
      </p:sp>
      <p:sp>
        <p:nvSpPr>
          <p:cNvPr id="23" name="TextBox 22">
            <a:extLst>
              <a:ext uri="{FF2B5EF4-FFF2-40B4-BE49-F238E27FC236}">
                <a16:creationId xmlns:a16="http://schemas.microsoft.com/office/drawing/2014/main" id="{220570F5-3606-6C9F-8515-3866EF802AEF}"/>
              </a:ext>
            </a:extLst>
          </p:cNvPr>
          <p:cNvSpPr txBox="1"/>
          <p:nvPr/>
        </p:nvSpPr>
        <p:spPr>
          <a:xfrm>
            <a:off x="1613777" y="4796740"/>
            <a:ext cx="971763" cy="300082"/>
          </a:xfrm>
          <a:prstGeom prst="rect">
            <a:avLst/>
          </a:prstGeom>
          <a:noFill/>
          <a:ln w="25400">
            <a:solidFill>
              <a:schemeClr val="dk2"/>
            </a:solidFill>
          </a:ln>
        </p:spPr>
        <p:txBody>
          <a:bodyPr wrap="square" rtlCol="0">
            <a:spAutoFit/>
          </a:bodyPr>
          <a:lstStyle/>
          <a:p>
            <a:r>
              <a:rPr lang="en-US" sz="1350" b="1" dirty="0"/>
              <a:t>name</a:t>
            </a:r>
          </a:p>
        </p:txBody>
      </p:sp>
      <p:sp>
        <p:nvSpPr>
          <p:cNvPr id="24" name="TextBox 23">
            <a:extLst>
              <a:ext uri="{FF2B5EF4-FFF2-40B4-BE49-F238E27FC236}">
                <a16:creationId xmlns:a16="http://schemas.microsoft.com/office/drawing/2014/main" id="{B15CFB97-C1D6-A800-4DAA-CEB4EFD9F6D9}"/>
              </a:ext>
            </a:extLst>
          </p:cNvPr>
          <p:cNvSpPr txBox="1"/>
          <p:nvPr/>
        </p:nvSpPr>
        <p:spPr>
          <a:xfrm>
            <a:off x="2747169" y="4796740"/>
            <a:ext cx="971763" cy="300082"/>
          </a:xfrm>
          <a:prstGeom prst="rect">
            <a:avLst/>
          </a:prstGeom>
          <a:noFill/>
          <a:ln w="25400">
            <a:solidFill>
              <a:schemeClr val="dk2"/>
            </a:solidFill>
          </a:ln>
        </p:spPr>
        <p:txBody>
          <a:bodyPr wrap="square" rtlCol="0">
            <a:spAutoFit/>
          </a:bodyPr>
          <a:lstStyle/>
          <a:p>
            <a:r>
              <a:rPr lang="en-US" sz="1350" b="1" dirty="0"/>
              <a:t>doc</a:t>
            </a:r>
          </a:p>
        </p:txBody>
      </p:sp>
      <p:sp>
        <p:nvSpPr>
          <p:cNvPr id="25" name="TextBox 24">
            <a:extLst>
              <a:ext uri="{FF2B5EF4-FFF2-40B4-BE49-F238E27FC236}">
                <a16:creationId xmlns:a16="http://schemas.microsoft.com/office/drawing/2014/main" id="{4CB3F40A-75D8-4660-FD2D-95AB3FB75F86}"/>
              </a:ext>
            </a:extLst>
          </p:cNvPr>
          <p:cNvSpPr txBox="1"/>
          <p:nvPr/>
        </p:nvSpPr>
        <p:spPr>
          <a:xfrm>
            <a:off x="3880562" y="4800292"/>
            <a:ext cx="971763" cy="300082"/>
          </a:xfrm>
          <a:prstGeom prst="rect">
            <a:avLst/>
          </a:prstGeom>
          <a:noFill/>
          <a:ln w="25400">
            <a:solidFill>
              <a:schemeClr val="dk2"/>
            </a:solidFill>
          </a:ln>
        </p:spPr>
        <p:txBody>
          <a:bodyPr wrap="square" rtlCol="0">
            <a:spAutoFit/>
          </a:bodyPr>
          <a:lstStyle/>
          <a:p>
            <a:r>
              <a:rPr lang="en-US" sz="1350" b="1" dirty="0"/>
              <a:t>type</a:t>
            </a:r>
          </a:p>
        </p:txBody>
      </p:sp>
      <p:sp>
        <p:nvSpPr>
          <p:cNvPr id="26" name="TextBox 25">
            <a:extLst>
              <a:ext uri="{FF2B5EF4-FFF2-40B4-BE49-F238E27FC236}">
                <a16:creationId xmlns:a16="http://schemas.microsoft.com/office/drawing/2014/main" id="{3DBD942A-5851-91EA-9E7B-4B94EFC86331}"/>
              </a:ext>
            </a:extLst>
          </p:cNvPr>
          <p:cNvSpPr txBox="1"/>
          <p:nvPr/>
        </p:nvSpPr>
        <p:spPr>
          <a:xfrm>
            <a:off x="5013954" y="4796740"/>
            <a:ext cx="971763" cy="300082"/>
          </a:xfrm>
          <a:prstGeom prst="rect">
            <a:avLst/>
          </a:prstGeom>
          <a:noFill/>
          <a:ln w="25400">
            <a:solidFill>
              <a:schemeClr val="dk2"/>
            </a:solidFill>
          </a:ln>
        </p:spPr>
        <p:txBody>
          <a:bodyPr wrap="square" rtlCol="0">
            <a:spAutoFit/>
          </a:bodyPr>
          <a:lstStyle/>
          <a:p>
            <a:r>
              <a:rPr lang="en-US" sz="1350" b="1" dirty="0"/>
              <a:t>default</a:t>
            </a:r>
          </a:p>
        </p:txBody>
      </p:sp>
    </p:spTree>
    <p:extLst>
      <p:ext uri="{BB962C8B-B14F-4D97-AF65-F5344CB8AC3E}">
        <p14:creationId xmlns:p14="http://schemas.microsoft.com/office/powerpoint/2010/main" val="3183276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17" grpId="0"/>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F1E8240-DEC7-2B00-2203-988A753CD410}"/>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0ECE72C9-0C8A-03CF-BEBB-9FABEC600400}"/>
              </a:ext>
            </a:extLst>
          </p:cNvPr>
          <p:cNvSpPr>
            <a:spLocks noGrp="1"/>
          </p:cNvSpPr>
          <p:nvPr>
            <p:ph type="sldNum" sz="quarter" idx="12"/>
          </p:nvPr>
        </p:nvSpPr>
        <p:spPr/>
        <p:txBody>
          <a:bodyPr/>
          <a:lstStyle/>
          <a:p>
            <a:fld id="{53C7D256-7CB4-8D4B-B359-120D79D46DFF}" type="slidenum">
              <a:rPr lang="en-US" smtClean="0"/>
              <a:t>120</a:t>
            </a:fld>
            <a:endParaRPr lang="en-US"/>
          </a:p>
        </p:txBody>
      </p:sp>
      <p:sp>
        <p:nvSpPr>
          <p:cNvPr id="4" name="Google Shape;194;p29">
            <a:extLst>
              <a:ext uri="{FF2B5EF4-FFF2-40B4-BE49-F238E27FC236}">
                <a16:creationId xmlns:a16="http://schemas.microsoft.com/office/drawing/2014/main" id="{4294D74B-FDBC-9260-D2B0-6CB038431E0B}"/>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Avro</a:t>
            </a:r>
            <a:endParaRPr dirty="0"/>
          </a:p>
        </p:txBody>
      </p:sp>
      <p:sp>
        <p:nvSpPr>
          <p:cNvPr id="10" name="TextBox 9">
            <a:extLst>
              <a:ext uri="{FF2B5EF4-FFF2-40B4-BE49-F238E27FC236}">
                <a16:creationId xmlns:a16="http://schemas.microsoft.com/office/drawing/2014/main" id="{CD5758DD-C20C-5A19-C8A6-6E010C4D0406}"/>
              </a:ext>
            </a:extLst>
          </p:cNvPr>
          <p:cNvSpPr txBox="1"/>
          <p:nvPr/>
        </p:nvSpPr>
        <p:spPr>
          <a:xfrm>
            <a:off x="2171700" y="2563378"/>
            <a:ext cx="4800600" cy="1754326"/>
          </a:xfrm>
          <a:prstGeom prst="rect">
            <a:avLst/>
          </a:prstGeom>
          <a:noFill/>
          <a:ln w="25400">
            <a:solidFill>
              <a:schemeClr val="dk2"/>
            </a:solidFill>
          </a:ln>
        </p:spPr>
        <p:txBody>
          <a:bodyPr wrap="square" rtlCol="0">
            <a:spAutoFit/>
          </a:bodyPr>
          <a:lstStyle/>
          <a:p>
            <a:r>
              <a:rPr lang="en-US" sz="1350" b="1" dirty="0"/>
              <a:t>{</a:t>
            </a:r>
          </a:p>
          <a:p>
            <a:r>
              <a:rPr lang="en-US" sz="1350" b="1" dirty="0"/>
              <a:t>   “type” : “</a:t>
            </a:r>
            <a:r>
              <a:rPr lang="en-GB" sz="1350" dirty="0"/>
              <a:t>record”,</a:t>
            </a:r>
          </a:p>
          <a:p>
            <a:r>
              <a:rPr lang="en-GB" sz="1350" b="1" dirty="0"/>
              <a:t>   “name” : “</a:t>
            </a:r>
            <a:r>
              <a:rPr lang="en-GB" sz="1350" dirty="0"/>
              <a:t>greeting,</a:t>
            </a:r>
            <a:r>
              <a:rPr lang="en-GB" sz="1350" b="1" dirty="0"/>
              <a:t>”</a:t>
            </a:r>
          </a:p>
          <a:p>
            <a:r>
              <a:rPr lang="en-GB" sz="1350" b="1" dirty="0"/>
              <a:t>   “title” : </a:t>
            </a:r>
            <a:r>
              <a:rPr lang="en-GB" sz="1350" dirty="0"/>
              <a:t>“greeting”,</a:t>
            </a:r>
          </a:p>
          <a:p>
            <a:r>
              <a:rPr lang="en-GB" sz="1350" b="1" dirty="0"/>
              <a:t>   “fields” : </a:t>
            </a:r>
            <a:r>
              <a:rPr lang="en-GB" sz="1350" dirty="0"/>
              <a:t>[</a:t>
            </a:r>
          </a:p>
          <a:p>
            <a:r>
              <a:rPr lang="en-GB" sz="1350" dirty="0"/>
              <a:t>       {“name” : “greeting”, “type” : “string”}</a:t>
            </a:r>
          </a:p>
          <a:p>
            <a:r>
              <a:rPr lang="en-GB" sz="1350" dirty="0"/>
              <a:t>   ]</a:t>
            </a:r>
          </a:p>
          <a:p>
            <a:r>
              <a:rPr lang="en-US" sz="1350" b="1" dirty="0"/>
              <a:t>}</a:t>
            </a:r>
          </a:p>
        </p:txBody>
      </p:sp>
    </p:spTree>
    <p:extLst>
      <p:ext uri="{BB962C8B-B14F-4D97-AF65-F5344CB8AC3E}">
        <p14:creationId xmlns:p14="http://schemas.microsoft.com/office/powerpoint/2010/main" val="4313364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1C177F-69E4-75AB-5D1F-C75547202EFE}"/>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13853FBB-B97A-170A-F090-AB5A86EEEFCE}"/>
              </a:ext>
            </a:extLst>
          </p:cNvPr>
          <p:cNvSpPr>
            <a:spLocks noGrp="1"/>
          </p:cNvSpPr>
          <p:nvPr>
            <p:ph type="sldNum" sz="quarter" idx="12"/>
          </p:nvPr>
        </p:nvSpPr>
        <p:spPr/>
        <p:txBody>
          <a:bodyPr/>
          <a:lstStyle/>
          <a:p>
            <a:fld id="{53C7D256-7CB4-8D4B-B359-120D79D46DFF}" type="slidenum">
              <a:rPr lang="en-US" smtClean="0"/>
              <a:t>121</a:t>
            </a:fld>
            <a:endParaRPr lang="en-US"/>
          </a:p>
        </p:txBody>
      </p:sp>
      <p:sp>
        <p:nvSpPr>
          <p:cNvPr id="6" name="Google Shape;194;p29">
            <a:extLst>
              <a:ext uri="{FF2B5EF4-FFF2-40B4-BE49-F238E27FC236}">
                <a16:creationId xmlns:a16="http://schemas.microsoft.com/office/drawing/2014/main" id="{30454BB9-FBCB-6FA1-2AE8-EE22709C0F25}"/>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Avro</a:t>
            </a:r>
            <a:endParaRPr dirty="0"/>
          </a:p>
        </p:txBody>
      </p:sp>
      <p:sp>
        <p:nvSpPr>
          <p:cNvPr id="10" name="TextBox 9">
            <a:extLst>
              <a:ext uri="{FF2B5EF4-FFF2-40B4-BE49-F238E27FC236}">
                <a16:creationId xmlns:a16="http://schemas.microsoft.com/office/drawing/2014/main" id="{962CC552-BF08-D507-1395-2977727E8FFE}"/>
              </a:ext>
            </a:extLst>
          </p:cNvPr>
          <p:cNvSpPr txBox="1"/>
          <p:nvPr/>
        </p:nvSpPr>
        <p:spPr>
          <a:xfrm>
            <a:off x="441630" y="2082241"/>
            <a:ext cx="943079" cy="300082"/>
          </a:xfrm>
          <a:prstGeom prst="rect">
            <a:avLst/>
          </a:prstGeom>
          <a:noFill/>
        </p:spPr>
        <p:txBody>
          <a:bodyPr wrap="none" rtlCol="0">
            <a:spAutoFit/>
          </a:bodyPr>
          <a:lstStyle/>
          <a:p>
            <a:r>
              <a:rPr lang="en-GB" sz="1350" dirty="0"/>
              <a:t>Encodings:</a:t>
            </a:r>
          </a:p>
        </p:txBody>
      </p:sp>
      <p:sp>
        <p:nvSpPr>
          <p:cNvPr id="11" name="TextBox 10">
            <a:extLst>
              <a:ext uri="{FF2B5EF4-FFF2-40B4-BE49-F238E27FC236}">
                <a16:creationId xmlns:a16="http://schemas.microsoft.com/office/drawing/2014/main" id="{E2C0347A-2833-90F4-1AC0-269864ED8E6C}"/>
              </a:ext>
            </a:extLst>
          </p:cNvPr>
          <p:cNvSpPr txBox="1"/>
          <p:nvPr/>
        </p:nvSpPr>
        <p:spPr>
          <a:xfrm>
            <a:off x="1470354" y="2082241"/>
            <a:ext cx="851888" cy="300082"/>
          </a:xfrm>
          <a:prstGeom prst="rect">
            <a:avLst/>
          </a:prstGeom>
          <a:noFill/>
          <a:ln w="25400">
            <a:solidFill>
              <a:schemeClr val="dk2"/>
            </a:solidFill>
          </a:ln>
        </p:spPr>
        <p:txBody>
          <a:bodyPr wrap="square" rtlCol="0">
            <a:spAutoFit/>
          </a:bodyPr>
          <a:lstStyle/>
          <a:p>
            <a:r>
              <a:rPr lang="en-US" sz="1350" b="1" dirty="0"/>
              <a:t>JSON</a:t>
            </a:r>
          </a:p>
        </p:txBody>
      </p:sp>
      <p:sp>
        <p:nvSpPr>
          <p:cNvPr id="12" name="TextBox 11">
            <a:extLst>
              <a:ext uri="{FF2B5EF4-FFF2-40B4-BE49-F238E27FC236}">
                <a16:creationId xmlns:a16="http://schemas.microsoft.com/office/drawing/2014/main" id="{16A82826-DDDA-3DE7-943D-FA6ED6E3BC30}"/>
              </a:ext>
            </a:extLst>
          </p:cNvPr>
          <p:cNvSpPr txBox="1"/>
          <p:nvPr/>
        </p:nvSpPr>
        <p:spPr>
          <a:xfrm>
            <a:off x="1470354" y="2584471"/>
            <a:ext cx="971763" cy="300082"/>
          </a:xfrm>
          <a:prstGeom prst="rect">
            <a:avLst/>
          </a:prstGeom>
          <a:noFill/>
          <a:ln w="25400">
            <a:solidFill>
              <a:schemeClr val="dk2"/>
            </a:solidFill>
          </a:ln>
        </p:spPr>
        <p:txBody>
          <a:bodyPr wrap="square" rtlCol="0">
            <a:spAutoFit/>
          </a:bodyPr>
          <a:lstStyle/>
          <a:p>
            <a:r>
              <a:rPr lang="en-US" sz="1350" b="1" dirty="0"/>
              <a:t>Binary</a:t>
            </a:r>
          </a:p>
        </p:txBody>
      </p:sp>
      <p:sp>
        <p:nvSpPr>
          <p:cNvPr id="13" name="TextBox 12">
            <a:extLst>
              <a:ext uri="{FF2B5EF4-FFF2-40B4-BE49-F238E27FC236}">
                <a16:creationId xmlns:a16="http://schemas.microsoft.com/office/drawing/2014/main" id="{AC172118-CC48-9B52-4DCB-FB9079B48817}"/>
              </a:ext>
            </a:extLst>
          </p:cNvPr>
          <p:cNvSpPr txBox="1"/>
          <p:nvPr/>
        </p:nvSpPr>
        <p:spPr>
          <a:xfrm>
            <a:off x="4572001" y="2073877"/>
            <a:ext cx="968727" cy="300082"/>
          </a:xfrm>
          <a:prstGeom prst="rect">
            <a:avLst/>
          </a:prstGeom>
          <a:noFill/>
        </p:spPr>
        <p:txBody>
          <a:bodyPr wrap="none" rtlCol="0">
            <a:spAutoFit/>
          </a:bodyPr>
          <a:lstStyle/>
          <a:p>
            <a:r>
              <a:rPr lang="en-GB" sz="1350" dirty="0"/>
              <a:t>Languages:</a:t>
            </a:r>
          </a:p>
        </p:txBody>
      </p:sp>
      <p:sp>
        <p:nvSpPr>
          <p:cNvPr id="14" name="TextBox 13">
            <a:extLst>
              <a:ext uri="{FF2B5EF4-FFF2-40B4-BE49-F238E27FC236}">
                <a16:creationId xmlns:a16="http://schemas.microsoft.com/office/drawing/2014/main" id="{FF15C63F-EF69-D4EE-6B5F-6CDB07228969}"/>
              </a:ext>
            </a:extLst>
          </p:cNvPr>
          <p:cNvSpPr txBox="1"/>
          <p:nvPr/>
        </p:nvSpPr>
        <p:spPr>
          <a:xfrm>
            <a:off x="5600725" y="2073877"/>
            <a:ext cx="971762" cy="300082"/>
          </a:xfrm>
          <a:prstGeom prst="rect">
            <a:avLst/>
          </a:prstGeom>
          <a:noFill/>
          <a:ln w="25400">
            <a:solidFill>
              <a:schemeClr val="dk2"/>
            </a:solidFill>
          </a:ln>
        </p:spPr>
        <p:txBody>
          <a:bodyPr wrap="square" rtlCol="0">
            <a:spAutoFit/>
          </a:bodyPr>
          <a:lstStyle/>
          <a:p>
            <a:r>
              <a:rPr lang="en-US" sz="1350" b="1" dirty="0"/>
              <a:t>C</a:t>
            </a:r>
          </a:p>
        </p:txBody>
      </p:sp>
      <p:sp>
        <p:nvSpPr>
          <p:cNvPr id="15" name="TextBox 14">
            <a:extLst>
              <a:ext uri="{FF2B5EF4-FFF2-40B4-BE49-F238E27FC236}">
                <a16:creationId xmlns:a16="http://schemas.microsoft.com/office/drawing/2014/main" id="{D636B07D-5329-92A2-F622-5AA3BD1B1444}"/>
              </a:ext>
            </a:extLst>
          </p:cNvPr>
          <p:cNvSpPr txBox="1"/>
          <p:nvPr/>
        </p:nvSpPr>
        <p:spPr>
          <a:xfrm>
            <a:off x="5600725" y="2491083"/>
            <a:ext cx="971763" cy="300082"/>
          </a:xfrm>
          <a:prstGeom prst="rect">
            <a:avLst/>
          </a:prstGeom>
          <a:noFill/>
          <a:ln w="25400">
            <a:solidFill>
              <a:schemeClr val="dk2"/>
            </a:solidFill>
          </a:ln>
        </p:spPr>
        <p:txBody>
          <a:bodyPr wrap="square" rtlCol="0">
            <a:spAutoFit/>
          </a:bodyPr>
          <a:lstStyle/>
          <a:p>
            <a:r>
              <a:rPr lang="en-US" sz="1350" b="1" dirty="0"/>
              <a:t>C++</a:t>
            </a:r>
          </a:p>
        </p:txBody>
      </p:sp>
      <p:sp>
        <p:nvSpPr>
          <p:cNvPr id="16" name="TextBox 15">
            <a:extLst>
              <a:ext uri="{FF2B5EF4-FFF2-40B4-BE49-F238E27FC236}">
                <a16:creationId xmlns:a16="http://schemas.microsoft.com/office/drawing/2014/main" id="{D7DE0D80-CB50-B137-9EBC-04B876D87F39}"/>
              </a:ext>
            </a:extLst>
          </p:cNvPr>
          <p:cNvSpPr txBox="1"/>
          <p:nvPr/>
        </p:nvSpPr>
        <p:spPr>
          <a:xfrm>
            <a:off x="5600725" y="2908288"/>
            <a:ext cx="971763" cy="300082"/>
          </a:xfrm>
          <a:prstGeom prst="rect">
            <a:avLst/>
          </a:prstGeom>
          <a:noFill/>
          <a:ln w="25400">
            <a:solidFill>
              <a:schemeClr val="dk2"/>
            </a:solidFill>
          </a:ln>
        </p:spPr>
        <p:txBody>
          <a:bodyPr wrap="square" rtlCol="0">
            <a:spAutoFit/>
          </a:bodyPr>
          <a:lstStyle/>
          <a:p>
            <a:r>
              <a:rPr lang="en-US" sz="1350" b="1" dirty="0"/>
              <a:t>C#</a:t>
            </a:r>
          </a:p>
        </p:txBody>
      </p:sp>
      <p:sp>
        <p:nvSpPr>
          <p:cNvPr id="17" name="TextBox 16">
            <a:extLst>
              <a:ext uri="{FF2B5EF4-FFF2-40B4-BE49-F238E27FC236}">
                <a16:creationId xmlns:a16="http://schemas.microsoft.com/office/drawing/2014/main" id="{913959C4-DD79-E3BA-A7CD-2FAB068F9BD7}"/>
              </a:ext>
            </a:extLst>
          </p:cNvPr>
          <p:cNvSpPr txBox="1"/>
          <p:nvPr/>
        </p:nvSpPr>
        <p:spPr>
          <a:xfrm>
            <a:off x="5600725" y="3303483"/>
            <a:ext cx="971763" cy="300082"/>
          </a:xfrm>
          <a:prstGeom prst="rect">
            <a:avLst/>
          </a:prstGeom>
          <a:noFill/>
          <a:ln w="25400">
            <a:solidFill>
              <a:schemeClr val="dk2"/>
            </a:solidFill>
          </a:ln>
        </p:spPr>
        <p:txBody>
          <a:bodyPr wrap="square" rtlCol="0">
            <a:spAutoFit/>
          </a:bodyPr>
          <a:lstStyle/>
          <a:p>
            <a:r>
              <a:rPr lang="en-US" sz="1350" b="1" dirty="0"/>
              <a:t>Java</a:t>
            </a:r>
          </a:p>
        </p:txBody>
      </p:sp>
      <p:sp>
        <p:nvSpPr>
          <p:cNvPr id="18" name="TextBox 17">
            <a:extLst>
              <a:ext uri="{FF2B5EF4-FFF2-40B4-BE49-F238E27FC236}">
                <a16:creationId xmlns:a16="http://schemas.microsoft.com/office/drawing/2014/main" id="{46A4173C-1A21-133A-9011-6A184F4910ED}"/>
              </a:ext>
            </a:extLst>
          </p:cNvPr>
          <p:cNvSpPr txBox="1"/>
          <p:nvPr/>
        </p:nvSpPr>
        <p:spPr>
          <a:xfrm>
            <a:off x="5600725" y="3698677"/>
            <a:ext cx="971763" cy="300082"/>
          </a:xfrm>
          <a:prstGeom prst="rect">
            <a:avLst/>
          </a:prstGeom>
          <a:noFill/>
          <a:ln w="25400">
            <a:solidFill>
              <a:schemeClr val="dk2"/>
            </a:solidFill>
          </a:ln>
        </p:spPr>
        <p:txBody>
          <a:bodyPr wrap="square" rtlCol="0">
            <a:spAutoFit/>
          </a:bodyPr>
          <a:lstStyle/>
          <a:p>
            <a:r>
              <a:rPr lang="en-US" sz="1350" b="1" dirty="0"/>
              <a:t>Perl</a:t>
            </a:r>
          </a:p>
        </p:txBody>
      </p:sp>
      <p:sp>
        <p:nvSpPr>
          <p:cNvPr id="19" name="TextBox 18">
            <a:extLst>
              <a:ext uri="{FF2B5EF4-FFF2-40B4-BE49-F238E27FC236}">
                <a16:creationId xmlns:a16="http://schemas.microsoft.com/office/drawing/2014/main" id="{F06FEAF8-32F1-D44A-1117-3A3CF535C3AE}"/>
              </a:ext>
            </a:extLst>
          </p:cNvPr>
          <p:cNvSpPr txBox="1"/>
          <p:nvPr/>
        </p:nvSpPr>
        <p:spPr>
          <a:xfrm>
            <a:off x="5600725" y="4129156"/>
            <a:ext cx="971763" cy="300082"/>
          </a:xfrm>
          <a:prstGeom prst="rect">
            <a:avLst/>
          </a:prstGeom>
          <a:noFill/>
          <a:ln w="25400">
            <a:solidFill>
              <a:schemeClr val="dk2"/>
            </a:solidFill>
          </a:ln>
        </p:spPr>
        <p:txBody>
          <a:bodyPr wrap="square" rtlCol="0">
            <a:spAutoFit/>
          </a:bodyPr>
          <a:lstStyle/>
          <a:p>
            <a:r>
              <a:rPr lang="en-US" sz="1350" b="1" dirty="0"/>
              <a:t>Python</a:t>
            </a:r>
          </a:p>
        </p:txBody>
      </p:sp>
      <p:sp>
        <p:nvSpPr>
          <p:cNvPr id="20" name="TextBox 19">
            <a:extLst>
              <a:ext uri="{FF2B5EF4-FFF2-40B4-BE49-F238E27FC236}">
                <a16:creationId xmlns:a16="http://schemas.microsoft.com/office/drawing/2014/main" id="{7E7B2525-2E87-C6FD-00A4-BD7F7A11B9C6}"/>
              </a:ext>
            </a:extLst>
          </p:cNvPr>
          <p:cNvSpPr txBox="1"/>
          <p:nvPr/>
        </p:nvSpPr>
        <p:spPr>
          <a:xfrm>
            <a:off x="5600725" y="4541828"/>
            <a:ext cx="971763" cy="300082"/>
          </a:xfrm>
          <a:prstGeom prst="rect">
            <a:avLst/>
          </a:prstGeom>
          <a:noFill/>
          <a:ln w="25400">
            <a:solidFill>
              <a:schemeClr val="dk2"/>
            </a:solidFill>
          </a:ln>
        </p:spPr>
        <p:txBody>
          <a:bodyPr wrap="square" rtlCol="0">
            <a:spAutoFit/>
          </a:bodyPr>
          <a:lstStyle/>
          <a:p>
            <a:r>
              <a:rPr lang="en-US" sz="1350" b="1" dirty="0"/>
              <a:t>Ruby</a:t>
            </a:r>
          </a:p>
        </p:txBody>
      </p:sp>
      <p:sp>
        <p:nvSpPr>
          <p:cNvPr id="21" name="TextBox 20">
            <a:extLst>
              <a:ext uri="{FF2B5EF4-FFF2-40B4-BE49-F238E27FC236}">
                <a16:creationId xmlns:a16="http://schemas.microsoft.com/office/drawing/2014/main" id="{D4646D4B-FAAD-F213-88ED-C59965D7BA40}"/>
              </a:ext>
            </a:extLst>
          </p:cNvPr>
          <p:cNvSpPr txBox="1"/>
          <p:nvPr/>
        </p:nvSpPr>
        <p:spPr>
          <a:xfrm>
            <a:off x="5600725" y="4954500"/>
            <a:ext cx="971763" cy="300082"/>
          </a:xfrm>
          <a:prstGeom prst="rect">
            <a:avLst/>
          </a:prstGeom>
          <a:noFill/>
          <a:ln w="25400">
            <a:solidFill>
              <a:schemeClr val="dk2"/>
            </a:solidFill>
          </a:ln>
        </p:spPr>
        <p:txBody>
          <a:bodyPr wrap="square" rtlCol="0">
            <a:spAutoFit/>
          </a:bodyPr>
          <a:lstStyle/>
          <a:p>
            <a:r>
              <a:rPr lang="en-US" sz="1350" b="1" dirty="0"/>
              <a:t>Others…</a:t>
            </a:r>
          </a:p>
        </p:txBody>
      </p:sp>
    </p:spTree>
    <p:extLst>
      <p:ext uri="{BB962C8B-B14F-4D97-AF65-F5344CB8AC3E}">
        <p14:creationId xmlns:p14="http://schemas.microsoft.com/office/powerpoint/2010/main" val="24703049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1C177F-69E4-75AB-5D1F-C75547202EFE}"/>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13853FBB-B97A-170A-F090-AB5A86EEEFCE}"/>
              </a:ext>
            </a:extLst>
          </p:cNvPr>
          <p:cNvSpPr>
            <a:spLocks noGrp="1"/>
          </p:cNvSpPr>
          <p:nvPr>
            <p:ph type="sldNum" sz="quarter" idx="12"/>
          </p:nvPr>
        </p:nvSpPr>
        <p:spPr/>
        <p:txBody>
          <a:bodyPr/>
          <a:lstStyle/>
          <a:p>
            <a:fld id="{53C7D256-7CB4-8D4B-B359-120D79D46DFF}" type="slidenum">
              <a:rPr lang="en-US" smtClean="0"/>
              <a:t>122</a:t>
            </a:fld>
            <a:endParaRPr lang="en-US"/>
          </a:p>
        </p:txBody>
      </p:sp>
      <p:sp>
        <p:nvSpPr>
          <p:cNvPr id="6" name="Google Shape;194;p29">
            <a:extLst>
              <a:ext uri="{FF2B5EF4-FFF2-40B4-BE49-F238E27FC236}">
                <a16:creationId xmlns:a16="http://schemas.microsoft.com/office/drawing/2014/main" id="{30454BB9-FBCB-6FA1-2AE8-EE22709C0F25}"/>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err="1"/>
              <a:t>Protobuf</a:t>
            </a:r>
            <a:endParaRPr dirty="0"/>
          </a:p>
        </p:txBody>
      </p:sp>
      <p:sp>
        <p:nvSpPr>
          <p:cNvPr id="13" name="TextBox 12">
            <a:extLst>
              <a:ext uri="{FF2B5EF4-FFF2-40B4-BE49-F238E27FC236}">
                <a16:creationId xmlns:a16="http://schemas.microsoft.com/office/drawing/2014/main" id="{C2A3D776-7255-B548-2E20-BE6894F28313}"/>
              </a:ext>
            </a:extLst>
          </p:cNvPr>
          <p:cNvSpPr txBox="1"/>
          <p:nvPr/>
        </p:nvSpPr>
        <p:spPr>
          <a:xfrm>
            <a:off x="2171700" y="2875003"/>
            <a:ext cx="4800600" cy="1131079"/>
          </a:xfrm>
          <a:prstGeom prst="rect">
            <a:avLst/>
          </a:prstGeom>
          <a:noFill/>
          <a:ln w="25400">
            <a:solidFill>
              <a:schemeClr val="dk2"/>
            </a:solidFill>
          </a:ln>
        </p:spPr>
        <p:txBody>
          <a:bodyPr wrap="square" rtlCol="0">
            <a:spAutoFit/>
          </a:bodyPr>
          <a:lstStyle/>
          <a:p>
            <a:r>
              <a:rPr lang="en-GB" sz="1350" b="1" dirty="0"/>
              <a:t>syntax = "proto3"; </a:t>
            </a:r>
          </a:p>
          <a:p>
            <a:endParaRPr lang="en-GB" sz="1350" b="1" dirty="0"/>
          </a:p>
          <a:p>
            <a:r>
              <a:rPr lang="en-GB" sz="1350" b="1" dirty="0"/>
              <a:t>message</a:t>
            </a:r>
            <a:r>
              <a:rPr lang="en-GB" sz="1350" dirty="0"/>
              <a:t> Greeting </a:t>
            </a:r>
            <a:r>
              <a:rPr lang="en-GB" sz="1350" b="1" dirty="0"/>
              <a:t>{</a:t>
            </a:r>
            <a:r>
              <a:rPr lang="en-GB" sz="1350" dirty="0"/>
              <a:t> </a:t>
            </a:r>
          </a:p>
          <a:p>
            <a:r>
              <a:rPr lang="en-GB" sz="1350" b="1" dirty="0"/>
              <a:t>    string</a:t>
            </a:r>
            <a:r>
              <a:rPr lang="en-GB" sz="1350" dirty="0"/>
              <a:t> greeting </a:t>
            </a:r>
            <a:r>
              <a:rPr lang="en-GB" sz="1350" b="1" dirty="0"/>
              <a:t>=</a:t>
            </a:r>
            <a:r>
              <a:rPr lang="en-GB" sz="1350" dirty="0"/>
              <a:t> </a:t>
            </a:r>
            <a:r>
              <a:rPr lang="en-GB" sz="1350" b="1" dirty="0"/>
              <a:t>1;</a:t>
            </a:r>
            <a:r>
              <a:rPr lang="en-GB" sz="1350" dirty="0"/>
              <a:t> </a:t>
            </a:r>
          </a:p>
          <a:p>
            <a:r>
              <a:rPr lang="en-GB" sz="1350" b="1" dirty="0"/>
              <a:t>}</a:t>
            </a:r>
            <a:endParaRPr lang="en-US" sz="1350" b="1" dirty="0"/>
          </a:p>
        </p:txBody>
      </p:sp>
    </p:spTree>
    <p:extLst>
      <p:ext uri="{BB962C8B-B14F-4D97-AF65-F5344CB8AC3E}">
        <p14:creationId xmlns:p14="http://schemas.microsoft.com/office/powerpoint/2010/main" val="376779729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1C177F-69E4-75AB-5D1F-C75547202EFE}"/>
              </a:ext>
            </a:extLst>
          </p:cNvPr>
          <p:cNvSpPr>
            <a:spLocks noGrp="1"/>
          </p:cNvSpPr>
          <p:nvPr>
            <p:ph type="ftr" sz="quarter" idx="11"/>
          </p:nvPr>
        </p:nvSpPr>
        <p:spPr/>
        <p:txBody>
          <a:bodyPr/>
          <a:lstStyle/>
          <a:p>
            <a:r>
              <a:rPr lang="en-US"/>
              <a:t>Ian Cooper</a:t>
            </a:r>
          </a:p>
        </p:txBody>
      </p:sp>
      <p:sp>
        <p:nvSpPr>
          <p:cNvPr id="5" name="Slide Number Placeholder 4">
            <a:extLst>
              <a:ext uri="{FF2B5EF4-FFF2-40B4-BE49-F238E27FC236}">
                <a16:creationId xmlns:a16="http://schemas.microsoft.com/office/drawing/2014/main" id="{13853FBB-B97A-170A-F090-AB5A86EEEFCE}"/>
              </a:ext>
            </a:extLst>
          </p:cNvPr>
          <p:cNvSpPr>
            <a:spLocks noGrp="1"/>
          </p:cNvSpPr>
          <p:nvPr>
            <p:ph type="sldNum" sz="quarter" idx="12"/>
          </p:nvPr>
        </p:nvSpPr>
        <p:spPr/>
        <p:txBody>
          <a:bodyPr/>
          <a:lstStyle/>
          <a:p>
            <a:fld id="{53C7D256-7CB4-8D4B-B359-120D79D46DFF}" type="slidenum">
              <a:rPr lang="en-US" smtClean="0"/>
              <a:t>123</a:t>
            </a:fld>
            <a:endParaRPr lang="en-US"/>
          </a:p>
        </p:txBody>
      </p:sp>
      <p:sp>
        <p:nvSpPr>
          <p:cNvPr id="6" name="Google Shape;194;p29">
            <a:extLst>
              <a:ext uri="{FF2B5EF4-FFF2-40B4-BE49-F238E27FC236}">
                <a16:creationId xmlns:a16="http://schemas.microsoft.com/office/drawing/2014/main" id="{30454BB9-FBCB-6FA1-2AE8-EE22709C0F25}"/>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err="1"/>
              <a:t>Protobuf</a:t>
            </a:r>
            <a:endParaRPr dirty="0"/>
          </a:p>
        </p:txBody>
      </p:sp>
      <p:sp>
        <p:nvSpPr>
          <p:cNvPr id="10" name="TextBox 9">
            <a:extLst>
              <a:ext uri="{FF2B5EF4-FFF2-40B4-BE49-F238E27FC236}">
                <a16:creationId xmlns:a16="http://schemas.microsoft.com/office/drawing/2014/main" id="{962CC552-BF08-D507-1395-2977727E8FFE}"/>
              </a:ext>
            </a:extLst>
          </p:cNvPr>
          <p:cNvSpPr txBox="1"/>
          <p:nvPr/>
        </p:nvSpPr>
        <p:spPr>
          <a:xfrm>
            <a:off x="441630" y="1861979"/>
            <a:ext cx="943079" cy="300082"/>
          </a:xfrm>
          <a:prstGeom prst="rect">
            <a:avLst/>
          </a:prstGeom>
          <a:noFill/>
        </p:spPr>
        <p:txBody>
          <a:bodyPr wrap="none" rtlCol="0">
            <a:spAutoFit/>
          </a:bodyPr>
          <a:lstStyle/>
          <a:p>
            <a:r>
              <a:rPr lang="en-GB" sz="1350" dirty="0"/>
              <a:t>Encodings:</a:t>
            </a:r>
          </a:p>
        </p:txBody>
      </p:sp>
      <p:sp>
        <p:nvSpPr>
          <p:cNvPr id="12" name="TextBox 11">
            <a:extLst>
              <a:ext uri="{FF2B5EF4-FFF2-40B4-BE49-F238E27FC236}">
                <a16:creationId xmlns:a16="http://schemas.microsoft.com/office/drawing/2014/main" id="{16A82826-DDDA-3DE7-943D-FA6ED6E3BC30}"/>
              </a:ext>
            </a:extLst>
          </p:cNvPr>
          <p:cNvSpPr txBox="1"/>
          <p:nvPr/>
        </p:nvSpPr>
        <p:spPr>
          <a:xfrm>
            <a:off x="1436566" y="1866337"/>
            <a:ext cx="971763" cy="300082"/>
          </a:xfrm>
          <a:prstGeom prst="rect">
            <a:avLst/>
          </a:prstGeom>
          <a:noFill/>
          <a:ln w="25400">
            <a:solidFill>
              <a:schemeClr val="dk2"/>
            </a:solidFill>
          </a:ln>
        </p:spPr>
        <p:txBody>
          <a:bodyPr wrap="square" rtlCol="0">
            <a:spAutoFit/>
          </a:bodyPr>
          <a:lstStyle/>
          <a:p>
            <a:r>
              <a:rPr lang="en-US" sz="1350" b="1" dirty="0"/>
              <a:t>Binary</a:t>
            </a:r>
          </a:p>
        </p:txBody>
      </p:sp>
      <p:sp>
        <p:nvSpPr>
          <p:cNvPr id="13" name="TextBox 12">
            <a:extLst>
              <a:ext uri="{FF2B5EF4-FFF2-40B4-BE49-F238E27FC236}">
                <a16:creationId xmlns:a16="http://schemas.microsoft.com/office/drawing/2014/main" id="{AC172118-CC48-9B52-4DCB-FB9079B48817}"/>
              </a:ext>
            </a:extLst>
          </p:cNvPr>
          <p:cNvSpPr txBox="1"/>
          <p:nvPr/>
        </p:nvSpPr>
        <p:spPr>
          <a:xfrm>
            <a:off x="4451114" y="1866337"/>
            <a:ext cx="968727" cy="300082"/>
          </a:xfrm>
          <a:prstGeom prst="rect">
            <a:avLst/>
          </a:prstGeom>
          <a:noFill/>
        </p:spPr>
        <p:txBody>
          <a:bodyPr wrap="none" rtlCol="0">
            <a:spAutoFit/>
          </a:bodyPr>
          <a:lstStyle/>
          <a:p>
            <a:r>
              <a:rPr lang="en-GB" sz="1350" dirty="0"/>
              <a:t>Languages:</a:t>
            </a:r>
          </a:p>
        </p:txBody>
      </p:sp>
      <p:sp>
        <p:nvSpPr>
          <p:cNvPr id="14" name="TextBox 13">
            <a:extLst>
              <a:ext uri="{FF2B5EF4-FFF2-40B4-BE49-F238E27FC236}">
                <a16:creationId xmlns:a16="http://schemas.microsoft.com/office/drawing/2014/main" id="{FF15C63F-EF69-D4EE-6B5F-6CDB07228969}"/>
              </a:ext>
            </a:extLst>
          </p:cNvPr>
          <p:cNvSpPr txBox="1"/>
          <p:nvPr/>
        </p:nvSpPr>
        <p:spPr>
          <a:xfrm>
            <a:off x="5629169" y="2665505"/>
            <a:ext cx="971762" cy="300082"/>
          </a:xfrm>
          <a:prstGeom prst="rect">
            <a:avLst/>
          </a:prstGeom>
          <a:noFill/>
          <a:ln w="25400">
            <a:solidFill>
              <a:schemeClr val="dk2"/>
            </a:solidFill>
          </a:ln>
        </p:spPr>
        <p:txBody>
          <a:bodyPr wrap="square" rtlCol="0">
            <a:spAutoFit/>
          </a:bodyPr>
          <a:lstStyle/>
          <a:p>
            <a:r>
              <a:rPr lang="en-US" sz="1350" b="1" dirty="0"/>
              <a:t>Dart</a:t>
            </a:r>
          </a:p>
        </p:txBody>
      </p:sp>
      <p:sp>
        <p:nvSpPr>
          <p:cNvPr id="15" name="TextBox 14">
            <a:extLst>
              <a:ext uri="{FF2B5EF4-FFF2-40B4-BE49-F238E27FC236}">
                <a16:creationId xmlns:a16="http://schemas.microsoft.com/office/drawing/2014/main" id="{D636B07D-5329-92A2-F622-5AA3BD1B1444}"/>
              </a:ext>
            </a:extLst>
          </p:cNvPr>
          <p:cNvSpPr txBox="1"/>
          <p:nvPr/>
        </p:nvSpPr>
        <p:spPr>
          <a:xfrm>
            <a:off x="5629169" y="1860789"/>
            <a:ext cx="971763" cy="300082"/>
          </a:xfrm>
          <a:prstGeom prst="rect">
            <a:avLst/>
          </a:prstGeom>
          <a:noFill/>
          <a:ln w="25400">
            <a:solidFill>
              <a:schemeClr val="dk2"/>
            </a:solidFill>
          </a:ln>
        </p:spPr>
        <p:txBody>
          <a:bodyPr wrap="square" rtlCol="0">
            <a:spAutoFit/>
          </a:bodyPr>
          <a:lstStyle/>
          <a:p>
            <a:r>
              <a:rPr lang="en-US" sz="1350" b="1" dirty="0"/>
              <a:t>C++</a:t>
            </a:r>
          </a:p>
        </p:txBody>
      </p:sp>
      <p:sp>
        <p:nvSpPr>
          <p:cNvPr id="16" name="TextBox 15">
            <a:extLst>
              <a:ext uri="{FF2B5EF4-FFF2-40B4-BE49-F238E27FC236}">
                <a16:creationId xmlns:a16="http://schemas.microsoft.com/office/drawing/2014/main" id="{D7DE0D80-CB50-B137-9EBC-04B876D87F39}"/>
              </a:ext>
            </a:extLst>
          </p:cNvPr>
          <p:cNvSpPr txBox="1"/>
          <p:nvPr/>
        </p:nvSpPr>
        <p:spPr>
          <a:xfrm>
            <a:off x="5629169" y="2277994"/>
            <a:ext cx="971763" cy="300082"/>
          </a:xfrm>
          <a:prstGeom prst="rect">
            <a:avLst/>
          </a:prstGeom>
          <a:noFill/>
          <a:ln w="25400">
            <a:solidFill>
              <a:schemeClr val="dk2"/>
            </a:solidFill>
          </a:ln>
        </p:spPr>
        <p:txBody>
          <a:bodyPr wrap="square" rtlCol="0">
            <a:spAutoFit/>
          </a:bodyPr>
          <a:lstStyle/>
          <a:p>
            <a:r>
              <a:rPr lang="en-US" sz="1350" b="1" dirty="0"/>
              <a:t>C#</a:t>
            </a:r>
          </a:p>
        </p:txBody>
      </p:sp>
      <p:sp>
        <p:nvSpPr>
          <p:cNvPr id="17" name="TextBox 16">
            <a:extLst>
              <a:ext uri="{FF2B5EF4-FFF2-40B4-BE49-F238E27FC236}">
                <a16:creationId xmlns:a16="http://schemas.microsoft.com/office/drawing/2014/main" id="{913959C4-DD79-E3BA-A7CD-2FAB068F9BD7}"/>
              </a:ext>
            </a:extLst>
          </p:cNvPr>
          <p:cNvSpPr txBox="1"/>
          <p:nvPr/>
        </p:nvSpPr>
        <p:spPr>
          <a:xfrm>
            <a:off x="5629168" y="3823123"/>
            <a:ext cx="971763" cy="300082"/>
          </a:xfrm>
          <a:prstGeom prst="rect">
            <a:avLst/>
          </a:prstGeom>
          <a:noFill/>
          <a:ln w="25400">
            <a:solidFill>
              <a:schemeClr val="dk2"/>
            </a:solidFill>
          </a:ln>
        </p:spPr>
        <p:txBody>
          <a:bodyPr wrap="square" rtlCol="0">
            <a:spAutoFit/>
          </a:bodyPr>
          <a:lstStyle/>
          <a:p>
            <a:r>
              <a:rPr lang="en-US" sz="1350" b="1" dirty="0"/>
              <a:t>Java</a:t>
            </a:r>
          </a:p>
        </p:txBody>
      </p:sp>
      <p:sp>
        <p:nvSpPr>
          <p:cNvPr id="18" name="TextBox 17">
            <a:extLst>
              <a:ext uri="{FF2B5EF4-FFF2-40B4-BE49-F238E27FC236}">
                <a16:creationId xmlns:a16="http://schemas.microsoft.com/office/drawing/2014/main" id="{46A4173C-1A21-133A-9011-6A184F4910ED}"/>
              </a:ext>
            </a:extLst>
          </p:cNvPr>
          <p:cNvSpPr txBox="1"/>
          <p:nvPr/>
        </p:nvSpPr>
        <p:spPr>
          <a:xfrm>
            <a:off x="5629168" y="3450729"/>
            <a:ext cx="971763" cy="300082"/>
          </a:xfrm>
          <a:prstGeom prst="rect">
            <a:avLst/>
          </a:prstGeom>
          <a:noFill/>
          <a:ln w="25400">
            <a:solidFill>
              <a:schemeClr val="dk2"/>
            </a:solidFill>
          </a:ln>
        </p:spPr>
        <p:txBody>
          <a:bodyPr wrap="square" rtlCol="0">
            <a:spAutoFit/>
          </a:bodyPr>
          <a:lstStyle/>
          <a:p>
            <a:r>
              <a:rPr lang="en-US" sz="1350" b="1" dirty="0"/>
              <a:t>Kotlin</a:t>
            </a:r>
          </a:p>
        </p:txBody>
      </p:sp>
      <p:sp>
        <p:nvSpPr>
          <p:cNvPr id="19" name="TextBox 18">
            <a:extLst>
              <a:ext uri="{FF2B5EF4-FFF2-40B4-BE49-F238E27FC236}">
                <a16:creationId xmlns:a16="http://schemas.microsoft.com/office/drawing/2014/main" id="{F06FEAF8-32F1-D44A-1117-3A3CF535C3AE}"/>
              </a:ext>
            </a:extLst>
          </p:cNvPr>
          <p:cNvSpPr txBox="1"/>
          <p:nvPr/>
        </p:nvSpPr>
        <p:spPr>
          <a:xfrm>
            <a:off x="5629169" y="4542797"/>
            <a:ext cx="971763" cy="300082"/>
          </a:xfrm>
          <a:prstGeom prst="rect">
            <a:avLst/>
          </a:prstGeom>
          <a:noFill/>
          <a:ln w="25400">
            <a:solidFill>
              <a:schemeClr val="dk2"/>
            </a:solidFill>
          </a:ln>
        </p:spPr>
        <p:txBody>
          <a:bodyPr wrap="square" rtlCol="0">
            <a:spAutoFit/>
          </a:bodyPr>
          <a:lstStyle/>
          <a:p>
            <a:r>
              <a:rPr lang="en-US" sz="1350" b="1" dirty="0"/>
              <a:t>Python</a:t>
            </a:r>
          </a:p>
        </p:txBody>
      </p:sp>
      <p:sp>
        <p:nvSpPr>
          <p:cNvPr id="20" name="TextBox 19">
            <a:extLst>
              <a:ext uri="{FF2B5EF4-FFF2-40B4-BE49-F238E27FC236}">
                <a16:creationId xmlns:a16="http://schemas.microsoft.com/office/drawing/2014/main" id="{7E7B2525-2E87-C6FD-00A4-BD7F7A11B9C6}"/>
              </a:ext>
            </a:extLst>
          </p:cNvPr>
          <p:cNvSpPr txBox="1"/>
          <p:nvPr/>
        </p:nvSpPr>
        <p:spPr>
          <a:xfrm>
            <a:off x="5629169" y="4955469"/>
            <a:ext cx="971763" cy="300082"/>
          </a:xfrm>
          <a:prstGeom prst="rect">
            <a:avLst/>
          </a:prstGeom>
          <a:noFill/>
          <a:ln w="25400">
            <a:solidFill>
              <a:schemeClr val="dk2"/>
            </a:solidFill>
          </a:ln>
        </p:spPr>
        <p:txBody>
          <a:bodyPr wrap="square" rtlCol="0">
            <a:spAutoFit/>
          </a:bodyPr>
          <a:lstStyle/>
          <a:p>
            <a:r>
              <a:rPr lang="en-US" sz="1350" b="1" dirty="0"/>
              <a:t>Ruby</a:t>
            </a:r>
          </a:p>
        </p:txBody>
      </p:sp>
      <p:sp>
        <p:nvSpPr>
          <p:cNvPr id="21" name="TextBox 20">
            <a:extLst>
              <a:ext uri="{FF2B5EF4-FFF2-40B4-BE49-F238E27FC236}">
                <a16:creationId xmlns:a16="http://schemas.microsoft.com/office/drawing/2014/main" id="{D4646D4B-FAAD-F213-88ED-C59965D7BA40}"/>
              </a:ext>
            </a:extLst>
          </p:cNvPr>
          <p:cNvSpPr txBox="1"/>
          <p:nvPr/>
        </p:nvSpPr>
        <p:spPr>
          <a:xfrm>
            <a:off x="5629169" y="5368141"/>
            <a:ext cx="971763" cy="300082"/>
          </a:xfrm>
          <a:prstGeom prst="rect">
            <a:avLst/>
          </a:prstGeom>
          <a:noFill/>
          <a:ln w="25400">
            <a:solidFill>
              <a:schemeClr val="dk2"/>
            </a:solidFill>
          </a:ln>
        </p:spPr>
        <p:txBody>
          <a:bodyPr wrap="square" rtlCol="0">
            <a:spAutoFit/>
          </a:bodyPr>
          <a:lstStyle/>
          <a:p>
            <a:r>
              <a:rPr lang="en-US" sz="1350" b="1" dirty="0"/>
              <a:t>Others…</a:t>
            </a:r>
          </a:p>
        </p:txBody>
      </p:sp>
      <p:sp>
        <p:nvSpPr>
          <p:cNvPr id="22" name="TextBox 21">
            <a:extLst>
              <a:ext uri="{FF2B5EF4-FFF2-40B4-BE49-F238E27FC236}">
                <a16:creationId xmlns:a16="http://schemas.microsoft.com/office/drawing/2014/main" id="{0F670720-FC52-B515-B2B2-071CB79FC7DB}"/>
              </a:ext>
            </a:extLst>
          </p:cNvPr>
          <p:cNvSpPr txBox="1"/>
          <p:nvPr/>
        </p:nvSpPr>
        <p:spPr>
          <a:xfrm>
            <a:off x="5629169" y="3077412"/>
            <a:ext cx="971762" cy="300082"/>
          </a:xfrm>
          <a:prstGeom prst="rect">
            <a:avLst/>
          </a:prstGeom>
          <a:noFill/>
          <a:ln w="25400">
            <a:solidFill>
              <a:schemeClr val="dk2"/>
            </a:solidFill>
          </a:ln>
        </p:spPr>
        <p:txBody>
          <a:bodyPr wrap="square" rtlCol="0">
            <a:spAutoFit/>
          </a:bodyPr>
          <a:lstStyle/>
          <a:p>
            <a:r>
              <a:rPr lang="en-US" sz="1350" b="1" dirty="0"/>
              <a:t>Go</a:t>
            </a:r>
          </a:p>
        </p:txBody>
      </p:sp>
      <p:sp>
        <p:nvSpPr>
          <p:cNvPr id="23" name="TextBox 22">
            <a:extLst>
              <a:ext uri="{FF2B5EF4-FFF2-40B4-BE49-F238E27FC236}">
                <a16:creationId xmlns:a16="http://schemas.microsoft.com/office/drawing/2014/main" id="{6CA5298C-98EB-1DAF-289B-36517BF1B1C5}"/>
              </a:ext>
            </a:extLst>
          </p:cNvPr>
          <p:cNvSpPr txBox="1"/>
          <p:nvPr/>
        </p:nvSpPr>
        <p:spPr>
          <a:xfrm>
            <a:off x="5629167" y="4164508"/>
            <a:ext cx="1065247" cy="300082"/>
          </a:xfrm>
          <a:prstGeom prst="rect">
            <a:avLst/>
          </a:prstGeom>
          <a:noFill/>
          <a:ln w="25400">
            <a:solidFill>
              <a:schemeClr val="dk2"/>
            </a:solidFill>
          </a:ln>
        </p:spPr>
        <p:txBody>
          <a:bodyPr wrap="square" rtlCol="0">
            <a:spAutoFit/>
          </a:bodyPr>
          <a:lstStyle/>
          <a:p>
            <a:r>
              <a:rPr lang="en-US" sz="1350" b="1" dirty="0"/>
              <a:t>Objective-C</a:t>
            </a:r>
          </a:p>
        </p:txBody>
      </p:sp>
    </p:spTree>
    <p:extLst>
      <p:ext uri="{BB962C8B-B14F-4D97-AF65-F5344CB8AC3E}">
        <p14:creationId xmlns:p14="http://schemas.microsoft.com/office/powerpoint/2010/main" val="186658444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A426D4-8BCB-6F4C-AC99-CAEF890D104B}"/>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AA01F493-97FD-394E-A735-69E59F6E2189}"/>
              </a:ext>
            </a:extLst>
          </p:cNvPr>
          <p:cNvSpPr>
            <a:spLocks noGrp="1"/>
          </p:cNvSpPr>
          <p:nvPr>
            <p:ph type="sldNum" sz="quarter" idx="12"/>
          </p:nvPr>
        </p:nvSpPr>
        <p:spPr/>
        <p:txBody>
          <a:bodyPr/>
          <a:lstStyle/>
          <a:p>
            <a:fld id="{53C7D256-7CB4-8D4B-B359-120D79D46DFF}" type="slidenum">
              <a:rPr lang="en-US" smtClean="0"/>
              <a:t>124</a:t>
            </a:fld>
            <a:endParaRPr lang="en-US"/>
          </a:p>
        </p:txBody>
      </p:sp>
      <p:pic>
        <p:nvPicPr>
          <p:cNvPr id="6" name="Picture 5">
            <a:extLst>
              <a:ext uri="{FF2B5EF4-FFF2-40B4-BE49-F238E27FC236}">
                <a16:creationId xmlns:a16="http://schemas.microsoft.com/office/drawing/2014/main" id="{FDF0A258-0513-3A48-A84E-5AED5AD747D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574651" y="1583805"/>
            <a:ext cx="5994698" cy="3541726"/>
          </a:xfrm>
          <a:prstGeom prst="rect">
            <a:avLst/>
          </a:prstGeom>
        </p:spPr>
      </p:pic>
      <p:sp>
        <p:nvSpPr>
          <p:cNvPr id="7" name="Rectangle 6">
            <a:extLst>
              <a:ext uri="{FF2B5EF4-FFF2-40B4-BE49-F238E27FC236}">
                <a16:creationId xmlns:a16="http://schemas.microsoft.com/office/drawing/2014/main" id="{D859B7B5-67BB-0B44-8207-2B5692240741}"/>
              </a:ext>
            </a:extLst>
          </p:cNvPr>
          <p:cNvSpPr/>
          <p:nvPr/>
        </p:nvSpPr>
        <p:spPr>
          <a:xfrm>
            <a:off x="3358402" y="5129491"/>
            <a:ext cx="5363360" cy="300082"/>
          </a:xfrm>
          <a:prstGeom prst="rect">
            <a:avLst/>
          </a:prstGeom>
        </p:spPr>
        <p:txBody>
          <a:bodyPr wrap="square">
            <a:spAutoFit/>
          </a:bodyPr>
          <a:lstStyle/>
          <a:p>
            <a:r>
              <a:rPr lang="en-US" sz="1350" dirty="0"/>
              <a:t>https://</a:t>
            </a:r>
            <a:r>
              <a:rPr lang="en-US" sz="1350" dirty="0" err="1"/>
              <a:t>docs.confluent.io</a:t>
            </a:r>
            <a:r>
              <a:rPr lang="en-US" sz="1350" dirty="0"/>
              <a:t>/platform/current/schema-registry/</a:t>
            </a:r>
            <a:r>
              <a:rPr lang="en-US" sz="1350" dirty="0" err="1"/>
              <a:t>index.html</a:t>
            </a:r>
            <a:endParaRPr lang="en-US" sz="1350" dirty="0"/>
          </a:p>
        </p:txBody>
      </p:sp>
      <p:sp>
        <p:nvSpPr>
          <p:cNvPr id="4" name="Google Shape;194;p29">
            <a:extLst>
              <a:ext uri="{FF2B5EF4-FFF2-40B4-BE49-F238E27FC236}">
                <a16:creationId xmlns:a16="http://schemas.microsoft.com/office/drawing/2014/main" id="{7392E0B8-1D3E-CE11-D1DF-54C364D2067F}"/>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Schema Registry</a:t>
            </a:r>
            <a:endParaRPr dirty="0"/>
          </a:p>
        </p:txBody>
      </p:sp>
    </p:spTree>
    <p:extLst>
      <p:ext uri="{BB962C8B-B14F-4D97-AF65-F5344CB8AC3E}">
        <p14:creationId xmlns:p14="http://schemas.microsoft.com/office/powerpoint/2010/main" val="188904398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F9E8230-75C1-6849-8745-EE4B9716D202}"/>
              </a:ext>
            </a:extLst>
          </p:cNvPr>
          <p:cNvSpPr>
            <a:spLocks noGrp="1"/>
          </p:cNvSpPr>
          <p:nvPr>
            <p:ph type="ftr" sz="quarter" idx="11"/>
          </p:nvPr>
        </p:nvSpPr>
        <p:spPr/>
        <p:txBody>
          <a:bodyPr/>
          <a:lstStyle/>
          <a:p>
            <a:r>
              <a:rPr lang="en-US"/>
              <a:t>Ian Cooper</a:t>
            </a:r>
            <a:endParaRPr lang="en-US" dirty="0"/>
          </a:p>
        </p:txBody>
      </p:sp>
      <p:sp>
        <p:nvSpPr>
          <p:cNvPr id="3" name="Slide Number Placeholder 2">
            <a:extLst>
              <a:ext uri="{FF2B5EF4-FFF2-40B4-BE49-F238E27FC236}">
                <a16:creationId xmlns:a16="http://schemas.microsoft.com/office/drawing/2014/main" id="{B0559496-40CA-9141-A8E2-2F1EB47072CB}"/>
              </a:ext>
            </a:extLst>
          </p:cNvPr>
          <p:cNvSpPr>
            <a:spLocks noGrp="1"/>
          </p:cNvSpPr>
          <p:nvPr>
            <p:ph type="sldNum" sz="quarter" idx="12"/>
          </p:nvPr>
        </p:nvSpPr>
        <p:spPr/>
        <p:txBody>
          <a:bodyPr/>
          <a:lstStyle/>
          <a:p>
            <a:fld id="{53C7D256-7CB4-8D4B-B359-120D79D46DFF}" type="slidenum">
              <a:rPr lang="en-US" smtClean="0"/>
              <a:t>125</a:t>
            </a:fld>
            <a:endParaRPr lang="en-US"/>
          </a:p>
        </p:txBody>
      </p:sp>
      <p:sp>
        <p:nvSpPr>
          <p:cNvPr id="4" name="TextBox 3">
            <a:extLst>
              <a:ext uri="{FF2B5EF4-FFF2-40B4-BE49-F238E27FC236}">
                <a16:creationId xmlns:a16="http://schemas.microsoft.com/office/drawing/2014/main" id="{36B5FC34-8218-3743-BC15-F88727243B18}"/>
              </a:ext>
            </a:extLst>
          </p:cNvPr>
          <p:cNvSpPr txBox="1"/>
          <p:nvPr/>
        </p:nvSpPr>
        <p:spPr>
          <a:xfrm>
            <a:off x="653527" y="3258308"/>
            <a:ext cx="1820258" cy="300082"/>
          </a:xfrm>
          <a:prstGeom prst="rect">
            <a:avLst/>
          </a:prstGeom>
          <a:noFill/>
          <a:ln w="12700">
            <a:solidFill>
              <a:schemeClr val="dk2"/>
            </a:solidFill>
          </a:ln>
        </p:spPr>
        <p:txBody>
          <a:bodyPr wrap="square" rtlCol="0">
            <a:spAutoFit/>
          </a:bodyPr>
          <a:lstStyle/>
          <a:p>
            <a:r>
              <a:rPr lang="en-US" sz="1350" b="1" dirty="0"/>
              <a:t>Metadata</a:t>
            </a:r>
          </a:p>
        </p:txBody>
      </p:sp>
      <p:sp>
        <p:nvSpPr>
          <p:cNvPr id="5" name="TextBox 4">
            <a:extLst>
              <a:ext uri="{FF2B5EF4-FFF2-40B4-BE49-F238E27FC236}">
                <a16:creationId xmlns:a16="http://schemas.microsoft.com/office/drawing/2014/main" id="{9CD8D59D-AC95-CD4C-9ECE-E4F5079E20C2}"/>
              </a:ext>
            </a:extLst>
          </p:cNvPr>
          <p:cNvSpPr txBox="1"/>
          <p:nvPr/>
        </p:nvSpPr>
        <p:spPr>
          <a:xfrm>
            <a:off x="653527" y="3636749"/>
            <a:ext cx="1820258" cy="300082"/>
          </a:xfrm>
          <a:prstGeom prst="rect">
            <a:avLst/>
          </a:prstGeom>
          <a:noFill/>
          <a:ln w="12700">
            <a:solidFill>
              <a:schemeClr val="dk2"/>
            </a:solidFill>
          </a:ln>
        </p:spPr>
        <p:txBody>
          <a:bodyPr wrap="square" rtlCol="0">
            <a:spAutoFit/>
          </a:bodyPr>
          <a:lstStyle/>
          <a:p>
            <a:r>
              <a:rPr lang="en-US" sz="1350" b="1" dirty="0"/>
              <a:t>Payload</a:t>
            </a:r>
          </a:p>
        </p:txBody>
      </p:sp>
      <p:sp>
        <p:nvSpPr>
          <p:cNvPr id="6" name="TextBox 5">
            <a:extLst>
              <a:ext uri="{FF2B5EF4-FFF2-40B4-BE49-F238E27FC236}">
                <a16:creationId xmlns:a16="http://schemas.microsoft.com/office/drawing/2014/main" id="{4CC47BDE-F88E-2D41-A299-8B79C257F5B9}"/>
              </a:ext>
            </a:extLst>
          </p:cNvPr>
          <p:cNvSpPr txBox="1"/>
          <p:nvPr/>
        </p:nvSpPr>
        <p:spPr>
          <a:xfrm>
            <a:off x="653527" y="2859034"/>
            <a:ext cx="1820258" cy="300082"/>
          </a:xfrm>
          <a:prstGeom prst="rect">
            <a:avLst/>
          </a:prstGeom>
          <a:noFill/>
          <a:ln w="25400">
            <a:solidFill>
              <a:schemeClr val="dk2"/>
            </a:solidFill>
          </a:ln>
        </p:spPr>
        <p:txBody>
          <a:bodyPr wrap="square" rtlCol="0">
            <a:spAutoFit/>
          </a:bodyPr>
          <a:lstStyle/>
          <a:p>
            <a:r>
              <a:rPr lang="en-US" sz="1350" b="1" dirty="0"/>
              <a:t>Event</a:t>
            </a:r>
          </a:p>
        </p:txBody>
      </p:sp>
      <p:sp>
        <p:nvSpPr>
          <p:cNvPr id="7" name="TextBox 6">
            <a:extLst>
              <a:ext uri="{FF2B5EF4-FFF2-40B4-BE49-F238E27FC236}">
                <a16:creationId xmlns:a16="http://schemas.microsoft.com/office/drawing/2014/main" id="{E2F4FE86-0D96-524B-915C-D0B28C222396}"/>
              </a:ext>
            </a:extLst>
          </p:cNvPr>
          <p:cNvSpPr txBox="1"/>
          <p:nvPr/>
        </p:nvSpPr>
        <p:spPr>
          <a:xfrm>
            <a:off x="3212502" y="2469743"/>
            <a:ext cx="1820258" cy="300082"/>
          </a:xfrm>
          <a:prstGeom prst="rect">
            <a:avLst/>
          </a:prstGeom>
          <a:noFill/>
          <a:ln w="12700">
            <a:solidFill>
              <a:schemeClr val="dk2"/>
            </a:solidFill>
          </a:ln>
        </p:spPr>
        <p:txBody>
          <a:bodyPr wrap="square" rtlCol="0">
            <a:spAutoFit/>
          </a:bodyPr>
          <a:lstStyle/>
          <a:p>
            <a:r>
              <a:rPr lang="en-US" sz="1350" b="1" dirty="0"/>
              <a:t>Required Attributes</a:t>
            </a:r>
          </a:p>
        </p:txBody>
      </p:sp>
      <p:sp>
        <p:nvSpPr>
          <p:cNvPr id="8" name="TextBox 7">
            <a:extLst>
              <a:ext uri="{FF2B5EF4-FFF2-40B4-BE49-F238E27FC236}">
                <a16:creationId xmlns:a16="http://schemas.microsoft.com/office/drawing/2014/main" id="{35AF2F97-0E45-4C4D-9A13-FAECA54A6365}"/>
              </a:ext>
            </a:extLst>
          </p:cNvPr>
          <p:cNvSpPr txBox="1"/>
          <p:nvPr/>
        </p:nvSpPr>
        <p:spPr>
          <a:xfrm>
            <a:off x="3212502" y="3258308"/>
            <a:ext cx="1820258" cy="300082"/>
          </a:xfrm>
          <a:prstGeom prst="rect">
            <a:avLst/>
          </a:prstGeom>
          <a:noFill/>
          <a:ln w="12700">
            <a:solidFill>
              <a:schemeClr val="dk2"/>
            </a:solidFill>
          </a:ln>
        </p:spPr>
        <p:txBody>
          <a:bodyPr wrap="square" rtlCol="0">
            <a:spAutoFit/>
          </a:bodyPr>
          <a:lstStyle/>
          <a:p>
            <a:r>
              <a:rPr lang="en-US" sz="1350" b="1" dirty="0"/>
              <a:t>Optional Attributes</a:t>
            </a:r>
          </a:p>
        </p:txBody>
      </p:sp>
      <p:sp>
        <p:nvSpPr>
          <p:cNvPr id="9" name="TextBox 8">
            <a:extLst>
              <a:ext uri="{FF2B5EF4-FFF2-40B4-BE49-F238E27FC236}">
                <a16:creationId xmlns:a16="http://schemas.microsoft.com/office/drawing/2014/main" id="{ADF5E4BA-8F72-5E47-9346-D7F1B2E908BC}"/>
              </a:ext>
            </a:extLst>
          </p:cNvPr>
          <p:cNvSpPr txBox="1"/>
          <p:nvPr/>
        </p:nvSpPr>
        <p:spPr>
          <a:xfrm>
            <a:off x="3304990" y="5059078"/>
            <a:ext cx="1820258" cy="300082"/>
          </a:xfrm>
          <a:prstGeom prst="rect">
            <a:avLst/>
          </a:prstGeom>
          <a:noFill/>
          <a:ln w="12700">
            <a:solidFill>
              <a:schemeClr val="dk2"/>
            </a:solidFill>
          </a:ln>
        </p:spPr>
        <p:txBody>
          <a:bodyPr wrap="square" rtlCol="0">
            <a:spAutoFit/>
          </a:bodyPr>
          <a:lstStyle/>
          <a:p>
            <a:r>
              <a:rPr lang="en-US" sz="1350" b="1" dirty="0"/>
              <a:t>Data</a:t>
            </a:r>
          </a:p>
        </p:txBody>
      </p:sp>
      <p:cxnSp>
        <p:nvCxnSpPr>
          <p:cNvPr id="11" name="Straight Arrow Connector 10">
            <a:extLst>
              <a:ext uri="{FF2B5EF4-FFF2-40B4-BE49-F238E27FC236}">
                <a16:creationId xmlns:a16="http://schemas.microsoft.com/office/drawing/2014/main" id="{45BE3B3D-5E67-F145-9063-A5F2B22C1174}"/>
              </a:ext>
            </a:extLst>
          </p:cNvPr>
          <p:cNvCxnSpPr>
            <a:stCxn id="4" idx="3"/>
            <a:endCxn id="7" idx="1"/>
          </p:cNvCxnSpPr>
          <p:nvPr/>
        </p:nvCxnSpPr>
        <p:spPr>
          <a:xfrm flipV="1">
            <a:off x="2473785" y="2619784"/>
            <a:ext cx="738717" cy="788565"/>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7A32D5F-4346-FF4E-9BBF-923B1AD6DA22}"/>
              </a:ext>
            </a:extLst>
          </p:cNvPr>
          <p:cNvCxnSpPr>
            <a:cxnSpLocks/>
            <a:stCxn id="4" idx="3"/>
            <a:endCxn id="8" idx="1"/>
          </p:cNvCxnSpPr>
          <p:nvPr/>
        </p:nvCxnSpPr>
        <p:spPr>
          <a:xfrm>
            <a:off x="2473785" y="3408349"/>
            <a:ext cx="738717" cy="0"/>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6458029-C316-BA4A-B319-FEB84B53C6D8}"/>
              </a:ext>
            </a:extLst>
          </p:cNvPr>
          <p:cNvCxnSpPr>
            <a:cxnSpLocks/>
            <a:stCxn id="5" idx="3"/>
            <a:endCxn id="9" idx="1"/>
          </p:cNvCxnSpPr>
          <p:nvPr/>
        </p:nvCxnSpPr>
        <p:spPr>
          <a:xfrm>
            <a:off x="2473785" y="3786790"/>
            <a:ext cx="831205" cy="1422329"/>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C9E2668-39EE-1347-B920-668C351F693A}"/>
              </a:ext>
            </a:extLst>
          </p:cNvPr>
          <p:cNvSpPr txBox="1"/>
          <p:nvPr/>
        </p:nvSpPr>
        <p:spPr>
          <a:xfrm>
            <a:off x="6021592" y="1695760"/>
            <a:ext cx="1820258" cy="300082"/>
          </a:xfrm>
          <a:prstGeom prst="rect">
            <a:avLst/>
          </a:prstGeom>
          <a:noFill/>
          <a:ln w="12700">
            <a:solidFill>
              <a:schemeClr val="dk2"/>
            </a:solidFill>
          </a:ln>
        </p:spPr>
        <p:txBody>
          <a:bodyPr wrap="square" rtlCol="0">
            <a:spAutoFit/>
          </a:bodyPr>
          <a:lstStyle/>
          <a:p>
            <a:r>
              <a:rPr lang="en-US" sz="1350" b="1" dirty="0"/>
              <a:t>Id </a:t>
            </a:r>
            <a:r>
              <a:rPr lang="en-US" sz="1350" dirty="0"/>
              <a:t>-  unique identifier</a:t>
            </a:r>
          </a:p>
        </p:txBody>
      </p:sp>
      <p:sp>
        <p:nvSpPr>
          <p:cNvPr id="21" name="TextBox 20">
            <a:extLst>
              <a:ext uri="{FF2B5EF4-FFF2-40B4-BE49-F238E27FC236}">
                <a16:creationId xmlns:a16="http://schemas.microsoft.com/office/drawing/2014/main" id="{570846EF-A73F-2644-8B8E-E2C659EE79E2}"/>
              </a:ext>
            </a:extLst>
          </p:cNvPr>
          <p:cNvSpPr txBox="1"/>
          <p:nvPr/>
        </p:nvSpPr>
        <p:spPr>
          <a:xfrm>
            <a:off x="6021592" y="2123494"/>
            <a:ext cx="2208008" cy="300082"/>
          </a:xfrm>
          <a:prstGeom prst="rect">
            <a:avLst/>
          </a:prstGeom>
          <a:noFill/>
          <a:ln w="12700">
            <a:solidFill>
              <a:schemeClr val="dk2"/>
            </a:solidFill>
          </a:ln>
        </p:spPr>
        <p:txBody>
          <a:bodyPr wrap="square" rtlCol="0">
            <a:spAutoFit/>
          </a:bodyPr>
          <a:lstStyle/>
          <a:p>
            <a:r>
              <a:rPr lang="en-US" sz="1350" b="1" dirty="0"/>
              <a:t>source </a:t>
            </a:r>
            <a:r>
              <a:rPr lang="en-US" sz="1350" dirty="0"/>
              <a:t>-  production context</a:t>
            </a:r>
          </a:p>
        </p:txBody>
      </p:sp>
      <p:sp>
        <p:nvSpPr>
          <p:cNvPr id="22" name="Right Brace 21">
            <a:extLst>
              <a:ext uri="{FF2B5EF4-FFF2-40B4-BE49-F238E27FC236}">
                <a16:creationId xmlns:a16="http://schemas.microsoft.com/office/drawing/2014/main" id="{C9488DFF-6E2A-AC41-9B9B-35420BC506D5}"/>
              </a:ext>
            </a:extLst>
          </p:cNvPr>
          <p:cNvSpPr/>
          <p:nvPr/>
        </p:nvSpPr>
        <p:spPr>
          <a:xfrm>
            <a:off x="8326419" y="1695761"/>
            <a:ext cx="188931" cy="77398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3" name="TextBox 22">
            <a:extLst>
              <a:ext uri="{FF2B5EF4-FFF2-40B4-BE49-F238E27FC236}">
                <a16:creationId xmlns:a16="http://schemas.microsoft.com/office/drawing/2014/main" id="{F856BFF0-6F40-324D-9277-865544586607}"/>
              </a:ext>
            </a:extLst>
          </p:cNvPr>
          <p:cNvSpPr txBox="1"/>
          <p:nvPr/>
        </p:nvSpPr>
        <p:spPr>
          <a:xfrm>
            <a:off x="8547721" y="1956915"/>
            <a:ext cx="527125" cy="230832"/>
          </a:xfrm>
          <a:prstGeom prst="rect">
            <a:avLst/>
          </a:prstGeom>
          <a:noFill/>
        </p:spPr>
        <p:txBody>
          <a:bodyPr wrap="square" rtlCol="0">
            <a:spAutoFit/>
          </a:bodyPr>
          <a:lstStyle/>
          <a:p>
            <a:r>
              <a:rPr lang="en-US" sz="900" dirty="0"/>
              <a:t>Unique</a:t>
            </a:r>
          </a:p>
        </p:txBody>
      </p:sp>
      <p:cxnSp>
        <p:nvCxnSpPr>
          <p:cNvPr id="24" name="Straight Arrow Connector 23">
            <a:extLst>
              <a:ext uri="{FF2B5EF4-FFF2-40B4-BE49-F238E27FC236}">
                <a16:creationId xmlns:a16="http://schemas.microsoft.com/office/drawing/2014/main" id="{5796482B-A8AF-AB42-B166-F164737E4545}"/>
              </a:ext>
            </a:extLst>
          </p:cNvPr>
          <p:cNvCxnSpPr>
            <a:cxnSpLocks/>
            <a:stCxn id="7" idx="3"/>
            <a:endCxn id="18" idx="1"/>
          </p:cNvCxnSpPr>
          <p:nvPr/>
        </p:nvCxnSpPr>
        <p:spPr>
          <a:xfrm flipV="1">
            <a:off x="5032760" y="1845801"/>
            <a:ext cx="988832" cy="773983"/>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E8E486E-FAFE-4449-9262-E784BC1487EE}"/>
              </a:ext>
            </a:extLst>
          </p:cNvPr>
          <p:cNvCxnSpPr>
            <a:cxnSpLocks/>
            <a:stCxn id="7" idx="3"/>
            <a:endCxn id="21" idx="1"/>
          </p:cNvCxnSpPr>
          <p:nvPr/>
        </p:nvCxnSpPr>
        <p:spPr>
          <a:xfrm flipV="1">
            <a:off x="5032760" y="2273535"/>
            <a:ext cx="988832" cy="346249"/>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1182334-134D-4745-8869-FB4A904994BD}"/>
              </a:ext>
            </a:extLst>
          </p:cNvPr>
          <p:cNvSpPr txBox="1"/>
          <p:nvPr/>
        </p:nvSpPr>
        <p:spPr>
          <a:xfrm>
            <a:off x="6021592" y="2620478"/>
            <a:ext cx="2208008" cy="300082"/>
          </a:xfrm>
          <a:prstGeom prst="rect">
            <a:avLst/>
          </a:prstGeom>
          <a:noFill/>
          <a:ln w="12700">
            <a:solidFill>
              <a:schemeClr val="dk2"/>
            </a:solidFill>
          </a:ln>
        </p:spPr>
        <p:txBody>
          <a:bodyPr wrap="square" rtlCol="0">
            <a:spAutoFit/>
          </a:bodyPr>
          <a:lstStyle/>
          <a:p>
            <a:r>
              <a:rPr lang="en-US" sz="1350" b="1" dirty="0" err="1"/>
              <a:t>specversion</a:t>
            </a:r>
            <a:r>
              <a:rPr lang="en-US" sz="1350" b="1" dirty="0"/>
              <a:t> </a:t>
            </a:r>
            <a:r>
              <a:rPr lang="en-US" sz="1350" dirty="0"/>
              <a:t>-  CE version</a:t>
            </a:r>
          </a:p>
        </p:txBody>
      </p:sp>
      <p:cxnSp>
        <p:nvCxnSpPr>
          <p:cNvPr id="31" name="Straight Arrow Connector 30">
            <a:extLst>
              <a:ext uri="{FF2B5EF4-FFF2-40B4-BE49-F238E27FC236}">
                <a16:creationId xmlns:a16="http://schemas.microsoft.com/office/drawing/2014/main" id="{8D9ECB49-9DD5-934B-99A5-20925CF0007E}"/>
              </a:ext>
            </a:extLst>
          </p:cNvPr>
          <p:cNvCxnSpPr>
            <a:cxnSpLocks/>
            <a:stCxn id="7" idx="3"/>
            <a:endCxn id="30" idx="1"/>
          </p:cNvCxnSpPr>
          <p:nvPr/>
        </p:nvCxnSpPr>
        <p:spPr>
          <a:xfrm>
            <a:off x="5032760" y="2619784"/>
            <a:ext cx="988832" cy="150735"/>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70E6425-1C84-9C45-BDFD-11843CE6D1F9}"/>
              </a:ext>
            </a:extLst>
          </p:cNvPr>
          <p:cNvSpPr txBox="1"/>
          <p:nvPr/>
        </p:nvSpPr>
        <p:spPr>
          <a:xfrm>
            <a:off x="6021592" y="3105226"/>
            <a:ext cx="2208008" cy="300082"/>
          </a:xfrm>
          <a:prstGeom prst="rect">
            <a:avLst/>
          </a:prstGeom>
          <a:noFill/>
          <a:ln w="12700">
            <a:solidFill>
              <a:schemeClr val="dk2"/>
            </a:solidFill>
          </a:ln>
        </p:spPr>
        <p:txBody>
          <a:bodyPr wrap="square" rtlCol="0">
            <a:spAutoFit/>
          </a:bodyPr>
          <a:lstStyle/>
          <a:p>
            <a:r>
              <a:rPr lang="en-US" sz="1350" b="1" dirty="0"/>
              <a:t>type </a:t>
            </a:r>
            <a:r>
              <a:rPr lang="en-US" sz="1350" dirty="0"/>
              <a:t>-  name + version</a:t>
            </a:r>
          </a:p>
        </p:txBody>
      </p:sp>
      <p:cxnSp>
        <p:nvCxnSpPr>
          <p:cNvPr id="35" name="Straight Arrow Connector 34">
            <a:extLst>
              <a:ext uri="{FF2B5EF4-FFF2-40B4-BE49-F238E27FC236}">
                <a16:creationId xmlns:a16="http://schemas.microsoft.com/office/drawing/2014/main" id="{6D64AF26-1617-D24C-96C8-E0CB8392A387}"/>
              </a:ext>
            </a:extLst>
          </p:cNvPr>
          <p:cNvCxnSpPr>
            <a:cxnSpLocks/>
            <a:stCxn id="7" idx="3"/>
            <a:endCxn id="34" idx="1"/>
          </p:cNvCxnSpPr>
          <p:nvPr/>
        </p:nvCxnSpPr>
        <p:spPr>
          <a:xfrm>
            <a:off x="5032760" y="2619784"/>
            <a:ext cx="988832" cy="635483"/>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754AA3B6-4357-0946-97EB-30D82282311C}"/>
              </a:ext>
            </a:extLst>
          </p:cNvPr>
          <p:cNvSpPr txBox="1"/>
          <p:nvPr/>
        </p:nvSpPr>
        <p:spPr>
          <a:xfrm>
            <a:off x="6021592" y="3706996"/>
            <a:ext cx="2385509" cy="300082"/>
          </a:xfrm>
          <a:prstGeom prst="rect">
            <a:avLst/>
          </a:prstGeom>
          <a:noFill/>
          <a:ln w="12700">
            <a:solidFill>
              <a:schemeClr val="dk2"/>
            </a:solidFill>
          </a:ln>
        </p:spPr>
        <p:txBody>
          <a:bodyPr wrap="square" rtlCol="0">
            <a:spAutoFit/>
          </a:bodyPr>
          <a:lstStyle/>
          <a:p>
            <a:r>
              <a:rPr lang="en-US" sz="1350" b="1" dirty="0" err="1"/>
              <a:t>datacontenttype</a:t>
            </a:r>
            <a:r>
              <a:rPr lang="en-US" sz="1350" b="1" dirty="0"/>
              <a:t> </a:t>
            </a:r>
            <a:r>
              <a:rPr lang="en-US" sz="1350" dirty="0"/>
              <a:t>-  MIME type</a:t>
            </a:r>
          </a:p>
        </p:txBody>
      </p:sp>
      <p:cxnSp>
        <p:nvCxnSpPr>
          <p:cNvPr id="39" name="Straight Arrow Connector 38">
            <a:extLst>
              <a:ext uri="{FF2B5EF4-FFF2-40B4-BE49-F238E27FC236}">
                <a16:creationId xmlns:a16="http://schemas.microsoft.com/office/drawing/2014/main" id="{2EE6B5E6-D968-F647-9E4B-F26D2E1DBB7A}"/>
              </a:ext>
            </a:extLst>
          </p:cNvPr>
          <p:cNvCxnSpPr>
            <a:cxnSpLocks/>
            <a:endCxn id="38" idx="1"/>
          </p:cNvCxnSpPr>
          <p:nvPr/>
        </p:nvCxnSpPr>
        <p:spPr>
          <a:xfrm>
            <a:off x="5032760" y="3382226"/>
            <a:ext cx="988832" cy="474811"/>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FFFE3FC-1804-B446-B91D-331B0B6266C8}"/>
              </a:ext>
            </a:extLst>
          </p:cNvPr>
          <p:cNvSpPr txBox="1"/>
          <p:nvPr/>
        </p:nvSpPr>
        <p:spPr>
          <a:xfrm>
            <a:off x="6035376" y="4191745"/>
            <a:ext cx="2888093" cy="300082"/>
          </a:xfrm>
          <a:prstGeom prst="rect">
            <a:avLst/>
          </a:prstGeom>
          <a:noFill/>
          <a:ln w="12700">
            <a:solidFill>
              <a:schemeClr val="dk2"/>
            </a:solidFill>
          </a:ln>
        </p:spPr>
        <p:txBody>
          <a:bodyPr wrap="square" rtlCol="0">
            <a:spAutoFit/>
          </a:bodyPr>
          <a:lstStyle/>
          <a:p>
            <a:r>
              <a:rPr lang="en-US" sz="1350" b="1" dirty="0" err="1"/>
              <a:t>dataschema</a:t>
            </a:r>
            <a:r>
              <a:rPr lang="en-US" sz="1350" b="1" dirty="0"/>
              <a:t> </a:t>
            </a:r>
            <a:r>
              <a:rPr lang="en-US" sz="1350" dirty="0"/>
              <a:t>-  URI of payload schema</a:t>
            </a:r>
          </a:p>
        </p:txBody>
      </p:sp>
      <p:cxnSp>
        <p:nvCxnSpPr>
          <p:cNvPr id="43" name="Straight Arrow Connector 42">
            <a:extLst>
              <a:ext uri="{FF2B5EF4-FFF2-40B4-BE49-F238E27FC236}">
                <a16:creationId xmlns:a16="http://schemas.microsoft.com/office/drawing/2014/main" id="{AC7E309E-5928-D248-90A9-8925A50F9303}"/>
              </a:ext>
            </a:extLst>
          </p:cNvPr>
          <p:cNvCxnSpPr>
            <a:cxnSpLocks/>
            <a:endCxn id="41" idx="1"/>
          </p:cNvCxnSpPr>
          <p:nvPr/>
        </p:nvCxnSpPr>
        <p:spPr>
          <a:xfrm>
            <a:off x="5032760" y="3401520"/>
            <a:ext cx="1002616" cy="940266"/>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DD7312E-22D9-6A44-B39F-E832C36A0F68}"/>
              </a:ext>
            </a:extLst>
          </p:cNvPr>
          <p:cNvCxnSpPr>
            <a:cxnSpLocks/>
            <a:endCxn id="47" idx="1"/>
          </p:cNvCxnSpPr>
          <p:nvPr/>
        </p:nvCxnSpPr>
        <p:spPr>
          <a:xfrm>
            <a:off x="5163197" y="3515820"/>
            <a:ext cx="874532" cy="1244559"/>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F18A5A0-3B44-7840-A771-BE35D99CFBD0}"/>
              </a:ext>
            </a:extLst>
          </p:cNvPr>
          <p:cNvSpPr txBox="1"/>
          <p:nvPr/>
        </p:nvSpPr>
        <p:spPr>
          <a:xfrm>
            <a:off x="6037729" y="4610338"/>
            <a:ext cx="2385509" cy="300082"/>
          </a:xfrm>
          <a:prstGeom prst="rect">
            <a:avLst/>
          </a:prstGeom>
          <a:noFill/>
          <a:ln w="12700">
            <a:solidFill>
              <a:schemeClr val="dk2"/>
            </a:solidFill>
          </a:ln>
        </p:spPr>
        <p:txBody>
          <a:bodyPr wrap="square" rtlCol="0">
            <a:spAutoFit/>
          </a:bodyPr>
          <a:lstStyle/>
          <a:p>
            <a:r>
              <a:rPr lang="en-US" sz="1350" b="1" dirty="0"/>
              <a:t>subject </a:t>
            </a:r>
            <a:r>
              <a:rPr lang="en-US" sz="1350" dirty="0"/>
              <a:t>– qualifies source  </a:t>
            </a:r>
          </a:p>
        </p:txBody>
      </p:sp>
      <p:sp>
        <p:nvSpPr>
          <p:cNvPr id="49" name="TextBox 48">
            <a:extLst>
              <a:ext uri="{FF2B5EF4-FFF2-40B4-BE49-F238E27FC236}">
                <a16:creationId xmlns:a16="http://schemas.microsoft.com/office/drawing/2014/main" id="{3CAC85DA-B40A-034F-90B3-C39D6B20B580}"/>
              </a:ext>
            </a:extLst>
          </p:cNvPr>
          <p:cNvSpPr txBox="1"/>
          <p:nvPr/>
        </p:nvSpPr>
        <p:spPr>
          <a:xfrm>
            <a:off x="6035376" y="5069926"/>
            <a:ext cx="2385509" cy="300082"/>
          </a:xfrm>
          <a:prstGeom prst="rect">
            <a:avLst/>
          </a:prstGeom>
          <a:noFill/>
          <a:ln w="12700">
            <a:solidFill>
              <a:schemeClr val="dk2"/>
            </a:solidFill>
          </a:ln>
        </p:spPr>
        <p:txBody>
          <a:bodyPr wrap="square" rtlCol="0">
            <a:spAutoFit/>
          </a:bodyPr>
          <a:lstStyle/>
          <a:p>
            <a:r>
              <a:rPr lang="en-US" sz="1350" b="1" dirty="0"/>
              <a:t>time </a:t>
            </a:r>
            <a:r>
              <a:rPr lang="en-US" sz="1350" dirty="0"/>
              <a:t>– timestamp (Internet)  </a:t>
            </a:r>
          </a:p>
        </p:txBody>
      </p:sp>
      <p:cxnSp>
        <p:nvCxnSpPr>
          <p:cNvPr id="50" name="Straight Arrow Connector 49">
            <a:extLst>
              <a:ext uri="{FF2B5EF4-FFF2-40B4-BE49-F238E27FC236}">
                <a16:creationId xmlns:a16="http://schemas.microsoft.com/office/drawing/2014/main" id="{FEE6C49F-0CBA-D64D-81B0-914A49F4F5B4}"/>
              </a:ext>
            </a:extLst>
          </p:cNvPr>
          <p:cNvCxnSpPr>
            <a:cxnSpLocks/>
            <a:stCxn id="8" idx="3"/>
            <a:endCxn id="49" idx="1"/>
          </p:cNvCxnSpPr>
          <p:nvPr/>
        </p:nvCxnSpPr>
        <p:spPr>
          <a:xfrm>
            <a:off x="5032760" y="3408349"/>
            <a:ext cx="1002616" cy="1811618"/>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Google Shape;194;p29">
            <a:extLst>
              <a:ext uri="{FF2B5EF4-FFF2-40B4-BE49-F238E27FC236}">
                <a16:creationId xmlns:a16="http://schemas.microsoft.com/office/drawing/2014/main" id="{2AC082B3-DCFD-BCCA-F7E2-793E28452850}"/>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Cloud Events</a:t>
            </a:r>
            <a:endParaRPr dirty="0"/>
          </a:p>
        </p:txBody>
      </p:sp>
    </p:spTree>
    <p:extLst>
      <p:ext uri="{BB962C8B-B14F-4D97-AF65-F5344CB8AC3E}">
        <p14:creationId xmlns:p14="http://schemas.microsoft.com/office/powerpoint/2010/main" val="310361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8" grpId="0" animBg="1"/>
      <p:bldP spid="21" grpId="0" animBg="1"/>
      <p:bldP spid="30" grpId="0" animBg="1"/>
      <p:bldP spid="34" grpId="0" animBg="1"/>
      <p:bldP spid="38" grpId="0" animBg="1"/>
      <p:bldP spid="41" grpId="0" animBg="1"/>
      <p:bldP spid="47" grpId="0" animBg="1"/>
      <p:bldP spid="49"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55396D-7A9A-C546-8E26-4A2C7081A682}"/>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E267D069-5243-A346-A379-B6DB64230C9A}"/>
              </a:ext>
            </a:extLst>
          </p:cNvPr>
          <p:cNvSpPr>
            <a:spLocks noGrp="1"/>
          </p:cNvSpPr>
          <p:nvPr>
            <p:ph type="sldNum" sz="quarter" idx="12"/>
          </p:nvPr>
        </p:nvSpPr>
        <p:spPr/>
        <p:txBody>
          <a:bodyPr/>
          <a:lstStyle/>
          <a:p>
            <a:fld id="{53C7D256-7CB4-8D4B-B359-120D79D46DFF}" type="slidenum">
              <a:rPr lang="en-US" smtClean="0"/>
              <a:t>126</a:t>
            </a:fld>
            <a:endParaRPr lang="en-US"/>
          </a:p>
        </p:txBody>
      </p:sp>
      <p:sp>
        <p:nvSpPr>
          <p:cNvPr id="5" name="TextBox 4">
            <a:extLst>
              <a:ext uri="{FF2B5EF4-FFF2-40B4-BE49-F238E27FC236}">
                <a16:creationId xmlns:a16="http://schemas.microsoft.com/office/drawing/2014/main" id="{F07F8A3B-0839-2B44-8DAC-D6AC5BE98E08}"/>
              </a:ext>
            </a:extLst>
          </p:cNvPr>
          <p:cNvSpPr txBox="1"/>
          <p:nvPr/>
        </p:nvSpPr>
        <p:spPr>
          <a:xfrm>
            <a:off x="4031428" y="3152001"/>
            <a:ext cx="1081144" cy="300082"/>
          </a:xfrm>
          <a:prstGeom prst="rect">
            <a:avLst/>
          </a:prstGeom>
          <a:noFill/>
          <a:ln w="25400">
            <a:solidFill>
              <a:schemeClr val="dk2"/>
            </a:solidFill>
          </a:ln>
        </p:spPr>
        <p:txBody>
          <a:bodyPr wrap="square" rtlCol="0">
            <a:spAutoFit/>
          </a:bodyPr>
          <a:lstStyle/>
          <a:p>
            <a:r>
              <a:rPr lang="en-US" sz="1350" b="1" dirty="0" err="1"/>
              <a:t>CloudEvent</a:t>
            </a:r>
            <a:endParaRPr lang="en-US" sz="1350" b="1" dirty="0"/>
          </a:p>
        </p:txBody>
      </p:sp>
      <p:sp>
        <p:nvSpPr>
          <p:cNvPr id="6" name="TextBox 5">
            <a:extLst>
              <a:ext uri="{FF2B5EF4-FFF2-40B4-BE49-F238E27FC236}">
                <a16:creationId xmlns:a16="http://schemas.microsoft.com/office/drawing/2014/main" id="{C7DDB87C-3DAA-8B44-9BE2-759F20275DD7}"/>
              </a:ext>
            </a:extLst>
          </p:cNvPr>
          <p:cNvSpPr txBox="1"/>
          <p:nvPr/>
        </p:nvSpPr>
        <p:spPr>
          <a:xfrm>
            <a:off x="5487745" y="2227042"/>
            <a:ext cx="1820258" cy="300082"/>
          </a:xfrm>
          <a:prstGeom prst="rect">
            <a:avLst/>
          </a:prstGeom>
          <a:noFill/>
          <a:ln w="12700">
            <a:solidFill>
              <a:schemeClr val="dk2"/>
            </a:solidFill>
          </a:ln>
        </p:spPr>
        <p:txBody>
          <a:bodyPr wrap="square" rtlCol="0">
            <a:spAutoFit/>
          </a:bodyPr>
          <a:lstStyle/>
          <a:p>
            <a:r>
              <a:rPr lang="en-US" sz="1350" b="1" dirty="0"/>
              <a:t>Binary</a:t>
            </a:r>
          </a:p>
        </p:txBody>
      </p:sp>
      <p:sp>
        <p:nvSpPr>
          <p:cNvPr id="7" name="TextBox 6">
            <a:extLst>
              <a:ext uri="{FF2B5EF4-FFF2-40B4-BE49-F238E27FC236}">
                <a16:creationId xmlns:a16="http://schemas.microsoft.com/office/drawing/2014/main" id="{3ACDDC0B-F53A-AF4A-B039-50F7CC10A82A}"/>
              </a:ext>
            </a:extLst>
          </p:cNvPr>
          <p:cNvSpPr txBox="1"/>
          <p:nvPr/>
        </p:nvSpPr>
        <p:spPr>
          <a:xfrm>
            <a:off x="5487745" y="4249757"/>
            <a:ext cx="1820258" cy="300082"/>
          </a:xfrm>
          <a:prstGeom prst="rect">
            <a:avLst/>
          </a:prstGeom>
          <a:noFill/>
          <a:ln w="12700">
            <a:solidFill>
              <a:schemeClr val="dk2"/>
            </a:solidFill>
          </a:ln>
        </p:spPr>
        <p:txBody>
          <a:bodyPr wrap="square" rtlCol="0">
            <a:spAutoFit/>
          </a:bodyPr>
          <a:lstStyle/>
          <a:p>
            <a:r>
              <a:rPr lang="en-US" sz="1350" b="1" dirty="0"/>
              <a:t>Structured</a:t>
            </a:r>
          </a:p>
        </p:txBody>
      </p:sp>
      <p:cxnSp>
        <p:nvCxnSpPr>
          <p:cNvPr id="8" name="Straight Arrow Connector 7">
            <a:extLst>
              <a:ext uri="{FF2B5EF4-FFF2-40B4-BE49-F238E27FC236}">
                <a16:creationId xmlns:a16="http://schemas.microsoft.com/office/drawing/2014/main" id="{D7C3DCB3-1B48-7E4E-A8D2-29D2FF21F762}"/>
              </a:ext>
            </a:extLst>
          </p:cNvPr>
          <p:cNvCxnSpPr>
            <a:cxnSpLocks/>
            <a:stCxn id="5" idx="0"/>
            <a:endCxn id="6" idx="1"/>
          </p:cNvCxnSpPr>
          <p:nvPr/>
        </p:nvCxnSpPr>
        <p:spPr>
          <a:xfrm flipV="1">
            <a:off x="4572000" y="2377083"/>
            <a:ext cx="915745" cy="774918"/>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D095DA0-0E06-164C-8FBE-81A3056D9B05}"/>
              </a:ext>
            </a:extLst>
          </p:cNvPr>
          <p:cNvCxnSpPr>
            <a:cxnSpLocks/>
            <a:stCxn id="5" idx="2"/>
            <a:endCxn id="7" idx="1"/>
          </p:cNvCxnSpPr>
          <p:nvPr/>
        </p:nvCxnSpPr>
        <p:spPr>
          <a:xfrm>
            <a:off x="4572000" y="3452083"/>
            <a:ext cx="915745" cy="947715"/>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AB7AB74-7219-8B44-A146-023668805401}"/>
              </a:ext>
            </a:extLst>
          </p:cNvPr>
          <p:cNvSpPr txBox="1"/>
          <p:nvPr/>
        </p:nvSpPr>
        <p:spPr>
          <a:xfrm>
            <a:off x="5567082" y="1536465"/>
            <a:ext cx="1629784" cy="415498"/>
          </a:xfrm>
          <a:prstGeom prst="rect">
            <a:avLst/>
          </a:prstGeom>
          <a:noFill/>
        </p:spPr>
        <p:txBody>
          <a:bodyPr wrap="square" rtlCol="0">
            <a:spAutoFit/>
          </a:bodyPr>
          <a:lstStyle/>
          <a:p>
            <a:r>
              <a:rPr lang="en-US" sz="2100" u="sng" dirty="0"/>
              <a:t>Binding Type</a:t>
            </a:r>
          </a:p>
        </p:txBody>
      </p:sp>
      <p:sp>
        <p:nvSpPr>
          <p:cNvPr id="15" name="TextBox 14">
            <a:extLst>
              <a:ext uri="{FF2B5EF4-FFF2-40B4-BE49-F238E27FC236}">
                <a16:creationId xmlns:a16="http://schemas.microsoft.com/office/drawing/2014/main" id="{3DA6FB8C-D100-2440-B09A-4C0E059CE5F2}"/>
              </a:ext>
            </a:extLst>
          </p:cNvPr>
          <p:cNvSpPr txBox="1"/>
          <p:nvPr/>
        </p:nvSpPr>
        <p:spPr>
          <a:xfrm>
            <a:off x="5487745" y="2624194"/>
            <a:ext cx="3548679" cy="507831"/>
          </a:xfrm>
          <a:prstGeom prst="rect">
            <a:avLst/>
          </a:prstGeom>
          <a:noFill/>
          <a:ln>
            <a:solidFill>
              <a:schemeClr val="accent1"/>
            </a:solidFill>
          </a:ln>
        </p:spPr>
        <p:txBody>
          <a:bodyPr wrap="square" rtlCol="0">
            <a:spAutoFit/>
          </a:bodyPr>
          <a:lstStyle/>
          <a:p>
            <a:r>
              <a:rPr lang="en-US" sz="1350" dirty="0"/>
              <a:t>Uses the protocol’s native approach to metadata</a:t>
            </a:r>
          </a:p>
        </p:txBody>
      </p:sp>
      <p:sp>
        <p:nvSpPr>
          <p:cNvPr id="16" name="TextBox 15">
            <a:extLst>
              <a:ext uri="{FF2B5EF4-FFF2-40B4-BE49-F238E27FC236}">
                <a16:creationId xmlns:a16="http://schemas.microsoft.com/office/drawing/2014/main" id="{1B140A10-327A-A349-8D90-6E0807E372EF}"/>
              </a:ext>
            </a:extLst>
          </p:cNvPr>
          <p:cNvSpPr txBox="1"/>
          <p:nvPr/>
        </p:nvSpPr>
        <p:spPr>
          <a:xfrm>
            <a:off x="5487745" y="4729385"/>
            <a:ext cx="3548679" cy="300082"/>
          </a:xfrm>
          <a:prstGeom prst="rect">
            <a:avLst/>
          </a:prstGeom>
          <a:noFill/>
          <a:ln>
            <a:solidFill>
              <a:schemeClr val="accent1"/>
            </a:solidFill>
          </a:ln>
        </p:spPr>
        <p:txBody>
          <a:bodyPr wrap="square" rtlCol="0">
            <a:spAutoFit/>
          </a:bodyPr>
          <a:lstStyle/>
          <a:p>
            <a:r>
              <a:rPr lang="en-US" sz="1350" dirty="0"/>
              <a:t>Adds headers to the payload (envelope)</a:t>
            </a:r>
          </a:p>
        </p:txBody>
      </p:sp>
      <p:sp>
        <p:nvSpPr>
          <p:cNvPr id="18" name="TextBox 17">
            <a:extLst>
              <a:ext uri="{FF2B5EF4-FFF2-40B4-BE49-F238E27FC236}">
                <a16:creationId xmlns:a16="http://schemas.microsoft.com/office/drawing/2014/main" id="{A5124CD7-C3BF-784F-9CF7-02183293DC0A}"/>
              </a:ext>
            </a:extLst>
          </p:cNvPr>
          <p:cNvSpPr txBox="1"/>
          <p:nvPr/>
        </p:nvSpPr>
        <p:spPr>
          <a:xfrm>
            <a:off x="1099099" y="1790380"/>
            <a:ext cx="1820258" cy="300082"/>
          </a:xfrm>
          <a:prstGeom prst="rect">
            <a:avLst/>
          </a:prstGeom>
          <a:noFill/>
          <a:ln w="12700">
            <a:solidFill>
              <a:schemeClr val="dk2"/>
            </a:solidFill>
          </a:ln>
        </p:spPr>
        <p:txBody>
          <a:bodyPr wrap="square" rtlCol="0">
            <a:spAutoFit/>
          </a:bodyPr>
          <a:lstStyle/>
          <a:p>
            <a:r>
              <a:rPr lang="en-US" sz="1350" b="1" dirty="0" err="1"/>
              <a:t>amqp</a:t>
            </a:r>
            <a:r>
              <a:rPr lang="en-US" sz="1350" b="1" dirty="0"/>
              <a:t> 1-0</a:t>
            </a:r>
          </a:p>
        </p:txBody>
      </p:sp>
      <p:sp>
        <p:nvSpPr>
          <p:cNvPr id="19" name="TextBox 18">
            <a:extLst>
              <a:ext uri="{FF2B5EF4-FFF2-40B4-BE49-F238E27FC236}">
                <a16:creationId xmlns:a16="http://schemas.microsoft.com/office/drawing/2014/main" id="{7C882E12-DBE1-DA46-B223-407FE3531660}"/>
              </a:ext>
            </a:extLst>
          </p:cNvPr>
          <p:cNvSpPr txBox="1"/>
          <p:nvPr/>
        </p:nvSpPr>
        <p:spPr>
          <a:xfrm>
            <a:off x="1099099" y="2189492"/>
            <a:ext cx="1820258" cy="300082"/>
          </a:xfrm>
          <a:prstGeom prst="rect">
            <a:avLst/>
          </a:prstGeom>
          <a:noFill/>
          <a:ln w="12700">
            <a:solidFill>
              <a:schemeClr val="dk2"/>
            </a:solidFill>
          </a:ln>
        </p:spPr>
        <p:txBody>
          <a:bodyPr wrap="square" rtlCol="0">
            <a:spAutoFit/>
          </a:bodyPr>
          <a:lstStyle/>
          <a:p>
            <a:r>
              <a:rPr lang="en-US" sz="1350" b="1" dirty="0" err="1"/>
              <a:t>avro</a:t>
            </a:r>
            <a:endParaRPr lang="en-US" sz="1350" b="1" dirty="0"/>
          </a:p>
        </p:txBody>
      </p:sp>
      <p:sp>
        <p:nvSpPr>
          <p:cNvPr id="20" name="TextBox 19">
            <a:extLst>
              <a:ext uri="{FF2B5EF4-FFF2-40B4-BE49-F238E27FC236}">
                <a16:creationId xmlns:a16="http://schemas.microsoft.com/office/drawing/2014/main" id="{0CF7BBB7-1B24-E441-818E-1353B59B4256}"/>
              </a:ext>
            </a:extLst>
          </p:cNvPr>
          <p:cNvSpPr txBox="1"/>
          <p:nvPr/>
        </p:nvSpPr>
        <p:spPr>
          <a:xfrm>
            <a:off x="1099099" y="2619457"/>
            <a:ext cx="1820258" cy="300082"/>
          </a:xfrm>
          <a:prstGeom prst="rect">
            <a:avLst/>
          </a:prstGeom>
          <a:noFill/>
          <a:ln w="12700">
            <a:solidFill>
              <a:schemeClr val="dk2"/>
            </a:solidFill>
          </a:ln>
        </p:spPr>
        <p:txBody>
          <a:bodyPr wrap="square" rtlCol="0">
            <a:spAutoFit/>
          </a:bodyPr>
          <a:lstStyle/>
          <a:p>
            <a:r>
              <a:rPr lang="en-US" sz="1350" b="1" dirty="0"/>
              <a:t>http</a:t>
            </a:r>
          </a:p>
        </p:txBody>
      </p:sp>
      <p:sp>
        <p:nvSpPr>
          <p:cNvPr id="21" name="TextBox 20">
            <a:extLst>
              <a:ext uri="{FF2B5EF4-FFF2-40B4-BE49-F238E27FC236}">
                <a16:creationId xmlns:a16="http://schemas.microsoft.com/office/drawing/2014/main" id="{0A40CF5C-F26B-0542-950C-D2B0DB9B6860}"/>
              </a:ext>
            </a:extLst>
          </p:cNvPr>
          <p:cNvSpPr txBox="1"/>
          <p:nvPr/>
        </p:nvSpPr>
        <p:spPr>
          <a:xfrm>
            <a:off x="1099099" y="3088222"/>
            <a:ext cx="1820258" cy="300082"/>
          </a:xfrm>
          <a:prstGeom prst="rect">
            <a:avLst/>
          </a:prstGeom>
          <a:noFill/>
          <a:ln w="12700">
            <a:solidFill>
              <a:schemeClr val="dk2"/>
            </a:solidFill>
          </a:ln>
        </p:spPr>
        <p:txBody>
          <a:bodyPr wrap="square" rtlCol="0">
            <a:spAutoFit/>
          </a:bodyPr>
          <a:lstStyle/>
          <a:p>
            <a:r>
              <a:rPr lang="en-US" sz="1350" b="1" dirty="0"/>
              <a:t>http-webhooks</a:t>
            </a:r>
          </a:p>
        </p:txBody>
      </p:sp>
      <p:sp>
        <p:nvSpPr>
          <p:cNvPr id="22" name="TextBox 21">
            <a:extLst>
              <a:ext uri="{FF2B5EF4-FFF2-40B4-BE49-F238E27FC236}">
                <a16:creationId xmlns:a16="http://schemas.microsoft.com/office/drawing/2014/main" id="{04EE84E4-3D07-244D-BCB4-FC500A98164E}"/>
              </a:ext>
            </a:extLst>
          </p:cNvPr>
          <p:cNvSpPr txBox="1"/>
          <p:nvPr/>
        </p:nvSpPr>
        <p:spPr>
          <a:xfrm>
            <a:off x="1099099" y="3558573"/>
            <a:ext cx="1820258" cy="300082"/>
          </a:xfrm>
          <a:prstGeom prst="rect">
            <a:avLst/>
          </a:prstGeom>
          <a:noFill/>
          <a:ln w="12700">
            <a:solidFill>
              <a:schemeClr val="dk2"/>
            </a:solidFill>
          </a:ln>
        </p:spPr>
        <p:txBody>
          <a:bodyPr wrap="square" rtlCol="0">
            <a:spAutoFit/>
          </a:bodyPr>
          <a:lstStyle/>
          <a:p>
            <a:r>
              <a:rPr lang="en-US" sz="1350" b="1" dirty="0" err="1"/>
              <a:t>kafka</a:t>
            </a:r>
            <a:endParaRPr lang="en-US" sz="1350" b="1" dirty="0"/>
          </a:p>
        </p:txBody>
      </p:sp>
      <p:sp>
        <p:nvSpPr>
          <p:cNvPr id="23" name="TextBox 22">
            <a:extLst>
              <a:ext uri="{FF2B5EF4-FFF2-40B4-BE49-F238E27FC236}">
                <a16:creationId xmlns:a16="http://schemas.microsoft.com/office/drawing/2014/main" id="{839B3CF2-0A9B-A342-9AEC-502B077D221C}"/>
              </a:ext>
            </a:extLst>
          </p:cNvPr>
          <p:cNvSpPr txBox="1"/>
          <p:nvPr/>
        </p:nvSpPr>
        <p:spPr>
          <a:xfrm>
            <a:off x="1099099" y="4015725"/>
            <a:ext cx="1820258" cy="300082"/>
          </a:xfrm>
          <a:prstGeom prst="rect">
            <a:avLst/>
          </a:prstGeom>
          <a:noFill/>
          <a:ln w="12700">
            <a:solidFill>
              <a:schemeClr val="dk2"/>
            </a:solidFill>
          </a:ln>
        </p:spPr>
        <p:txBody>
          <a:bodyPr wrap="square" rtlCol="0">
            <a:spAutoFit/>
          </a:bodyPr>
          <a:lstStyle/>
          <a:p>
            <a:r>
              <a:rPr lang="en-US" sz="1350" b="1" dirty="0" err="1"/>
              <a:t>mqtt</a:t>
            </a:r>
            <a:endParaRPr lang="en-US" sz="1350" b="1" dirty="0"/>
          </a:p>
        </p:txBody>
      </p:sp>
      <p:sp>
        <p:nvSpPr>
          <p:cNvPr id="24" name="TextBox 23">
            <a:extLst>
              <a:ext uri="{FF2B5EF4-FFF2-40B4-BE49-F238E27FC236}">
                <a16:creationId xmlns:a16="http://schemas.microsoft.com/office/drawing/2014/main" id="{8C3F4BE2-1FE9-3744-A1CB-1D425B081BA6}"/>
              </a:ext>
            </a:extLst>
          </p:cNvPr>
          <p:cNvSpPr txBox="1"/>
          <p:nvPr/>
        </p:nvSpPr>
        <p:spPr>
          <a:xfrm>
            <a:off x="1099099" y="4507739"/>
            <a:ext cx="1820258" cy="300082"/>
          </a:xfrm>
          <a:prstGeom prst="rect">
            <a:avLst/>
          </a:prstGeom>
          <a:noFill/>
          <a:ln w="12700">
            <a:solidFill>
              <a:schemeClr val="dk2"/>
            </a:solidFill>
          </a:ln>
        </p:spPr>
        <p:txBody>
          <a:bodyPr wrap="square" rtlCol="0">
            <a:spAutoFit/>
          </a:bodyPr>
          <a:lstStyle/>
          <a:p>
            <a:r>
              <a:rPr lang="en-US" sz="1350" b="1" dirty="0" err="1"/>
              <a:t>nats</a:t>
            </a:r>
            <a:endParaRPr lang="en-US" sz="1350" b="1" dirty="0"/>
          </a:p>
        </p:txBody>
      </p:sp>
      <p:sp>
        <p:nvSpPr>
          <p:cNvPr id="25" name="TextBox 24">
            <a:extLst>
              <a:ext uri="{FF2B5EF4-FFF2-40B4-BE49-F238E27FC236}">
                <a16:creationId xmlns:a16="http://schemas.microsoft.com/office/drawing/2014/main" id="{54C03579-6A5B-B940-A80F-E7DCE18703AC}"/>
              </a:ext>
            </a:extLst>
          </p:cNvPr>
          <p:cNvSpPr txBox="1"/>
          <p:nvPr/>
        </p:nvSpPr>
        <p:spPr>
          <a:xfrm>
            <a:off x="1099099" y="4929120"/>
            <a:ext cx="1820258" cy="300082"/>
          </a:xfrm>
          <a:prstGeom prst="rect">
            <a:avLst/>
          </a:prstGeom>
          <a:noFill/>
          <a:ln w="12700">
            <a:solidFill>
              <a:schemeClr val="dk2"/>
            </a:solidFill>
          </a:ln>
        </p:spPr>
        <p:txBody>
          <a:bodyPr wrap="square" rtlCol="0">
            <a:spAutoFit/>
          </a:bodyPr>
          <a:lstStyle/>
          <a:p>
            <a:r>
              <a:rPr lang="en-US" sz="1350" b="1" dirty="0" err="1"/>
              <a:t>protobuf</a:t>
            </a:r>
            <a:endParaRPr lang="en-US" sz="1350" b="1" dirty="0"/>
          </a:p>
        </p:txBody>
      </p:sp>
      <p:sp>
        <p:nvSpPr>
          <p:cNvPr id="26" name="TextBox 25">
            <a:extLst>
              <a:ext uri="{FF2B5EF4-FFF2-40B4-BE49-F238E27FC236}">
                <a16:creationId xmlns:a16="http://schemas.microsoft.com/office/drawing/2014/main" id="{6E38E24F-F3FA-CD48-84F1-4B661CE6CCE5}"/>
              </a:ext>
            </a:extLst>
          </p:cNvPr>
          <p:cNvSpPr txBox="1"/>
          <p:nvPr/>
        </p:nvSpPr>
        <p:spPr>
          <a:xfrm>
            <a:off x="1099099" y="5390762"/>
            <a:ext cx="1820258" cy="300082"/>
          </a:xfrm>
          <a:prstGeom prst="rect">
            <a:avLst/>
          </a:prstGeom>
          <a:noFill/>
          <a:ln w="12700">
            <a:solidFill>
              <a:schemeClr val="dk2"/>
            </a:solidFill>
          </a:ln>
        </p:spPr>
        <p:txBody>
          <a:bodyPr wrap="square" rtlCol="0">
            <a:spAutoFit/>
          </a:bodyPr>
          <a:lstStyle/>
          <a:p>
            <a:r>
              <a:rPr lang="en-US" sz="1350" b="1" dirty="0" err="1"/>
              <a:t>websockets</a:t>
            </a:r>
            <a:endParaRPr lang="en-US" sz="1350" b="1" dirty="0"/>
          </a:p>
        </p:txBody>
      </p:sp>
      <p:cxnSp>
        <p:nvCxnSpPr>
          <p:cNvPr id="27" name="Straight Arrow Connector 26">
            <a:extLst>
              <a:ext uri="{FF2B5EF4-FFF2-40B4-BE49-F238E27FC236}">
                <a16:creationId xmlns:a16="http://schemas.microsoft.com/office/drawing/2014/main" id="{70127027-06CD-7341-9876-BCF89F43EDF4}"/>
              </a:ext>
            </a:extLst>
          </p:cNvPr>
          <p:cNvCxnSpPr>
            <a:cxnSpLocks/>
            <a:stCxn id="5" idx="1"/>
            <a:endCxn id="18" idx="3"/>
          </p:cNvCxnSpPr>
          <p:nvPr/>
        </p:nvCxnSpPr>
        <p:spPr>
          <a:xfrm flipH="1" flipV="1">
            <a:off x="2919357" y="1940421"/>
            <a:ext cx="1112071" cy="1361621"/>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9494DD-99F2-FF4F-BABF-6A852FA871C8}"/>
              </a:ext>
            </a:extLst>
          </p:cNvPr>
          <p:cNvCxnSpPr>
            <a:cxnSpLocks/>
            <a:stCxn id="5" idx="1"/>
            <a:endCxn id="19" idx="3"/>
          </p:cNvCxnSpPr>
          <p:nvPr/>
        </p:nvCxnSpPr>
        <p:spPr>
          <a:xfrm flipH="1" flipV="1">
            <a:off x="2919357" y="2339533"/>
            <a:ext cx="1112071" cy="962509"/>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448216-F1FF-AC40-A01F-1442C3191253}"/>
              </a:ext>
            </a:extLst>
          </p:cNvPr>
          <p:cNvCxnSpPr>
            <a:cxnSpLocks/>
            <a:stCxn id="5" idx="1"/>
            <a:endCxn id="20" idx="3"/>
          </p:cNvCxnSpPr>
          <p:nvPr/>
        </p:nvCxnSpPr>
        <p:spPr>
          <a:xfrm flipH="1" flipV="1">
            <a:off x="2919357" y="2769498"/>
            <a:ext cx="1112071" cy="532544"/>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463D9C0-A762-D342-BB5E-6E6A5902B27F}"/>
              </a:ext>
            </a:extLst>
          </p:cNvPr>
          <p:cNvCxnSpPr>
            <a:cxnSpLocks/>
            <a:stCxn id="5" idx="1"/>
            <a:endCxn id="21" idx="3"/>
          </p:cNvCxnSpPr>
          <p:nvPr/>
        </p:nvCxnSpPr>
        <p:spPr>
          <a:xfrm flipH="1" flipV="1">
            <a:off x="2919357" y="3238263"/>
            <a:ext cx="1112071" cy="63779"/>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9F7697A-2E95-064D-B1E3-60E36EF8D640}"/>
              </a:ext>
            </a:extLst>
          </p:cNvPr>
          <p:cNvCxnSpPr>
            <a:cxnSpLocks/>
            <a:stCxn id="5" idx="1"/>
            <a:endCxn id="22" idx="3"/>
          </p:cNvCxnSpPr>
          <p:nvPr/>
        </p:nvCxnSpPr>
        <p:spPr>
          <a:xfrm flipH="1">
            <a:off x="2919357" y="3302042"/>
            <a:ext cx="1112071" cy="406572"/>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7ABF89F-E770-E343-92F3-199654680F45}"/>
              </a:ext>
            </a:extLst>
          </p:cNvPr>
          <p:cNvCxnSpPr>
            <a:cxnSpLocks/>
            <a:stCxn id="5" idx="1"/>
            <a:endCxn id="23" idx="3"/>
          </p:cNvCxnSpPr>
          <p:nvPr/>
        </p:nvCxnSpPr>
        <p:spPr>
          <a:xfrm flipH="1">
            <a:off x="2919357" y="3302042"/>
            <a:ext cx="1112071" cy="863724"/>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6FBF477-E33C-C848-80AE-9B7E42EDC2B9}"/>
              </a:ext>
            </a:extLst>
          </p:cNvPr>
          <p:cNvCxnSpPr>
            <a:cxnSpLocks/>
            <a:stCxn id="5" idx="1"/>
            <a:endCxn id="24" idx="3"/>
          </p:cNvCxnSpPr>
          <p:nvPr/>
        </p:nvCxnSpPr>
        <p:spPr>
          <a:xfrm flipH="1">
            <a:off x="2919357" y="3302042"/>
            <a:ext cx="1112071" cy="1355738"/>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5559D11-7C5C-5846-9B27-CC27400C1099}"/>
              </a:ext>
            </a:extLst>
          </p:cNvPr>
          <p:cNvCxnSpPr>
            <a:cxnSpLocks/>
            <a:stCxn id="5" idx="1"/>
            <a:endCxn id="25" idx="3"/>
          </p:cNvCxnSpPr>
          <p:nvPr/>
        </p:nvCxnSpPr>
        <p:spPr>
          <a:xfrm flipH="1">
            <a:off x="2919357" y="3302042"/>
            <a:ext cx="1112071" cy="1777119"/>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DC9CB4C-9EFE-044D-87D1-8B7A70802AEF}"/>
              </a:ext>
            </a:extLst>
          </p:cNvPr>
          <p:cNvCxnSpPr>
            <a:cxnSpLocks/>
            <a:stCxn id="5" idx="1"/>
            <a:endCxn id="26" idx="3"/>
          </p:cNvCxnSpPr>
          <p:nvPr/>
        </p:nvCxnSpPr>
        <p:spPr>
          <a:xfrm flipH="1">
            <a:off x="2919357" y="3302042"/>
            <a:ext cx="1112071" cy="2238761"/>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Google Shape;194;p29">
            <a:extLst>
              <a:ext uri="{FF2B5EF4-FFF2-40B4-BE49-F238E27FC236}">
                <a16:creationId xmlns:a16="http://schemas.microsoft.com/office/drawing/2014/main" id="{ACEAE4E9-49B7-24B9-E4F7-EFE30442EA55}"/>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Protocol Binding</a:t>
            </a:r>
            <a:endParaRPr dirty="0"/>
          </a:p>
        </p:txBody>
      </p:sp>
    </p:spTree>
    <p:extLst>
      <p:ext uri="{BB962C8B-B14F-4D97-AF65-F5344CB8AC3E}">
        <p14:creationId xmlns:p14="http://schemas.microsoft.com/office/powerpoint/2010/main" val="230581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4" grpId="0"/>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18A9BC-974F-3746-837C-65C2D9550F68}"/>
              </a:ext>
            </a:extLst>
          </p:cNvPr>
          <p:cNvSpPr/>
          <p:nvPr/>
        </p:nvSpPr>
        <p:spPr>
          <a:xfrm>
            <a:off x="571701" y="2342173"/>
            <a:ext cx="3168127" cy="2677656"/>
          </a:xfrm>
          <a:prstGeom prst="rect">
            <a:avLst/>
          </a:prstGeom>
          <a:ln w="12700">
            <a:solidFill>
              <a:schemeClr val="accent1"/>
            </a:solidFill>
          </a:ln>
        </p:spPr>
        <p:txBody>
          <a:bodyPr wrap="square">
            <a:spAutoFit/>
          </a:bodyPr>
          <a:lstStyle/>
          <a:p>
            <a:r>
              <a:rPr lang="en-GB" sz="1200" dirty="0"/>
              <a:t>------------------ Message ------------------- </a:t>
            </a:r>
          </a:p>
          <a:p>
            <a:r>
              <a:rPr lang="en-GB" sz="1200" dirty="0"/>
              <a:t>Topic Name: </a:t>
            </a:r>
            <a:r>
              <a:rPr lang="en-GB" sz="1200" dirty="0" err="1"/>
              <a:t>mytopic</a:t>
            </a:r>
            <a:endParaRPr lang="en-GB" sz="1200" dirty="0"/>
          </a:p>
          <a:p>
            <a:r>
              <a:rPr lang="en-GB" sz="1200" dirty="0"/>
              <a:t> ------------------- key ---------------------- </a:t>
            </a:r>
          </a:p>
          <a:p>
            <a:r>
              <a:rPr lang="en-GB" sz="1200" dirty="0"/>
              <a:t>Key: </a:t>
            </a:r>
            <a:r>
              <a:rPr lang="en-GB" sz="1200" dirty="0" err="1"/>
              <a:t>mykey</a:t>
            </a:r>
            <a:r>
              <a:rPr lang="en-GB" sz="1200" dirty="0"/>
              <a:t> </a:t>
            </a:r>
          </a:p>
          <a:p>
            <a:r>
              <a:rPr lang="en-GB" sz="1200" dirty="0"/>
              <a:t>------------------ headers ------------------- </a:t>
            </a:r>
            <a:r>
              <a:rPr lang="en-GB" sz="1200" dirty="0" err="1"/>
              <a:t>ce_specversion</a:t>
            </a:r>
            <a:r>
              <a:rPr lang="en-GB" sz="1200" dirty="0"/>
              <a:t>: "1.0" </a:t>
            </a:r>
          </a:p>
          <a:p>
            <a:r>
              <a:rPr lang="en-GB" sz="1200" dirty="0" err="1"/>
              <a:t>ce_type</a:t>
            </a:r>
            <a:r>
              <a:rPr lang="en-GB" sz="1200" dirty="0"/>
              <a:t>: "</a:t>
            </a:r>
            <a:r>
              <a:rPr lang="en-GB" sz="1200" dirty="0" err="1"/>
              <a:t>com.example.someevent</a:t>
            </a:r>
            <a:r>
              <a:rPr lang="en-GB" sz="1200" dirty="0"/>
              <a:t>" </a:t>
            </a:r>
          </a:p>
          <a:p>
            <a:r>
              <a:rPr lang="en-GB" sz="1200" dirty="0" err="1"/>
              <a:t>ce_source</a:t>
            </a:r>
            <a:r>
              <a:rPr lang="en-GB" sz="1200" dirty="0"/>
              <a:t>: "/</a:t>
            </a:r>
            <a:r>
              <a:rPr lang="en-GB" sz="1200" dirty="0" err="1"/>
              <a:t>mycontext</a:t>
            </a:r>
            <a:r>
              <a:rPr lang="en-GB" sz="1200" dirty="0"/>
              <a:t>/</a:t>
            </a:r>
            <a:r>
              <a:rPr lang="en-GB" sz="1200" dirty="0" err="1"/>
              <a:t>subcontext</a:t>
            </a:r>
            <a:r>
              <a:rPr lang="en-GB" sz="1200" dirty="0"/>
              <a:t>" </a:t>
            </a:r>
          </a:p>
          <a:p>
            <a:r>
              <a:rPr lang="en-GB" sz="1200" dirty="0" err="1"/>
              <a:t>ce_id</a:t>
            </a:r>
            <a:r>
              <a:rPr lang="en-GB" sz="1200" dirty="0"/>
              <a:t>: "1234-1234-1234" </a:t>
            </a:r>
          </a:p>
          <a:p>
            <a:r>
              <a:rPr lang="en-GB" sz="1200" dirty="0" err="1"/>
              <a:t>ce_time</a:t>
            </a:r>
            <a:r>
              <a:rPr lang="en-GB" sz="1200" dirty="0"/>
              <a:t>: "2018-04-05T03:56:24Z" </a:t>
            </a:r>
          </a:p>
          <a:p>
            <a:r>
              <a:rPr lang="en-GB" sz="1200" dirty="0"/>
              <a:t>content-type: application/</a:t>
            </a:r>
            <a:r>
              <a:rPr lang="en-GB" sz="1200" dirty="0" err="1"/>
              <a:t>avro</a:t>
            </a:r>
            <a:r>
              <a:rPr lang="en-GB" sz="1200" dirty="0"/>
              <a:t> </a:t>
            </a:r>
          </a:p>
          <a:p>
            <a:r>
              <a:rPr lang="en-GB" sz="1200" dirty="0"/>
              <a:t>------------------- value --------------------</a:t>
            </a:r>
          </a:p>
          <a:p>
            <a:r>
              <a:rPr lang="en-GB" sz="1200" dirty="0"/>
              <a:t> ... application data encoded in Avro ... </a:t>
            </a:r>
          </a:p>
          <a:p>
            <a:r>
              <a:rPr lang="en-GB" sz="1200" dirty="0"/>
              <a:t>-----------------------------------------------</a:t>
            </a:r>
            <a:endParaRPr lang="en-US" sz="1200" dirty="0"/>
          </a:p>
        </p:txBody>
      </p:sp>
      <p:sp>
        <p:nvSpPr>
          <p:cNvPr id="5" name="TextBox 4">
            <a:extLst>
              <a:ext uri="{FF2B5EF4-FFF2-40B4-BE49-F238E27FC236}">
                <a16:creationId xmlns:a16="http://schemas.microsoft.com/office/drawing/2014/main" id="{4D651E90-A8FD-4445-8D2D-61606020BD4A}"/>
              </a:ext>
            </a:extLst>
          </p:cNvPr>
          <p:cNvSpPr txBox="1"/>
          <p:nvPr/>
        </p:nvSpPr>
        <p:spPr>
          <a:xfrm>
            <a:off x="1367687" y="1760920"/>
            <a:ext cx="1820258" cy="300082"/>
          </a:xfrm>
          <a:prstGeom prst="rect">
            <a:avLst/>
          </a:prstGeom>
          <a:noFill/>
          <a:ln w="12700">
            <a:solidFill>
              <a:schemeClr val="dk2"/>
            </a:solidFill>
          </a:ln>
        </p:spPr>
        <p:txBody>
          <a:bodyPr wrap="square" rtlCol="0">
            <a:spAutoFit/>
          </a:bodyPr>
          <a:lstStyle/>
          <a:p>
            <a:pPr algn="ctr"/>
            <a:r>
              <a:rPr lang="en-US" sz="1350" b="1" dirty="0"/>
              <a:t>Binary</a:t>
            </a:r>
          </a:p>
        </p:txBody>
      </p:sp>
      <p:sp>
        <p:nvSpPr>
          <p:cNvPr id="6" name="Rectangle 5">
            <a:extLst>
              <a:ext uri="{FF2B5EF4-FFF2-40B4-BE49-F238E27FC236}">
                <a16:creationId xmlns:a16="http://schemas.microsoft.com/office/drawing/2014/main" id="{65EDD31C-2CE8-354B-8305-BCF5E3564DEA}"/>
              </a:ext>
            </a:extLst>
          </p:cNvPr>
          <p:cNvSpPr/>
          <p:nvPr/>
        </p:nvSpPr>
        <p:spPr>
          <a:xfrm>
            <a:off x="4291711" y="2235284"/>
            <a:ext cx="4727986" cy="3600986"/>
          </a:xfrm>
          <a:prstGeom prst="rect">
            <a:avLst/>
          </a:prstGeom>
          <a:ln w="12700">
            <a:solidFill>
              <a:schemeClr val="accent1"/>
            </a:solidFill>
          </a:ln>
        </p:spPr>
        <p:txBody>
          <a:bodyPr wrap="square">
            <a:spAutoFit/>
          </a:bodyPr>
          <a:lstStyle/>
          <a:p>
            <a:r>
              <a:rPr lang="en-GB" sz="1200" dirty="0"/>
              <a:t>------------------ Message ------------------- </a:t>
            </a:r>
          </a:p>
          <a:p>
            <a:r>
              <a:rPr lang="en-GB" sz="1200" dirty="0"/>
              <a:t>Topic Name: </a:t>
            </a:r>
            <a:r>
              <a:rPr lang="en-GB" sz="1200" dirty="0" err="1"/>
              <a:t>mytopic</a:t>
            </a:r>
            <a:endParaRPr lang="en-GB" sz="1200" dirty="0"/>
          </a:p>
          <a:p>
            <a:r>
              <a:rPr lang="en-GB" sz="1200" dirty="0"/>
              <a:t> ------------------- key ---------------------- </a:t>
            </a:r>
          </a:p>
          <a:p>
            <a:r>
              <a:rPr lang="en-GB" sz="1200" dirty="0"/>
              <a:t>Key: </a:t>
            </a:r>
            <a:r>
              <a:rPr lang="en-GB" sz="1200" dirty="0" err="1"/>
              <a:t>mykey</a:t>
            </a:r>
            <a:r>
              <a:rPr lang="en-GB" sz="1200" dirty="0"/>
              <a:t> </a:t>
            </a:r>
          </a:p>
          <a:p>
            <a:r>
              <a:rPr lang="en-GB" sz="1200" dirty="0"/>
              <a:t>------------------ headers ------------------- </a:t>
            </a:r>
          </a:p>
          <a:p>
            <a:r>
              <a:rPr lang="en-GB" sz="1200" dirty="0"/>
              <a:t>content-type: application/</a:t>
            </a:r>
            <a:r>
              <a:rPr lang="en-GB" sz="1200" dirty="0" err="1"/>
              <a:t>cloudevents+json</a:t>
            </a:r>
            <a:r>
              <a:rPr lang="en-GB" sz="1200" dirty="0"/>
              <a:t>; charset=UTF-8</a:t>
            </a:r>
          </a:p>
          <a:p>
            <a:r>
              <a:rPr lang="en-GB" sz="1200" dirty="0"/>
              <a:t>------------------- value --------------------</a:t>
            </a:r>
          </a:p>
          <a:p>
            <a:r>
              <a:rPr lang="en-GB" sz="1200" dirty="0"/>
              <a:t> { </a:t>
            </a:r>
          </a:p>
          <a:p>
            <a:r>
              <a:rPr lang="en-GB" sz="1200" dirty="0"/>
              <a:t>	"</a:t>
            </a:r>
            <a:r>
              <a:rPr lang="en-GB" sz="1200" dirty="0" err="1"/>
              <a:t>specversion</a:t>
            </a:r>
            <a:r>
              <a:rPr lang="en-GB" sz="1200" dirty="0"/>
              <a:t>" : "1.0", </a:t>
            </a:r>
          </a:p>
          <a:p>
            <a:r>
              <a:rPr lang="en-GB" sz="1200" dirty="0"/>
              <a:t>	"type" : "</a:t>
            </a:r>
            <a:r>
              <a:rPr lang="en-GB" sz="1200" dirty="0" err="1"/>
              <a:t>com.example.someevent</a:t>
            </a:r>
            <a:r>
              <a:rPr lang="en-GB" sz="1200" dirty="0"/>
              <a:t>", </a:t>
            </a:r>
          </a:p>
          <a:p>
            <a:r>
              <a:rPr lang="en-GB" sz="1200" dirty="0"/>
              <a:t>	"source" : "/</a:t>
            </a:r>
            <a:r>
              <a:rPr lang="en-GB" sz="1200" dirty="0" err="1"/>
              <a:t>mycontext</a:t>
            </a:r>
            <a:r>
              <a:rPr lang="en-GB" sz="1200" dirty="0"/>
              <a:t>/</a:t>
            </a:r>
            <a:r>
              <a:rPr lang="en-GB" sz="1200" dirty="0" err="1"/>
              <a:t>subcontext</a:t>
            </a:r>
            <a:r>
              <a:rPr lang="en-GB" sz="1200" dirty="0"/>
              <a:t>", </a:t>
            </a:r>
          </a:p>
          <a:p>
            <a:r>
              <a:rPr lang="en-GB" sz="1200" dirty="0"/>
              <a:t>	"id" : "1234-1234-1234", </a:t>
            </a:r>
          </a:p>
          <a:p>
            <a:r>
              <a:rPr lang="en-GB" sz="1200" dirty="0"/>
              <a:t>	"time" : "2018-04-05T03:56:24Z", 	</a:t>
            </a:r>
          </a:p>
          <a:p>
            <a:r>
              <a:rPr lang="en-GB" sz="1200" dirty="0"/>
              <a:t>	"</a:t>
            </a:r>
            <a:r>
              <a:rPr lang="en-GB" sz="1200" dirty="0" err="1"/>
              <a:t>datacontenttype</a:t>
            </a:r>
            <a:r>
              <a:rPr lang="en-GB" sz="1200" dirty="0"/>
              <a:t>" : "application/json", </a:t>
            </a:r>
          </a:p>
          <a:p>
            <a:r>
              <a:rPr lang="en-GB" sz="1200" dirty="0"/>
              <a:t>	"data" : 	{ </a:t>
            </a:r>
          </a:p>
          <a:p>
            <a:r>
              <a:rPr lang="en-GB" sz="1200" dirty="0"/>
              <a:t>		... application data encoded in JSON ... </a:t>
            </a:r>
          </a:p>
          <a:p>
            <a:r>
              <a:rPr lang="en-GB" sz="1200" dirty="0"/>
              <a:t>	}</a:t>
            </a:r>
          </a:p>
          <a:p>
            <a:r>
              <a:rPr lang="en-GB" sz="1200" dirty="0"/>
              <a:t> }</a:t>
            </a:r>
          </a:p>
          <a:p>
            <a:r>
              <a:rPr lang="en-GB" sz="1200" dirty="0"/>
              <a:t>-----------------------------------------------</a:t>
            </a:r>
            <a:endParaRPr lang="en-US" sz="1200" dirty="0"/>
          </a:p>
        </p:txBody>
      </p:sp>
      <p:sp>
        <p:nvSpPr>
          <p:cNvPr id="7" name="TextBox 6">
            <a:extLst>
              <a:ext uri="{FF2B5EF4-FFF2-40B4-BE49-F238E27FC236}">
                <a16:creationId xmlns:a16="http://schemas.microsoft.com/office/drawing/2014/main" id="{8BA74B02-ABE3-2343-95AB-DB3D72A51BC1}"/>
              </a:ext>
            </a:extLst>
          </p:cNvPr>
          <p:cNvSpPr txBox="1"/>
          <p:nvPr/>
        </p:nvSpPr>
        <p:spPr>
          <a:xfrm>
            <a:off x="5670304" y="1760920"/>
            <a:ext cx="1820258" cy="300082"/>
          </a:xfrm>
          <a:prstGeom prst="rect">
            <a:avLst/>
          </a:prstGeom>
          <a:noFill/>
          <a:ln w="12700">
            <a:solidFill>
              <a:schemeClr val="dk2"/>
            </a:solidFill>
          </a:ln>
        </p:spPr>
        <p:txBody>
          <a:bodyPr wrap="square" rtlCol="0">
            <a:spAutoFit/>
          </a:bodyPr>
          <a:lstStyle/>
          <a:p>
            <a:pPr algn="ctr"/>
            <a:r>
              <a:rPr lang="en-US" sz="1350" b="1" dirty="0"/>
              <a:t>Structured</a:t>
            </a:r>
          </a:p>
        </p:txBody>
      </p:sp>
      <p:sp>
        <p:nvSpPr>
          <p:cNvPr id="13" name="Google Shape;194;p29">
            <a:extLst>
              <a:ext uri="{FF2B5EF4-FFF2-40B4-BE49-F238E27FC236}">
                <a16:creationId xmlns:a16="http://schemas.microsoft.com/office/drawing/2014/main" id="{5A13010D-BDF8-39DB-77FF-3DDEA9AE1362}"/>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Protocol Binding</a:t>
            </a:r>
            <a:endParaRPr dirty="0"/>
          </a:p>
        </p:txBody>
      </p:sp>
    </p:spTree>
    <p:extLst>
      <p:ext uri="{BB962C8B-B14F-4D97-AF65-F5344CB8AC3E}">
        <p14:creationId xmlns:p14="http://schemas.microsoft.com/office/powerpoint/2010/main" val="2610676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198B2B-0876-4249-9512-6ABD3413DE41}"/>
              </a:ext>
            </a:extLst>
          </p:cNvPr>
          <p:cNvSpPr/>
          <p:nvPr/>
        </p:nvSpPr>
        <p:spPr>
          <a:xfrm>
            <a:off x="1966984" y="3255875"/>
            <a:ext cx="5210033" cy="369332"/>
          </a:xfrm>
          <a:prstGeom prst="rect">
            <a:avLst/>
          </a:prstGeom>
          <a:ln w="19050">
            <a:solidFill>
              <a:srgbClr val="000000"/>
            </a:solidFill>
          </a:ln>
          <a:effectLst>
            <a:outerShdw blurRad="50800" dist="38100" dir="2700000" algn="tl" rotWithShape="0">
              <a:prstClr val="black">
                <a:alpha val="40000"/>
              </a:prstClr>
            </a:outerShdw>
          </a:effectLst>
        </p:spPr>
        <p:txBody>
          <a:bodyPr wrap="square">
            <a:spAutoFit/>
          </a:bodyPr>
          <a:lstStyle/>
          <a:p>
            <a:r>
              <a:rPr lang="en-US" dirty="0"/>
              <a:t>id: </a:t>
            </a:r>
            <a:r>
              <a:rPr lang="en-US" dirty="0">
                <a:hlinkClick r:id="rId2"/>
              </a:rPr>
              <a:t>https://github.com/brightercommand/greetings/</a:t>
            </a:r>
            <a:endParaRPr lang="en-US" dirty="0"/>
          </a:p>
        </p:txBody>
      </p:sp>
      <p:sp>
        <p:nvSpPr>
          <p:cNvPr id="3" name="Google Shape;194;p29">
            <a:extLst>
              <a:ext uri="{FF2B5EF4-FFF2-40B4-BE49-F238E27FC236}">
                <a16:creationId xmlns:a16="http://schemas.microsoft.com/office/drawing/2014/main" id="{FE47BEA1-E716-174A-B7D3-9E39092F61CB}"/>
              </a:ext>
            </a:extLst>
          </p:cNvPr>
          <p:cNvSpPr txBox="1"/>
          <p:nvPr/>
        </p:nvSpPr>
        <p:spPr>
          <a:xfrm>
            <a:off x="3268" y="857251"/>
            <a:ext cx="9140732"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err="1"/>
              <a:t>AsyncAPI</a:t>
            </a:r>
            <a:r>
              <a:rPr lang="en" dirty="0"/>
              <a:t> Object</a:t>
            </a:r>
            <a:endParaRPr dirty="0"/>
          </a:p>
        </p:txBody>
      </p:sp>
      <p:sp>
        <p:nvSpPr>
          <p:cNvPr id="4" name="Google Shape;212;p29">
            <a:extLst>
              <a:ext uri="{FF2B5EF4-FFF2-40B4-BE49-F238E27FC236}">
                <a16:creationId xmlns:a16="http://schemas.microsoft.com/office/drawing/2014/main" id="{C8622D80-E01C-A740-908E-DCAB6326F79C}"/>
              </a:ext>
            </a:extLst>
          </p:cNvPr>
          <p:cNvSpPr txBox="1"/>
          <p:nvPr/>
        </p:nvSpPr>
        <p:spPr>
          <a:xfrm>
            <a:off x="4960100" y="4494393"/>
            <a:ext cx="2156318" cy="623225"/>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GB" sz="1050" dirty="0"/>
              <a:t>We use a specification file for an app, which is a producer or consumer, and identify them by id</a:t>
            </a:r>
            <a:endParaRPr sz="1050" dirty="0"/>
          </a:p>
        </p:txBody>
      </p:sp>
      <p:cxnSp>
        <p:nvCxnSpPr>
          <p:cNvPr id="5" name="Straight Arrow Connector 4">
            <a:extLst>
              <a:ext uri="{FF2B5EF4-FFF2-40B4-BE49-F238E27FC236}">
                <a16:creationId xmlns:a16="http://schemas.microsoft.com/office/drawing/2014/main" id="{40AE6A5E-4F27-F44D-BFE7-B0FD1D0D1E47}"/>
              </a:ext>
            </a:extLst>
          </p:cNvPr>
          <p:cNvCxnSpPr>
            <a:cxnSpLocks/>
            <a:stCxn id="4" idx="0"/>
            <a:endCxn id="2" idx="2"/>
          </p:cNvCxnSpPr>
          <p:nvPr/>
        </p:nvCxnSpPr>
        <p:spPr>
          <a:xfrm flipH="1" flipV="1">
            <a:off x="4572001" y="3625207"/>
            <a:ext cx="1466258" cy="86918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35EAA1E-8820-9947-8A31-081340855E4B}"/>
              </a:ext>
            </a:extLst>
          </p:cNvPr>
          <p:cNvSpPr>
            <a:spLocks noGrp="1"/>
          </p:cNvSpPr>
          <p:nvPr>
            <p:ph type="ftr" sz="quarter" idx="11"/>
          </p:nvPr>
        </p:nvSpPr>
        <p:spPr/>
        <p:txBody>
          <a:bodyPr/>
          <a:lstStyle/>
          <a:p>
            <a:r>
              <a:rPr lang="en-US"/>
              <a:t>Ian Cooper</a:t>
            </a:r>
          </a:p>
        </p:txBody>
      </p:sp>
      <p:sp>
        <p:nvSpPr>
          <p:cNvPr id="7" name="Slide Number Placeholder 6">
            <a:extLst>
              <a:ext uri="{FF2B5EF4-FFF2-40B4-BE49-F238E27FC236}">
                <a16:creationId xmlns:a16="http://schemas.microsoft.com/office/drawing/2014/main" id="{9CEB7B14-C750-7C46-A6D6-3471C1CED8A4}"/>
              </a:ext>
            </a:extLst>
          </p:cNvPr>
          <p:cNvSpPr>
            <a:spLocks noGrp="1"/>
          </p:cNvSpPr>
          <p:nvPr>
            <p:ph type="sldNum" sz="quarter" idx="12"/>
          </p:nvPr>
        </p:nvSpPr>
        <p:spPr/>
        <p:txBody>
          <a:bodyPr/>
          <a:lstStyle/>
          <a:p>
            <a:fld id="{53C7D256-7CB4-8D4B-B359-120D79D46DFF}" type="slidenum">
              <a:rPr lang="en-US" smtClean="0"/>
              <a:t>128</a:t>
            </a:fld>
            <a:endParaRPr lang="en-US"/>
          </a:p>
        </p:txBody>
      </p:sp>
    </p:spTree>
    <p:extLst>
      <p:ext uri="{BB962C8B-B14F-4D97-AF65-F5344CB8AC3E}">
        <p14:creationId xmlns:p14="http://schemas.microsoft.com/office/powerpoint/2010/main" val="285546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7F5A822-3F35-ED4C-9901-BE707ED94A14}"/>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A7F6B84B-4776-4F4B-92C2-C49CBC55C123}"/>
              </a:ext>
            </a:extLst>
          </p:cNvPr>
          <p:cNvSpPr>
            <a:spLocks noGrp="1"/>
          </p:cNvSpPr>
          <p:nvPr>
            <p:ph type="sldNum" sz="quarter" idx="12"/>
          </p:nvPr>
        </p:nvSpPr>
        <p:spPr/>
        <p:txBody>
          <a:bodyPr/>
          <a:lstStyle/>
          <a:p>
            <a:fld id="{53C7D256-7CB4-8D4B-B359-120D79D46DFF}" type="slidenum">
              <a:rPr lang="en-US" smtClean="0"/>
              <a:t>129</a:t>
            </a:fld>
            <a:endParaRPr lang="en-US"/>
          </a:p>
        </p:txBody>
      </p:sp>
      <p:pic>
        <p:nvPicPr>
          <p:cNvPr id="5" name="Picture 4">
            <a:extLst>
              <a:ext uri="{FF2B5EF4-FFF2-40B4-BE49-F238E27FC236}">
                <a16:creationId xmlns:a16="http://schemas.microsoft.com/office/drawing/2014/main" id="{99DC7D16-B64A-0F45-9E0C-A740F8127C3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505414" y="1742431"/>
            <a:ext cx="6448832" cy="4019003"/>
          </a:xfrm>
          <a:prstGeom prst="rect">
            <a:avLst/>
          </a:prstGeom>
        </p:spPr>
      </p:pic>
      <p:sp>
        <p:nvSpPr>
          <p:cNvPr id="10" name="Google Shape;194;p29">
            <a:extLst>
              <a:ext uri="{FF2B5EF4-FFF2-40B4-BE49-F238E27FC236}">
                <a16:creationId xmlns:a16="http://schemas.microsoft.com/office/drawing/2014/main" id="{E5C2AC9E-7AE1-8FE4-AE64-204A476FDB08}"/>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VS Code</a:t>
            </a:r>
            <a:endParaRPr dirty="0"/>
          </a:p>
        </p:txBody>
      </p:sp>
    </p:spTree>
    <p:extLst>
      <p:ext uri="{BB962C8B-B14F-4D97-AF65-F5344CB8AC3E}">
        <p14:creationId xmlns:p14="http://schemas.microsoft.com/office/powerpoint/2010/main" val="160774729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3A4E05-8A06-C049-861C-ACDEDA403E1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1952747"/>
            <a:ext cx="9144000" cy="2952506"/>
          </a:xfrm>
          <a:prstGeom prst="rect">
            <a:avLst/>
          </a:prstGeom>
        </p:spPr>
      </p:pic>
      <p:sp>
        <p:nvSpPr>
          <p:cNvPr id="5" name="Doughnut 4">
            <a:extLst>
              <a:ext uri="{FF2B5EF4-FFF2-40B4-BE49-F238E27FC236}">
                <a16:creationId xmlns:a16="http://schemas.microsoft.com/office/drawing/2014/main" id="{AEF1A0F8-9915-2D42-997D-27323220739E}"/>
              </a:ext>
            </a:extLst>
          </p:cNvPr>
          <p:cNvSpPr/>
          <p:nvPr/>
        </p:nvSpPr>
        <p:spPr>
          <a:xfrm>
            <a:off x="2166125" y="4152435"/>
            <a:ext cx="2651202" cy="334537"/>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6" name="Footer Placeholder 5">
            <a:extLst>
              <a:ext uri="{FF2B5EF4-FFF2-40B4-BE49-F238E27FC236}">
                <a16:creationId xmlns:a16="http://schemas.microsoft.com/office/drawing/2014/main" id="{C06E12C8-AF19-9D45-A7FE-FB53476D84DF}"/>
              </a:ext>
            </a:extLst>
          </p:cNvPr>
          <p:cNvSpPr>
            <a:spLocks noGrp="1"/>
          </p:cNvSpPr>
          <p:nvPr>
            <p:ph type="ftr" sz="quarter" idx="11"/>
          </p:nvPr>
        </p:nvSpPr>
        <p:spPr/>
        <p:txBody>
          <a:bodyPr/>
          <a:lstStyle/>
          <a:p>
            <a:r>
              <a:rPr lang="en-US"/>
              <a:t>Ian Cooper</a:t>
            </a:r>
          </a:p>
        </p:txBody>
      </p:sp>
      <p:sp>
        <p:nvSpPr>
          <p:cNvPr id="7" name="Slide Number Placeholder 6">
            <a:extLst>
              <a:ext uri="{FF2B5EF4-FFF2-40B4-BE49-F238E27FC236}">
                <a16:creationId xmlns:a16="http://schemas.microsoft.com/office/drawing/2014/main" id="{F2F2F94C-0258-6D4B-9471-9E1B0EA8F122}"/>
              </a:ext>
            </a:extLst>
          </p:cNvPr>
          <p:cNvSpPr>
            <a:spLocks noGrp="1"/>
          </p:cNvSpPr>
          <p:nvPr>
            <p:ph type="sldNum" sz="quarter" idx="12"/>
          </p:nvPr>
        </p:nvSpPr>
        <p:spPr/>
        <p:txBody>
          <a:bodyPr/>
          <a:lstStyle/>
          <a:p>
            <a:fld id="{53C7D256-7CB4-8D4B-B359-120D79D46DFF}" type="slidenum">
              <a:rPr lang="en-US" smtClean="0"/>
              <a:t>130</a:t>
            </a:fld>
            <a:endParaRPr lang="en-US"/>
          </a:p>
        </p:txBody>
      </p:sp>
      <p:sp>
        <p:nvSpPr>
          <p:cNvPr id="11" name="Google Shape;194;p29">
            <a:extLst>
              <a:ext uri="{FF2B5EF4-FFF2-40B4-BE49-F238E27FC236}">
                <a16:creationId xmlns:a16="http://schemas.microsoft.com/office/drawing/2014/main" id="{19E82869-9828-124F-C931-B3AA0C1D14D5}"/>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Backstage</a:t>
            </a:r>
            <a:endParaRPr dirty="0"/>
          </a:p>
        </p:txBody>
      </p:sp>
    </p:spTree>
    <p:extLst>
      <p:ext uri="{BB962C8B-B14F-4D97-AF65-F5344CB8AC3E}">
        <p14:creationId xmlns:p14="http://schemas.microsoft.com/office/powerpoint/2010/main" val="363550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315F3B-BAD8-62ED-4625-441F577CC71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5A0D4B82-2761-27A2-B9E0-5D9B555B0169}"/>
              </a:ext>
            </a:extLst>
          </p:cNvPr>
          <p:cNvSpPr>
            <a:spLocks noGrp="1"/>
          </p:cNvSpPr>
          <p:nvPr>
            <p:ph type="sldNum" sz="quarter" idx="12"/>
          </p:nvPr>
        </p:nvSpPr>
        <p:spPr/>
        <p:txBody>
          <a:bodyPr/>
          <a:lstStyle/>
          <a:p>
            <a:fld id="{53C7D256-7CB4-8D4B-B359-120D79D46DFF}" type="slidenum">
              <a:rPr lang="en-US" smtClean="0"/>
              <a:t>131</a:t>
            </a:fld>
            <a:endParaRPr lang="en-US"/>
          </a:p>
        </p:txBody>
      </p:sp>
      <p:pic>
        <p:nvPicPr>
          <p:cNvPr id="6" name="Picture 5">
            <a:extLst>
              <a:ext uri="{FF2B5EF4-FFF2-40B4-BE49-F238E27FC236}">
                <a16:creationId xmlns:a16="http://schemas.microsoft.com/office/drawing/2014/main" id="{CD4795D3-FC66-11EB-DAEA-7910E55CE00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93962" y="1794512"/>
            <a:ext cx="5930100" cy="3268976"/>
          </a:xfrm>
          <a:prstGeom prst="rect">
            <a:avLst/>
          </a:prstGeom>
        </p:spPr>
      </p:pic>
      <p:sp>
        <p:nvSpPr>
          <p:cNvPr id="7" name="Rectangle 6">
            <a:extLst>
              <a:ext uri="{FF2B5EF4-FFF2-40B4-BE49-F238E27FC236}">
                <a16:creationId xmlns:a16="http://schemas.microsoft.com/office/drawing/2014/main" id="{DB7691CF-FC1F-3FCA-104A-577905E1010E}"/>
              </a:ext>
            </a:extLst>
          </p:cNvPr>
          <p:cNvSpPr/>
          <p:nvPr/>
        </p:nvSpPr>
        <p:spPr>
          <a:xfrm>
            <a:off x="5064954" y="5347513"/>
            <a:ext cx="3334439" cy="300082"/>
          </a:xfrm>
          <a:prstGeom prst="rect">
            <a:avLst/>
          </a:prstGeom>
        </p:spPr>
        <p:txBody>
          <a:bodyPr wrap="none">
            <a:spAutoFit/>
          </a:bodyPr>
          <a:lstStyle/>
          <a:p>
            <a:r>
              <a:rPr lang="en-US" sz="1350" dirty="0"/>
              <a:t>https://</a:t>
            </a:r>
            <a:r>
              <a:rPr lang="en-US" sz="1350" dirty="0" err="1"/>
              <a:t>github.com</a:t>
            </a:r>
            <a:r>
              <a:rPr lang="en-US" sz="1350" dirty="0"/>
              <a:t>/boyney123/</a:t>
            </a:r>
            <a:r>
              <a:rPr lang="en-US" sz="1350" dirty="0" err="1"/>
              <a:t>eventcatalog</a:t>
            </a:r>
            <a:endParaRPr lang="en-US" sz="1350" dirty="0"/>
          </a:p>
        </p:txBody>
      </p:sp>
      <p:sp>
        <p:nvSpPr>
          <p:cNvPr id="12" name="Google Shape;194;p29">
            <a:extLst>
              <a:ext uri="{FF2B5EF4-FFF2-40B4-BE49-F238E27FC236}">
                <a16:creationId xmlns:a16="http://schemas.microsoft.com/office/drawing/2014/main" id="{9BAE3700-0E40-68E8-DA3B-0EE3EF7B07A6}"/>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a:t>Event Catalog</a:t>
            </a:r>
            <a:endParaRPr dirty="0"/>
          </a:p>
        </p:txBody>
      </p:sp>
    </p:spTree>
    <p:extLst>
      <p:ext uri="{BB962C8B-B14F-4D97-AF65-F5344CB8AC3E}">
        <p14:creationId xmlns:p14="http://schemas.microsoft.com/office/powerpoint/2010/main" val="400527659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129CC587-C851-F241-A6B0-6387D07C6C13}"/>
              </a:ext>
            </a:extLst>
          </p:cNvPr>
          <p:cNvSpPr>
            <a:spLocks noGrp="1"/>
          </p:cNvSpPr>
          <p:nvPr>
            <p:ph type="ftr" sz="quarter" idx="11"/>
          </p:nvPr>
        </p:nvSpPr>
        <p:spPr/>
        <p:txBody>
          <a:bodyPr/>
          <a:lstStyle/>
          <a:p>
            <a:r>
              <a:rPr lang="en-US"/>
              <a:t>Ian Cooper</a:t>
            </a:r>
          </a:p>
        </p:txBody>
      </p:sp>
      <p:sp>
        <p:nvSpPr>
          <p:cNvPr id="7" name="Slide Number Placeholder 6">
            <a:extLst>
              <a:ext uri="{FF2B5EF4-FFF2-40B4-BE49-F238E27FC236}">
                <a16:creationId xmlns:a16="http://schemas.microsoft.com/office/drawing/2014/main" id="{DDD53D8D-13B0-2A4D-9634-8F18C12E819F}"/>
              </a:ext>
            </a:extLst>
          </p:cNvPr>
          <p:cNvSpPr>
            <a:spLocks noGrp="1"/>
          </p:cNvSpPr>
          <p:nvPr>
            <p:ph type="sldNum" sz="quarter" idx="12"/>
          </p:nvPr>
        </p:nvSpPr>
        <p:spPr/>
        <p:txBody>
          <a:bodyPr/>
          <a:lstStyle/>
          <a:p>
            <a:fld id="{53C7D256-7CB4-8D4B-B359-120D79D46DFF}" type="slidenum">
              <a:rPr lang="en-US" smtClean="0"/>
              <a:t>132</a:t>
            </a:fld>
            <a:endParaRPr lang="en-US"/>
          </a:p>
        </p:txBody>
      </p:sp>
      <p:pic>
        <p:nvPicPr>
          <p:cNvPr id="3" name="Picture 2">
            <a:extLst>
              <a:ext uri="{FF2B5EF4-FFF2-40B4-BE49-F238E27FC236}">
                <a16:creationId xmlns:a16="http://schemas.microsoft.com/office/drawing/2014/main" id="{D4DB4D46-466A-594C-83A2-CDE82DF347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62153" y="1668670"/>
            <a:ext cx="7278959" cy="4092764"/>
          </a:xfrm>
          <a:prstGeom prst="rect">
            <a:avLst/>
          </a:prstGeom>
        </p:spPr>
      </p:pic>
      <p:sp>
        <p:nvSpPr>
          <p:cNvPr id="10" name="Google Shape;194;p29">
            <a:extLst>
              <a:ext uri="{FF2B5EF4-FFF2-40B4-BE49-F238E27FC236}">
                <a16:creationId xmlns:a16="http://schemas.microsoft.com/office/drawing/2014/main" id="{3D99F4F2-7008-77D5-A5D3-E5A96104AAAD}"/>
              </a:ext>
            </a:extLst>
          </p:cNvPr>
          <p:cNvSpPr txBox="1"/>
          <p:nvPr/>
        </p:nvSpPr>
        <p:spPr>
          <a:xfrm>
            <a:off x="7420" y="857251"/>
            <a:ext cx="9136580" cy="41547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68569" tIns="68569" rIns="68569" bIns="68569" anchor="t" anchorCtr="0">
            <a:spAutoFit/>
          </a:bodyPr>
          <a:lstStyle/>
          <a:p>
            <a:r>
              <a:rPr lang="en" dirty="0" err="1"/>
              <a:t>AsyncAPI</a:t>
            </a:r>
            <a:r>
              <a:rPr lang="en" dirty="0"/>
              <a:t> Studio</a:t>
            </a:r>
            <a:endParaRPr dirty="0"/>
          </a:p>
        </p:txBody>
      </p:sp>
    </p:spTree>
    <p:extLst>
      <p:ext uri="{BB962C8B-B14F-4D97-AF65-F5344CB8AC3E}">
        <p14:creationId xmlns:p14="http://schemas.microsoft.com/office/powerpoint/2010/main" val="137697074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48AF6C-2A82-A2F9-93FC-41C2BCCF6B5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DB6AE8-522A-9324-161D-F53480550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20E19D2-2C3D-5088-92D8-E5119042AEC3}"/>
              </a:ext>
            </a:extLst>
          </p:cNvPr>
          <p:cNvSpPr>
            <a:spLocks noGrp="1"/>
          </p:cNvSpPr>
          <p:nvPr>
            <p:ph type="title"/>
          </p:nvPr>
        </p:nvSpPr>
        <p:spPr>
          <a:xfrm>
            <a:off x="628650" y="451381"/>
            <a:ext cx="7884414" cy="4066540"/>
          </a:xfrm>
        </p:spPr>
        <p:txBody>
          <a:bodyPr vert="horz" lIns="91440" tIns="45720" rIns="91440" bIns="45720" rtlCol="0" anchor="b">
            <a:normAutofit/>
          </a:bodyPr>
          <a:lstStyle/>
          <a:p>
            <a:pPr defTabSz="914400">
              <a:lnSpc>
                <a:spcPct val="90000"/>
              </a:lnSpc>
            </a:pPr>
            <a:r>
              <a:rPr lang="en-US" sz="5700" kern="1200" dirty="0">
                <a:solidFill>
                  <a:schemeClr val="tx1"/>
                </a:solidFill>
                <a:latin typeface="Chalkboard" panose="03050602040202020205" pitchFamily="66" charset="77"/>
              </a:rPr>
              <a:t>Observability</a:t>
            </a:r>
          </a:p>
        </p:txBody>
      </p:sp>
      <p:sp>
        <p:nvSpPr>
          <p:cNvPr id="4" name="Text Placeholder 3">
            <a:extLst>
              <a:ext uri="{FF2B5EF4-FFF2-40B4-BE49-F238E27FC236}">
                <a16:creationId xmlns:a16="http://schemas.microsoft.com/office/drawing/2014/main" id="{ED763EE0-423C-A7A7-3BE4-892380216F4E}"/>
              </a:ext>
            </a:extLst>
          </p:cNvPr>
          <p:cNvSpPr>
            <a:spLocks noGrp="1"/>
          </p:cNvSpPr>
          <p:nvPr>
            <p:ph type="body" idx="1"/>
          </p:nvPr>
        </p:nvSpPr>
        <p:spPr>
          <a:xfrm>
            <a:off x="628649" y="4983276"/>
            <a:ext cx="7884414" cy="1126680"/>
          </a:xfrm>
        </p:spPr>
        <p:txBody>
          <a:bodyPr vert="horz" lIns="91440" tIns="45720" rIns="91440" bIns="45720" rtlCol="0">
            <a:normAutofit/>
          </a:bodyPr>
          <a:lstStyle/>
          <a:p>
            <a:pPr defTabSz="914400">
              <a:lnSpc>
                <a:spcPct val="90000"/>
              </a:lnSpc>
              <a:spcBef>
                <a:spcPts val="1000"/>
              </a:spcBef>
            </a:pPr>
            <a:endParaRPr lang="en-US" sz="2400" kern="1200">
              <a:solidFill>
                <a:schemeClr val="tx1"/>
              </a:solidFill>
              <a:latin typeface="+mn-lt"/>
              <a:ea typeface="+mn-ea"/>
              <a:cs typeface="+mn-cs"/>
            </a:endParaRPr>
          </a:p>
        </p:txBody>
      </p:sp>
      <p:sp>
        <p:nvSpPr>
          <p:cNvPr id="11" name="sketch line">
            <a:extLst>
              <a:ext uri="{FF2B5EF4-FFF2-40B4-BE49-F238E27FC236}">
                <a16:creationId xmlns:a16="http://schemas.microsoft.com/office/drawing/2014/main" id="{0DC40D45-BBD8-4492-31F2-BC95C5317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7246265-E969-4BC8-1285-6CAE907E5C17}"/>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133</a:t>
            </a:fld>
            <a:endParaRPr lang="en-US"/>
          </a:p>
        </p:txBody>
      </p:sp>
    </p:spTree>
    <p:extLst>
      <p:ext uri="{BB962C8B-B14F-4D97-AF65-F5344CB8AC3E}">
        <p14:creationId xmlns:p14="http://schemas.microsoft.com/office/powerpoint/2010/main" val="425176293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D066CE-20C8-204D-970B-6CCC07D93627}"/>
              </a:ext>
            </a:extLst>
          </p:cNvPr>
          <p:cNvSpPr>
            <a:spLocks noGrp="1"/>
          </p:cNvSpPr>
          <p:nvPr>
            <p:ph type="ftr" sz="quarter" idx="11"/>
          </p:nvPr>
        </p:nvSpPr>
        <p:spPr/>
        <p:txBody>
          <a:bodyPr/>
          <a:lstStyle/>
          <a:p>
            <a:r>
              <a:rPr lang="en-US"/>
              <a:t>@ICooper</a:t>
            </a:r>
          </a:p>
        </p:txBody>
      </p:sp>
      <p:sp>
        <p:nvSpPr>
          <p:cNvPr id="3" name="Slide Number Placeholder 2">
            <a:extLst>
              <a:ext uri="{FF2B5EF4-FFF2-40B4-BE49-F238E27FC236}">
                <a16:creationId xmlns:a16="http://schemas.microsoft.com/office/drawing/2014/main" id="{04B9D36C-4C1C-3741-B593-8A54E4D5E7A2}"/>
              </a:ext>
            </a:extLst>
          </p:cNvPr>
          <p:cNvSpPr>
            <a:spLocks noGrp="1"/>
          </p:cNvSpPr>
          <p:nvPr>
            <p:ph type="sldNum" sz="quarter" idx="12"/>
          </p:nvPr>
        </p:nvSpPr>
        <p:spPr/>
        <p:txBody>
          <a:bodyPr/>
          <a:lstStyle/>
          <a:p>
            <a:fld id="{53C7D256-7CB4-8D4B-B359-120D79D46DFF}" type="slidenum">
              <a:rPr lang="en-US" smtClean="0"/>
              <a:t>134</a:t>
            </a:fld>
            <a:endParaRPr lang="en-US"/>
          </a:p>
        </p:txBody>
      </p:sp>
      <p:pic>
        <p:nvPicPr>
          <p:cNvPr id="5" name="Picture 4">
            <a:extLst>
              <a:ext uri="{FF2B5EF4-FFF2-40B4-BE49-F238E27FC236}">
                <a16:creationId xmlns:a16="http://schemas.microsoft.com/office/drawing/2014/main" id="{14D31730-3D97-0C40-A973-BDF38E30061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1577845"/>
            <a:ext cx="9144000" cy="3702311"/>
          </a:xfrm>
          <a:prstGeom prst="rect">
            <a:avLst/>
          </a:prstGeom>
        </p:spPr>
      </p:pic>
    </p:spTree>
    <p:extLst>
      <p:ext uri="{BB962C8B-B14F-4D97-AF65-F5344CB8AC3E}">
        <p14:creationId xmlns:p14="http://schemas.microsoft.com/office/powerpoint/2010/main" val="94646895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4;p29">
            <a:extLst>
              <a:ext uri="{FF2B5EF4-FFF2-40B4-BE49-F238E27FC236}">
                <a16:creationId xmlns:a16="http://schemas.microsoft.com/office/drawing/2014/main" id="{04BF9133-191F-1E4B-A4F4-AF9CD70AC7BB}"/>
              </a:ext>
            </a:extLst>
          </p:cNvPr>
          <p:cNvSpPr txBox="1"/>
          <p:nvPr/>
        </p:nvSpPr>
        <p:spPr>
          <a:xfrm>
            <a:off x="357785" y="1190239"/>
            <a:ext cx="5930100" cy="346226"/>
          </a:xfrm>
          <a:prstGeom prst="rect">
            <a:avLst/>
          </a:prstGeom>
          <a:noFill/>
          <a:ln>
            <a:noFill/>
          </a:ln>
        </p:spPr>
        <p:txBody>
          <a:bodyPr spcFirstLastPara="1" wrap="square" lIns="68569" tIns="68569" rIns="68569" bIns="68569" anchor="t" anchorCtr="0">
            <a:spAutoFit/>
          </a:bodyPr>
          <a:lstStyle/>
          <a:p>
            <a:r>
              <a:rPr lang="en" sz="1350" dirty="0" err="1"/>
              <a:t>OpenTelemetry</a:t>
            </a:r>
            <a:r>
              <a:rPr lang="en" sz="1350" dirty="0"/>
              <a:t> Tracing</a:t>
            </a:r>
            <a:endParaRPr sz="1350" dirty="0"/>
          </a:p>
        </p:txBody>
      </p:sp>
      <p:sp>
        <p:nvSpPr>
          <p:cNvPr id="3" name="Google Shape;195;p29">
            <a:extLst>
              <a:ext uri="{FF2B5EF4-FFF2-40B4-BE49-F238E27FC236}">
                <a16:creationId xmlns:a16="http://schemas.microsoft.com/office/drawing/2014/main" id="{67711F67-AE59-294E-AB2A-4945F132C682}"/>
              </a:ext>
            </a:extLst>
          </p:cNvPr>
          <p:cNvSpPr/>
          <p:nvPr/>
        </p:nvSpPr>
        <p:spPr>
          <a:xfrm>
            <a:off x="2276966" y="2059041"/>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 name="Google Shape;196;p29">
            <a:extLst>
              <a:ext uri="{FF2B5EF4-FFF2-40B4-BE49-F238E27FC236}">
                <a16:creationId xmlns:a16="http://schemas.microsoft.com/office/drawing/2014/main" id="{1594105C-1FBF-3845-8BE9-1EF3E4951BA6}"/>
              </a:ext>
            </a:extLst>
          </p:cNvPr>
          <p:cNvSpPr/>
          <p:nvPr/>
        </p:nvSpPr>
        <p:spPr>
          <a:xfrm>
            <a:off x="5183516" y="2059041"/>
            <a:ext cx="1310418" cy="938628"/>
          </a:xfrm>
          <a:prstGeom prst="cloud">
            <a:avLst/>
          </a:prstGeom>
          <a:solidFill>
            <a:schemeClr val="bg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 name="Google Shape;200;p29">
            <a:extLst>
              <a:ext uri="{FF2B5EF4-FFF2-40B4-BE49-F238E27FC236}">
                <a16:creationId xmlns:a16="http://schemas.microsoft.com/office/drawing/2014/main" id="{545FF081-4DCE-A64F-82AB-CF264D2B504C}"/>
              </a:ext>
            </a:extLst>
          </p:cNvPr>
          <p:cNvSpPr txBox="1"/>
          <p:nvPr/>
        </p:nvSpPr>
        <p:spPr>
          <a:xfrm>
            <a:off x="2276966" y="2654523"/>
            <a:ext cx="772200" cy="415476"/>
          </a:xfrm>
          <a:prstGeom prst="rect">
            <a:avLst/>
          </a:prstGeom>
          <a:noFill/>
          <a:ln>
            <a:noFill/>
          </a:ln>
        </p:spPr>
        <p:txBody>
          <a:bodyPr spcFirstLastPara="1" wrap="square" lIns="68569" tIns="68569" rIns="68569" bIns="68569" anchor="t" anchorCtr="0">
            <a:spAutoFit/>
          </a:bodyPr>
          <a:lstStyle/>
          <a:p>
            <a:r>
              <a:rPr lang="en" sz="900" u="sng"/>
              <a:t>Restaurant Availability</a:t>
            </a:r>
            <a:endParaRPr sz="900" u="sng"/>
          </a:p>
        </p:txBody>
      </p:sp>
      <p:sp>
        <p:nvSpPr>
          <p:cNvPr id="8" name="Google Shape;201;p29">
            <a:extLst>
              <a:ext uri="{FF2B5EF4-FFF2-40B4-BE49-F238E27FC236}">
                <a16:creationId xmlns:a16="http://schemas.microsoft.com/office/drawing/2014/main" id="{FE7843A3-386A-7042-BA36-B9DCBA54185A}"/>
              </a:ext>
            </a:extLst>
          </p:cNvPr>
          <p:cNvSpPr txBox="1"/>
          <p:nvPr/>
        </p:nvSpPr>
        <p:spPr>
          <a:xfrm>
            <a:off x="5838659" y="2654523"/>
            <a:ext cx="893475" cy="415476"/>
          </a:xfrm>
          <a:prstGeom prst="rect">
            <a:avLst/>
          </a:prstGeom>
          <a:noFill/>
          <a:ln>
            <a:noFill/>
          </a:ln>
        </p:spPr>
        <p:txBody>
          <a:bodyPr spcFirstLastPara="1" wrap="square" lIns="68569" tIns="68569" rIns="68569" bIns="68569" anchor="t" anchorCtr="0">
            <a:spAutoFit/>
          </a:bodyPr>
          <a:lstStyle/>
          <a:p>
            <a:r>
              <a:rPr lang="en" sz="900" u="sng"/>
              <a:t>Restaurant Management</a:t>
            </a:r>
            <a:endParaRPr sz="900" u="sng"/>
          </a:p>
        </p:txBody>
      </p:sp>
      <p:sp>
        <p:nvSpPr>
          <p:cNvPr id="13" name="Google Shape;206;p29">
            <a:extLst>
              <a:ext uri="{FF2B5EF4-FFF2-40B4-BE49-F238E27FC236}">
                <a16:creationId xmlns:a16="http://schemas.microsoft.com/office/drawing/2014/main" id="{1ABC6F80-CC47-D84E-81CB-C24482315EDC}"/>
              </a:ext>
            </a:extLst>
          </p:cNvPr>
          <p:cNvSpPr txBox="1"/>
          <p:nvPr/>
        </p:nvSpPr>
        <p:spPr>
          <a:xfrm>
            <a:off x="4173061" y="2654523"/>
            <a:ext cx="567225" cy="230810"/>
          </a:xfrm>
          <a:prstGeom prst="rect">
            <a:avLst/>
          </a:prstGeom>
          <a:noFill/>
          <a:ln>
            <a:noFill/>
          </a:ln>
        </p:spPr>
        <p:txBody>
          <a:bodyPr spcFirstLastPara="1" wrap="square" lIns="68569" tIns="68569" rIns="68569" bIns="68569" anchor="t" anchorCtr="0">
            <a:spAutoFit/>
          </a:bodyPr>
          <a:lstStyle/>
          <a:p>
            <a:r>
              <a:rPr lang="en" sz="600"/>
              <a:t>Downstream</a:t>
            </a:r>
            <a:endParaRPr sz="600"/>
          </a:p>
        </p:txBody>
      </p:sp>
      <p:cxnSp>
        <p:nvCxnSpPr>
          <p:cNvPr id="15" name="Google Shape;208;p29">
            <a:extLst>
              <a:ext uri="{FF2B5EF4-FFF2-40B4-BE49-F238E27FC236}">
                <a16:creationId xmlns:a16="http://schemas.microsoft.com/office/drawing/2014/main" id="{6F0FD18A-4743-D947-8CA2-CE510A1072F6}"/>
              </a:ext>
            </a:extLst>
          </p:cNvPr>
          <p:cNvCxnSpPr>
            <a:cxnSpLocks/>
          </p:cNvCxnSpPr>
          <p:nvPr/>
        </p:nvCxnSpPr>
        <p:spPr>
          <a:xfrm flipH="1">
            <a:off x="3964199" y="2455979"/>
            <a:ext cx="1161285" cy="0"/>
          </a:xfrm>
          <a:prstGeom prst="straightConnector1">
            <a:avLst/>
          </a:prstGeom>
          <a:noFill/>
          <a:ln w="19050" cap="flat" cmpd="sng">
            <a:solidFill>
              <a:schemeClr val="tx1"/>
            </a:solidFill>
            <a:prstDash val="solid"/>
            <a:round/>
            <a:headEnd type="none" w="med" len="med"/>
            <a:tailEnd type="triangle" w="med" len="med"/>
          </a:ln>
          <a:effectLst>
            <a:outerShdw blurRad="57150" dist="19050" dir="5400000" algn="bl" rotWithShape="0">
              <a:srgbClr val="000000">
                <a:alpha val="50000"/>
              </a:srgbClr>
            </a:outerShdw>
          </a:effectLst>
        </p:spPr>
      </p:cxnSp>
      <p:sp>
        <p:nvSpPr>
          <p:cNvPr id="17" name="Google Shape;210;p29">
            <a:extLst>
              <a:ext uri="{FF2B5EF4-FFF2-40B4-BE49-F238E27FC236}">
                <a16:creationId xmlns:a16="http://schemas.microsoft.com/office/drawing/2014/main" id="{0B770F80-7747-1F45-AA86-F5F93BE96A79}"/>
              </a:ext>
            </a:extLst>
          </p:cNvPr>
          <p:cNvSpPr txBox="1"/>
          <p:nvPr/>
        </p:nvSpPr>
        <p:spPr>
          <a:xfrm rot="-5400000">
            <a:off x="4732972" y="2291138"/>
            <a:ext cx="1112999"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pPr algn="ctr"/>
            <a:r>
              <a:rPr lang="en" sz="1050" dirty="0"/>
              <a:t>Endpoint</a:t>
            </a:r>
            <a:endParaRPr sz="1050" dirty="0"/>
          </a:p>
        </p:txBody>
      </p:sp>
      <p:sp>
        <p:nvSpPr>
          <p:cNvPr id="5" name="Footer Placeholder 4">
            <a:extLst>
              <a:ext uri="{FF2B5EF4-FFF2-40B4-BE49-F238E27FC236}">
                <a16:creationId xmlns:a16="http://schemas.microsoft.com/office/drawing/2014/main" id="{12FDF120-CAD2-8F43-B757-84CC7146CF5E}"/>
              </a:ext>
            </a:extLst>
          </p:cNvPr>
          <p:cNvSpPr>
            <a:spLocks noGrp="1"/>
          </p:cNvSpPr>
          <p:nvPr>
            <p:ph type="ftr" sz="quarter" idx="11"/>
          </p:nvPr>
        </p:nvSpPr>
        <p:spPr/>
        <p:txBody>
          <a:bodyPr/>
          <a:lstStyle/>
          <a:p>
            <a:r>
              <a:rPr lang="en-US"/>
              <a:t>@ICooper</a:t>
            </a:r>
          </a:p>
        </p:txBody>
      </p:sp>
      <p:sp>
        <p:nvSpPr>
          <p:cNvPr id="19" name="Slide Number Placeholder 18">
            <a:extLst>
              <a:ext uri="{FF2B5EF4-FFF2-40B4-BE49-F238E27FC236}">
                <a16:creationId xmlns:a16="http://schemas.microsoft.com/office/drawing/2014/main" id="{1094B8DE-48B9-FE4B-82A8-05D5F25475E4}"/>
              </a:ext>
            </a:extLst>
          </p:cNvPr>
          <p:cNvSpPr>
            <a:spLocks noGrp="1"/>
          </p:cNvSpPr>
          <p:nvPr>
            <p:ph type="sldNum" sz="quarter" idx="12"/>
          </p:nvPr>
        </p:nvSpPr>
        <p:spPr/>
        <p:txBody>
          <a:bodyPr/>
          <a:lstStyle/>
          <a:p>
            <a:fld id="{53C7D256-7CB4-8D4B-B359-120D79D46DFF}" type="slidenum">
              <a:rPr lang="en-US" smtClean="0"/>
              <a:t>135</a:t>
            </a:fld>
            <a:endParaRPr lang="en-US" dirty="0"/>
          </a:p>
        </p:txBody>
      </p:sp>
      <p:sp>
        <p:nvSpPr>
          <p:cNvPr id="10" name="Rectangle 9">
            <a:extLst>
              <a:ext uri="{FF2B5EF4-FFF2-40B4-BE49-F238E27FC236}">
                <a16:creationId xmlns:a16="http://schemas.microsoft.com/office/drawing/2014/main" id="{DFC94442-DCDC-214A-890D-FB4C6F837983}"/>
              </a:ext>
            </a:extLst>
          </p:cNvPr>
          <p:cNvSpPr/>
          <p:nvPr/>
        </p:nvSpPr>
        <p:spPr>
          <a:xfrm>
            <a:off x="4351474" y="2059042"/>
            <a:ext cx="266252" cy="266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6" name="Straight Connector 15">
            <a:extLst>
              <a:ext uri="{FF2B5EF4-FFF2-40B4-BE49-F238E27FC236}">
                <a16:creationId xmlns:a16="http://schemas.microsoft.com/office/drawing/2014/main" id="{18DF255E-B2F1-5B4A-99EC-D7A8C4FD60C4}"/>
              </a:ext>
            </a:extLst>
          </p:cNvPr>
          <p:cNvCxnSpPr>
            <a:cxnSpLocks/>
            <a:stCxn id="10" idx="1"/>
          </p:cNvCxnSpPr>
          <p:nvPr/>
        </p:nvCxnSpPr>
        <p:spPr>
          <a:xfrm flipH="1">
            <a:off x="4173061" y="2192355"/>
            <a:ext cx="1784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2530362-F36D-BD41-BF4B-A2D14C602897}"/>
              </a:ext>
            </a:extLst>
          </p:cNvPr>
          <p:cNvCxnSpPr/>
          <p:nvPr/>
        </p:nvCxnSpPr>
        <p:spPr>
          <a:xfrm flipV="1">
            <a:off x="4173061" y="1884669"/>
            <a:ext cx="0" cy="307686"/>
          </a:xfrm>
          <a:prstGeom prst="line">
            <a:avLst/>
          </a:prstGeom>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28CDBE1B-EF8E-9040-9323-FB1DDF20FFB0}"/>
              </a:ext>
            </a:extLst>
          </p:cNvPr>
          <p:cNvSpPr/>
          <p:nvPr/>
        </p:nvSpPr>
        <p:spPr>
          <a:xfrm>
            <a:off x="4085224" y="1720551"/>
            <a:ext cx="193637" cy="1641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7" name="Google Shape;212;p29">
            <a:extLst>
              <a:ext uri="{FF2B5EF4-FFF2-40B4-BE49-F238E27FC236}">
                <a16:creationId xmlns:a16="http://schemas.microsoft.com/office/drawing/2014/main" id="{B2031A8B-4C1F-A14C-9B2F-ADFF9EC7FD41}"/>
              </a:ext>
            </a:extLst>
          </p:cNvPr>
          <p:cNvSpPr txBox="1"/>
          <p:nvPr/>
        </p:nvSpPr>
        <p:spPr>
          <a:xfrm>
            <a:off x="6732135" y="3250031"/>
            <a:ext cx="1782544" cy="461643"/>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We </a:t>
            </a:r>
            <a:r>
              <a:rPr lang="en-GB" sz="1050" dirty="0"/>
              <a:t>begin a span when initiate a flow.</a:t>
            </a:r>
            <a:endParaRPr sz="1050" dirty="0"/>
          </a:p>
        </p:txBody>
      </p:sp>
      <p:cxnSp>
        <p:nvCxnSpPr>
          <p:cNvPr id="41" name="Google Shape;209;p29">
            <a:extLst>
              <a:ext uri="{FF2B5EF4-FFF2-40B4-BE49-F238E27FC236}">
                <a16:creationId xmlns:a16="http://schemas.microsoft.com/office/drawing/2014/main" id="{A294D82E-6D08-4B45-A3EF-A63AAEA1AF4A}"/>
              </a:ext>
            </a:extLst>
          </p:cNvPr>
          <p:cNvCxnSpPr>
            <a:cxnSpLocks/>
            <a:stCxn id="37" idx="0"/>
          </p:cNvCxnSpPr>
          <p:nvPr/>
        </p:nvCxnSpPr>
        <p:spPr>
          <a:xfrm flipH="1" flipV="1">
            <a:off x="6285398" y="2528356"/>
            <a:ext cx="1338009" cy="721675"/>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
        <p:nvSpPr>
          <p:cNvPr id="11" name="Rectangle 10">
            <a:extLst>
              <a:ext uri="{FF2B5EF4-FFF2-40B4-BE49-F238E27FC236}">
                <a16:creationId xmlns:a16="http://schemas.microsoft.com/office/drawing/2014/main" id="{12249DC1-201E-484D-B526-DF76A1CE3A34}"/>
              </a:ext>
            </a:extLst>
          </p:cNvPr>
          <p:cNvSpPr/>
          <p:nvPr/>
        </p:nvSpPr>
        <p:spPr>
          <a:xfrm>
            <a:off x="766482" y="3907043"/>
            <a:ext cx="7366299" cy="2581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31" name="Google Shape;209;p29">
            <a:extLst>
              <a:ext uri="{FF2B5EF4-FFF2-40B4-BE49-F238E27FC236}">
                <a16:creationId xmlns:a16="http://schemas.microsoft.com/office/drawing/2014/main" id="{003A54C5-02A4-D04A-881E-5FA3A8E2D103}"/>
              </a:ext>
            </a:extLst>
          </p:cNvPr>
          <p:cNvCxnSpPr>
            <a:cxnSpLocks/>
            <a:stCxn id="37" idx="2"/>
          </p:cNvCxnSpPr>
          <p:nvPr/>
        </p:nvCxnSpPr>
        <p:spPr>
          <a:xfrm flipH="1">
            <a:off x="6148641" y="3711674"/>
            <a:ext cx="1474766" cy="179934"/>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
        <p:nvSpPr>
          <p:cNvPr id="32" name="Google Shape;212;p29">
            <a:extLst>
              <a:ext uri="{FF2B5EF4-FFF2-40B4-BE49-F238E27FC236}">
                <a16:creationId xmlns:a16="http://schemas.microsoft.com/office/drawing/2014/main" id="{3AA3B459-1283-364F-B152-8DB60624A21A}"/>
              </a:ext>
            </a:extLst>
          </p:cNvPr>
          <p:cNvSpPr txBox="1"/>
          <p:nvPr/>
        </p:nvSpPr>
        <p:spPr>
          <a:xfrm>
            <a:off x="2779017" y="3276102"/>
            <a:ext cx="2247494" cy="623225"/>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We </a:t>
            </a:r>
            <a:r>
              <a:rPr lang="en-GB" sz="1050" dirty="0"/>
              <a:t>serialize the </a:t>
            </a:r>
            <a:r>
              <a:rPr lang="en-GB" sz="1050" i="1" dirty="0"/>
              <a:t>span context</a:t>
            </a:r>
            <a:r>
              <a:rPr lang="en-GB" sz="1050" dirty="0"/>
              <a:t> into the headers of the message when we send it</a:t>
            </a:r>
            <a:endParaRPr sz="1050" dirty="0"/>
          </a:p>
        </p:txBody>
      </p:sp>
      <p:cxnSp>
        <p:nvCxnSpPr>
          <p:cNvPr id="35" name="Google Shape;209;p29">
            <a:extLst>
              <a:ext uri="{FF2B5EF4-FFF2-40B4-BE49-F238E27FC236}">
                <a16:creationId xmlns:a16="http://schemas.microsoft.com/office/drawing/2014/main" id="{A1650137-3216-D54C-9145-EF391F63950E}"/>
              </a:ext>
            </a:extLst>
          </p:cNvPr>
          <p:cNvCxnSpPr>
            <a:cxnSpLocks/>
            <a:stCxn id="32" idx="0"/>
          </p:cNvCxnSpPr>
          <p:nvPr/>
        </p:nvCxnSpPr>
        <p:spPr>
          <a:xfrm flipV="1">
            <a:off x="3902764" y="2447758"/>
            <a:ext cx="504724" cy="828344"/>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
        <p:nvSpPr>
          <p:cNvPr id="36" name="Google Shape;212;p29">
            <a:extLst>
              <a:ext uri="{FF2B5EF4-FFF2-40B4-BE49-F238E27FC236}">
                <a16:creationId xmlns:a16="http://schemas.microsoft.com/office/drawing/2014/main" id="{680CB56B-A9B8-C442-AB1B-2E6185B8793C}"/>
              </a:ext>
            </a:extLst>
          </p:cNvPr>
          <p:cNvSpPr txBox="1"/>
          <p:nvPr/>
        </p:nvSpPr>
        <p:spPr>
          <a:xfrm>
            <a:off x="415572" y="4993066"/>
            <a:ext cx="2247494" cy="300060"/>
          </a:xfrm>
          <a:prstGeom prst="rect">
            <a:avLst/>
          </a:prstGeom>
          <a:noFill/>
          <a:ln w="9525" cap="flat" cmpd="sng">
            <a:solidFill>
              <a:srgbClr val="000000"/>
            </a:solidFill>
            <a:prstDash val="solid"/>
            <a:round/>
            <a:headEnd type="none" w="sm" len="sm"/>
            <a:tailEnd type="none" w="sm" len="sm"/>
          </a:ln>
        </p:spPr>
        <p:txBody>
          <a:bodyPr spcFirstLastPara="1" wrap="square" lIns="68569" tIns="68569" rIns="68569" bIns="68569" anchor="t" anchorCtr="0">
            <a:spAutoFit/>
          </a:bodyPr>
          <a:lstStyle/>
          <a:p>
            <a:r>
              <a:rPr lang="en" sz="1050" dirty="0"/>
              <a:t>We </a:t>
            </a:r>
            <a:r>
              <a:rPr lang="en-GB" sz="1050" dirty="0"/>
              <a:t>begin a child span in the receiver</a:t>
            </a:r>
            <a:endParaRPr sz="1050" dirty="0"/>
          </a:p>
        </p:txBody>
      </p:sp>
      <p:sp>
        <p:nvSpPr>
          <p:cNvPr id="39" name="Rectangle 38">
            <a:extLst>
              <a:ext uri="{FF2B5EF4-FFF2-40B4-BE49-F238E27FC236}">
                <a16:creationId xmlns:a16="http://schemas.microsoft.com/office/drawing/2014/main" id="{36ECABBC-568D-3843-9F5A-D8A6476B2620}"/>
              </a:ext>
            </a:extLst>
          </p:cNvPr>
          <p:cNvSpPr/>
          <p:nvPr/>
        </p:nvSpPr>
        <p:spPr>
          <a:xfrm>
            <a:off x="766482" y="4312225"/>
            <a:ext cx="2820902" cy="25818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40" name="Google Shape;209;p29">
            <a:extLst>
              <a:ext uri="{FF2B5EF4-FFF2-40B4-BE49-F238E27FC236}">
                <a16:creationId xmlns:a16="http://schemas.microsoft.com/office/drawing/2014/main" id="{E5F7F4DC-279B-9F46-9A31-2FB2A717A647}"/>
              </a:ext>
            </a:extLst>
          </p:cNvPr>
          <p:cNvCxnSpPr>
            <a:cxnSpLocks/>
            <a:stCxn id="36" idx="0"/>
          </p:cNvCxnSpPr>
          <p:nvPr/>
        </p:nvCxnSpPr>
        <p:spPr>
          <a:xfrm flipV="1">
            <a:off x="1539319" y="4625009"/>
            <a:ext cx="637614" cy="368057"/>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cxnSp>
        <p:nvCxnSpPr>
          <p:cNvPr id="42" name="Google Shape;209;p29">
            <a:extLst>
              <a:ext uri="{FF2B5EF4-FFF2-40B4-BE49-F238E27FC236}">
                <a16:creationId xmlns:a16="http://schemas.microsoft.com/office/drawing/2014/main" id="{94F2F6F9-1C58-F242-8406-5B36579BAEE3}"/>
              </a:ext>
            </a:extLst>
          </p:cNvPr>
          <p:cNvCxnSpPr>
            <a:cxnSpLocks/>
            <a:stCxn id="36" idx="0"/>
          </p:cNvCxnSpPr>
          <p:nvPr/>
        </p:nvCxnSpPr>
        <p:spPr>
          <a:xfrm flipV="1">
            <a:off x="1539319" y="2654524"/>
            <a:ext cx="1123747" cy="2338542"/>
          </a:xfrm>
          <a:prstGeom prst="straightConnector1">
            <a:avLst/>
          </a:prstGeom>
          <a:noFill/>
          <a:ln w="9525" cap="flat" cmpd="sng">
            <a:solidFill>
              <a:schemeClr val="tx1"/>
            </a:solidFill>
            <a:prstDash val="dashDot"/>
            <a:round/>
            <a:headEnd type="none" w="med" len="med"/>
            <a:tailEnd type="triangle" w="med" len="med"/>
          </a:ln>
          <a:effectLst>
            <a:outerShdw blurRad="57150" dist="19050" dir="5400000" algn="bl" rotWithShape="0">
              <a:srgbClr val="000000">
                <a:alpha val="50000"/>
              </a:srgbClr>
            </a:outerShdw>
          </a:effectLst>
        </p:spPr>
      </p:cxnSp>
    </p:spTree>
    <p:extLst>
      <p:ext uri="{BB962C8B-B14F-4D97-AF65-F5344CB8AC3E}">
        <p14:creationId xmlns:p14="http://schemas.microsoft.com/office/powerpoint/2010/main" val="896426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11" grpId="0" animBg="1"/>
      <p:bldP spid="32" grpId="0" animBg="1"/>
      <p:bldP spid="36" grpId="0" animBg="1"/>
      <p:bldP spid="39"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screenshot of a computer&#10;&#10;Description automatically generated">
            <a:extLst>
              <a:ext uri="{FF2B5EF4-FFF2-40B4-BE49-F238E27FC236}">
                <a16:creationId xmlns:a16="http://schemas.microsoft.com/office/drawing/2014/main" id="{7C1D1D65-044A-9EAD-25AC-3DF07D1BD16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41298" y="557189"/>
            <a:ext cx="4251513" cy="5743618"/>
          </a:xfrm>
          <a:prstGeom prst="rect">
            <a:avLst/>
          </a:prstGeom>
        </p:spPr>
      </p:pic>
      <p:pic>
        <p:nvPicPr>
          <p:cNvPr id="11" name="Picture 10" descr="A screenshot of a computer program&#10;&#10;Description automatically generated">
            <a:extLst>
              <a:ext uri="{FF2B5EF4-FFF2-40B4-BE49-F238E27FC236}">
                <a16:creationId xmlns:a16="http://schemas.microsoft.com/office/drawing/2014/main" id="{7A4F2755-138C-7E38-0AED-CA17103EFA6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646531" y="557189"/>
            <a:ext cx="4256170" cy="5743618"/>
          </a:xfrm>
          <a:prstGeom prst="rect">
            <a:avLst/>
          </a:prstGeom>
        </p:spPr>
      </p:pic>
      <p:sp>
        <p:nvSpPr>
          <p:cNvPr id="2" name="Footer Placeholder 1">
            <a:extLst>
              <a:ext uri="{FF2B5EF4-FFF2-40B4-BE49-F238E27FC236}">
                <a16:creationId xmlns:a16="http://schemas.microsoft.com/office/drawing/2014/main" id="{94847B4A-7D73-7E46-BB69-D18B2C3489D2}"/>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@ICooper</a:t>
            </a:r>
          </a:p>
        </p:txBody>
      </p:sp>
      <p:sp>
        <p:nvSpPr>
          <p:cNvPr id="3" name="Slide Number Placeholder 2">
            <a:extLst>
              <a:ext uri="{FF2B5EF4-FFF2-40B4-BE49-F238E27FC236}">
                <a16:creationId xmlns:a16="http://schemas.microsoft.com/office/drawing/2014/main" id="{E1FFFB84-E451-054E-9205-EA56DB7CFED6}"/>
              </a:ext>
            </a:extLst>
          </p:cNvPr>
          <p:cNvSpPr>
            <a:spLocks noGrp="1"/>
          </p:cNvSpPr>
          <p:nvPr>
            <p:ph type="sldNum" sz="quarter" idx="12"/>
          </p:nvPr>
        </p:nvSpPr>
        <p:spPr>
          <a:xfrm>
            <a:off x="6457950" y="6356350"/>
            <a:ext cx="2057400" cy="365125"/>
          </a:xfrm>
        </p:spPr>
        <p:txBody>
          <a:bodyPr>
            <a:normAutofit/>
          </a:bodyPr>
          <a:lstStyle/>
          <a:p>
            <a:pPr>
              <a:spcAft>
                <a:spcPts val="600"/>
              </a:spcAft>
            </a:pPr>
            <a:fld id="{53C7D256-7CB4-8D4B-B359-120D79D46DFF}" type="slidenum">
              <a:rPr lang="en-US" smtClean="0"/>
              <a:pPr>
                <a:spcAft>
                  <a:spcPts val="600"/>
                </a:spcAft>
              </a:pPr>
              <a:t>136</a:t>
            </a:fld>
            <a:endParaRPr lang="en-US"/>
          </a:p>
        </p:txBody>
      </p:sp>
    </p:spTree>
    <p:extLst>
      <p:ext uri="{BB962C8B-B14F-4D97-AF65-F5344CB8AC3E}">
        <p14:creationId xmlns:p14="http://schemas.microsoft.com/office/powerpoint/2010/main" val="40553175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lkboard" panose="03050602040202020205" pitchFamily="66" charset="77"/>
              </a:rPr>
              <a:t>Further Reading</a:t>
            </a:r>
          </a:p>
        </p:txBody>
      </p:sp>
      <p:pic>
        <p:nvPicPr>
          <p:cNvPr id="4" name="Content Placeholder 3"/>
          <p:cNvPicPr>
            <a:picLocks noGrp="1" noChangeAspect="1"/>
          </p:cNvPicPr>
          <p:nvPr>
            <p:ph idx="1"/>
          </p:nvPr>
        </p:nvPicPr>
        <p:blipFill>
          <a:blip r:embed="rId3" cstate="screen">
            <a:extLst>
              <a:ext uri="{28A0092B-C50C-407E-A947-70E740481C1C}">
                <a14:useLocalDpi xmlns:a14="http://schemas.microsoft.com/office/drawing/2010/main"/>
              </a:ext>
            </a:extLst>
          </a:blip>
          <a:srcRect l="-40915" r="-40915"/>
          <a:stretch>
            <a:fillRect/>
          </a:stretch>
        </p:blipFill>
        <p:spPr/>
      </p:pic>
      <p:sp>
        <p:nvSpPr>
          <p:cNvPr id="3" name="Slide Number Placeholder 2"/>
          <p:cNvSpPr>
            <a:spLocks noGrp="1"/>
          </p:cNvSpPr>
          <p:nvPr>
            <p:ph type="sldNum" sz="quarter" idx="12"/>
          </p:nvPr>
        </p:nvSpPr>
        <p:spPr/>
        <p:txBody>
          <a:bodyPr/>
          <a:lstStyle/>
          <a:p>
            <a:fld id="{867D4A06-35AE-BD4A-84A9-613A26F3D41D}" type="slidenum">
              <a:rPr lang="en-US" smtClean="0"/>
              <a:pPr/>
              <a:t>137</a:t>
            </a:fld>
            <a:endParaRPr lang="en-US"/>
          </a:p>
        </p:txBody>
      </p:sp>
    </p:spTree>
    <p:extLst>
      <p:ext uri="{BB962C8B-B14F-4D97-AF65-F5344CB8AC3E}">
        <p14:creationId xmlns:p14="http://schemas.microsoft.com/office/powerpoint/2010/main" val="7588478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Q&amp;A</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867D4A06-35AE-BD4A-84A9-613A26F3D41D}" type="slidenum">
              <a:rPr lang="en-US" smtClean="0"/>
              <a:pPr/>
              <a:t>138</a:t>
            </a:fld>
            <a:endParaRPr lang="en-US"/>
          </a:p>
        </p:txBody>
      </p:sp>
    </p:spTree>
    <p:extLst>
      <p:ext uri="{BB962C8B-B14F-4D97-AF65-F5344CB8AC3E}">
        <p14:creationId xmlns:p14="http://schemas.microsoft.com/office/powerpoint/2010/main" val="2976814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30327</TotalTime>
  <Words>12917</Words>
  <Application>Microsoft Macintosh PowerPoint</Application>
  <PresentationFormat>On-screen Show (4:3)</PresentationFormat>
  <Paragraphs>1370</Paragraphs>
  <Slides>138</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Arial</vt:lpstr>
      <vt:lpstr>Calibri</vt:lpstr>
      <vt:lpstr>Chalkboard</vt:lpstr>
      <vt:lpstr>Consolas</vt:lpstr>
      <vt:lpstr>Fira Code VF</vt:lpstr>
      <vt:lpstr>Inter Medium</vt:lpstr>
      <vt:lpstr>Office Theme</vt:lpstr>
      <vt:lpstr>  Practical Messaging</vt:lpstr>
      <vt:lpstr>Who are you?</vt:lpstr>
      <vt:lpstr>PowerPoint Presentation</vt:lpstr>
      <vt:lpstr>Day One Messaging</vt:lpstr>
      <vt:lpstr>PowerPoint Presentation</vt:lpstr>
      <vt:lpstr>Prerequisites</vt:lpstr>
      <vt:lpstr>Course Content</vt:lpstr>
      <vt:lpstr>Exercise Code</vt:lpstr>
      <vt:lpstr>PowerPoint Presentation</vt:lpstr>
      <vt:lpstr>Distributed Systems</vt:lpstr>
      <vt:lpstr>Why Distribute?</vt:lpstr>
      <vt:lpstr>PowerPoint Presentation</vt:lpstr>
      <vt:lpstr>Example: Task Queues</vt:lpstr>
      <vt:lpstr>PowerPoint Presentation</vt:lpstr>
      <vt:lpstr>PowerPoint Presentation</vt:lpstr>
      <vt:lpstr>Example: Microservices</vt:lpstr>
      <vt:lpstr>It’s all about velocity!!!</vt:lpstr>
      <vt:lpstr>Monoliths Do Not Scale To Many Teams!</vt:lpstr>
      <vt:lpstr>Microservices let us scale an organisation</vt:lpstr>
      <vt:lpstr>Product Mode </vt:lpstr>
      <vt:lpstr>Microservice</vt:lpstr>
      <vt:lpstr>Microservice</vt:lpstr>
      <vt:lpstr>Collaboration</vt:lpstr>
      <vt:lpstr>The Price of Distribution</vt:lpstr>
      <vt:lpstr>PowerPoint Presentation</vt:lpstr>
      <vt:lpstr>Coupling</vt:lpstr>
      <vt:lpstr>PowerPoint Presentation</vt:lpstr>
      <vt:lpstr>PowerPoint Presentation</vt:lpstr>
      <vt:lpstr>PowerPoint Presentation</vt:lpstr>
      <vt:lpstr>PowerPoint Presentation</vt:lpstr>
      <vt:lpstr>Integration styles</vt:lpstr>
      <vt:lpstr>PowerPoint Presentation</vt:lpstr>
      <vt:lpstr>PowerPoint Presentation</vt:lpstr>
      <vt:lpstr>PowerPoint Presentation</vt:lpstr>
      <vt:lpstr>PowerPoint Presentation</vt:lpstr>
      <vt:lpstr>Messaging patterns</vt:lpstr>
      <vt:lpstr>PowerPoint Presentation</vt:lpstr>
      <vt:lpstr>A Message</vt:lpstr>
      <vt:lpstr>Message Construction</vt:lpstr>
      <vt:lpstr>Messaging and Events</vt:lpstr>
      <vt:lpstr>PowerPoint Presentation</vt:lpstr>
      <vt:lpstr>PowerPoint Presentation</vt:lpstr>
      <vt:lpstr>PowerPoint Presentation</vt:lpstr>
      <vt:lpstr>Command Message</vt:lpstr>
      <vt:lpstr>Exercises</vt:lpstr>
      <vt:lpstr>Exercise material</vt:lpstr>
      <vt:lpstr>channels</vt:lpstr>
      <vt:lpstr>Channels</vt:lpstr>
      <vt:lpstr>Point-to-Point Channel</vt:lpstr>
      <vt:lpstr>Datatype Channel</vt:lpstr>
      <vt:lpstr>Publish-Subscribe Channel</vt:lpstr>
      <vt:lpstr>Dead Letter Channel</vt:lpstr>
      <vt:lpstr>Invalid Message Channel</vt:lpstr>
      <vt:lpstr>endpoints</vt:lpstr>
      <vt:lpstr>Message Endpoint</vt:lpstr>
      <vt:lpstr>Messaging Gateway</vt:lpstr>
      <vt:lpstr>The Message PuMP</vt:lpstr>
      <vt:lpstr>PowerPoint Presentation</vt:lpstr>
      <vt:lpstr>Translate and Dispatch</vt:lpstr>
      <vt:lpstr>Polling Consumer</vt:lpstr>
      <vt:lpstr>Event Driven Consumer</vt:lpstr>
      <vt:lpstr>Service Activator</vt:lpstr>
      <vt:lpstr>Competing Consumers</vt:lpstr>
      <vt:lpstr>Pipelines</vt:lpstr>
      <vt:lpstr>Pipes and Filters</vt:lpstr>
      <vt:lpstr>Content Based Router</vt:lpstr>
      <vt:lpstr>Dynamic Router</vt:lpstr>
      <vt:lpstr>Recipient List</vt:lpstr>
      <vt:lpstr>Splitter</vt:lpstr>
      <vt:lpstr>Aggregator</vt:lpstr>
      <vt:lpstr>Resequencer</vt:lpstr>
      <vt:lpstr>Transformation</vt:lpstr>
      <vt:lpstr>Message Translator</vt:lpstr>
      <vt:lpstr>Content Enricher</vt:lpstr>
      <vt:lpstr>Queues and Streams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material</vt:lpstr>
      <vt:lpstr>PowerPoint Presentation</vt:lpstr>
      <vt:lpstr>PowerPoint Presentation</vt:lpstr>
      <vt:lpstr>PowerPoint Presentation</vt:lpstr>
      <vt:lpstr>PowerPoint Presentation</vt:lpstr>
      <vt:lpstr>PowerPoint Presentation</vt:lpstr>
      <vt:lpstr>PowerPoint Presentation</vt:lpstr>
      <vt:lpstr>Managing Asynchronous APIs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Observability</vt:lpstr>
      <vt:lpstr>PowerPoint Presentation</vt:lpstr>
      <vt:lpstr>PowerPoint Presentation</vt:lpstr>
      <vt:lpstr>PowerPoint Presentation</vt:lpstr>
      <vt:lpstr>Further Reading</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Ian Cooper</dc:creator>
  <cp:lastModifiedBy>Ian Cooper</cp:lastModifiedBy>
  <cp:revision>660</cp:revision>
  <dcterms:created xsi:type="dcterms:W3CDTF">2012-05-22T19:34:54Z</dcterms:created>
  <dcterms:modified xsi:type="dcterms:W3CDTF">2025-10-20T08:07:00Z</dcterms:modified>
</cp:coreProperties>
</file>