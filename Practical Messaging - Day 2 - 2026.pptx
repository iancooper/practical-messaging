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Day 1 built the machinery; this is the first time the room is told what it was for. That order is deliberate — the argument used to open Day 1 and it was preamble there, in front of people who had not yet seen a single mechanism. Here they have seen all of them, so it reads as a summing-up rather than a promise. Say the drivers, then say that all of them reduce to two properties, and put the two words on the board — they are the spine of today. Deliberately not here: the case for microservices. The property is what matters and there is more than one way to buy it; a 2016 argument about decomposing monoliths is not what this room needs in 2026. If someone asks, the honest answer is that microservices are one example, they are not free, and yesterday was the bill. Do not mention Reactive — it is ninety minutes away and it lands better as recognition.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hand-off slide, and it should take two minutes. Do not re-derive the availability arithmetic — Day 1 §Coupling Must We Both Be Up? did it with a number (0.999⁴ = 0.996) and the room owns it. Name it and move. The three questions are the three movements of the next section in disguise, so do not answer any of them — Flow and Reactive Programming opens on the second one and nothing else. If the room is cold first thing in the morning, the fastest warm-up is to ask what they built yesterday and let somebody describe the outbox out loud.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teaching slide of Day Two, straight off So How Do You Design One?, which asked who is in charge — and does anyone need to be? Open on the question, not the agenda — it is the callout, and it is the line that has to earn the room's attention. Then take the four movements one click at a time, and do not explain them: each is one phrase, each gets its own card when we reach it, and the point of showing all four now is only that the room can hear the shape of the morning. The route is: watch an office do it with no one in charge, do it yourself, then discover that the way you already build software puts somebody in charge whether you wanted it or not.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day opens here, before any software is mentioned. This is not nostalgia and not a metaphor — it is a worked example of the thing the whole section is about, and delegates have to be able to draw in its notation within the hour. Resist any urge to say "of course, in software we…"; the movement ends by asking that, and movement B answers it badly on purpose.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callback to Day 1 §4 — channels, endpoints, the message pump. Say the words this is a broker out loud; the physical picture is what makes the pattern stick for people who have only ever seen it as a Docker container. Both photographs earn their place, so point at each: the frame is the topic and the cart is the queue, and the pair is the whole of publish-subscribe-then-deliver in two objects the room has handled.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deliberate callback to Day 1 §6.1 *Fat and Skinny Messages, and the two photographs are the whole slide — hold them up rather than reading the bullets. The envelope is one document going one place; the sack is somebody deciding it was cheaper to send everything than to be asked twice. Ian's 2025 framing pairs these with the other axis — skinny with Messaging / discrete event, immediately actioned, fat with series event (document), supports action* — which is worth saying if the room is strong, but Day 1 teaches the two axes separately and the slide deliberately claims only the size one. Ask which the fax in the next flow is; the answer is skinny, and it is why a reference number has to be written on it.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is the slide — walk it, do not read a list beside it. The notation was previously never taught; it was demonstrated in passing across a dozen unlabelled photographs, and it has to be explicit now, because delegates draw in it within the hour. Name the three things on a desk: an in-tray, work that has arrived and is not done yet; an out-tray, work finished here and not yet collected; and a file, what this desk knows written down, because the clerk goes home at five. Then the three rules: a heavy vertical bar is an organisational boundary; numbered steps show sequence, with dashed arrows for paper moving and solid for a phone call or a fax; and every hand-off goes out-tray to in-tray — nobody shouts across the office. That last one is the whole exercise in one line and it is also the hard rule on the printed delegate brief, so say it in those words. The out-tray-to-in-tray rule is what makes the fracture planes visible.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business before the first flow, not during it. Nothing in the deck previously said what Just Paper Takeaway actually did, so the four flows that follow arrived as diagrams of an unstated company. Keep it to the five sentences: who we are, what we post, how an order reaches us, how it reaches the restaurant, and who delivers. The last one matters — restaurants deliver, so the takeaway never sees a driver, and that is why no flow in this section has one.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of four see one flows, and the slowest. It is the diagram delegates reproduce for the hotel in block 1, and the structural twin of Hotel Onboarding. Point at the boundary bar and at two trays explicitly; those are the only two pieces of notation they need to start. Ask the room where the waiting is before you walk the flow — the answer is always "at the boundary",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first of four see one flows, and the slowest. It is the diagram delegates reproduce for the hotel in block 1, and the structural twin of Hotel Onboarding. Point at the boundary bar and at two trays explicitly; those are the only two pieces of notation they need to start. Ask the room where the waiting is before you walk the flow — the answer is always "at the boundary", which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Pace picks up now the notation is known — one diagram, walked, but briskly. The useful observation here is the channel heterogeneity: a phone call is a synchronous conversation, the order pad is a queue, the card machine is a third-party request/response. Delegates will hit exactly this in the hotel — the guest phones, the booking form is paper, the card is a terminal. Name it so they are not surprised by it in block 1.</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Pace picks up now the notation is known — one diagram, walked, but briskly. The useful observation here is the channel heterogeneity: a phone call is a synchronous conversation, the order pad is a queue, the card machine is a third-party request/response. Delegates will hit exactly this in the hotel — the guest phones, the booking form is paper, the card is a terminal. Name it so they are not surprised by it in block 1.</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load-bearing flow of the four. Storage, correlation and hand-off across an organisational boundary are all here in paper form, and movement C re-expresses exactly this flow as a graph — so what you say here is what the FBP worked example calls storage and correlation id. Do not use those words yet. Say file it before you send it and write the reference number on the fax, and let movement C supply the vocabulary for what the room already saw.</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load-bearing flow of the four. Storage, correlation and hand-off across an organisational boundary are all here in paper form, and movement C re-expresses exactly this flow as a graph — so what you say here is what the FBP worked example calls storage and correlation id. Do not use those words yet. Say file it before you send it and write the reference number on the fax, and let movement C supply the vocabulary for what the room already saw.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montage — it is the close of the see one and the reason the four flows were walked separately. The arrows arrive in eight clicks, two per flow, and the colour is the point: carbon is asynchronous, muted grey is synchronous, and there are twenty against four. Do not name that split until the last click — let them watch the grey run out. One sentence a click: the phone call that starts it · and everything after it is paper · the customer rings, and gets transferred · the order becomes paper too · the fax goes out · and the office keeps working while it is gone · the confirmation arrives on its own, later · only now does anyone pick up the phone. The drawings under the arrows are deliberately too small to read — that is what the arrows are for, and it is why this works as one picture rather than four. Ask the room the movement's question here: if you were asked to build this, how would you draw it? Take answers; they will describe an orchestrator or a set of services with a gateway in front. Do not correct them — write it on a flipchart and leave it up through the exercise, because that is movement B, and it is more powerful as their answer than as yours.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montage — it is the close of the see one and the reason the four flows were walked separately. The arrows arrive in eight clicks, two per flow, and the colour is the point: carbon is asynchronous, muted grey is synchronous, and there are twenty against four. Do not name that split until the last click — let them watch the grey run out. One sentence a click: the phone call that starts it · and everything after it is paper · the customer rings, and gets transferred · the order becomes paper too · the fax goes out · and the office keeps working while it is gone · the confirmation arrives on its own, later · only now does anyone pick up the phone. The drawings under the arrows are deliberately too small to read — that is what the arrows are for, and it is why this works as one picture rather than four. Ask the room the movement's question here: if you were asked to build this, how would you draw it? Take answers; they will describe an orchestrator or a set of services with a gateway in front. Do not correct them — write it on a flipchart and leave it up through the exercise, because that is movement B, and it is more powerful as their answer than as yours.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 the montage — it is the close of the see one and the reason the four flows were walked separately. The arrows arrive in eight clicks, two per flow, and the colour is the point: carbon is asynchronous, muted grey is synchronous, and there are twenty against four. Do not name that split until the last click — let them watch the grey run out. One sentence a click: the phone call that starts it · and everything after it is paper · the customer rings, and gets transferred · the order becomes paper too · the fax goes out · and the office keeps working while it is gone · the confirmation arrives on its own, later · only now does anyone pick up the phone. The drawings under the arrows are deliberately too small to read — that is what the arrows are for, and it is why this works as one picture rather than four. Ask the room the movement's question here: if you were asked to build this, how would you draw it? Take answers; they will describe an orchestrator or a set of services with a gateway in front. Do not correct them — write it on a flipchart and leave it up through the exercise, because that is movement B, and it is more powerful as their answer than as yours.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failure vocabulary the exercise's failure cards use — deliberately the same words, so round 3 is recall and not invention. The carbon copy is the outbox; the resend is the retry. The Fax Call Log is the good bit: a real error-status table, i.e. someone had to build observability for paper too. This is the last slide before block 1, so end on the table, not the diagrams: those five rows are what the failure cards will deal out.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failure vocabulary the exercise's failure cards use — deliberately the same words, so round 3 is recall and not invention. The carbon copy is the outbox; the resend is the retry. The Fax Call Log is the good bit: a real error-status table, i.e. someone had to build observability for paper too. This is the last slide before block 1, so end on the table, not the diagrams: those five rows are what the failure cards will deal out.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failure vocabulary the exercise's failure cards use — deliberately the same words, so round 3 is recall and not invention. The carbon copy is the outbox; the resend is the retry. The Fax Call Log is the good bit: a real error-status table, i.e. someone had to build observability for paper too. This is the last slide before block 1, so end on the table, not the diagrams: those five rows are what the failure cards will deal out.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failure vocabulary the exercise's failure cards use — deliberately the same words, so round 3 is recall and not invention. The carbon copy is the outbox; the resend is the retry. The Fax Call Log is the good bit: a real error-status table, i.e. someone had to build observability for paper too. This is the last slide before block 1, so end on the table, not the diagrams: those five rows are what the failure cards will deal out.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into Paper Flow block 1 (~45 minutes) — rounds 1, 2 and 3. See REDEVELOPMENT-PLAN §7. There is no round-0 recap any more: the see one is the four slides they have just watched, so point back at Worked Flow — Restaurant Onboarding and start. Land ACID takes place at a desk; BASE takes place across desks in this block's debrief — it is the payoff for the hard rule. Delegates must not meet BPMN before the exercise; they are inventing a notation, and Process Automation formalises it at the end of the day.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uncontroversial — everyone in the room has this, and they proposed it themselves before the exercise. Read their flipchart back to them first. It is here to be named, because the next three slides are about what happens when you scale it up and point it at a flow. Movement B is the wrong answer, delivered fairly: do not sneer at it, and do not tip the ending.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uncontroversial — everyone in the room has this, and they proposed it themselves before the exercise. Read their flipchart back to them first. It is here to be named, because the next three slides are about what happens when you scale it up and point it at a flow. Movement B is the wrong answer, delivered fairly: do not sneer at it, and do not tip the ending.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system passes control between classes to meet a use case, via message passing — "call and return" from main on down. Contrast it directly with the flows they drew this morning: no desk in the takeaway knew the whole process; main knows nothing else. Hold the phrase knowledge of the whole process lives in one place; movement D and the exercise's round 4 both come back to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SOA takes objects to a macro scale. The quote is on the drawing, without its attribution — so point at it and supply the name: "A service should represent a self-contained functionality that corresponds to a real-world business activity" is Nicolai Josuttis, SOA in Practice. He says align the service with a business activity; the next slide shows what you get when you align it with an entity instead. A desk is a business activity — the drawing says so too, and it means the takeaway flows already satisfied Josuttis, which is worth saying out loud here rather than at the end.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the movement exists for, and it is now an answer rather than an opening complaint. The room proposed this shape an hour ago; here is what it costs. The distributed monolith is not a failure of nerve, it is what call-and-return becomes when you distribute it — and it gives back exactly the independent deployability this morning's opener called "the prize". End on the comparison, not on a question: you drew a flow this morning with no coordinator, and then you built one with a coordinator in the middle. So what would it take to build what you actually drew? Movement C is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Perhaps the oldest expression of the reactive approach, and the formal version of the paper flow they drew themselves an hour ago — say that in the first sentence, because it is the whole reason this movement lands where it does. Unlike OO — where state is co-located with behaviour in the node — data moves between transformations along arcs. The desk is a node; the tray is an arc; the file is the node's state. Draw that mapping on the board and leave it up for the rest of the movement.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drawings are the slide — walk them, do not read a list first. A node is a black box with ports: it is fired when a packet arrives on an input port's arc, it computes, and as a black box it reports what happened by raising an event on an output port that others may react to. Packets are just data — primitive or compound values travelling between ports, with no special requirements. And a node is generally single-threaded: concurrency comes from having many nodes, not from one node doing many things. That last one is the clerk rule — one clerk does one document at a time, and you get throughput by hiring clerks — and every delegate has just enacted it with cards.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drawings are the slide — walk them, do not read a list first. A node is a black box with ports: it is fired when a packet arrives on an input port's arc, it computes, and as a black box it reports what happened by raising an event on an output port that others may react to. Packets are just data — primitive or compound values travelling between ports, with no special requirements. And a node is generally single-threaded: concurrency comes from having many nodes, not from one node doing many things. That last one is the clerk rule — one clerk does one document at a time, and you get throughput by hiring clerks — and every delegate has just enacted it with cards.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off the drawing. Node lifetime — in classic dataflow a node lives from activation until it has pushed its answer; push means something arrived and there is work to do, pull means a sink asked for work. Capacity — we do not activate a node to read input if there is no space on its output, and links with infinite capacity exist only in theory. Therefore backpressure — a full buffer means either slow the producer or drop data. Arcs connect nodes; buffered arcs allow asynchrony — a node can push its output onto the buffer while the downstream node is still busy, which is what enables parallelism. Throughput is then limited by the slowest node. None of this is required for dataflow: a synchronous, unbuffered, single-threaded pipeline is a valid dataflow program. Push is a hot source you listen to (mouse clicks); pull means nothing is generated until a sink pulls the chain. Introduce backpressure and load-shedding as the two available answers here — movement D turns them into a decision. If a table got "this in-tray holds only three documents" in block 1, this is their card, named.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Merged from three slides. The deltas from dataflow are the whole content — do not re-teach dataflow. Suspend-not-terminate is the one to dwell on: it is the message pump from Day 1 §4.3, described from the other side — and it is the clerk who stays at the desk all day rather than being hired per document.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Merged from three slides. The deltas from dataflow are the whole content — do not re-teach dataflow. Suspend-not-terminate is the one to dwell on: it is the message pump from Day 1 §4.3, described from the other side — and it is the clerk who stays at the desk all day rather than being hired per document.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Merged from three slides. The deltas from dataflow are the whole content — do not re-teach dataflow. Suspend-not-terminate is the one to dwell on: it is the message pump from Day 1 §4.3, described from the other side — and it is the clerk who stays at the desk all day rather than being hired per document.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Merged from three slides. The deltas from dataflow are the whole content — do not re-teach dataflow. Suspend-not-terminate is the one to dwell on: it is the message pump from Day 1 §4.3, described from the other side — and it is the clerk who stays at the desk all day rather than being hired per document.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MQTT retained messages are a way of emulating the IIP idea — the broker holds the last value on a topic so a late subscriber gets state immediately rather than waiting for the next publish. Same problem: how does a node that just started know anything? The paper answer is the standing instruction pinned above the desk.</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direct callback to Day 1 §6.2 Reference Data — on-demand versus in-advance, and the CAP cost of each. Delegates met the decision in prose at the end of Day 1 and meet it as a picture now. Give the same verdict: the Build Lookup node is the recommended shape; the lookup port is what you use when the data cannot be replicated. The paper form is the Catalogue Maker: a desk whose whole job is keeping a local copy current so nobody has to walk.</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direct callback to Day 1 §6.2 Reference Data — on-demand versus in-advance, and the CAP cost of each. Delegates met the decision in prose at the end of Day 1 and meet it as a picture now. Give the same verdict: the Build Lookup node is the recommended shape; the lookup port is what you use when the data cannot be replicated. The paper form is the Catalogue Maker: a desk whose whole job is keeping a local copy current so nobody has to walk.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direct callback to Day 1 §6.2 Reference Data — on-demand versus in-advance, and the CAP cost of each. Delegates met the decision in prose at the end of Day 1 and meet it as a picture now. Give the same verdict: the Build Lookup node is the recommended shape; the lookup port is what you use when the data cannot be replicated. The paper form is the Catalogue Maker: a desk whose whole job is keeping a local copy current so nobody has to walk.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direct callback to Day 1 §6.2 Reference Data — on-demand versus in-advance, and the CAP cost of each. Delegates met the decision in prose at the end of Day 1 and meet it as a picture now. Give the same verdict: the Build Lookup node is the recommended shape; the lookup port is what you use when the data cannot be replicated. The paper form is the Catalogue Maker: a desk whose whole job is keeping a local copy current so nobody has to walk.</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paper diagram and the graph side by side if the room allows it — the point of the movement is that they are the same drawing. Storage, correlation and lookup are the three things the paper flow already had: the file, the reference number on the fax, and the catalogue. Say each pair out loud; the italic lines on the slide are there so delegates can do the mapping themselves afterwards. This is the diagram Putting It Together annotates at the end of the day, so leave it clean here — the exchange-pattern labels are that section's job, not this one's.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paper diagram and the graph side by side if the room allows it — the point of the movement is that they are the same drawing. Storage, correlation and lookup are the three things the paper flow already had: the file, the reference number on the fax, and the catalogue. Say each pair out loud; the italic lines on the slide are there so delegates can do the mapping themselves afterwards. This is the diagram Putting It Together annotates at the end of the day, so leave it clean here — the exchange-pattern labels are that section's job, not this one's.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composition is the content here, and it is the argument for the notation: four separate sheets of paper turn out to be one network, because the arcs were always the same arcs. This is also the slide that makes block 2 tractable — delegates redraw their own stage and the tables' graphs then join up in the debrief exactly as these do. Do not rush the overall diagram; it is the one they are about to imitate.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composition is the content here, and it is the argument for the notation: four separate sheets of paper turn out to be one network, because the arcs were always the same arcs. This is also the slide that makes block 2 tractable — delegates redraw their own stage and the tables' graphs then join up in the debrief exactly as these do. Do not rush the overall diagram; it is the one they are about to imitate.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composition is the content here, and it is the argument for the notation: four separate sheets of paper turn out to be one network, because the arcs were always the same arcs. This is also the slide that makes block 2 tractable — delegates redraw their own stage and the tables' graphs then join up in the debrief exactly as these do. Do not rush the overall diagram; it is the one they are about to imitate.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composition is the content here, and it is the argument for the notation: four separate sheets of paper turn out to be one network, because the arcs were always the same arcs. This is also the slide that makes block 2 tractable — delegates redraw their own stage and the tables' graphs then join up in the debrief exactly as these do. Do not rush the overall diagram; it is the one they are about to imitate.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summit of movements A and C. Two beats, and the second is the hinge into movement D — do not let the failure discussion eat it. The MoM diagram is where the whole section turns: everything delegates have drawn on paper and in graphs becomes the thing Day 1 spent a day building. Deliberately do not say "Reactive" here; movement D is the reveal.</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summit of movements A and C. Two beats, and the second is the hinge into movement D — do not let the failure discussion eat it. The MoM diagram is where the whole section turns: everything delegates have drawn on paper and in graphs becomes the thing Day 1 spent a day building. Deliberately do not say "Reactive" here; movement D is the reveal.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summit of movements A and C. Two beats, and the second is the hinge into movement D — do not let the failure discussion eat it. The MoM diagram is where the whole section turns: everything delegates have drawn on paper and in graphs becomes the thing Day 1 spent a day building. Deliberately do not say "Reactive" here; movement D is the reveal.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Hand-off into Paper Flow block 2 (~45 minutes) — the FBP re-expression, which was the closing task of the original exercise deck (s009) and never had room. See REDEVELOPMENT-PLAN §7. Delegates redraw the stage they modelled in block 1, so there is no new domain to absorb; the work is purely the change of notation, which is the point. The debrief joins the tables' graphs into one network, mirroring the Order Flow in FBP slide — and the hand-offs between tables are the largest fracture planes of all. Still no BPMN.</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room has now drawn the same system four times, in two notations, and made it fail. Movement D adds no new mechanism — it supplies the name, and shows that somebody published it in 2014. Published September 2014 by Jonas Bonér, with Erik Meijer, Martin Odersky, Greg Young, Martin Thompson, Roland Kuhn, James Ward and Guillaume Bort — say the names, do not put them on the screen. Ask the room to give you the two properties back from memory before you turn the slide, because the next one is the mapping and it only lands if they got there first. Also: not just the actor model — these ideas have expression well beyond it, and following Helland, many implementations are possible.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payoff of Easy to Change, and Robust, and neither day has said the word "Reactive" before now, so it lands as recognition rather than repetition. One caveat since the timing pass: the two properties are now named this morning rather than yesterday, so the gap is ninety minutes, not a day — the recognition is weaker and you have to work for it. Do not re-read the opener's wording. Present the manifesto as their own two properties, already published, with two more added.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manifesto names the four traits and says Message Driven is the foundation the others rest on, but it never assigns value, form and means — that reading is Bonér's, and it is a defensible one. Say the attribution aloud rather than expanding it on the screen. The old slide showed four words and three labels with no source at all, which read as if it were quoting. If you would rather not carry someone else's gloss, this is the most cuttable slide in the movement; the manifesto slide above stands on its own.</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passing invokes behaviour on a computer. In contrast to calling a program by name, it uses an object model to separate the general function from the specific implementation — the invoker sends a message and relies on the object to select and execute the code. The justifications fall into two categories: encapsulation and distribution. Point back at the frame: a mailbox is a pigeonhole.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loop explicitly — name Easy to Change, and Robust from this morning's opener out loud. The through-line to draw on the board: call and return puts knowledge of the whole use case in one place, so one place has to change every time the use case does; flow puts each step in its own component reacting to its own input, so a new step is a new subscriber. Reactive architectures derive from reactive programming, not OO — "everything flows". This is also the slide that answers movement B: the distributed monolith was entity services with a gateway main; this is the same distribution with the god object removed.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direct answer to movement B — and the name for what movement B drew is Feature Envy, so say it while pointing at the red line across the top of the drawing, which states the rule. Reactive inherits from dataflow: conceive the application as a graph of nodes operating on data flowing through it. It shines for data-driven applications composed from components in workflows — let components subscribe to each other's event streams and consume published facts asynchronously, on demand. Every desk in the paper office was a verb: Take Order, Send Fax, Make Catalogue. That is why the office had no god object and the gateway does.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set, and the next four slides are the set. Say all four now, briefly, so the room knows how far it has to go — then take them one at a time. Land the callout on the way in: Resilient and Elastic are not aspirations, they are these four mechanisms. The circuit-breaker and scale-out diagrams used to be orphaned images under a "recap" heading and were never really taught; each has its own slide now.</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absorbs the cut SOA — Faults Propagate — the fault propagation claim is made here, where it is immediately answered, instead of standing alone. Say it out loud: you met this on Day 1 §Coupling, and store and forward is what makes the outage a delay. That is the section's central argument arriving for the third time: availabilities multiply only under temporal coupling; store-and-forward breaks the chain. This requires storage and retransmission — usually Message-Oriented Middleware. If a table drew "the night porter is on a break" in block 1, this is that card with a name on it.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Merged from two slides. The idea was introduced as a mechanism back in Capacity, Backpressure and Node Lifetime; here it becomes the choice. Worth asking the room which one their current system does — the answer is usually "neither, it falls over", which is a third option nobody chooses on purpose.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Merged from two slides. The idea was introduced as a mechanism back in Capacity, Backpressure and Node Lifetime; here it becomes the choice. Worth asking the room which one their current system does — the answer is usually "neither, it falls over", which is a third option nobody chooses on purpose.</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names are the vocabulary; the picture is the reason. Point at the lock on the in-port — we stop reading the queue, which is what makes this different from a retry policy: the work is still there when we come back, exactly as it was on the bulkhead. Ask what happens if every consumer opens at once, and let them find the thundering herd on recovery.</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names are the vocabulary; the picture is the reason. Point at the lock on the in-port — we stop reading the queue, which is what makes this different from a retry policy: the work is still there when we come back, exactly as it was on the bulkhead. Ask what happens if every consumer opens at once, and let them find the thundering herd on recovery.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drawing carries the mechanics — interchangeable workers, add one, lose one — so say the consequence and let it show the machinery. Call back to Competing Consumers, Day 1 §4.3 — this is that pattern, drawn from the supervisor's side rather than the queue's, and the room has already done the arithmetic that motivates it (if the rate of arrival exceeds the rate of consumption the channel backs up). The queue and stream split is the detail they met there: on a queue you add consumers and lose ordering; on a stream you add partitions and keep it. The drawing letters the reason the supervisor can do this at all — it does not know how many workers there are — so point at that line rather than reading it.</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drawing carries the mechanics — interchangeable workers, add one, lose one — so say the consequence and let it show the machinery. Call back to Competing Consumers, Day 1 §4.3 — this is that pattern, drawn from the supervisor's side rather than the queue's, and the room has already done the arithmetic that motivates it (if the rate of arrival exceeds the rate of consumption the channel backs up). The queue and stream split is the detail they met there: on a queue you add consumers and lose ordering; on a stream you add partitions and keep it. The drawing letters the reason the supervisor can do this at all — it does not know how many workers there are — so point at that line rather than reading it.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Paper Flow round 4, ~10 minutes, and the hand-off into Process Automation — it sits here rather than at the end of block 2 so its payoff does not go cold across the whole of movement D. See REDEVELOPMENT-PLAN §7. Nothing anywhere in the course has planted these two words, deliberately — so do not call back to anything. Let the room invent the distinction here, and give it the names only after they have run it both ways. Delegates still must not have met BPMN — they are about to be shown that the thing they just enacted has a standard notation, which only works if it is a reveal.</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keep the promise made on the previous one. Delegates have just run their own flow with a conductor and without one, and were told that the next section gives those two things their names and a notation — so do not open on BPMN primitives, open on their own drawing. Put the paper version up alone first and ask what a stranger could not tell from it; then reveal the BPMN. The mapping table is the teaching move: they already have every concept, they lack only the vocabulary. The primitives on BPMN — The Elements and Tasks, Events and Gateways then arrive as what you needed in order to draw that, rather than as a legend to be memorised. Do not read the table out — walk the diagram and point at each pair. ⚑ The two flow rows are the takeaway of the whole section, and they are the two people get backwards. Sequence flow is orchestration — the token stays inside one pool, and something in there is in charge of what happens next. Message flow is choreography — the message crosses out and the sender has no say in what the other side does with it. Say what the discriminator is not: it is not the arrow style. On their own paper every hand-off is dashed and numbered; the carbon hand-offs inside the bar are paper between trays and the blacks across it are a phone call or a fax, so the notation they invented already separates the two — by which side of the bar the paper ends up on. Point at Create Booking Request → Fax the Hotel: two different desks, two different lanes, one solid sequence flow, because both are inside Just Paper Hotels. Then point at the fax leaving for The Hotel, and note that it is dashed for exactly one reason — it crossed the pool boundary.</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to keep the promise made on the previous one. Delegates have just run their own flow with a conductor and without one, and were told that the next section gives those two things their names and a notation — so do not open on BPMN primitives, open on their own drawing. Put the paper version up alone first and ask what a stranger could not tell from it; then reveal the BPMN. The mapping table is the teaching move: they already have every concept, they lack only the vocabulary. The primitives on BPMN — The Elements and Tasks, Events and Gateways then arrive as what you needed in order to draw that, rather than as a legend to be memorised. Do not read the table out — walk the diagram and point at each pair. ⚑ The two flow rows are the takeaway of the whole section, and they are the two people get backwards. Sequence flow is orchestration — the token stays inside one pool, and something in there is in charge of what happens next. Message flow is choreography — the message crosses out and the sender has no say in what the other side does with it. Say what the discriminator is not: it is not the arrow style. On their own paper every hand-off is dashed and numbered; the carbon hand-offs inside the bar are paper between trays and the blacks across it are a phone call or a fax, so the notation they invented already separates the two — by which side of the bar the paper ends up on. Point at Create Booking Request → Fax the Hotel: two different desks, two different lanes, one solid sequence flow, because both are inside Just Paper Hotels. Then point at the fax leaving for The Hotel, and note that it is dashed for exactly one reason — it crossed the pool boundary.</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Second example, and deliberately the takeaway domain rather than the hotel — the see-one, so the room gets the notation twice over on two flows it already knows. It is also an editable resource, which the hotel diagrams are not.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load-bearing line is the token one, so say it out loud: it is ACID at a desk, BASE across desks from block 1's debrief, in BPMN's own vocabulary, and it is the distinction that makes orchestration-vs-choreography obvious twelve slides from now rather than arbitrary. ⚑ Do not reach for at a desk / between desks as the shorthand for the two arrows — a desk is a lane, and two desks inside one pool are joined by a sequence flow, which is the confusion Your Flow, in the Standard Notation has just spent a table correcting. The boundary that matters is the pool.</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lists. Teach the six on the figure — they are the only ones used anywhere in this deck, and every diagram in this section is built from them, which is the point worth making out loud. The bolded entries in the three bullet lists are those same six. Everything else is on the reference card in the pack: a lookup table wants to be in the delegate's hand, not on the screen — the same test that sent Managing Asynchronous APIs and the routing patterns to handouts.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lists. Teach the six on the figure — they are the only ones used anywhere in this deck, and every diagram in this section is built from them, which is the point worth making out loud. The bolded entries in the three bullet lists are those same six. Everything else is on the reference card in the pack: a lookup table wants to be in the delegate's hand, not on the screen — the same test that sent Managing Asynchronous APIs and the routing patterns to handouts.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that follow are the ones the closing slide, Implementing Workflow Patterns, maps onto the three implementation styles — so the vocabulary is load-bearing, not trivia. Every one of the five is somewhere in the flow the room drew this morning; say that, and the five slides become recognition rather than definition.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one is drawn on their own paper flow already — Respond with Booking Accept/Reject, step 7. Point at it.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conductor from round 4 — one person, holding the routing slip, who knows the whole process. Name the callback; the room enacted it forty minutes ago.</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demo we emulate this with HTTP calls (same as web/mobile). It's "in process" — we manage the token and its state through the flow. We show where we wait to receive a message. Debugging: we pause awaiting a message from another system, and can't see how the received values were set, or why we do/don't receive a message — for that we'd need the sender.</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send messages to act (message icon) and wait to receive messages (start and end). Same debugging blind-spot — to debug the flow to the guest we'd need breakpoints in both, which is fine if we own both, but not if they belong to different teams (we'd have to deploy their code). This is the pool delegates modelled, so let them tell you what belongs in each lane before you show it.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pattern — send messages to act, wait to receive. To debug the flow across the agency and the guest we'd need breakpoints in all three. Fastest of the three slides: the shape is now familiar, which is the point of showing it a third time.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Multiple pools (Guest, Just Paper Hotels, The Hotel) with message flows (booking request, fax to the hotel, accept/reject back, confirmation to the guest). We want to examine the interaction from a neutral perspective, but modelling it as one pool with lanes doesn't work well — some tasks reference interaction (waiting for the hotel's answer, taking payment), others are oblivious to partners (checking the room list, packing). It is not semantically correct because message events always refer to messages received from outside. This is the heavy vertical bar from the paper notation, drawn properly — and the failure of one-pool-with-lanes is exactly why the bar was there.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interaction options are the half that matters — "both participants must run in the engine" is the coupling argument from Day 1 §Coupling arriving at process scale.</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two interaction options are the half that matters — "both participants must run in the engine" is the coupling argument from Day 1 §Coupling arriving at process scale.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Black box is the load-bearing word. The Hotel is a black box to the agency — you see the messages, never the process — which is what makes the fracture plane in block 1 a real boundary rather than a drawing convention.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Black box is the load-bearing word. The Hotel is a black box to the agency — you see the messages, never the process — which is what makes the fracture plane in block 1 a real boundary rather than a drawing convention.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dance and the no-shared-state line are what to land here. The correlation key is not new: it is the booking reference written on the fax so the answer can be matched to the request, and it is the same id that becomes a trace id in ## Next Steps.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dance and the no-shared-state line are what to land here. The correlation key is not new: it is the booking reference written on the fax so the answer can be matched to the request, and it is the same id that becomes a trace id in ## Next Steps.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this simple interaction produces a set of messages flowing between participants. Choreography is what happens "between" — it has no explicit owner. When flow leaves your application (or workflow engine) it "goes blind": the event horizon. You understand your workflow — it's in your code — but debugging becomes hard because at times nothing happens that's supposed to, and you struggle to know why. This is round 4 with no conductor, drawn.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Implementation paths depend on model type — embedded logic (orchestration) vs. API contracts/events (choreography). Clear boundaries → better automation decisions and a clearer division between messaging and eventing. Close the first half here on round 4's two questions — where did knowledge of the whole process live, and who had to change when a step was added — because the two columns of this table are the two answers.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Durable execution has just been named, and this is the first thing that needs it — every activity type in this sub-section does, tentative included, which is why it comes second. The hotel makes it concrete: reserve/commit/rollback is a conversation with a lifetime, so someone has to remember the reservation exists, honour its timeout, and drive it to commit or rollback even across a restart. That requirement is what the rest of this section is about. Two failure cards land here — the guest checks out early, mid-flow and this desk goes home; anything not written into a file is forgotten.</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last line is the question the rest of this sub-section answers, and it is the most directly useful material on either day — four mechanisms, in ascending order of how much machinery you take on. Put it on the board and leave it there.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 Helland — each entity must remember state about its partners on a partner-by-partner basis; call this an activity. An entity may have many activities if it interacts with many partners.</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Baseline automation. E.g. a BookingRequestedHandler looks up the booking and sets state = AwaitingHotel. Handlers process events and update persistent state; durable via stored state, but control flow is implicit — logic scatters across handlers. The listing on the next slide is what the last bullet looks like in code.</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transaction and the postbox line by line, because the outbox is Day 1 §4.4 arriving with a job to do: the state change and the message that announces it commit together, and the message only leaves the process afterwards. The throw matters — roll back and rethrow is what lets guaranteed delivery retry the whole thing.</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States e.g. Requested → SentToHotel → Accepted → Paid → Confirmed; transitions triggered by events/commands; implemented via the state pattern, switch statements, or a library (e.g. Stateless). Durable via persisted state + event log. Benefits: predictable, easier to visualize/test, avoids duplication across handlers. Drawback: no concurrency or waiting logic. Plant the word now: when a messaging framework says saga, this is almost always what it means — a state machine with a compensating path back to safe. Compensation, Four Ways comes back to it and shows the other three, and the room will recognise this one when it does.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Initially and During on the listing — they are the two states the room needs, and every arrow between them is a message arriving.</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literally the conductor's routing slip from round 4 — the one artefact the room has already held in its hands. Say so; it is the cheapest explanation in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External orchestrators — Temporal, Camunda, Azure Logic Apps, AWS Step Functions. Support wait states (await BookingAccepted), parallel branches, timeouts, retries, visual modeling. Durable by design (execution state + workflow history stored); suited to complex, distributed systems. Example steps: PlaceBookingWithHotel → WaitForHotelResponse → TakePayment → WaitForPaymentCleared → ConfirmToGuest — which is the BPMN from the front of this section, now executable.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argument, four costumes — as a table the repetition becomes the point. The Saga name comes from a 1980s paper on long-lived database transactions, and messaging frameworks that say "saga" almost always mean the state-machine row. The distinction to land is business error vs. technical error — retry is for technical, a gateway branch is for business, and confusing the two is how teams end up retrying a declined card forty times. (Ruecker, Practical Process Automation.) On the hotel: the undo for reserve a room is release the room; the undo for take payment is refund. Ask the room which of the four they would use, and why.</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failure mode is anaemic services: all domain logic migrates into the engine and the services become passive executors of workflow directives. That is the ESB, rebuilt. The quotation is from Microservices (2014) — say both names, and say it is a slogan rather than an argument, because the argument is the bullets above it. Microservices promote smart services and minimal messaging infrastructure. This is the closing argument of the section, and it is Day 1 §Coupling at process scale: put the process in the pipe and every participant is coupled to the pipe.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rows are the five patterns from the front of the section plus compensation — so this table closes a loop opened twenty-five slides ago, and the two ⚠️ cells are the whole argument for when to stop hand-rolling and pick up an engine.</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the Managing Asynchronous APIs handout out here (see plan §6 — built from the QCon London 2026 deck). Give Postel's Law thirty seconds out loud, because it is the one line that changes behaviour, and point at the handout for everything else. The two days have taught them what to put in a message and how to move it reliably; this is how they publish and evolve it, and it is reference material rather than a decision to rehearse. Worth naming the case study — MeX at Just Eat Takeaway, 2,048 message schemas — so it reads as a real-world artefact and not an appendix.</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slide, deliberately. The correlation id has been on the table since the Paper Flow exercise's document cards — this is where it grows up into a trace. Show one screenshot of a real trace across a broker if there is time; the picture does the work.</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 the Routing Patterns handout out here. Thirty seconds on the one distinction worth saying aloud — the three routers differ only in who holds the routing decision: the router itself, the consumers who registered with it, or the publisher who named the recipients — and point at the handout for everything else. It is reference material for the desk rather than something to rehearse, and each figure reds the one that holds the decision, so the distinction is visible on the page.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8.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5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5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5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5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5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60.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6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6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 Id="rId3" Type="http://schemas.openxmlformats.org/officeDocument/2006/relationships/notesSlide" Target="../notesSlides/notesSlide6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notesSlide" Target="../notesSlides/notesSlide7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7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7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7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7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7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78.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80.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8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8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8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4.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jp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jp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jpg"/><Relationship Id="rId3" Type="http://schemas.openxmlformats.org/officeDocument/2006/relationships/notesSlide" Target="../notesSlides/notesSlide101.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13232" y="2139696"/>
            <a:ext cx="77724" cy="570992"/>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56696"/>
            <a:ext cx="10545775" cy="644144"/>
          </a:xfrm>
          <a:prstGeom prst="rect">
            <a:avLst/>
          </a:prstGeom>
          <a:noFill/>
        </p:spPr>
        <p:txBody>
          <a:bodyPr wrap="square" lIns="0" rIns="0" tIns="0" bIns="0">
            <a:spAutoFit/>
          </a:bodyPr>
          <a:lstStyle/>
          <a:p>
            <a:pPr>
              <a:lnSpc>
                <a:spcPts val="4928"/>
              </a:lnSpc>
            </a:pPr>
            <a:r>
              <a:rPr sz="4400" b="0" i="0">
                <a:solidFill>
                  <a:srgbClr val="181B1F"/>
                </a:solidFill>
                <a:latin typeface="IBM Plex Serif SemiBold"/>
              </a:rPr>
              <a:t>Practical Messaging — Day Two</a:t>
            </a:r>
          </a:p>
        </p:txBody>
      </p:sp>
      <p:sp>
        <p:nvSpPr>
          <p:cNvPr id="5" name="TextBox 4"/>
          <p:cNvSpPr txBox="1"/>
          <p:nvPr/>
        </p:nvSpPr>
        <p:spPr>
          <a:xfrm>
            <a:off x="1005840" y="3891299"/>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A 101 guide to messaging. Ian Cooper. (X, BlueSky and Hachyderm: ICooper)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TWO</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Why Event-Driven?</a:t>
            </a:r>
          </a:p>
        </p:txBody>
      </p:sp>
      <p:sp>
        <p:nvSpPr>
          <p:cNvPr id="6" name="TextBox 5"/>
          <p:cNvSpPr txBox="1"/>
          <p:nvPr/>
        </p:nvSpPr>
        <p:spPr>
          <a:xfrm>
            <a:off x="713232" y="3098819"/>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Two slides. Day 1 taught the mechanics; this says what they were for, and hands into the design day.</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WHY EVENT-DRIVEN?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Easy to Change, and Robust</a:t>
            </a:r>
          </a:p>
        </p:txBody>
      </p:sp>
      <p:sp>
        <p:nvSpPr>
          <p:cNvPr id="5" name="TextBox 4"/>
          <p:cNvSpPr txBox="1"/>
          <p:nvPr/>
        </p:nvSpPr>
        <p:spPr>
          <a:xfrm>
            <a:off x="713232" y="1319549"/>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There are many drivers that cause us to distribute a system — </a:t>
            </a:r>
            <a:r>
              <a:rPr sz="1800" b="1" i="0">
                <a:solidFill>
                  <a:srgbClr val="181B1F"/>
                </a:solidFill>
                <a:latin typeface="IBM Plex Sans"/>
              </a:rPr>
              <a:t>performance and scalability</a:t>
            </a:r>
            <a:r>
              <a:rPr sz="1800" b="0" i="0">
                <a:solidFill>
                  <a:srgbClr val="181B1F"/>
                </a:solidFill>
                <a:latin typeface="IBM Plex Sans"/>
              </a:rPr>
              <a:t>, </a:t>
            </a:r>
            <a:r>
              <a:rPr sz="1800" b="1" i="0">
                <a:solidFill>
                  <a:srgbClr val="181B1F"/>
                </a:solidFill>
                <a:latin typeface="IBM Plex Sans"/>
              </a:rPr>
              <a:t>availability</a:t>
            </a:r>
            <a:r>
              <a:rPr sz="1800" b="0" i="0">
                <a:solidFill>
                  <a:srgbClr val="181B1F"/>
                </a:solidFill>
                <a:latin typeface="IBM Plex Sans"/>
              </a:rPr>
              <a:t>, </a:t>
            </a:r>
            <a:r>
              <a:rPr sz="1800" b="1" i="0">
                <a:solidFill>
                  <a:srgbClr val="181B1F"/>
                </a:solidFill>
                <a:latin typeface="IBM Plex Sans"/>
              </a:rPr>
              <a:t>maintainability</a:t>
            </a:r>
            <a:r>
              <a:rPr sz="1800" b="0" i="0">
                <a:solidFill>
                  <a:srgbClr val="181B1F"/>
                </a:solidFill>
                <a:latin typeface="IBM Plex Sans"/>
              </a:rPr>
              <a:t>, and applications that are </a:t>
            </a:r>
            <a:r>
              <a:rPr sz="1800" b="1" i="0">
                <a:solidFill>
                  <a:srgbClr val="181B1F"/>
                </a:solidFill>
                <a:latin typeface="IBM Plex Sans"/>
              </a:rPr>
              <a:t>inherently distributed</a:t>
            </a:r>
            <a:r>
              <a:rPr sz="1800" b="0" i="0">
                <a:solidFill>
                  <a:srgbClr val="181B1F"/>
                </a:solidFill>
                <a:latin typeface="IBM Plex Sans"/>
              </a:rPr>
              <a:t>. Strip the classification buckets away and the two properties you are actually buying are:</a:t>
            </a:r>
          </a:p>
        </p:txBody>
      </p:sp>
      <p:sp>
        <p:nvSpPr>
          <p:cNvPr id="6" name="TextBox 5"/>
          <p:cNvSpPr txBox="1"/>
          <p:nvPr/>
        </p:nvSpPr>
        <p:spPr>
          <a:xfrm>
            <a:off x="713232" y="22994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2258841"/>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Easy to change</a:t>
            </a:r>
            <a:r>
              <a:rPr sz="1800" b="0" i="0">
                <a:solidFill>
                  <a:srgbClr val="181B1F"/>
                </a:solidFill>
                <a:latin typeface="IBM Plex Sans"/>
              </a:rPr>
              <a:t> — ship a part without shipping the whole. </a:t>
            </a:r>
            <a:r>
              <a:rPr sz="1800" b="0" i="1">
                <a:solidFill>
                  <a:srgbClr val="181B1F"/>
                </a:solidFill>
                <a:latin typeface="IBM Plex Sans"/>
              </a:rPr>
              <a:t>Independent deployability.</a:t>
            </a:r>
            <a:r>
              <a:rPr sz="1800" b="0" i="0">
                <a:solidFill>
                  <a:srgbClr val="181B1F"/>
                </a:solidFill>
                <a:latin typeface="IBM Plex Sans"/>
              </a:rPr>
              <a:t> One team decides its own release candidate and is in production in hours, not at the end of a two-week release everyone had to agree a date for.</a:t>
            </a:r>
          </a:p>
        </p:txBody>
      </p:sp>
      <p:sp>
        <p:nvSpPr>
          <p:cNvPr id="8" name="TextBox 7"/>
          <p:cNvSpPr txBox="1"/>
          <p:nvPr/>
        </p:nvSpPr>
        <p:spPr>
          <a:xfrm>
            <a:off x="713232" y="32387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319813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Robust</a:t>
            </a:r>
            <a:r>
              <a:rPr sz="1800" b="0" i="0">
                <a:solidFill>
                  <a:srgbClr val="181B1F"/>
                </a:solidFill>
                <a:latin typeface="IBM Plex Sans"/>
              </a:rPr>
              <a:t> — keep working when something you depend on is not. </a:t>
            </a:r>
            <a:r>
              <a:rPr sz="1800" b="0" i="1">
                <a:solidFill>
                  <a:srgbClr val="181B1F"/>
                </a:solidFill>
                <a:latin typeface="IBM Plex Sans"/>
              </a:rPr>
              <a:t>Guaranteed delivery.</a:t>
            </a:r>
          </a:p>
        </p:txBody>
      </p:sp>
      <p:sp>
        <p:nvSpPr>
          <p:cNvPr id="10" name="TextBox 9"/>
          <p:cNvSpPr txBox="1"/>
          <p:nvPr/>
        </p:nvSpPr>
        <p:spPr>
          <a:xfrm>
            <a:off x="713232" y="3595897"/>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Both are bought with the same mechanism: </a:t>
            </a:r>
            <a:r>
              <a:rPr sz="1800" b="1" i="0">
                <a:solidFill>
                  <a:srgbClr val="181B1F"/>
                </a:solidFill>
                <a:latin typeface="IBM Plex Sans"/>
              </a:rPr>
              <a:t>messages</a:t>
            </a:r>
            <a:r>
              <a:rPr sz="1800" b="0" i="0">
                <a:solidFill>
                  <a:srgbClr val="181B1F"/>
                </a:solidFill>
                <a:latin typeface="IBM Plex Sans"/>
              </a:rPr>
              <a:t> — which is what yesterday was about.</a:t>
            </a:r>
          </a:p>
        </p:txBody>
      </p:sp>
      <p:sp>
        <p:nvSpPr>
          <p:cNvPr id="11" name="Rectangle 10"/>
          <p:cNvSpPr/>
          <p:nvPr/>
        </p:nvSpPr>
        <p:spPr>
          <a:xfrm>
            <a:off x="713232" y="4112514"/>
            <a:ext cx="50292" cy="646176"/>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4082759"/>
            <a:ext cx="10637215" cy="664464"/>
          </a:xfrm>
          <a:prstGeom prst="rect">
            <a:avLst/>
          </a:prstGeom>
          <a:noFill/>
        </p:spPr>
        <p:txBody>
          <a:bodyPr wrap="square" lIns="0" rIns="0" tIns="0" bIns="0">
            <a:spAutoFit/>
          </a:bodyPr>
          <a:lstStyle/>
          <a:p>
            <a:pPr>
              <a:lnSpc>
                <a:spcPts val="2544"/>
              </a:lnSpc>
            </a:pPr>
            <a:r>
              <a:rPr sz="2400" b="0" i="0">
                <a:solidFill>
                  <a:srgbClr val="C0453B"/>
                </a:solidFill>
                <a:latin typeface="Caveat"/>
              </a:rPr>
              <a:t>Two properties, one mechanism. Independent deployability is the prize; everything else is about not giving it back.</a:t>
            </a:r>
          </a:p>
        </p:txBody>
      </p:sp>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WHY EVENT-DRIVEN?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So How Do You Design One?</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Yesterday answered </a:t>
            </a:r>
            <a:r>
              <a:rPr sz="1800" b="0" i="1">
                <a:solidFill>
                  <a:srgbClr val="181B1F"/>
                </a:solidFill>
                <a:latin typeface="IBM Plex Sans"/>
              </a:rPr>
              <a:t>how do I send and receive reliably</a:t>
            </a:r>
            <a:r>
              <a:rPr sz="1800" b="0" i="0">
                <a:solidFill>
                  <a:srgbClr val="181B1F"/>
                </a:solidFill>
                <a:latin typeface="IBM Plex Sans"/>
              </a:rPr>
              <a:t>. Today asks the harder question:</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What shape is the system</a:t>
            </a:r>
            <a:r>
              <a:rPr sz="1800" b="0" i="0">
                <a:solidFill>
                  <a:srgbClr val="181B1F"/>
                </a:solidFill>
                <a:latin typeface="IBM Plex Sans"/>
              </a:rPr>
              <a:t>, once no one call-and-returns its way through the whole use case?</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Who is in charge</a:t>
            </a:r>
            <a:r>
              <a:rPr sz="1800" b="0" i="0">
                <a:solidFill>
                  <a:srgbClr val="181B1F"/>
                </a:solidFill>
                <a:latin typeface="IBM Plex Sans"/>
              </a:rPr>
              <a:t> — and does anyone need to be?</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Where does the work live</a:t>
            </a:r>
            <a:r>
              <a:rPr sz="1800" b="0" i="0">
                <a:solidFill>
                  <a:srgbClr val="181B1F"/>
                </a:solidFill>
                <a:latin typeface="IBM Plex Sans"/>
              </a:rPr>
              <a:t> when a request is not a thread waiting for a reply?</a:t>
            </a:r>
          </a:p>
        </p:txBody>
      </p:sp>
      <p:sp>
        <p:nvSpPr>
          <p:cNvPr id="12" name="TextBox 11"/>
          <p:cNvSpPr txBox="1"/>
          <p:nvPr/>
        </p:nvSpPr>
        <p:spPr>
          <a:xfrm>
            <a:off x="713232" y="2834405"/>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Temporal coupling multiplies outages. Yesterday settled what to do about it.</a:t>
            </a:r>
          </a:p>
        </p:txBody>
      </p:sp>
      <p:sp>
        <p:nvSpPr>
          <p:cNvPr id="13" name="Rectangle 12"/>
          <p:cNvSpPr/>
          <p:nvPr/>
        </p:nvSpPr>
        <p:spPr>
          <a:xfrm>
            <a:off x="713232" y="3351022"/>
            <a:ext cx="50292" cy="646176"/>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32688" y="3321267"/>
            <a:ext cx="10637215" cy="664464"/>
          </a:xfrm>
          <a:prstGeom prst="rect">
            <a:avLst/>
          </a:prstGeom>
          <a:noFill/>
        </p:spPr>
        <p:txBody>
          <a:bodyPr wrap="square" lIns="0" rIns="0" tIns="0" bIns="0">
            <a:spAutoFit/>
          </a:bodyPr>
          <a:lstStyle/>
          <a:p>
            <a:pPr>
              <a:lnSpc>
                <a:spcPts val="2544"/>
              </a:lnSpc>
            </a:pPr>
            <a:r>
              <a:rPr sz="2400" b="0" i="0">
                <a:solidFill>
                  <a:srgbClr val="C0453B"/>
                </a:solidFill>
                <a:latin typeface="Caveat"/>
              </a:rPr>
              <a:t>Messaging doesn't remove the outage; it converts a failure into a delay. Now: what does a system built that way actually look like?</a:t>
            </a:r>
          </a:p>
        </p:txBody>
      </p:sp>
      <p:sp>
        <p:nvSpPr>
          <p:cNvPr id="15" name="TextBox 14"/>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TWO</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Flow and Reactive Programming</a:t>
            </a:r>
          </a:p>
        </p:txBody>
      </p:sp>
      <p:sp>
        <p:nvSpPr>
          <p:cNvPr id="6" name="TextBox 5"/>
          <p:cNvSpPr txBox="1"/>
          <p:nvPr/>
        </p:nvSpPr>
        <p:spPr>
          <a:xfrm>
            <a:off x="713232" y="3098819"/>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The opening section of Day Two, in four movements — and the question under all of them is what is in charge.</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FLOW AND REACTIVE PROGRAMMING</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Flow and Reactive Programming</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Everything in this section is one question: </a:t>
            </a:r>
            <a:r>
              <a:rPr sz="2400" b="0" i="1">
                <a:solidFill>
                  <a:srgbClr val="C0453B"/>
                </a:solidFill>
                <a:latin typeface="Caveat"/>
              </a:rPr>
              <a:t>what is in charge?</a:t>
            </a:r>
          </a:p>
        </p:txBody>
      </p:sp>
      <p:sp>
        <p:nvSpPr>
          <p:cNvPr id="7" name="TextBox 6"/>
          <p:cNvSpPr txBox="1"/>
          <p:nvPr/>
        </p:nvSpPr>
        <p:spPr>
          <a:xfrm>
            <a:off x="713232" y="1919497"/>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Four movements:</a:t>
            </a:r>
          </a:p>
        </p:txBody>
      </p:sp>
      <p:sp>
        <p:nvSpPr>
          <p:cNvPr id="8" name="TextBox 7"/>
          <p:cNvSpPr txBox="1"/>
          <p:nvPr/>
        </p:nvSpPr>
        <p:spPr>
          <a:xfrm>
            <a:off x="713232" y="233248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29186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How the office did it</a:t>
            </a:r>
            <a:r>
              <a:rPr sz="1800" b="0" i="0">
                <a:solidFill>
                  <a:srgbClr val="181B1F"/>
                </a:solidFill>
                <a:latin typeface="IBM Plex Sans"/>
              </a:rPr>
              <a:t> — paper workflows, and the failures they already had answers for.</a:t>
            </a:r>
          </a:p>
        </p:txBody>
      </p:sp>
      <p:sp>
        <p:nvSpPr>
          <p:cNvPr id="10" name="TextBox 9"/>
          <p:cNvSpPr txBox="1"/>
          <p:nvPr/>
        </p:nvSpPr>
        <p:spPr>
          <a:xfrm>
            <a:off x="713232" y="270484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664225"/>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How would you build that?</a:t>
            </a:r>
            <a:r>
              <a:rPr sz="1800" b="0" i="0">
                <a:solidFill>
                  <a:srgbClr val="181B1F"/>
                </a:solidFill>
                <a:latin typeface="IBM Plex Sans"/>
              </a:rPr>
              <a:t> — call and return, at object scale and at service scale.</a:t>
            </a:r>
          </a:p>
        </p:txBody>
      </p:sp>
      <p:sp>
        <p:nvSpPr>
          <p:cNvPr id="12" name="TextBox 11"/>
          <p:cNvSpPr txBox="1"/>
          <p:nvPr/>
        </p:nvSpPr>
        <p:spPr>
          <a:xfrm>
            <a:off x="713232" y="307721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036589"/>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formalism</a:t>
            </a:r>
            <a:r>
              <a:rPr sz="1800" b="0" i="0">
                <a:solidFill>
                  <a:srgbClr val="181B1F"/>
                </a:solidFill>
                <a:latin typeface="IBM Plex Sans"/>
              </a:rPr>
              <a:t> — dataflow, then flow-based programming: the same flows as a graph.</a:t>
            </a:r>
          </a:p>
        </p:txBody>
      </p:sp>
      <p:sp>
        <p:nvSpPr>
          <p:cNvPr id="14" name="TextBox 13"/>
          <p:cNvSpPr txBox="1"/>
          <p:nvPr/>
        </p:nvSpPr>
        <p:spPr>
          <a:xfrm>
            <a:off x="713232" y="344957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5" name="TextBox 14"/>
          <p:cNvSpPr txBox="1"/>
          <p:nvPr/>
        </p:nvSpPr>
        <p:spPr>
          <a:xfrm>
            <a:off x="960120" y="340895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name</a:t>
            </a:r>
            <a:r>
              <a:rPr sz="1800" b="0" i="0">
                <a:solidFill>
                  <a:srgbClr val="181B1F"/>
                </a:solidFill>
                <a:latin typeface="IBM Plex Sans"/>
              </a:rPr>
              <a:t> — and you have been building it since yesterday morning.</a:t>
            </a:r>
          </a:p>
        </p:txBody>
      </p:sp>
      <p:sp>
        <p:nvSpPr>
          <p:cNvPr id="16" name="TextBox 1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FLOW AND REACTIVE PROGRAMMING</a:t>
            </a:r>
          </a:p>
        </p:txBody>
      </p:sp>
      <p:sp>
        <p:nvSpPr>
          <p:cNvPr id="4" name="TextBox 3"/>
          <p:cNvSpPr txBox="1"/>
          <p:nvPr/>
        </p:nvSpPr>
        <p:spPr>
          <a:xfrm>
            <a:off x="713232" y="2255520"/>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A</a:t>
            </a:r>
          </a:p>
        </p:txBody>
      </p:sp>
      <p:sp>
        <p:nvSpPr>
          <p:cNvPr id="5" name="TextBox 4"/>
          <p:cNvSpPr txBox="1"/>
          <p:nvPr/>
        </p:nvSpPr>
        <p:spPr>
          <a:xfrm>
            <a:off x="713232" y="2600114"/>
            <a:ext cx="8510997"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How the Office Did It</a:t>
            </a:r>
          </a:p>
        </p:txBody>
      </p:sp>
      <p:sp>
        <p:nvSpPr>
          <p:cNvPr id="6" name="TextBox 5"/>
          <p:cNvSpPr txBox="1"/>
          <p:nvPr/>
        </p:nvSpPr>
        <p:spPr>
          <a:xfrm>
            <a:off x="713232" y="3198641"/>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Paper workflows: the frame, the desk, the worked flows and how they failed — closing with the hotel's, drawn by you.</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A — HOW THE OFFICE DID IT</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Paper Workflows</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"My life looked good on paper — where, in fact, almost all of it was being lived." — Martin Amis</a:t>
            </a:r>
          </a:p>
        </p:txBody>
      </p:sp>
      <p:sp>
        <p:nvSpPr>
          <p:cNvPr id="7" name="TextBox 6"/>
          <p:cNvSpPr txBox="1"/>
          <p:nvPr/>
        </p:nvSpPr>
        <p:spPr>
          <a:xfrm>
            <a:off x="713232" y="2242585"/>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Before computers, offices ran large distributed systems on paper. They handled concurrency, failure, recovery and scale — and there was </a:t>
            </a:r>
            <a:r>
              <a:rPr sz="1800" b="1" i="0">
                <a:solidFill>
                  <a:srgbClr val="181B1F"/>
                </a:solidFill>
                <a:latin typeface="IBM Plex Sans"/>
              </a:rPr>
              <a:t>no </a:t>
            </a:r>
            <a:r>
              <a:rPr sz="1700" b="1" i="0">
                <a:solidFill>
                  <a:srgbClr val="181B1F"/>
                </a:solidFill>
                <a:latin typeface="IBM Plex Mono"/>
              </a:rPr>
              <a:t>main</a:t>
            </a:r>
            <a:r>
              <a:rPr sz="1800" b="0" i="0">
                <a:solidFill>
                  <a:srgbClr val="181B1F"/>
                </a:solidFill>
                <a:latin typeface="IBM Plex Sans"/>
              </a:rPr>
              <a:t>. Nobody held the whole process. Every desk did one thing, and it did it because something arrived in its in-tray.</a:t>
            </a:r>
          </a:p>
        </p:txBody>
      </p:sp>
      <p:sp>
        <p:nvSpPr>
          <p:cNvPr id="8" name="Rectangle 7"/>
          <p:cNvSpPr/>
          <p:nvPr/>
        </p:nvSpPr>
        <p:spPr>
          <a:xfrm>
            <a:off x="713232" y="3326129"/>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3296375"/>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The office was a distributed system with no god object. It worked for two hundred years.</a:t>
            </a:r>
          </a:p>
        </p:txBody>
      </p:sp>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A — HOW THE OFFICE DID IT</a:t>
            </a:r>
          </a:p>
        </p:txBody>
      </p:sp>
      <p:sp>
        <p:nvSpPr>
          <p:cNvPr id="4" name="TextBox 3"/>
          <p:cNvSpPr txBox="1"/>
          <p:nvPr/>
        </p:nvSpPr>
        <p:spPr>
          <a:xfrm>
            <a:off x="713232" y="606722"/>
            <a:ext cx="6074336"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The Frame</a:t>
            </a:r>
          </a:p>
        </p:txBody>
      </p:sp>
      <p:sp>
        <p:nvSpPr>
          <p:cNvPr id="5" name="TextBox 4"/>
          <p:cNvSpPr txBox="1"/>
          <p:nvPr/>
        </p:nvSpPr>
        <p:spPr>
          <a:xfrm>
            <a:off x="713232" y="1319549"/>
            <a:ext cx="6074336"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In a mail room, </a:t>
            </a:r>
            <a:r>
              <a:rPr sz="1800" b="1" i="0">
                <a:solidFill>
                  <a:srgbClr val="181B1F"/>
                </a:solidFill>
                <a:latin typeface="IBM Plex Sans"/>
              </a:rPr>
              <a:t>the frame</a:t>
            </a:r>
            <a:r>
              <a:rPr sz="1800" b="0" i="0">
                <a:solidFill>
                  <a:srgbClr val="181B1F"/>
                </a:solidFill>
                <a:latin typeface="IBM Plex Sans"/>
              </a:rPr>
              <a:t> was the rack of pigeonholes: mail was sorted into it by floor. </a:t>
            </a:r>
            <a:r>
              <a:rPr sz="1800" b="1" i="0">
                <a:solidFill>
                  <a:srgbClr val="181B1F"/>
                </a:solidFill>
                <a:latin typeface="IBM Plex Sans"/>
              </a:rPr>
              <a:t>A mail cart</a:t>
            </a:r>
            <a:r>
              <a:rPr sz="1800" b="0" i="0">
                <a:solidFill>
                  <a:srgbClr val="181B1F"/>
                </a:solidFill>
                <a:latin typeface="IBM Plex Sans"/>
              </a:rPr>
              <a:t> then picked mail up from the frame and distributed it.</a:t>
            </a:r>
          </a:p>
        </p:txBody>
      </p:sp>
      <p:sp>
        <p:nvSpPr>
          <p:cNvPr id="6" name="TextBox 5"/>
          <p:cNvSpPr txBox="1"/>
          <p:nvPr/>
        </p:nvSpPr>
        <p:spPr>
          <a:xfrm>
            <a:off x="713232" y="22994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2258841"/>
            <a:ext cx="5827448"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frame creates </a:t>
            </a:r>
            <a:r>
              <a:rPr sz="1800" b="1" i="0">
                <a:solidFill>
                  <a:srgbClr val="181B1F"/>
                </a:solidFill>
                <a:latin typeface="IBM Plex Sans"/>
              </a:rPr>
              <a:t>channels</a:t>
            </a:r>
            <a:r>
              <a:rPr sz="1800" b="0" i="0">
                <a:solidFill>
                  <a:srgbClr val="181B1F"/>
                </a:solidFill>
                <a:latin typeface="IBM Plex Sans"/>
              </a:rPr>
              <a:t> you post to.</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5827448"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Contents are delivered to whoever subscribes to that pigeonhole.</a:t>
            </a:r>
          </a:p>
        </p:txBody>
      </p:sp>
      <p:sp>
        <p:nvSpPr>
          <p:cNvPr id="10" name="TextBox 9"/>
          <p:cNvSpPr txBox="1"/>
          <p:nvPr/>
        </p:nvSpPr>
        <p:spPr>
          <a:xfrm>
            <a:off x="713232" y="33276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287033"/>
            <a:ext cx="5827448"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sender does not wait, and does not know who collects.</a:t>
            </a:r>
          </a:p>
        </p:txBody>
      </p:sp>
      <p:sp>
        <p:nvSpPr>
          <p:cNvPr id="12" name="TextBox 11"/>
          <p:cNvSpPr txBox="1"/>
          <p:nvPr/>
        </p:nvSpPr>
        <p:spPr>
          <a:xfrm>
            <a:off x="713232" y="398348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942861"/>
            <a:ext cx="5827448"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Nobody walks to the frame to look. </a:t>
            </a:r>
            <a:r>
              <a:rPr sz="1800" b="1" i="0">
                <a:solidFill>
                  <a:srgbClr val="181B1F"/>
                </a:solidFill>
                <a:latin typeface="IBM Plex Sans"/>
              </a:rPr>
              <a:t>The cart is what moves it</a:t>
            </a:r>
            <a:r>
              <a:rPr sz="1800" b="0" i="0">
                <a:solidFill>
                  <a:srgbClr val="181B1F"/>
                </a:solidFill>
                <a:latin typeface="IBM Plex Sans"/>
              </a:rPr>
              <a:t>, desk by desk.</a:t>
            </a:r>
          </a:p>
        </p:txBody>
      </p:sp>
      <p:sp>
        <p:nvSpPr>
          <p:cNvPr id="14" name="Rectangle 13"/>
          <p:cNvSpPr/>
          <p:nvPr/>
        </p:nvSpPr>
        <p:spPr>
          <a:xfrm>
            <a:off x="713232" y="4742942"/>
            <a:ext cx="50292" cy="969264"/>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4713187"/>
            <a:ext cx="5800016" cy="987552"/>
          </a:xfrm>
          <a:prstGeom prst="rect">
            <a:avLst/>
          </a:prstGeom>
          <a:noFill/>
        </p:spPr>
        <p:txBody>
          <a:bodyPr wrap="square" lIns="0" rIns="0" tIns="0" bIns="0">
            <a:spAutoFit/>
          </a:bodyPr>
          <a:lstStyle/>
          <a:p>
            <a:pPr>
              <a:lnSpc>
                <a:spcPts val="2544"/>
              </a:lnSpc>
            </a:pPr>
            <a:r>
              <a:rPr sz="2400" b="0" i="0">
                <a:solidFill>
                  <a:srgbClr val="C0453B"/>
                </a:solidFill>
                <a:latin typeface="Caveat"/>
              </a:rPr>
              <a:t>If the frame is the broker, with its topics, then the cart is the queue, distributing the messages to consumers. We built both yesterday.</a:t>
            </a:r>
          </a:p>
        </p:txBody>
      </p:sp>
      <p:sp>
        <p:nvSpPr>
          <p:cNvPr id="16" name="Rectangle 15"/>
          <p:cNvSpPr/>
          <p:nvPr/>
        </p:nvSpPr>
        <p:spPr>
          <a:xfrm>
            <a:off x="7135040" y="384048"/>
            <a:ext cx="4489726" cy="6053328"/>
          </a:xfrm>
          <a:prstGeom prst="rect">
            <a:avLst/>
          </a:prstGeom>
          <a:solidFill>
            <a:srgbClr val="F3EFE6"/>
          </a:solidFill>
          <a:ln w="1270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photo-mailroom-pigeonholes.jpg"/>
          <p:cNvPicPr>
            <a:picLocks noChangeAspect="1"/>
          </p:cNvPicPr>
          <p:nvPr/>
        </p:nvPicPr>
        <p:blipFill>
          <a:blip r:embed="rId2"/>
          <a:stretch>
            <a:fillRect/>
          </a:stretch>
        </p:blipFill>
        <p:spPr>
          <a:xfrm>
            <a:off x="7501349" y="521207"/>
            <a:ext cx="3757107" cy="2820924"/>
          </a:xfrm>
          <a:prstGeom prst="rect">
            <a:avLst/>
          </a:prstGeom>
        </p:spPr>
      </p:pic>
      <p:pic>
        <p:nvPicPr>
          <p:cNvPr id="18" name="Picture 17" descr="photo-mail-cart.jpg"/>
          <p:cNvPicPr>
            <a:picLocks noChangeAspect="1"/>
          </p:cNvPicPr>
          <p:nvPr/>
        </p:nvPicPr>
        <p:blipFill>
          <a:blip r:embed="rId3"/>
          <a:stretch>
            <a:fillRect/>
          </a:stretch>
        </p:blipFill>
        <p:spPr>
          <a:xfrm>
            <a:off x="7426956" y="3479291"/>
            <a:ext cx="3905894" cy="2820924"/>
          </a:xfrm>
          <a:prstGeom prst="rect">
            <a:avLst/>
          </a:prstGeom>
        </p:spPr>
      </p:pic>
      <p:sp>
        <p:nvSpPr>
          <p:cNvPr id="19" name="TextBox 1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A — HOW THE OFFICE DID IT</a:t>
            </a:r>
          </a:p>
        </p:txBody>
      </p:sp>
      <p:sp>
        <p:nvSpPr>
          <p:cNvPr id="4" name="TextBox 3"/>
          <p:cNvSpPr txBox="1"/>
          <p:nvPr/>
        </p:nvSpPr>
        <p:spPr>
          <a:xfrm>
            <a:off x="713232" y="606722"/>
            <a:ext cx="6074336"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Skinny and Fat, on Paper</a:t>
            </a:r>
          </a:p>
        </p:txBody>
      </p:sp>
      <p:sp>
        <p:nvSpPr>
          <p:cNvPr id="5" name="TextBox 4"/>
          <p:cNvSpPr txBox="1"/>
          <p:nvPr/>
        </p:nvSpPr>
        <p:spPr>
          <a:xfrm>
            <a:off x="713232" y="1319549"/>
            <a:ext cx="6074336"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Two things arrive in an in-tray, and you met them both yesterday.</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5827448"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An </a:t>
            </a:r>
            <a:r>
              <a:rPr sz="1800" b="1" i="0">
                <a:solidFill>
                  <a:srgbClr val="181B1F"/>
                </a:solidFill>
                <a:latin typeface="IBM Plex Sans"/>
              </a:rPr>
              <a:t>interdepartmental envelope</a:t>
            </a:r>
            <a:r>
              <a:rPr sz="1800" b="0" i="0">
                <a:solidFill>
                  <a:srgbClr val="181B1F"/>
                </a:solidFill>
                <a:latin typeface="IBM Plex Sans"/>
              </a:rPr>
              <a:t> — one form, one hand-off, one action. That is a </a:t>
            </a:r>
            <a:r>
              <a:rPr sz="1800" b="1" i="0">
                <a:solidFill>
                  <a:srgbClr val="181B1F"/>
                </a:solidFill>
                <a:latin typeface="IBM Plex Sans"/>
              </a:rPr>
              <a:t>skinny</a:t>
            </a:r>
            <a:r>
              <a:rPr sz="1800" b="0" i="0">
                <a:solidFill>
                  <a:srgbClr val="181B1F"/>
                </a:solidFill>
                <a:latin typeface="IBM Plex Sans"/>
              </a:rPr>
              <a:t> message.</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5827448"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sack of folders</a:t>
            </a:r>
            <a:r>
              <a:rPr sz="1800" b="0" i="0">
                <a:solidFill>
                  <a:srgbClr val="181B1F"/>
                </a:solidFill>
                <a:latin typeface="IBM Plex Sans"/>
              </a:rPr>
              <a:t> — the whole file carried over, because the next desk may need any of it. That is a </a:t>
            </a:r>
            <a:r>
              <a:rPr sz="1800" b="1" i="0">
                <a:solidFill>
                  <a:srgbClr val="181B1F"/>
                </a:solidFill>
                <a:latin typeface="IBM Plex Sans"/>
              </a:rPr>
              <a:t>fat</a:t>
            </a:r>
            <a:r>
              <a:rPr sz="1800" b="0" i="0">
                <a:solidFill>
                  <a:srgbClr val="181B1F"/>
                </a:solidFill>
                <a:latin typeface="IBM Plex Sans"/>
              </a:rPr>
              <a:t> message.</a:t>
            </a:r>
          </a:p>
        </p:txBody>
      </p:sp>
      <p:sp>
        <p:nvSpPr>
          <p:cNvPr id="10" name="Rectangle 9"/>
          <p:cNvSpPr/>
          <p:nvPr/>
        </p:nvSpPr>
        <p:spPr>
          <a:xfrm>
            <a:off x="713232" y="3431286"/>
            <a:ext cx="50292" cy="646176"/>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32688" y="3401531"/>
            <a:ext cx="5800016" cy="664464"/>
          </a:xfrm>
          <a:prstGeom prst="rect">
            <a:avLst/>
          </a:prstGeom>
          <a:noFill/>
        </p:spPr>
        <p:txBody>
          <a:bodyPr wrap="square" lIns="0" rIns="0" tIns="0" bIns="0">
            <a:spAutoFit/>
          </a:bodyPr>
          <a:lstStyle/>
          <a:p>
            <a:pPr>
              <a:lnSpc>
                <a:spcPts val="2544"/>
              </a:lnSpc>
            </a:pPr>
            <a:r>
              <a:rPr sz="2400" b="0" i="0">
                <a:solidFill>
                  <a:srgbClr val="C0453B"/>
                </a:solidFill>
                <a:latin typeface="Caveat"/>
              </a:rPr>
              <a:t>Day 1 §6.1 named these. The office had both, and it chose per hand-off.</a:t>
            </a:r>
          </a:p>
        </p:txBody>
      </p:sp>
      <p:sp>
        <p:nvSpPr>
          <p:cNvPr id="12" name="Rectangle 11"/>
          <p:cNvSpPr/>
          <p:nvPr/>
        </p:nvSpPr>
        <p:spPr>
          <a:xfrm>
            <a:off x="7135040" y="384048"/>
            <a:ext cx="4489726" cy="6053328"/>
          </a:xfrm>
          <a:prstGeom prst="rect">
            <a:avLst/>
          </a:prstGeom>
          <a:solidFill>
            <a:srgbClr val="F3EFE6"/>
          </a:solidFill>
          <a:ln w="1270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anila Envelope.jpg"/>
          <p:cNvPicPr>
            <a:picLocks noChangeAspect="1"/>
          </p:cNvPicPr>
          <p:nvPr/>
        </p:nvPicPr>
        <p:blipFill>
          <a:blip r:embed="rId2"/>
          <a:stretch>
            <a:fillRect/>
          </a:stretch>
        </p:blipFill>
        <p:spPr>
          <a:xfrm>
            <a:off x="7976389" y="521207"/>
            <a:ext cx="2807027" cy="2820924"/>
          </a:xfrm>
          <a:prstGeom prst="rect">
            <a:avLst/>
          </a:prstGeom>
        </p:spPr>
      </p:pic>
      <p:pic>
        <p:nvPicPr>
          <p:cNvPr id="14" name="Picture 13" descr="Folder Stack.jpg"/>
          <p:cNvPicPr>
            <a:picLocks noChangeAspect="1"/>
          </p:cNvPicPr>
          <p:nvPr/>
        </p:nvPicPr>
        <p:blipFill>
          <a:blip r:embed="rId3"/>
          <a:stretch>
            <a:fillRect/>
          </a:stretch>
        </p:blipFill>
        <p:spPr>
          <a:xfrm>
            <a:off x="7902580" y="3479291"/>
            <a:ext cx="2954647" cy="2820924"/>
          </a:xfrm>
          <a:prstGeom prst="rect">
            <a:avLst/>
          </a:prstGeom>
        </p:spPr>
      </p:pic>
      <p:sp>
        <p:nvSpPr>
          <p:cNvPr id="15" name="TextBox 14"/>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A — HOW THE OFFICE DID IT</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The Desk — In-Tray, Out-Tray, File</a:t>
            </a:r>
          </a:p>
        </p:txBody>
      </p:sp>
      <p:pic>
        <p:nvPicPr>
          <p:cNvPr id="5" name="Picture 4" descr="paper-notation-key.png"/>
          <p:cNvPicPr>
            <a:picLocks noChangeAspect="1"/>
          </p:cNvPicPr>
          <p:nvPr/>
        </p:nvPicPr>
        <p:blipFill>
          <a:blip r:embed="rId2"/>
          <a:stretch>
            <a:fillRect/>
          </a:stretch>
        </p:blipFill>
        <p:spPr>
          <a:xfrm>
            <a:off x="1362049" y="1245870"/>
            <a:ext cx="9613900"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Example: Just Paper Takeaway</a:t>
            </a:r>
          </a:p>
        </p:txBody>
      </p:sp>
      <p:sp>
        <p:nvSpPr>
          <p:cNvPr id="5" name="TextBox 4"/>
          <p:cNvSpPr txBox="1"/>
          <p:nvPr/>
        </p:nvSpPr>
        <p:spPr>
          <a:xfrm>
            <a:off x="713232" y="1319549"/>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We are going to demonstrate how a paper flow used to work. Our business produces a paper catalogue of local restaurant menus that we mail to nearby households. Customers phone us to order from the catalogue. We then pass the order to the restaurant. Restaurants handle their own delivery.</a:t>
            </a:r>
          </a:p>
        </p:txBody>
      </p:sp>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Flow — Restaurant Onboarding</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Signing up a new restaurant</a:t>
            </a:r>
            <a:r>
              <a:rPr sz="1800" b="0" i="0">
                <a:solidFill>
                  <a:srgbClr val="181B1F"/>
                </a:solidFill>
                <a:latin typeface="IBM Plex Sans"/>
              </a:rPr>
              <a:t>, as paper.</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Who the desks are: Restaurant Owner, Sales Team, Fax Operator, Chef, Catalogue Maker.</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Where the organisational boundary falls.</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Every hand-off annotated </a:t>
            </a:r>
            <a:r>
              <a:rPr sz="1800" b="0" i="1">
                <a:solidFill>
                  <a:srgbClr val="181B1F"/>
                </a:solidFill>
                <a:latin typeface="IBM Plex Sans"/>
              </a:rPr>
              <a:t>Put X in Outbox</a:t>
            </a:r>
            <a:r>
              <a:rPr sz="1800" b="0" i="0">
                <a:solidFill>
                  <a:srgbClr val="181B1F"/>
                </a:solidFill>
                <a:latin typeface="IBM Plex Sans"/>
              </a:rPr>
              <a:t> / </a:t>
            </a:r>
            <a:r>
              <a:rPr sz="1800" b="0" i="1">
                <a:solidFill>
                  <a:srgbClr val="181B1F"/>
                </a:solidFill>
                <a:latin typeface="IBM Plex Sans"/>
              </a:rPr>
              <a:t>Take X from Inbox</a:t>
            </a:r>
            <a:r>
              <a:rPr sz="1800" b="0" i="0">
                <a:solidFill>
                  <a:srgbClr val="181B1F"/>
                </a:solidFill>
                <a:latin typeface="IBM Plex Sans"/>
              </a:rPr>
              <a:t>.</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Flow — Restaurant Onboarding</a:t>
            </a:r>
          </a:p>
        </p:txBody>
      </p:sp>
      <p:pic>
        <p:nvPicPr>
          <p:cNvPr id="5" name="Picture 4" descr="Restaurant Onboarding.drawio.png"/>
          <p:cNvPicPr>
            <a:picLocks noChangeAspect="1"/>
          </p:cNvPicPr>
          <p:nvPr/>
        </p:nvPicPr>
        <p:blipFill>
          <a:blip r:embed="rId2"/>
          <a:stretch>
            <a:fillRect/>
          </a:stretch>
        </p:blipFill>
        <p:spPr>
          <a:xfrm>
            <a:off x="2345295" y="1245870"/>
            <a:ext cx="7647408"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14</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Flow — Customer Order</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customer orders.</a:t>
            </a:r>
            <a:r>
              <a:rPr sz="1800" b="0" i="0">
                <a:solidFill>
                  <a:srgbClr val="181B1F"/>
                </a:solidFill>
                <a:latin typeface="IBM Plex Sans"/>
              </a:rPr>
              <a:t> The first flow that crosses into the customer's world, and the first with more than one channel in it.</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Order taking is </a:t>
            </a:r>
            <a:r>
              <a:rPr sz="1800" b="1" i="0">
                <a:solidFill>
                  <a:srgbClr val="181B1F"/>
                </a:solidFill>
                <a:latin typeface="IBM Plex Sans"/>
              </a:rPr>
              <a:t>phone, card machine and order pad</a:t>
            </a:r>
            <a:r>
              <a:rPr sz="1800" b="0" i="0">
                <a:solidFill>
                  <a:srgbClr val="181B1F"/>
                </a:solidFill>
                <a:latin typeface="IBM Plex Sans"/>
              </a:rPr>
              <a:t> — three channels, one flow, and none of them is a computer.</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order pad is the in-tray; the pad's carbon copy is the outbox; the till roll is the file.</a:t>
            </a:r>
          </a:p>
        </p:txBody>
      </p:sp>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15</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Flow — Customer Order</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Three different media, one notation. The notation does not care what the arrow is made of.</a:t>
            </a:r>
          </a:p>
        </p:txBody>
      </p:sp>
      <p:pic>
        <p:nvPicPr>
          <p:cNvPr id="7" name="Picture 6" descr="Customer Order.drawio.png"/>
          <p:cNvPicPr>
            <a:picLocks noChangeAspect="1"/>
          </p:cNvPicPr>
          <p:nvPr/>
        </p:nvPicPr>
        <p:blipFill>
          <a:blip r:embed="rId2"/>
          <a:stretch>
            <a:fillRect/>
          </a:stretch>
        </p:blipFill>
        <p:spPr>
          <a:xfrm>
            <a:off x="2947650" y="1937258"/>
            <a:ext cx="6442697"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16</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Flow — Order Placement</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order reaches the restaurant.</a:t>
            </a:r>
            <a:r>
              <a:rPr sz="1800" b="0" i="0">
                <a:solidFill>
                  <a:srgbClr val="181B1F"/>
                </a:solidFill>
                <a:latin typeface="IBM Plex Sans"/>
              </a:rPr>
              <a:t> This is the flow with the external participant — the restaurant is another organisation, on the far side of the heavy bar, reachable only by fax.</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fax is a </a:t>
            </a:r>
            <a:r>
              <a:rPr sz="1800" b="1" i="0">
                <a:solidFill>
                  <a:srgbClr val="181B1F"/>
                </a:solidFill>
                <a:latin typeface="IBM Plex Sans"/>
              </a:rPr>
              <a:t>send with no immediate answer</a:t>
            </a:r>
            <a:r>
              <a:rPr sz="1800" b="0" i="0">
                <a:solidFill>
                  <a:srgbClr val="181B1F"/>
                </a:solidFill>
                <a:latin typeface="IBM Plex Sans"/>
              </a:rPr>
              <a:t>. The order goes out; the desk moves on.</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state has to be </a:t>
            </a:r>
            <a:r>
              <a:rPr sz="1800" b="1" i="0">
                <a:solidFill>
                  <a:srgbClr val="181B1F"/>
                </a:solidFill>
                <a:latin typeface="IBM Plex Sans"/>
              </a:rPr>
              <a:t>filed</a:t>
            </a:r>
            <a:r>
              <a:rPr sz="1800" b="0" i="0">
                <a:solidFill>
                  <a:srgbClr val="181B1F"/>
                </a:solidFill>
                <a:latin typeface="IBM Plex Sans"/>
              </a:rPr>
              <a:t> before the fax goes, because the answer arrives minutes later and possibly to a different clerk.</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reference number written on the fax is what matches the answer back to the file.</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17</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Flow — Order Placement</a:t>
            </a:r>
          </a:p>
        </p:txBody>
      </p:sp>
      <p:pic>
        <p:nvPicPr>
          <p:cNvPr id="5" name="Picture 4" descr="Order Placement.drawio.png"/>
          <p:cNvPicPr>
            <a:picLocks noChangeAspect="1"/>
          </p:cNvPicPr>
          <p:nvPr/>
        </p:nvPicPr>
        <p:blipFill>
          <a:blip r:embed="rId2"/>
          <a:stretch>
            <a:fillRect/>
          </a:stretch>
        </p:blipFill>
        <p:spPr>
          <a:xfrm>
            <a:off x="2525542" y="1245870"/>
            <a:ext cx="7286913"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Flow — Order Confirmation</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restaurant confirms back.</a:t>
            </a:r>
            <a:r>
              <a:rPr sz="1800" b="0" i="0">
                <a:solidFill>
                  <a:srgbClr val="181B1F"/>
                </a:solidFill>
                <a:latin typeface="IBM Plex Sans"/>
              </a:rPr>
              <a:t> The reply arrives on its own, later, with no one waiting for it.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Nobody blocked. The clerk who sent the fax did other work; the confirmation is picked up from an in-tray like anything else.</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confirmation is matched to the filed order by its reference number, and only then does the customer get told.</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Put the four flows side by side: </a:t>
            </a:r>
            <a:r>
              <a:rPr sz="1800" b="1" i="0">
                <a:solidFill>
                  <a:srgbClr val="181B1F"/>
                </a:solidFill>
                <a:latin typeface="IBM Plex Sans"/>
              </a:rPr>
              <a:t>no desk knows more than its own step, and there is no coordinator.</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19</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Flow — Order Confirmation</a:t>
            </a:r>
          </a:p>
        </p:txBody>
      </p:sp>
      <p:pic>
        <p:nvPicPr>
          <p:cNvPr id="5" name="Picture 4" descr="Order Confirmation.drawio.png"/>
          <p:cNvPicPr>
            <a:picLocks noChangeAspect="1"/>
          </p:cNvPicPr>
          <p:nvPr/>
        </p:nvPicPr>
        <p:blipFill>
          <a:blip r:embed="rId2"/>
          <a:stretch>
            <a:fillRect/>
          </a:stretch>
        </p:blipFill>
        <p:spPr>
          <a:xfrm>
            <a:off x="2644964" y="1245870"/>
            <a:ext cx="7048071"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Flow — Order Confirmation</a:t>
            </a:r>
          </a:p>
        </p:txBody>
      </p:sp>
      <p:pic>
        <p:nvPicPr>
          <p:cNvPr id="5" name="Picture 4" descr="paper-worked-flows-montage.png"/>
          <p:cNvPicPr>
            <a:picLocks noChangeAspect="1"/>
          </p:cNvPicPr>
          <p:nvPr/>
        </p:nvPicPr>
        <p:blipFill>
          <a:blip r:embed="rId2"/>
          <a:stretch>
            <a:fillRect/>
          </a:stretch>
        </p:blipFill>
        <p:spPr>
          <a:xfrm>
            <a:off x="3034297" y="1245870"/>
            <a:ext cx="6269403" cy="5191506"/>
          </a:xfrm>
          <a:prstGeom prst="rect">
            <a:avLst/>
          </a:prstGeom>
        </p:spPr>
      </p:pic>
      <p:pic>
        <p:nvPicPr>
          <p:cNvPr id="6" name="Picture 5" descr="paper-worked-flows-montage-l1.png"/>
          <p:cNvPicPr>
            <a:picLocks noChangeAspect="1"/>
          </p:cNvPicPr>
          <p:nvPr/>
        </p:nvPicPr>
        <p:blipFill>
          <a:blip r:embed="rId3"/>
          <a:stretch>
            <a:fillRect/>
          </a:stretch>
        </p:blipFill>
        <p:spPr>
          <a:xfrm>
            <a:off x="3034297" y="1245870"/>
            <a:ext cx="6269403" cy="5191506"/>
          </a:xfrm>
          <a:prstGeom prst="rect">
            <a:avLst/>
          </a:prstGeom>
        </p:spPr>
      </p:pic>
      <p:pic>
        <p:nvPicPr>
          <p:cNvPr id="7" name="Picture 6" descr="paper-worked-flows-montage-l2.png"/>
          <p:cNvPicPr>
            <a:picLocks noChangeAspect="1"/>
          </p:cNvPicPr>
          <p:nvPr/>
        </p:nvPicPr>
        <p:blipFill>
          <a:blip r:embed="rId4"/>
          <a:stretch>
            <a:fillRect/>
          </a:stretch>
        </p:blipFill>
        <p:spPr>
          <a:xfrm>
            <a:off x="3034297" y="1245870"/>
            <a:ext cx="6269403" cy="5191506"/>
          </a:xfrm>
          <a:prstGeom prst="rect">
            <a:avLst/>
          </a:prstGeom>
        </p:spPr>
      </p:pic>
      <p:pic>
        <p:nvPicPr>
          <p:cNvPr id="8" name="Picture 7" descr="paper-worked-flows-montage-l3.png"/>
          <p:cNvPicPr>
            <a:picLocks noChangeAspect="1"/>
          </p:cNvPicPr>
          <p:nvPr/>
        </p:nvPicPr>
        <p:blipFill>
          <a:blip r:embed="rId5"/>
          <a:stretch>
            <a:fillRect/>
          </a:stretch>
        </p:blipFill>
        <p:spPr>
          <a:xfrm>
            <a:off x="3034297" y="1245870"/>
            <a:ext cx="6269403" cy="5191506"/>
          </a:xfrm>
          <a:prstGeom prst="rect">
            <a:avLst/>
          </a:prstGeom>
        </p:spPr>
      </p:pic>
      <p:pic>
        <p:nvPicPr>
          <p:cNvPr id="9" name="Picture 8" descr="paper-worked-flows-montage-l4.png"/>
          <p:cNvPicPr>
            <a:picLocks noChangeAspect="1"/>
          </p:cNvPicPr>
          <p:nvPr/>
        </p:nvPicPr>
        <p:blipFill>
          <a:blip r:embed="rId6"/>
          <a:stretch>
            <a:fillRect/>
          </a:stretch>
        </p:blipFill>
        <p:spPr>
          <a:xfrm>
            <a:off x="3034297" y="1245870"/>
            <a:ext cx="6269403" cy="5191506"/>
          </a:xfrm>
          <a:prstGeom prst="rect">
            <a:avLst/>
          </a:prstGeom>
        </p:spPr>
      </p:pic>
      <p:pic>
        <p:nvPicPr>
          <p:cNvPr id="10" name="Picture 9" descr="paper-worked-flows-montage-l5.png"/>
          <p:cNvPicPr>
            <a:picLocks noChangeAspect="1"/>
          </p:cNvPicPr>
          <p:nvPr/>
        </p:nvPicPr>
        <p:blipFill>
          <a:blip r:embed="rId7"/>
          <a:stretch>
            <a:fillRect/>
          </a:stretch>
        </p:blipFill>
        <p:spPr>
          <a:xfrm>
            <a:off x="3034297" y="1245870"/>
            <a:ext cx="6269403" cy="5191506"/>
          </a:xfrm>
          <a:prstGeom prst="rect">
            <a:avLst/>
          </a:prstGeom>
        </p:spPr>
      </p:pic>
      <p:pic>
        <p:nvPicPr>
          <p:cNvPr id="11" name="Picture 10" descr="paper-worked-flows-montage-l6.png"/>
          <p:cNvPicPr>
            <a:picLocks noChangeAspect="1"/>
          </p:cNvPicPr>
          <p:nvPr/>
        </p:nvPicPr>
        <p:blipFill>
          <a:blip r:embed="rId8"/>
          <a:stretch>
            <a:fillRect/>
          </a:stretch>
        </p:blipFill>
        <p:spPr>
          <a:xfrm>
            <a:off x="3034297" y="1245870"/>
            <a:ext cx="6269403" cy="5191506"/>
          </a:xfrm>
          <a:prstGeom prst="rect">
            <a:avLst/>
          </a:prstGeom>
        </p:spPr>
      </p:pic>
      <p:pic>
        <p:nvPicPr>
          <p:cNvPr id="12" name="Picture 11" descr="paper-worked-flows-montage-l7.png"/>
          <p:cNvPicPr>
            <a:picLocks noChangeAspect="1"/>
          </p:cNvPicPr>
          <p:nvPr/>
        </p:nvPicPr>
        <p:blipFill>
          <a:blip r:embed="rId9"/>
          <a:stretch>
            <a:fillRect/>
          </a:stretch>
        </p:blipFill>
        <p:spPr>
          <a:xfrm>
            <a:off x="3034297" y="1245870"/>
            <a:ext cx="6269403" cy="5191506"/>
          </a:xfrm>
          <a:prstGeom prst="rect">
            <a:avLst/>
          </a:prstGeom>
        </p:spPr>
      </p:pic>
      <p:pic>
        <p:nvPicPr>
          <p:cNvPr id="13" name="Picture 12" descr="paper-worked-flows-montage-l8.png"/>
          <p:cNvPicPr>
            <a:picLocks noChangeAspect="1"/>
          </p:cNvPicPr>
          <p:nvPr/>
        </p:nvPicPr>
        <p:blipFill>
          <a:blip r:embed="rId10"/>
          <a:stretch>
            <a:fillRect/>
          </a:stretch>
        </p:blipFill>
        <p:spPr>
          <a:xfrm>
            <a:off x="3034297" y="1245870"/>
            <a:ext cx="6269403" cy="5191506"/>
          </a:xfrm>
          <a:prstGeom prst="rect">
            <a:avLst/>
          </a:prstGeom>
        </p:spPr>
      </p:pic>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6074336"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How Do We Deal with Errors?</a:t>
            </a:r>
          </a:p>
        </p:txBody>
      </p:sp>
      <p:sp>
        <p:nvSpPr>
          <p:cNvPr id="5" name="TextBox 4"/>
          <p:cNvSpPr txBox="1"/>
          <p:nvPr/>
        </p:nvSpPr>
        <p:spPr>
          <a:xfrm>
            <a:off x="713232" y="1319549"/>
            <a:ext cx="6074336"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Paper had failure modes, and it had answers, and they are our answers.</a:t>
            </a:r>
          </a:p>
        </p:txBody>
      </p:sp>
      <p:graphicFrame>
        <p:nvGraphicFramePr>
          <p:cNvPr id="6" name="Table 5"/>
          <p:cNvGraphicFramePr>
            <a:graphicFrameLocks noGrp="1"/>
          </p:cNvGraphicFramePr>
          <p:nvPr/>
        </p:nvGraphicFramePr>
        <p:xfrm>
          <a:off x="713232" y="2036826"/>
          <a:ext cx="6074335" cy="3460241"/>
        </p:xfrm>
        <a:graphic>
          <a:graphicData uri="http://schemas.openxmlformats.org/drawingml/2006/table">
            <a:tbl>
              <a:tblPr firstRow="1">
                <a:tableStyleId>{5C22544A-7EE6-4342-B048-85BDC9FD1C3A}</a:tableStyleId>
              </a:tblPr>
              <a:tblGrid>
                <a:gridCol w="1975989"/>
                <a:gridCol w="2274325"/>
                <a:gridCol w="1824021"/>
              </a:tblGrid>
              <a:tr h="389381">
                <a:tc>
                  <a:txBody>
                    <a:bodyPr/>
                    <a:lstStyle/>
                    <a:p>
                      <a:pPr>
                        <a:lnSpc>
                          <a:spcPct val="118000"/>
                        </a:lnSpc>
                      </a:pPr>
                      <a:r>
                        <a:rPr sz="1500" b="1" i="0">
                          <a:solidFill>
                            <a:srgbClr val="181B1F"/>
                          </a:solidFill>
                          <a:latin typeface="IBM Plex Sans"/>
                        </a:rPr>
                        <a:t>what goes wrong</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what the office did</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what we call it</a:t>
                      </a:r>
                    </a:p>
                  </a:txBody>
                  <a:tcPr marL="82296" marR="82296" marT="27432" marB="27432">
                    <a:solidFill>
                      <a:srgbClr val="F3EFE6"/>
                    </a:solidFill>
                  </a:tcPr>
                </a:tc>
              </a:tr>
              <a:tr h="614172">
                <a:tc>
                  <a:txBody>
                    <a:bodyPr/>
                    <a:lstStyle/>
                    <a:p>
                      <a:pPr>
                        <a:lnSpc>
                          <a:spcPct val="118000"/>
                        </a:lnSpc>
                      </a:pPr>
                      <a:r>
                        <a:rPr sz="1500" b="0" i="0">
                          <a:solidFill>
                            <a:srgbClr val="181B1F"/>
                          </a:solidFill>
                          <a:latin typeface="IBM Plex Sans"/>
                        </a:rPr>
                        <a:t>the request goes missing</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resend the fax</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retry, In-Out-Retry</a:t>
                      </a:r>
                    </a:p>
                  </a:txBody>
                  <a:tcPr marL="82296" marR="82296" marT="27432" marB="27432">
                    <a:solidFill>
                      <a:srgbClr val="FDFCFA"/>
                    </a:solidFill>
                  </a:tcPr>
                </a:tc>
              </a:tr>
              <a:tr h="614172">
                <a:tc>
                  <a:txBody>
                    <a:bodyPr/>
                    <a:lstStyle/>
                    <a:p>
                      <a:pPr>
                        <a:lnSpc>
                          <a:spcPct val="118000"/>
                        </a:lnSpc>
                      </a:pPr>
                      <a:r>
                        <a:rPr sz="1500" b="0" i="0">
                          <a:solidFill>
                            <a:srgbClr val="181B1F"/>
                          </a:solidFill>
                          <a:latin typeface="IBM Plex Sans"/>
                        </a:rPr>
                        <a:t>we don't know if it arrived</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if no receipt, retry sending</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at-least-once</a:t>
                      </a:r>
                    </a:p>
                  </a:txBody>
                  <a:tcPr marL="82296" marR="82296" marT="27432" marB="27432">
                    <a:solidFill>
                      <a:srgbClr val="FDFCFA"/>
                    </a:solidFill>
                  </a:tcPr>
                </a:tc>
              </a:tr>
              <a:tr h="614172">
                <a:tc>
                  <a:txBody>
                    <a:bodyPr/>
                    <a:lstStyle/>
                    <a:p>
                      <a:pPr>
                        <a:lnSpc>
                          <a:spcPct val="118000"/>
                        </a:lnSpc>
                      </a:pPr>
                      <a:r>
                        <a:rPr sz="1500" b="0" i="0">
                          <a:solidFill>
                            <a:srgbClr val="181B1F"/>
                          </a:solidFill>
                          <a:latin typeface="IBM Plex Sans"/>
                        </a:rPr>
                        <a:t>we need to know what we sent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make a carbon copy before you send</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a:t>
                      </a:r>
                      <a:r>
                        <a:rPr sz="1500" b="1" i="0">
                          <a:solidFill>
                            <a:srgbClr val="181B1F"/>
                          </a:solidFill>
                          <a:latin typeface="IBM Plex Sans"/>
                        </a:rPr>
                        <a:t>outbox</a:t>
                      </a:r>
                    </a:p>
                  </a:txBody>
                  <a:tcPr marL="82296" marR="82296" marT="27432" marB="27432">
                    <a:solidFill>
                      <a:srgbClr val="FDFCFA"/>
                    </a:solidFill>
                  </a:tcPr>
                </a:tc>
              </a:tr>
              <a:tr h="614172">
                <a:tc>
                  <a:txBody>
                    <a:bodyPr/>
                    <a:lstStyle/>
                    <a:p>
                      <a:pPr>
                        <a:lnSpc>
                          <a:spcPct val="118000"/>
                        </a:lnSpc>
                      </a:pPr>
                      <a:r>
                        <a:rPr sz="1500" b="0" i="0">
                          <a:solidFill>
                            <a:srgbClr val="181B1F"/>
                          </a:solidFill>
                          <a:latin typeface="IBM Plex Sans"/>
                        </a:rPr>
                        <a:t>we need it after we go home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file the copy</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durable state</a:t>
                      </a:r>
                    </a:p>
                  </a:txBody>
                  <a:tcPr marL="82296" marR="82296" marT="27432" marB="27432">
                    <a:solidFill>
                      <a:srgbClr val="FDFCFA"/>
                    </a:solidFill>
                  </a:tcPr>
                </a:tc>
              </a:tr>
              <a:tr h="614172">
                <a:tc>
                  <a:txBody>
                    <a:bodyPr/>
                    <a:lstStyle/>
                    <a:p>
                      <a:pPr>
                        <a:lnSpc>
                          <a:spcPct val="118000"/>
                        </a:lnSpc>
                      </a:pPr>
                      <a:r>
                        <a:rPr sz="1500" b="0" i="0">
                          <a:solidFill>
                            <a:srgbClr val="181B1F"/>
                          </a:solidFill>
                          <a:latin typeface="IBM Plex Sans"/>
                        </a:rPr>
                        <a:t>it arrived twice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check the file before acting</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idempotency, the </a:t>
                      </a:r>
                      <a:r>
                        <a:rPr sz="1500" b="1" i="0">
                          <a:solidFill>
                            <a:srgbClr val="181B1F"/>
                          </a:solidFill>
                          <a:latin typeface="IBM Plex Sans"/>
                        </a:rPr>
                        <a:t>inbox</a:t>
                      </a:r>
                    </a:p>
                  </a:txBody>
                  <a:tcPr marL="82296" marR="82296" marT="27432" marB="27432">
                    <a:solidFill>
                      <a:srgbClr val="FDFCFA"/>
                    </a:solidFill>
                  </a:tcPr>
                </a:tc>
              </a:tr>
            </a:tbl>
          </a:graphicData>
        </a:graphic>
      </p:graphicFrame>
      <p:sp>
        <p:nvSpPr>
          <p:cNvPr id="7" name="Rectangle 6"/>
          <p:cNvSpPr/>
          <p:nvPr/>
        </p:nvSpPr>
        <p:spPr>
          <a:xfrm>
            <a:off x="7135040" y="384048"/>
            <a:ext cx="4489726" cy="6053328"/>
          </a:xfrm>
          <a:prstGeom prst="rect">
            <a:avLst/>
          </a:prstGeom>
          <a:solidFill>
            <a:srgbClr val="F3EFE6"/>
          </a:solidFill>
          <a:ln w="1270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creenshot-fax-call-log.jpg"/>
          <p:cNvPicPr>
            <a:picLocks noChangeAspect="1"/>
          </p:cNvPicPr>
          <p:nvPr/>
        </p:nvPicPr>
        <p:blipFill>
          <a:blip r:embed="rId2"/>
          <a:stretch>
            <a:fillRect/>
          </a:stretch>
        </p:blipFill>
        <p:spPr>
          <a:xfrm>
            <a:off x="7272200" y="2831228"/>
            <a:ext cx="4215406" cy="1158967"/>
          </a:xfrm>
          <a:prstGeom prst="rect">
            <a:avLst/>
          </a:prstGeom>
        </p:spPr>
      </p:pic>
      <p:sp>
        <p:nvSpPr>
          <p:cNvPr id="9" name="TextBox 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How Do We Deal with Errors?</a:t>
            </a:r>
          </a:p>
        </p:txBody>
      </p:sp>
      <p:pic>
        <p:nvPicPr>
          <p:cNvPr id="5" name="Picture 4" descr="Restaurant Onboarding Errors.drawio.png"/>
          <p:cNvPicPr>
            <a:picLocks noChangeAspect="1"/>
          </p:cNvPicPr>
          <p:nvPr/>
        </p:nvPicPr>
        <p:blipFill>
          <a:blip r:embed="rId2"/>
          <a:stretch>
            <a:fillRect/>
          </a:stretch>
        </p:blipFill>
        <p:spPr>
          <a:xfrm>
            <a:off x="2345295" y="1245870"/>
            <a:ext cx="7647408"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23</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How Do We Deal with Errors?</a:t>
            </a:r>
          </a:p>
        </p:txBody>
      </p:sp>
      <p:pic>
        <p:nvPicPr>
          <p:cNvPr id="5" name="Picture 4" descr="Customer Order Errors.drawio.png"/>
          <p:cNvPicPr>
            <a:picLocks noChangeAspect="1"/>
          </p:cNvPicPr>
          <p:nvPr/>
        </p:nvPicPr>
        <p:blipFill>
          <a:blip r:embed="rId2"/>
          <a:stretch>
            <a:fillRect/>
          </a:stretch>
        </p:blipFill>
        <p:spPr>
          <a:xfrm>
            <a:off x="2368075" y="1245870"/>
            <a:ext cx="7601848"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24</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How Do We Deal with Errors?</a:t>
            </a:r>
          </a:p>
        </p:txBody>
      </p:sp>
      <p:pic>
        <p:nvPicPr>
          <p:cNvPr id="5" name="Picture 4" descr="Order Placement Errors.drawio.png"/>
          <p:cNvPicPr>
            <a:picLocks noChangeAspect="1"/>
          </p:cNvPicPr>
          <p:nvPr/>
        </p:nvPicPr>
        <p:blipFill>
          <a:blip r:embed="rId2"/>
          <a:stretch>
            <a:fillRect/>
          </a:stretch>
        </p:blipFill>
        <p:spPr>
          <a:xfrm>
            <a:off x="2582629" y="1245870"/>
            <a:ext cx="7172740"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a:t>
            </a:r>
          </a:p>
        </p:txBody>
      </p:sp>
      <p:sp>
        <p:nvSpPr>
          <p:cNvPr id="4" name="TextBox 3"/>
          <p:cNvSpPr txBox="1"/>
          <p:nvPr/>
        </p:nvSpPr>
        <p:spPr>
          <a:xfrm>
            <a:off x="713232" y="606722"/>
            <a:ext cx="6074336"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Now Do One — the Hotel, on Paper</a:t>
            </a:r>
          </a:p>
        </p:txBody>
      </p:sp>
      <p:sp>
        <p:nvSpPr>
          <p:cNvPr id="5" name="TextBox 4"/>
          <p:cNvSpPr txBox="1"/>
          <p:nvPr/>
        </p:nvSpPr>
        <p:spPr>
          <a:xfrm>
            <a:off x="713232" y="1319549"/>
            <a:ext cx="6074336"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have seen the takeaway's four flows, and you have seen them fail.</a:t>
            </a:r>
          </a:p>
        </p:txBody>
      </p:sp>
      <p:sp>
        <p:nvSpPr>
          <p:cNvPr id="6" name="TextBox 5"/>
          <p:cNvSpPr txBox="1"/>
          <p:nvPr/>
        </p:nvSpPr>
        <p:spPr>
          <a:xfrm>
            <a:off x="713232" y="2000777"/>
            <a:ext cx="6074336"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Now draw the hotel's.</a:t>
            </a:r>
          </a:p>
        </p:txBody>
      </p:sp>
      <p:sp>
        <p:nvSpPr>
          <p:cNvPr id="7" name="TextBox 6"/>
          <p:cNvSpPr txBox="1"/>
          <p:nvPr/>
        </p:nvSpPr>
        <p:spPr>
          <a:xfrm>
            <a:off x="713232" y="24137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373141"/>
            <a:ext cx="5827448"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One stage of the guest cycle per table — Onboarding, Pre-Arrival, Arrival, Occupancy, Departure.</a:t>
            </a:r>
          </a:p>
        </p:txBody>
      </p:sp>
      <p:sp>
        <p:nvSpPr>
          <p:cNvPr id="9" name="TextBox 8"/>
          <p:cNvSpPr txBox="1"/>
          <p:nvPr/>
        </p:nvSpPr>
        <p:spPr>
          <a:xfrm>
            <a:off x="713232" y="30695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3028969"/>
            <a:ext cx="5827448"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Hard rule: every hand-off goes out-tray to in-tray.</a:t>
            </a:r>
            <a:r>
              <a:rPr sz="1800" b="0" i="0">
                <a:solidFill>
                  <a:srgbClr val="181B1F"/>
                </a:solidFill>
                <a:latin typeface="IBM Plex Sans"/>
              </a:rPr>
              <a:t> Nobody shouts across the office.</a:t>
            </a:r>
          </a:p>
        </p:txBody>
      </p:sp>
      <p:sp>
        <p:nvSpPr>
          <p:cNvPr id="11" name="TextBox 10"/>
          <p:cNvSpPr txBox="1"/>
          <p:nvPr/>
        </p:nvSpPr>
        <p:spPr>
          <a:xfrm>
            <a:off x="713232" y="37254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3684797"/>
            <a:ext cx="5827448"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Then run it with cards, one person per desk. Then we break it.</a:t>
            </a:r>
          </a:p>
        </p:txBody>
      </p:sp>
      <p:sp>
        <p:nvSpPr>
          <p:cNvPr id="13" name="Rectangle 12"/>
          <p:cNvSpPr/>
          <p:nvPr/>
        </p:nvSpPr>
        <p:spPr>
          <a:xfrm>
            <a:off x="7135040" y="384048"/>
            <a:ext cx="4489726" cy="6053328"/>
          </a:xfrm>
          <a:prstGeom prst="rect">
            <a:avLst/>
          </a:prstGeom>
          <a:solidFill>
            <a:srgbClr val="F3EFE6"/>
          </a:solidFill>
          <a:ln w="1270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ont-panic.jpg"/>
          <p:cNvPicPr>
            <a:picLocks noChangeAspect="1"/>
          </p:cNvPicPr>
          <p:nvPr/>
        </p:nvPicPr>
        <p:blipFill>
          <a:blip r:embed="rId2"/>
          <a:stretch>
            <a:fillRect/>
          </a:stretch>
        </p:blipFill>
        <p:spPr>
          <a:xfrm>
            <a:off x="7272200" y="2093738"/>
            <a:ext cx="4215406" cy="2633947"/>
          </a:xfrm>
          <a:prstGeom prst="rect">
            <a:avLst/>
          </a:prstGeom>
        </p:spPr>
      </p:pic>
      <p:sp>
        <p:nvSpPr>
          <p:cNvPr id="15" name="TextBox 14"/>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FLOW AND REACTIVE PROGRAMMING</a:t>
            </a:r>
          </a:p>
        </p:txBody>
      </p:sp>
      <p:sp>
        <p:nvSpPr>
          <p:cNvPr id="4" name="TextBox 3"/>
          <p:cNvSpPr txBox="1"/>
          <p:nvPr/>
        </p:nvSpPr>
        <p:spPr>
          <a:xfrm>
            <a:off x="713232" y="2255520"/>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B</a:t>
            </a:r>
          </a:p>
        </p:txBody>
      </p:sp>
      <p:sp>
        <p:nvSpPr>
          <p:cNvPr id="5" name="TextBox 4"/>
          <p:cNvSpPr txBox="1"/>
          <p:nvPr/>
        </p:nvSpPr>
        <p:spPr>
          <a:xfrm>
            <a:off x="713232" y="2600114"/>
            <a:ext cx="8510997"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How Would You Build That?</a:t>
            </a:r>
          </a:p>
        </p:txBody>
      </p:sp>
      <p:sp>
        <p:nvSpPr>
          <p:cNvPr id="6" name="TextBox 5"/>
          <p:cNvSpPr txBox="1"/>
          <p:nvPr/>
        </p:nvSpPr>
        <p:spPr>
          <a:xfrm>
            <a:off x="713232" y="3198641"/>
            <a:ext cx="6546921" cy="868680"/>
          </a:xfrm>
          <a:prstGeom prst="rect">
            <a:avLst/>
          </a:prstGeom>
          <a:noFill/>
        </p:spPr>
        <p:txBody>
          <a:bodyPr wrap="square" lIns="0" rIns="0" tIns="0" bIns="0">
            <a:spAutoFit/>
          </a:bodyPr>
          <a:lstStyle/>
          <a:p>
            <a:pPr>
              <a:lnSpc>
                <a:spcPts val="2232"/>
              </a:lnSpc>
            </a:pPr>
            <a:r>
              <a:rPr sz="1800" b="0" i="0">
                <a:solidFill>
                  <a:srgbClr val="2F5D3A"/>
                </a:solidFill>
                <a:latin typeface="IBM Plex Sans"/>
              </a:rPr>
              <a:t>Call and return, at object scale and at service scale — ending in the distributed monolith, which is the wrong answer, offered second.</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B — HOW WOULD YOU BUILD THAT?</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Object-Oriented Programming</a:t>
            </a:r>
          </a:p>
        </p:txBody>
      </p:sp>
      <p:sp>
        <p:nvSpPr>
          <p:cNvPr id="5" name="TextBox 4"/>
          <p:cNvSpPr txBox="1"/>
          <p:nvPr/>
        </p:nvSpPr>
        <p:spPr>
          <a:xfrm>
            <a:off x="713232" y="1319549"/>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have now drawn a flow twice — once watching, once yourselves. Asked to </a:t>
            </a:r>
            <a:r>
              <a:rPr sz="1800" b="0" i="1">
                <a:solidFill>
                  <a:srgbClr val="181B1F"/>
                </a:solidFill>
                <a:latin typeface="IBM Plex Sans"/>
              </a:rPr>
              <a:t>build</a:t>
            </a:r>
            <a:r>
              <a:rPr sz="1800" b="0" i="0">
                <a:solidFill>
                  <a:srgbClr val="181B1F"/>
                </a:solidFill>
                <a:latin typeface="IBM Plex Sans"/>
              </a:rPr>
              <a:t> it, almost everyone reaches for the same tool first. It is still on the flipchart from before the exercise, so let us name it properly before we test it.</a:t>
            </a:r>
          </a:p>
        </p:txBody>
      </p:sp>
      <p:sp>
        <p:nvSpPr>
          <p:cNvPr id="6" name="TextBox 5"/>
          <p:cNvSpPr txBox="1"/>
          <p:nvPr/>
        </p:nvSpPr>
        <p:spPr>
          <a:xfrm>
            <a:off x="713232" y="2284241"/>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class has a </a:t>
            </a:r>
            <a:r>
              <a:rPr sz="1800" b="1" i="0">
                <a:solidFill>
                  <a:srgbClr val="181B1F"/>
                </a:solidFill>
                <a:latin typeface="IBM Plex Sans"/>
              </a:rPr>
              <a:t>role</a:t>
            </a:r>
            <a:r>
              <a:rPr sz="1800" b="0" i="0">
                <a:solidFill>
                  <a:srgbClr val="181B1F"/>
                </a:solidFill>
                <a:latin typeface="IBM Plex Sans"/>
              </a:rPr>
              <a:t> with </a:t>
            </a:r>
            <a:r>
              <a:rPr sz="1800" b="1" i="0">
                <a:solidFill>
                  <a:srgbClr val="181B1F"/>
                </a:solidFill>
                <a:latin typeface="IBM Plex Sans"/>
              </a:rPr>
              <a:t>responsibilities</a:t>
            </a:r>
            <a:r>
              <a:rPr sz="1800" b="0" i="0">
                <a:solidFill>
                  <a:srgbClr val="181B1F"/>
                </a:solidFill>
                <a:latin typeface="IBM Plex Sans"/>
              </a:rPr>
              <a:t>; we capture responsibilities as behaviours; we encapsulate the data those behaviours need inside the object; roles may be inherited via dynamic dispatch.</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B — HOW WOULD YOU BUILD THAT?</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Object-Oriented Programming</a:t>
            </a:r>
          </a:p>
        </p:txBody>
      </p:sp>
      <p:pic>
        <p:nvPicPr>
          <p:cNvPr id="5" name="Picture 4" descr="flow-oo-class.png"/>
          <p:cNvPicPr>
            <a:picLocks noChangeAspect="1"/>
          </p:cNvPicPr>
          <p:nvPr/>
        </p:nvPicPr>
        <p:blipFill>
          <a:blip r:embed="rId2"/>
          <a:stretch>
            <a:fillRect/>
          </a:stretch>
        </p:blipFill>
        <p:spPr>
          <a:xfrm>
            <a:off x="1733787" y="1245870"/>
            <a:ext cx="8870425"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29</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B — HOW WOULD YOU BUILD THAT?</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Call and Return, and the God Object</a:t>
            </a:r>
          </a:p>
        </p:txBody>
      </p:sp>
      <p:sp>
        <p:nvSpPr>
          <p:cNvPr id="5" name="TextBox 4"/>
          <p:cNvSpPr txBox="1"/>
          <p:nvPr/>
        </p:nvSpPr>
        <p:spPr>
          <a:xfrm>
            <a:off x="713232" y="133477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6" name="TextBox 5"/>
          <p:cNvSpPr txBox="1"/>
          <p:nvPr/>
        </p:nvSpPr>
        <p:spPr>
          <a:xfrm>
            <a:off x="960120" y="1294149"/>
            <a:ext cx="4718221" cy="1152144"/>
          </a:xfrm>
          <a:prstGeom prst="rect">
            <a:avLst/>
          </a:prstGeom>
          <a:noFill/>
        </p:spPr>
        <p:txBody>
          <a:bodyPr wrap="square" lIns="0" rIns="0" tIns="0" bIns="0">
            <a:spAutoFit/>
          </a:bodyPr>
          <a:lstStyle/>
          <a:p>
            <a:pPr>
              <a:lnSpc>
                <a:spcPts val="2232"/>
              </a:lnSpc>
            </a:pPr>
            <a:r>
              <a:rPr sz="1800" b="1" i="0">
                <a:solidFill>
                  <a:srgbClr val="181B1F"/>
                </a:solidFill>
                <a:latin typeface="IBM Plex Sans"/>
              </a:rPr>
              <a:t>Call and return.</a:t>
            </a:r>
            <a:r>
              <a:rPr sz="1800" b="0" i="0">
                <a:solidFill>
                  <a:srgbClr val="181B1F"/>
                </a:solidFill>
                <a:latin typeface="IBM Plex Sans"/>
              </a:rPr>
              <a:t> </a:t>
            </a:r>
            <a:r>
              <a:rPr sz="1700" b="0" i="0">
                <a:solidFill>
                  <a:srgbClr val="181B1F"/>
                </a:solidFill>
                <a:latin typeface="IBM Plex Mono"/>
              </a:rPr>
              <a:t>main</a:t>
            </a:r>
            <a:r>
              <a:rPr sz="1800" b="0" i="0">
                <a:solidFill>
                  <a:srgbClr val="181B1F"/>
                </a:solidFill>
                <a:latin typeface="IBM Plex Sans"/>
              </a:rPr>
              <a:t> is the entry point. It invokes objects, which invoke other objects and return to their caller. Control is passed down a stack and handed back.</a:t>
            </a:r>
          </a:p>
        </p:txBody>
      </p:sp>
      <p:sp>
        <p:nvSpPr>
          <p:cNvPr id="7" name="TextBox 6"/>
          <p:cNvSpPr txBox="1"/>
          <p:nvPr/>
        </p:nvSpPr>
        <p:spPr>
          <a:xfrm>
            <a:off x="713232" y="25575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516905"/>
            <a:ext cx="4718221" cy="1435608"/>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god object.</a:t>
            </a:r>
            <a:r>
              <a:rPr sz="1800" b="0" i="0">
                <a:solidFill>
                  <a:srgbClr val="181B1F"/>
                </a:solidFill>
                <a:latin typeface="IBM Plex Sans"/>
              </a:rPr>
              <a:t> The danger is one object — </a:t>
            </a:r>
            <a:r>
              <a:rPr sz="1700" b="0" i="0">
                <a:solidFill>
                  <a:srgbClr val="181B1F"/>
                </a:solidFill>
                <a:latin typeface="IBM Plex Mono"/>
              </a:rPr>
              <a:t>Cart</a:t>
            </a:r>
            <a:r>
              <a:rPr sz="1800" b="0" i="0">
                <a:solidFill>
                  <a:srgbClr val="181B1F"/>
                </a:solidFill>
                <a:latin typeface="IBM Plex Sans"/>
              </a:rPr>
              <a:t>, usually — that controls all the others. High behavioural coupling: it knows the whole use case, so it changes whenever any step of the use case changes.</a:t>
            </a:r>
          </a:p>
        </p:txBody>
      </p:sp>
      <p:pic>
        <p:nvPicPr>
          <p:cNvPr id="9" name="Picture 8" descr="flow-call-and-return.png"/>
          <p:cNvPicPr>
            <a:picLocks noChangeAspect="1"/>
          </p:cNvPicPr>
          <p:nvPr/>
        </p:nvPicPr>
        <p:blipFill>
          <a:blip r:embed="rId2"/>
          <a:stretch>
            <a:fillRect/>
          </a:stretch>
        </p:blipFill>
        <p:spPr>
          <a:xfrm>
            <a:off x="6025813" y="1968306"/>
            <a:ext cx="5598953" cy="3385413"/>
          </a:xfrm>
          <a:prstGeom prst="rect">
            <a:avLst/>
          </a:prstGeom>
        </p:spPr>
      </p:pic>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30</a:t>
            </a:r>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B — HOW WOULD YOU BUILD THAT?</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SOA Is OO at Macro Scale</a:t>
            </a:r>
          </a:p>
        </p:txBody>
      </p:sp>
      <p:sp>
        <p:nvSpPr>
          <p:cNvPr id="5" name="TextBox 4"/>
          <p:cNvSpPr txBox="1"/>
          <p:nvPr/>
        </p:nvSpPr>
        <p:spPr>
          <a:xfrm>
            <a:off x="713232" y="1319549"/>
            <a:ext cx="4965109" cy="1435608"/>
          </a:xfrm>
          <a:prstGeom prst="rect">
            <a:avLst/>
          </a:prstGeom>
          <a:noFill/>
        </p:spPr>
        <p:txBody>
          <a:bodyPr wrap="square" lIns="0" rIns="0" tIns="0" bIns="0">
            <a:spAutoFit/>
          </a:bodyPr>
          <a:lstStyle/>
          <a:p>
            <a:pPr>
              <a:lnSpc>
                <a:spcPts val="2232"/>
              </a:lnSpc>
            </a:pPr>
            <a:r>
              <a:rPr sz="1800" b="1" i="0">
                <a:solidFill>
                  <a:srgbClr val="181B1F"/>
                </a:solidFill>
                <a:latin typeface="IBM Plex Sans"/>
              </a:rPr>
              <a:t>SOA</a:t>
            </a:r>
            <a:r>
              <a:rPr sz="1800" b="0" i="0">
                <a:solidFill>
                  <a:srgbClr val="181B1F"/>
                </a:solidFill>
                <a:latin typeface="IBM Plex Sans"/>
              </a:rPr>
              <a:t> creates OO-like components: a service has a role and responsibilities exposed as operations, and encapsulates the data those operations need. This is the Web Services approach — OO as an architectural principle.</a:t>
            </a:r>
          </a:p>
        </p:txBody>
      </p:sp>
      <p:sp>
        <p:nvSpPr>
          <p:cNvPr id="6" name="TextBox 5"/>
          <p:cNvSpPr txBox="1"/>
          <p:nvPr/>
        </p:nvSpPr>
        <p:spPr>
          <a:xfrm>
            <a:off x="713232" y="28663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2825769"/>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Same idea, bigger unit: role, responsibilities, encapsulated data.</a:t>
            </a:r>
          </a:p>
        </p:txBody>
      </p:sp>
      <p:sp>
        <p:nvSpPr>
          <p:cNvPr id="8" name="TextBox 7"/>
          <p:cNvSpPr txBox="1"/>
          <p:nvPr/>
        </p:nvSpPr>
        <p:spPr>
          <a:xfrm>
            <a:off x="713232" y="35222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3481597"/>
            <a:ext cx="4718221"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We are taking the view that </a:t>
            </a:r>
            <a:r>
              <a:rPr sz="1800" b="1" i="0">
                <a:solidFill>
                  <a:srgbClr val="181B1F"/>
                </a:solidFill>
                <a:latin typeface="IBM Plex Sans"/>
              </a:rPr>
              <a:t>microservices are SOA 3.0</a:t>
            </a:r>
            <a:r>
              <a:rPr sz="1800" b="0" i="0">
                <a:solidFill>
                  <a:srgbClr val="181B1F"/>
                </a:solidFill>
                <a:latin typeface="IBM Plex Sans"/>
              </a:rPr>
              <a:t> — most of the best practice still applies.</a:t>
            </a:r>
          </a:p>
        </p:txBody>
      </p:sp>
      <p:pic>
        <p:nvPicPr>
          <p:cNvPr id="10" name="Picture 9" descr="flow-soa-service.png"/>
          <p:cNvPicPr>
            <a:picLocks noChangeAspect="1"/>
          </p:cNvPicPr>
          <p:nvPr/>
        </p:nvPicPr>
        <p:blipFill>
          <a:blip r:embed="rId2"/>
          <a:stretch>
            <a:fillRect/>
          </a:stretch>
        </p:blipFill>
        <p:spPr>
          <a:xfrm>
            <a:off x="6025813" y="2127438"/>
            <a:ext cx="5598953" cy="2987583"/>
          </a:xfrm>
          <a:prstGeom prst="rect">
            <a:avLst/>
          </a:prstGeom>
        </p:spPr>
      </p:pic>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31</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B — HOW WOULD YOU BUILD THAT?</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Feature Envy — You Built a Distributed Monolith</a:t>
            </a:r>
          </a:p>
        </p:txBody>
      </p:sp>
      <p:sp>
        <p:nvSpPr>
          <p:cNvPr id="5" name="TextBox 4"/>
          <p:cNvSpPr txBox="1"/>
          <p:nvPr/>
        </p:nvSpPr>
        <p:spPr>
          <a:xfrm>
            <a:off x="713232" y="133477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6" name="TextBox 5"/>
          <p:cNvSpPr txBox="1"/>
          <p:nvPr/>
        </p:nvSpPr>
        <p:spPr>
          <a:xfrm>
            <a:off x="960120" y="1294149"/>
            <a:ext cx="4718221" cy="1435608"/>
          </a:xfrm>
          <a:prstGeom prst="rect">
            <a:avLst/>
          </a:prstGeom>
          <a:noFill/>
        </p:spPr>
        <p:txBody>
          <a:bodyPr wrap="square" lIns="0" rIns="0" tIns="0" bIns="0">
            <a:spAutoFit/>
          </a:bodyPr>
          <a:lstStyle/>
          <a:p>
            <a:pPr>
              <a:lnSpc>
                <a:spcPts val="2232"/>
              </a:lnSpc>
            </a:pPr>
            <a:r>
              <a:rPr sz="1800" b="0" i="0">
                <a:solidFill>
                  <a:srgbClr val="181B1F"/>
                </a:solidFill>
                <a:latin typeface="IBM Plex Sans"/>
              </a:rPr>
              <a:t>We expose significant </a:t>
            </a:r>
            <a:r>
              <a:rPr sz="1800" b="1" i="0">
                <a:solidFill>
                  <a:srgbClr val="181B1F"/>
                </a:solidFill>
                <a:latin typeface="IBM Plex Sans"/>
              </a:rPr>
              <a:t>resources</a:t>
            </a:r>
            <a:r>
              <a:rPr sz="1800" b="0" i="0">
                <a:solidFill>
                  <a:srgbClr val="181B1F"/>
                </a:solidFill>
                <a:latin typeface="IBM Plex Sans"/>
              </a:rPr>
              <a:t> and the operations you can perform on them — usually CRUD. Entity services: </a:t>
            </a:r>
            <a:r>
              <a:rPr sz="1700" b="0" i="0">
                <a:solidFill>
                  <a:srgbClr val="181B1F"/>
                </a:solidFill>
                <a:latin typeface="IBM Plex Mono"/>
              </a:rPr>
              <a:t>Cart</a:t>
            </a:r>
            <a:r>
              <a:rPr sz="1800" b="0" i="0">
                <a:solidFill>
                  <a:srgbClr val="181B1F"/>
                </a:solidFill>
                <a:latin typeface="IBM Plex Sans"/>
              </a:rPr>
              <a:t>, </a:t>
            </a:r>
            <a:r>
              <a:rPr sz="1700" b="0" i="0">
                <a:solidFill>
                  <a:srgbClr val="181B1F"/>
                </a:solidFill>
                <a:latin typeface="IBM Plex Mono"/>
              </a:rPr>
              <a:t>Restaurant</a:t>
            </a:r>
            <a:r>
              <a:rPr sz="1800" b="0" i="0">
                <a:solidFill>
                  <a:srgbClr val="181B1F"/>
                </a:solidFill>
                <a:latin typeface="IBM Plex Sans"/>
              </a:rPr>
              <a:t>, </a:t>
            </a:r>
            <a:r>
              <a:rPr sz="1700" b="0" i="0">
                <a:solidFill>
                  <a:srgbClr val="181B1F"/>
                </a:solidFill>
                <a:latin typeface="IBM Plex Mono"/>
              </a:rPr>
              <a:t>Account</a:t>
            </a:r>
            <a:r>
              <a:rPr sz="1800" b="0" i="0">
                <a:solidFill>
                  <a:srgbClr val="181B1F"/>
                </a:solidFill>
                <a:latin typeface="IBM Plex Sans"/>
              </a:rPr>
              <a:t>, </a:t>
            </a:r>
            <a:r>
              <a:rPr sz="1700" b="0" i="0">
                <a:solidFill>
                  <a:srgbClr val="181B1F"/>
                </a:solidFill>
                <a:latin typeface="IBM Plex Mono"/>
              </a:rPr>
              <a:t>Menu</a:t>
            </a:r>
            <a:r>
              <a:rPr sz="1800" b="0" i="0">
                <a:solidFill>
                  <a:srgbClr val="181B1F"/>
                </a:solidFill>
                <a:latin typeface="IBM Plex Sans"/>
              </a:rPr>
              <a:t>, </a:t>
            </a:r>
            <a:r>
              <a:rPr sz="1700" b="0" i="0">
                <a:solidFill>
                  <a:srgbClr val="181B1F"/>
                </a:solidFill>
                <a:latin typeface="IBM Plex Mono"/>
              </a:rPr>
              <a:t>Payment</a:t>
            </a:r>
            <a:r>
              <a:rPr sz="1800" b="0" i="0">
                <a:solidFill>
                  <a:srgbClr val="181B1F"/>
                </a:solidFill>
                <a:latin typeface="IBM Plex Sans"/>
              </a:rPr>
              <a:t>, </a:t>
            </a:r>
            <a:r>
              <a:rPr sz="1700" b="0" i="0">
                <a:solidFill>
                  <a:srgbClr val="181B1F"/>
                </a:solidFill>
                <a:latin typeface="IBM Plex Mono"/>
              </a:rPr>
              <a:t>Order</a:t>
            </a:r>
            <a:r>
              <a:rPr sz="1800" b="0" i="0">
                <a:solidFill>
                  <a:srgbClr val="181B1F"/>
                </a:solidFill>
                <a:latin typeface="IBM Plex Sans"/>
              </a:rPr>
              <a:t>, </a:t>
            </a:r>
            <a:r>
              <a:rPr sz="1700" b="0" i="0">
                <a:solidFill>
                  <a:srgbClr val="181B1F"/>
                </a:solidFill>
                <a:latin typeface="IBM Plex Mono"/>
              </a:rPr>
              <a:t>Delivery</a:t>
            </a:r>
            <a:r>
              <a:rPr sz="1800" b="0" i="0">
                <a:solidFill>
                  <a:srgbClr val="181B1F"/>
                </a:solidFill>
                <a:latin typeface="IBM Plex Sans"/>
              </a:rPr>
              <a:t>.</a:t>
            </a:r>
          </a:p>
        </p:txBody>
      </p:sp>
      <p:sp>
        <p:nvSpPr>
          <p:cNvPr id="7" name="TextBox 6"/>
          <p:cNvSpPr txBox="1"/>
          <p:nvPr/>
        </p:nvSpPr>
        <p:spPr>
          <a:xfrm>
            <a:off x="713232" y="28409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800369"/>
            <a:ext cx="4718221" cy="1435608"/>
          </a:xfrm>
          <a:prstGeom prst="rect">
            <a:avLst/>
          </a:prstGeom>
          <a:noFill/>
        </p:spPr>
        <p:txBody>
          <a:bodyPr wrap="square" lIns="0" rIns="0" tIns="0" bIns="0">
            <a:spAutoFit/>
          </a:bodyPr>
          <a:lstStyle/>
          <a:p>
            <a:pPr>
              <a:lnSpc>
                <a:spcPts val="2232"/>
              </a:lnSpc>
            </a:pPr>
            <a:r>
              <a:rPr sz="1800" b="1" i="0">
                <a:solidFill>
                  <a:srgbClr val="181B1F"/>
                </a:solidFill>
                <a:latin typeface="IBM Plex Sans"/>
              </a:rPr>
              <a:t>Feature envy.</a:t>
            </a:r>
            <a:r>
              <a:rPr sz="1800" b="0" i="0">
                <a:solidFill>
                  <a:srgbClr val="181B1F"/>
                </a:solidFill>
                <a:latin typeface="IBM Plex Sans"/>
              </a:rPr>
              <a:t> Domain logic has to coordinate across those resources, so it ends up on the client, in the API gateway, or in the </a:t>
            </a:r>
            <a:r>
              <a:rPr sz="1700" b="0" i="0">
                <a:solidFill>
                  <a:srgbClr val="181B1F"/>
                </a:solidFill>
                <a:latin typeface="IBM Plex Mono"/>
              </a:rPr>
              <a:t>Cart</a:t>
            </a:r>
            <a:r>
              <a:rPr sz="1800" b="0" i="0">
                <a:solidFill>
                  <a:srgbClr val="181B1F"/>
                </a:solidFill>
                <a:latin typeface="IBM Plex Sans"/>
              </a:rPr>
              <a:t> service — anywhere but in the individual services.</a:t>
            </a:r>
          </a:p>
        </p:txBody>
      </p:sp>
      <p:sp>
        <p:nvSpPr>
          <p:cNvPr id="9" name="TextBox 8"/>
          <p:cNvSpPr txBox="1"/>
          <p:nvPr/>
        </p:nvSpPr>
        <p:spPr>
          <a:xfrm>
            <a:off x="713232" y="434721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4306589"/>
            <a:ext cx="4718221"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Because we made OO large, we reached for call and return via a </a:t>
            </a:r>
            <a:r>
              <a:rPr sz="1700" b="0" i="0">
                <a:solidFill>
                  <a:srgbClr val="181B1F"/>
                </a:solidFill>
                <a:latin typeface="IBM Plex Mono"/>
              </a:rPr>
              <a:t>main</a:t>
            </a:r>
            <a:r>
              <a:rPr sz="1800" b="0" i="0">
                <a:solidFill>
                  <a:srgbClr val="181B1F"/>
                </a:solidFill>
                <a:latin typeface="IBM Plex Sans"/>
              </a:rPr>
              <a:t> method at the API gateway.</a:t>
            </a:r>
          </a:p>
        </p:txBody>
      </p:sp>
      <p:pic>
        <p:nvPicPr>
          <p:cNvPr id="11" name="Picture 10" descr="flow-entity-services.png"/>
          <p:cNvPicPr>
            <a:picLocks noChangeAspect="1"/>
          </p:cNvPicPr>
          <p:nvPr/>
        </p:nvPicPr>
        <p:blipFill>
          <a:blip r:embed="rId2"/>
          <a:stretch>
            <a:fillRect/>
          </a:stretch>
        </p:blipFill>
        <p:spPr>
          <a:xfrm>
            <a:off x="6025813" y="1656871"/>
            <a:ext cx="5598953" cy="4164001"/>
          </a:xfrm>
          <a:prstGeom prst="rect">
            <a:avLst/>
          </a:prstGeom>
        </p:spPr>
      </p:pic>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32</a:t>
            </a:r>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FLOW AND REACTIVE PROGRAMMING</a:t>
            </a:r>
          </a:p>
        </p:txBody>
      </p:sp>
      <p:sp>
        <p:nvSpPr>
          <p:cNvPr id="4" name="TextBox 3"/>
          <p:cNvSpPr txBox="1"/>
          <p:nvPr/>
        </p:nvSpPr>
        <p:spPr>
          <a:xfrm>
            <a:off x="713232" y="2255520"/>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a:t>
            </a:r>
          </a:p>
        </p:txBody>
      </p:sp>
      <p:sp>
        <p:nvSpPr>
          <p:cNvPr id="5" name="TextBox 4"/>
          <p:cNvSpPr txBox="1"/>
          <p:nvPr/>
        </p:nvSpPr>
        <p:spPr>
          <a:xfrm>
            <a:off x="713232" y="2600114"/>
            <a:ext cx="8510997"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The Formalism</a:t>
            </a:r>
          </a:p>
        </p:txBody>
      </p:sp>
      <p:sp>
        <p:nvSpPr>
          <p:cNvPr id="6" name="TextBox 5"/>
          <p:cNvSpPr txBox="1"/>
          <p:nvPr/>
        </p:nvSpPr>
        <p:spPr>
          <a:xfrm>
            <a:off x="713232" y="3198641"/>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Dataflow, then flow-based programming — the same flows again as a graph, closing with yours redrawn.</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Data Flow Programming</a:t>
            </a:r>
          </a:p>
        </p:txBody>
      </p:sp>
      <p:sp>
        <p:nvSpPr>
          <p:cNvPr id="5" name="TextBox 4"/>
          <p:cNvSpPr txBox="1"/>
          <p:nvPr/>
        </p:nvSpPr>
        <p:spPr>
          <a:xfrm>
            <a:off x="713232" y="1319549"/>
            <a:ext cx="4965109" cy="1719072"/>
          </a:xfrm>
          <a:prstGeom prst="rect">
            <a:avLst/>
          </a:prstGeom>
          <a:noFill/>
        </p:spPr>
        <p:txBody>
          <a:bodyPr wrap="square" lIns="0" rIns="0" tIns="0" bIns="0">
            <a:spAutoFit/>
          </a:bodyPr>
          <a:lstStyle/>
          <a:p>
            <a:pPr>
              <a:lnSpc>
                <a:spcPts val="2232"/>
              </a:lnSpc>
            </a:pPr>
            <a:r>
              <a:rPr sz="1800" b="1" i="0">
                <a:solidFill>
                  <a:srgbClr val="181B1F"/>
                </a:solidFill>
                <a:latin typeface="IBM Plex Sans"/>
              </a:rPr>
              <a:t>Dataflow programming</a:t>
            </a:r>
            <a:r>
              <a:rPr sz="1800" b="0" i="0">
                <a:solidFill>
                  <a:srgbClr val="181B1F"/>
                </a:solidFill>
                <a:latin typeface="IBM Plex Sans"/>
              </a:rPr>
              <a:t> conceptualises a program as a directed graph: operations are </a:t>
            </a:r>
            <a:r>
              <a:rPr sz="1800" b="1" i="0">
                <a:solidFill>
                  <a:srgbClr val="181B1F"/>
                </a:solidFill>
                <a:latin typeface="IBM Plex Sans"/>
              </a:rPr>
              <a:t>nodes</a:t>
            </a:r>
            <a:r>
              <a:rPr sz="1800" b="0" i="0">
                <a:solidFill>
                  <a:srgbClr val="181B1F"/>
                </a:solidFill>
                <a:latin typeface="IBM Plex Sans"/>
              </a:rPr>
              <a:t>, connected by </a:t>
            </a:r>
            <a:r>
              <a:rPr sz="1800" b="1" i="0">
                <a:solidFill>
                  <a:srgbClr val="181B1F"/>
                </a:solidFill>
                <a:latin typeface="IBM Plex Sans"/>
              </a:rPr>
              <a:t>arcs</a:t>
            </a:r>
            <a:r>
              <a:rPr sz="1800" b="0" i="0">
                <a:solidFill>
                  <a:srgbClr val="181B1F"/>
                </a:solidFill>
                <a:latin typeface="IBM Plex Sans"/>
              </a:rPr>
              <a:t> through which data flows. A node performs its operation when its input data is available — not when someone calls it.</a:t>
            </a:r>
          </a:p>
        </p:txBody>
      </p:sp>
      <p:sp>
        <p:nvSpPr>
          <p:cNvPr id="6" name="TextBox 5"/>
          <p:cNvSpPr txBox="1"/>
          <p:nvPr/>
        </p:nvSpPr>
        <p:spPr>
          <a:xfrm>
            <a:off x="713232" y="31498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3109233"/>
            <a:ext cx="4718221"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Nothing is in charge. There is no </a:t>
            </a:r>
            <a:r>
              <a:rPr sz="1700" b="0" i="0">
                <a:solidFill>
                  <a:srgbClr val="181B1F"/>
                </a:solidFill>
                <a:latin typeface="IBM Plex Mono"/>
              </a:rPr>
              <a:t>main</a:t>
            </a:r>
            <a:r>
              <a:rPr sz="1800" b="0" i="0">
                <a:solidFill>
                  <a:srgbClr val="181B1F"/>
                </a:solidFill>
                <a:latin typeface="IBM Plex Sans"/>
              </a:rPr>
              <a:t>.</a:t>
            </a:r>
          </a:p>
        </p:txBody>
      </p:sp>
      <p:sp>
        <p:nvSpPr>
          <p:cNvPr id="8" name="TextBox 7"/>
          <p:cNvSpPr txBox="1"/>
          <p:nvPr/>
        </p:nvSpPr>
        <p:spPr>
          <a:xfrm>
            <a:off x="713232" y="35222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3481597"/>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already use one: the Unix command line. Pipes and filters.</a:t>
            </a:r>
          </a:p>
        </p:txBody>
      </p:sp>
      <p:pic>
        <p:nvPicPr>
          <p:cNvPr id="10" name="Picture 9" descr="flow-dataflow-graph.png"/>
          <p:cNvPicPr>
            <a:picLocks noChangeAspect="1"/>
          </p:cNvPicPr>
          <p:nvPr/>
        </p:nvPicPr>
        <p:blipFill>
          <a:blip r:embed="rId2"/>
          <a:stretch>
            <a:fillRect/>
          </a:stretch>
        </p:blipFill>
        <p:spPr>
          <a:xfrm>
            <a:off x="6025813" y="1970713"/>
            <a:ext cx="5598953" cy="3379398"/>
          </a:xfrm>
          <a:prstGeom prst="rect">
            <a:avLst/>
          </a:prstGeom>
        </p:spPr>
      </p:pic>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34</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Nodes, Ports and Firing</a:t>
            </a:r>
          </a:p>
        </p:txBody>
      </p:sp>
      <p:pic>
        <p:nvPicPr>
          <p:cNvPr id="5" name="Picture 4" descr="flow-node-ports.png"/>
          <p:cNvPicPr>
            <a:picLocks noChangeAspect="1"/>
          </p:cNvPicPr>
          <p:nvPr/>
        </p:nvPicPr>
        <p:blipFill>
          <a:blip r:embed="rId2"/>
          <a:stretch>
            <a:fillRect/>
          </a:stretch>
        </p:blipFill>
        <p:spPr>
          <a:xfrm>
            <a:off x="2092706" y="1245870"/>
            <a:ext cx="8152587"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Nodes, Ports and Firing</a:t>
            </a:r>
          </a:p>
        </p:txBody>
      </p:sp>
      <p:pic>
        <p:nvPicPr>
          <p:cNvPr id="5" name="Picture 4" descr="flow-two-nodes.png"/>
          <p:cNvPicPr>
            <a:picLocks noChangeAspect="1"/>
          </p:cNvPicPr>
          <p:nvPr/>
        </p:nvPicPr>
        <p:blipFill>
          <a:blip r:embed="rId2"/>
          <a:stretch>
            <a:fillRect/>
          </a:stretch>
        </p:blipFill>
        <p:spPr>
          <a:xfrm>
            <a:off x="713232" y="1481543"/>
            <a:ext cx="10911535" cy="4720158"/>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Capacity, Backpressure and Node Lifetime</a:t>
            </a:r>
          </a:p>
        </p:txBody>
      </p:sp>
      <p:pic>
        <p:nvPicPr>
          <p:cNvPr id="5" name="Picture 4" descr="flow-arc-buffers.png"/>
          <p:cNvPicPr>
            <a:picLocks noChangeAspect="1"/>
          </p:cNvPicPr>
          <p:nvPr/>
        </p:nvPicPr>
        <p:blipFill>
          <a:blip r:embed="rId2"/>
          <a:stretch>
            <a:fillRect/>
          </a:stretch>
        </p:blipFill>
        <p:spPr>
          <a:xfrm>
            <a:off x="932628" y="1245870"/>
            <a:ext cx="10472741"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37</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Flow-Based Programming</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Flow-Based Programming (FBP)</a:t>
            </a:r>
            <a:r>
              <a:rPr sz="1800" b="0" i="0">
                <a:solidFill>
                  <a:srgbClr val="181B1F"/>
                </a:solidFill>
                <a:latin typeface="IBM Plex Sans"/>
              </a:rPr>
              <a:t> is a subclass of dataflow. Where dataflow </a:t>
            </a:r>
            <a:r>
              <a:rPr sz="1800" b="0" i="1">
                <a:solidFill>
                  <a:srgbClr val="181B1F"/>
                </a:solidFill>
                <a:latin typeface="IBM Plex Sans"/>
              </a:rPr>
              <a:t>may</a:t>
            </a:r>
            <a:r>
              <a:rPr sz="1800" b="0" i="0">
                <a:solidFill>
                  <a:srgbClr val="181B1F"/>
                </a:solidFill>
                <a:latin typeface="IBM Plex Sans"/>
              </a:rPr>
              <a:t> be synchronous, FBP always is not:</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Always asynchronous.</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Multiple input ports</a:t>
            </a:r>
            <a:r>
              <a:rPr sz="1800" b="0" i="0">
                <a:solidFill>
                  <a:srgbClr val="181B1F"/>
                </a:solidFill>
                <a:latin typeface="IBM Plex Sans"/>
              </a:rPr>
              <a:t> per component.</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Bounded buffers</a:t>
            </a:r>
            <a:r>
              <a:rPr sz="1800" b="0" i="0">
                <a:solidFill>
                  <a:srgbClr val="181B1F"/>
                </a:solidFill>
                <a:latin typeface="IBM Plex Sans"/>
              </a:rPr>
              <a:t>, and therefore backpressure when they fill. A component can test whether it can send to </a:t>
            </a:r>
            <a:r>
              <a:rPr sz="1700" b="0" i="0">
                <a:solidFill>
                  <a:srgbClr val="181B1F"/>
                </a:solidFill>
                <a:latin typeface="IBM Plex Mono"/>
              </a:rPr>
              <a:t>out</a:t>
            </a:r>
            <a:r>
              <a:rPr sz="1800" b="0" i="0">
                <a:solidFill>
                  <a:srgbClr val="181B1F"/>
                </a:solidFill>
                <a:latin typeface="IBM Plex Sans"/>
              </a:rPr>
              <a:t>, and decide whether to halt or ignore.</a:t>
            </a:r>
          </a:p>
        </p:txBody>
      </p:sp>
      <p:sp>
        <p:nvSpPr>
          <p:cNvPr id="12" name="TextBox 11"/>
          <p:cNvSpPr txBox="1"/>
          <p:nvPr/>
        </p:nvSpPr>
        <p:spPr>
          <a:xfrm>
            <a:off x="713232" y="34165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375933"/>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Node lifetime:</a:t>
            </a:r>
            <a:r>
              <a:rPr sz="1800" b="0" i="0">
                <a:solidFill>
                  <a:srgbClr val="181B1F"/>
                </a:solidFill>
                <a:latin typeface="IBM Plex Sans"/>
              </a:rPr>
              <a:t> a component keeps running while there is work on an input queue, and </a:t>
            </a:r>
            <a:r>
              <a:rPr sz="1800" b="1" i="0">
                <a:solidFill>
                  <a:srgbClr val="181B1F"/>
                </a:solidFill>
                <a:latin typeface="IBM Plex Sans"/>
              </a:rPr>
              <a:t>suspends</a:t>
            </a:r>
            <a:r>
              <a:rPr sz="1800" b="0" i="0">
                <a:solidFill>
                  <a:srgbClr val="181B1F"/>
                </a:solidFill>
                <a:latin typeface="IBM Plex Sans"/>
              </a:rPr>
              <a:t> rather than terminates when there is none.</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38</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Flow-Based Programming</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"Everything flows and nothing stays." — Heraclitus</a:t>
            </a:r>
          </a:p>
        </p:txBody>
      </p:sp>
      <p:pic>
        <p:nvPicPr>
          <p:cNvPr id="7" name="Picture 6" descr="flow-fbp-component.png"/>
          <p:cNvPicPr>
            <a:picLocks noChangeAspect="1"/>
          </p:cNvPicPr>
          <p:nvPr/>
        </p:nvPicPr>
        <p:blipFill>
          <a:blip r:embed="rId2"/>
          <a:stretch>
            <a:fillRect/>
          </a:stretch>
        </p:blipFill>
        <p:spPr>
          <a:xfrm>
            <a:off x="1952912" y="1937258"/>
            <a:ext cx="8432173"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39</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Flow-Based Programming</a:t>
            </a:r>
          </a:p>
        </p:txBody>
      </p:sp>
      <p:pic>
        <p:nvPicPr>
          <p:cNvPr id="5" name="Picture 4" descr="flow-fbp-lifetime.png"/>
          <p:cNvPicPr>
            <a:picLocks noChangeAspect="1"/>
          </p:cNvPicPr>
          <p:nvPr/>
        </p:nvPicPr>
        <p:blipFill>
          <a:blip r:embed="rId2"/>
          <a:stretch>
            <a:fillRect/>
          </a:stretch>
        </p:blipFill>
        <p:spPr>
          <a:xfrm>
            <a:off x="1792439" y="1245870"/>
            <a:ext cx="8753120"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Flow-Based Programming</a:t>
            </a:r>
          </a:p>
        </p:txBody>
      </p:sp>
      <p:pic>
        <p:nvPicPr>
          <p:cNvPr id="5" name="Picture 4" descr="flow-fbp-ports.png"/>
          <p:cNvPicPr>
            <a:picLocks noChangeAspect="1"/>
          </p:cNvPicPr>
          <p:nvPr/>
        </p:nvPicPr>
        <p:blipFill>
          <a:blip r:embed="rId2"/>
          <a:stretch>
            <a:fillRect/>
          </a:stretch>
        </p:blipFill>
        <p:spPr>
          <a:xfrm>
            <a:off x="964675" y="1245870"/>
            <a:ext cx="10408649"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FBP — Initial Information Packets</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An </a:t>
            </a:r>
            <a:r>
              <a:rPr sz="1800" b="1" i="0">
                <a:solidFill>
                  <a:srgbClr val="181B1F"/>
                </a:solidFill>
                <a:latin typeface="IBM Plex Sans"/>
              </a:rPr>
              <a:t>IIP</a:t>
            </a:r>
            <a:r>
              <a:rPr sz="1800" b="0" i="0">
                <a:solidFill>
                  <a:srgbClr val="181B1F"/>
                </a:solidFill>
                <a:latin typeface="IBM Plex Sans"/>
              </a:rPr>
              <a:t> is a packet a component receives at start-up rather than from an upstream component — configuration, or a starting value. Control packets bracket a stream into groups.</a:t>
            </a:r>
          </a:p>
        </p:txBody>
      </p:sp>
      <p:pic>
        <p:nvPicPr>
          <p:cNvPr id="6" name="Picture 5" descr="flow-fbp-iip.png"/>
          <p:cNvPicPr>
            <a:picLocks noChangeAspect="1"/>
          </p:cNvPicPr>
          <p:nvPr/>
        </p:nvPicPr>
        <p:blipFill>
          <a:blip r:embed="rId2"/>
          <a:stretch>
            <a:fillRect/>
          </a:stretch>
        </p:blipFill>
        <p:spPr>
          <a:xfrm>
            <a:off x="2281716" y="2018538"/>
            <a:ext cx="7774566" cy="4418838"/>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FBP — Where Do Lookups Live?</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component needs data it was not sent. Two answers, and it is the same choice as Day 1 §6.2 </a:t>
            </a:r>
            <a:r>
              <a:rPr sz="1800" b="0" i="1">
                <a:solidFill>
                  <a:srgbClr val="181B1F"/>
                </a:solidFill>
                <a:latin typeface="IBM Plex Sans"/>
              </a:rPr>
              <a:t>Reference Data</a:t>
            </a:r>
            <a:r>
              <a:rPr sz="1800" b="0" i="0">
                <a:solidFill>
                  <a:srgbClr val="181B1F"/>
                </a:solidFill>
                <a:latin typeface="IBM Plex Sans"/>
              </a:rPr>
              <a:t>.</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Ask for it.</a:t>
            </a:r>
            <a:r>
              <a:rPr sz="1800" b="0" i="0">
                <a:solidFill>
                  <a:srgbClr val="181B1F"/>
                </a:solidFill>
                <a:latin typeface="IBM Plex Sans"/>
              </a:rPr>
              <a:t> Add a lookup port: query out, pause, response in. The component stops until the answer comes back — </a:t>
            </a:r>
            <a:r>
              <a:rPr sz="1800" b="1" i="0">
                <a:solidFill>
                  <a:srgbClr val="181B1F"/>
                </a:solidFill>
                <a:latin typeface="IBM Plex Sans"/>
              </a:rPr>
              <a:t>the walk of shame</a:t>
            </a:r>
            <a:r>
              <a:rPr sz="1800" b="0" i="0">
                <a:solidFill>
                  <a:srgbClr val="181B1F"/>
                </a:solidFill>
                <a:latin typeface="IBM Plex Sans"/>
              </a:rPr>
              <a:t>. On-demand, and now you are temporally coupled to whoever answers.</a:t>
            </a:r>
          </a:p>
        </p:txBody>
      </p:sp>
      <p:sp>
        <p:nvSpPr>
          <p:cNvPr id="8" name="TextBox 7"/>
          <p:cNvSpPr txBox="1"/>
          <p:nvPr/>
        </p:nvSpPr>
        <p:spPr>
          <a:xfrm>
            <a:off x="713232" y="29552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914669"/>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Build it in advance.</a:t>
            </a:r>
            <a:r>
              <a:rPr sz="1800" b="0" i="0">
                <a:solidFill>
                  <a:srgbClr val="181B1F"/>
                </a:solidFill>
                <a:latin typeface="IBM Plex Sans"/>
              </a:rPr>
              <a:t> A </a:t>
            </a:r>
            <a:r>
              <a:rPr sz="1800" b="1" i="0">
                <a:solidFill>
                  <a:srgbClr val="181B1F"/>
                </a:solidFill>
                <a:latin typeface="IBM Plex Sans"/>
              </a:rPr>
              <a:t>Build Lookup</a:t>
            </a:r>
            <a:r>
              <a:rPr sz="1800" b="0" i="0">
                <a:solidFill>
                  <a:srgbClr val="181B1F"/>
                </a:solidFill>
                <a:latin typeface="IBM Plex Sans"/>
              </a:rPr>
              <a:t> node listens to the stream that owns the data and maintains a table the working component reads locally. In-advance — no pause, no temporal coupling, and the copy is behind by a broker hop.</a:t>
            </a:r>
          </a:p>
        </p:txBody>
      </p:sp>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43</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FBP — Where Do Lookups Live?</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Same decision as reference data, drawn as a graph — and the same answer: hold the copy.</a:t>
            </a:r>
          </a:p>
        </p:txBody>
      </p:sp>
      <p:pic>
        <p:nvPicPr>
          <p:cNvPr id="7" name="Picture 6" descr="flow-lookup-question.png"/>
          <p:cNvPicPr>
            <a:picLocks noChangeAspect="1"/>
          </p:cNvPicPr>
          <p:nvPr/>
        </p:nvPicPr>
        <p:blipFill>
          <a:blip r:embed="rId2"/>
          <a:stretch>
            <a:fillRect/>
          </a:stretch>
        </p:blipFill>
        <p:spPr>
          <a:xfrm>
            <a:off x="2485569" y="1937258"/>
            <a:ext cx="7366859"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44</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FBP — Where Do Lookups Live?</a:t>
            </a:r>
          </a:p>
        </p:txBody>
      </p:sp>
      <p:pic>
        <p:nvPicPr>
          <p:cNvPr id="5" name="Picture 4" descr="flow-lookup-asking.png"/>
          <p:cNvPicPr>
            <a:picLocks noChangeAspect="1"/>
          </p:cNvPicPr>
          <p:nvPr/>
        </p:nvPicPr>
        <p:blipFill>
          <a:blip r:embed="rId2"/>
          <a:stretch>
            <a:fillRect/>
          </a:stretch>
        </p:blipFill>
        <p:spPr>
          <a:xfrm>
            <a:off x="713231" y="1304785"/>
            <a:ext cx="10911535" cy="5073675"/>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C — THE FORMALISM</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FBP — Where Do Lookups Live?</a:t>
            </a:r>
          </a:p>
        </p:txBody>
      </p:sp>
      <p:pic>
        <p:nvPicPr>
          <p:cNvPr id="5" name="Picture 4" descr="flow-lookup-table.png"/>
          <p:cNvPicPr>
            <a:picLocks noChangeAspect="1"/>
          </p:cNvPicPr>
          <p:nvPr/>
        </p:nvPicPr>
        <p:blipFill>
          <a:blip r:embed="rId2"/>
          <a:stretch>
            <a:fillRect/>
          </a:stretch>
        </p:blipFill>
        <p:spPr>
          <a:xfrm>
            <a:off x="713232" y="1591885"/>
            <a:ext cx="10911535" cy="4499475"/>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 AGAIN — AS GRAPHS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Example — Onboarding in FBP</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first flow you saw on paper, drawn as a graph.</a:t>
            </a:r>
            <a:r>
              <a:rPr sz="1800" b="0" i="0">
                <a:solidFill>
                  <a:srgbClr val="181B1F"/>
                </a:solidFill>
                <a:latin typeface="IBM Plex Sans"/>
              </a:rPr>
              <a:t> Request/response with an external participant who is a fax machine.</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Storage.</a:t>
            </a:r>
            <a:r>
              <a:rPr sz="1800" b="0" i="0">
                <a:solidFill>
                  <a:srgbClr val="181B1F"/>
                </a:solidFill>
                <a:latin typeface="IBM Plex Sans"/>
              </a:rPr>
              <a:t> A component takes work from the </a:t>
            </a:r>
            <a:r>
              <a:rPr sz="1700" b="0" i="0">
                <a:solidFill>
                  <a:srgbClr val="181B1F"/>
                </a:solidFill>
                <a:latin typeface="IBM Plex Mono"/>
              </a:rPr>
              <a:t>request_details</a:t>
            </a:r>
            <a:r>
              <a:rPr sz="1800" b="0" i="0">
                <a:solidFill>
                  <a:srgbClr val="181B1F"/>
                </a:solidFill>
                <a:latin typeface="IBM Plex Sans"/>
              </a:rPr>
              <a:t> port but cannot forward to </a:t>
            </a:r>
            <a:r>
              <a:rPr sz="1700" b="0" i="0">
                <a:solidFill>
                  <a:srgbClr val="181B1F"/>
                </a:solidFill>
                <a:latin typeface="IBM Plex Mono"/>
              </a:rPr>
              <a:t>restaurant_details</a:t>
            </a:r>
            <a:r>
              <a:rPr sz="1800" b="0" i="0">
                <a:solidFill>
                  <a:srgbClr val="181B1F"/>
                </a:solidFill>
                <a:latin typeface="IBM Plex Sans"/>
              </a:rPr>
              <a:t> without an answer from </a:t>
            </a:r>
            <a:r>
              <a:rPr sz="1700" b="0" i="0">
                <a:solidFill>
                  <a:srgbClr val="181B1F"/>
                </a:solidFill>
                <a:latin typeface="IBM Plex Mono"/>
              </a:rPr>
              <a:t>fax_in</a:t>
            </a:r>
            <a:r>
              <a:rPr sz="1800" b="0" i="0">
                <a:solidFill>
                  <a:srgbClr val="181B1F"/>
                </a:solidFill>
                <a:latin typeface="IBM Plex Sans"/>
              </a:rPr>
              <a:t> — so we store the workflow state, in case we crash before the response arrives. </a:t>
            </a:r>
            <a:r>
              <a:rPr sz="1800" b="0" i="1">
                <a:solidFill>
                  <a:srgbClr val="181B1F"/>
                </a:solidFill>
                <a:latin typeface="IBM Plex Sans"/>
              </a:rPr>
              <a:t>That is filing it before you send it.</a:t>
            </a:r>
          </a:p>
        </p:txBody>
      </p:sp>
      <p:sp>
        <p:nvSpPr>
          <p:cNvPr id="8" name="TextBox 7"/>
          <p:cNvSpPr txBox="1"/>
          <p:nvPr/>
        </p:nvSpPr>
        <p:spPr>
          <a:xfrm>
            <a:off x="713232" y="29552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914669"/>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Correlation.</a:t>
            </a:r>
            <a:r>
              <a:rPr sz="1800" b="0" i="0">
                <a:solidFill>
                  <a:srgbClr val="181B1F"/>
                </a:solidFill>
                <a:latin typeface="IBM Plex Sans"/>
              </a:rPr>
              <a:t> To match the response to that saved state we send a </a:t>
            </a:r>
            <a:r>
              <a:rPr sz="1800" b="1" i="0">
                <a:solidFill>
                  <a:srgbClr val="181B1F"/>
                </a:solidFill>
                <a:latin typeface="IBM Plex Sans"/>
              </a:rPr>
              <a:t>correlation id</a:t>
            </a:r>
            <a:r>
              <a:rPr sz="1800" b="0" i="0">
                <a:solidFill>
                  <a:srgbClr val="181B1F"/>
                </a:solidFill>
                <a:latin typeface="IBM Plex Sans"/>
              </a:rPr>
              <a:t> on the packet to </a:t>
            </a:r>
            <a:r>
              <a:rPr sz="1700" b="0" i="0">
                <a:solidFill>
                  <a:srgbClr val="181B1F"/>
                </a:solidFill>
                <a:latin typeface="IBM Plex Mono"/>
              </a:rPr>
              <a:t>fax_out</a:t>
            </a:r>
            <a:r>
              <a:rPr sz="1800" b="0" i="0">
                <a:solidFill>
                  <a:srgbClr val="181B1F"/>
                </a:solidFill>
                <a:latin typeface="IBM Plex Sans"/>
              </a:rPr>
              <a:t>; the restaurant returns it on the packet from </a:t>
            </a:r>
            <a:r>
              <a:rPr sz="1700" b="0" i="0">
                <a:solidFill>
                  <a:srgbClr val="181B1F"/>
                </a:solidFill>
                <a:latin typeface="IBM Plex Mono"/>
              </a:rPr>
              <a:t>fax_in</a:t>
            </a:r>
            <a:r>
              <a:rPr sz="1800" b="0" i="0">
                <a:solidFill>
                  <a:srgbClr val="181B1F"/>
                </a:solidFill>
                <a:latin typeface="IBM Plex Sans"/>
              </a:rPr>
              <a:t>; we use it to look up the stored workflow. </a:t>
            </a:r>
            <a:r>
              <a:rPr sz="1800" b="0" i="1">
                <a:solidFill>
                  <a:srgbClr val="181B1F"/>
                </a:solidFill>
                <a:latin typeface="IBM Plex Sans"/>
              </a:rPr>
              <a:t>That is the reference number written on the fax.</a:t>
            </a:r>
          </a:p>
        </p:txBody>
      </p:sp>
      <p:sp>
        <p:nvSpPr>
          <p:cNvPr id="10" name="TextBox 9"/>
          <p:cNvSpPr txBox="1"/>
          <p:nvPr/>
        </p:nvSpPr>
        <p:spPr>
          <a:xfrm>
            <a:off x="713232" y="3894581"/>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853961"/>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Lookup.</a:t>
            </a:r>
            <a:r>
              <a:rPr sz="1800" b="0" i="0">
                <a:solidFill>
                  <a:srgbClr val="181B1F"/>
                </a:solidFill>
                <a:latin typeface="IBM Plex Sans"/>
              </a:rPr>
              <a:t> We build a store from packets raised by another component, to act as the lookup table for information needed to process a request. </a:t>
            </a:r>
            <a:r>
              <a:rPr sz="1800" b="0" i="1">
                <a:solidFill>
                  <a:srgbClr val="181B1F"/>
                </a:solidFill>
                <a:latin typeface="IBM Plex Sans"/>
              </a:rPr>
              <a:t>That is the Catalogue Maker.</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47</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 AGAIN — AS GRAPHS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Example — Onboarding in FBP</a:t>
            </a:r>
          </a:p>
        </p:txBody>
      </p:sp>
      <p:pic>
        <p:nvPicPr>
          <p:cNvPr id="5" name="Picture 4" descr="flowbased_onboard_restaurant.png"/>
          <p:cNvPicPr>
            <a:picLocks noChangeAspect="1"/>
          </p:cNvPicPr>
          <p:nvPr/>
        </p:nvPicPr>
        <p:blipFill>
          <a:blip r:embed="rId2"/>
          <a:stretch>
            <a:fillRect/>
          </a:stretch>
        </p:blipFill>
        <p:spPr>
          <a:xfrm>
            <a:off x="713232" y="1341273"/>
            <a:ext cx="10911535" cy="5000698"/>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 AGAIN — AS GRAPHS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Example — the Order Flow in FBP</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Order, placement and confirmation as one graph.</a:t>
            </a:r>
            <a:r>
              <a:rPr sz="1800" b="0" i="0">
                <a:solidFill>
                  <a:srgbClr val="181B1F"/>
                </a:solidFill>
                <a:latin typeface="IBM Plex Sans"/>
              </a:rPr>
              <a:t> The three flows delegates saw separately on paper compose into a single network — which is the thing paper could not show you.</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Order Food</a:t>
            </a:r>
            <a:r>
              <a:rPr sz="1800" b="0" i="0">
                <a:solidFill>
                  <a:srgbClr val="181B1F"/>
                </a:solidFill>
                <a:latin typeface="IBM Plex Sans"/>
              </a:rPr>
              <a:t> — the order enters the network. Ports in, packets out; nobody is called.</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Order Placement</a:t>
            </a:r>
            <a:r>
              <a:rPr sz="1800" b="0" i="0">
                <a:solidFill>
                  <a:srgbClr val="181B1F"/>
                </a:solidFill>
                <a:latin typeface="IBM Plex Sans"/>
              </a:rPr>
              <a:t> — the fax hand-off across the organisational boundary, the same store-and-correlate shape as onboarding.</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whole network.</a:t>
            </a:r>
            <a:r>
              <a:rPr sz="1800" b="0" i="0">
                <a:solidFill>
                  <a:srgbClr val="181B1F"/>
                </a:solidFill>
                <a:latin typeface="IBM Plex Sans"/>
              </a:rPr>
              <a:t> Put them together and the confirmation is just another packet arriving on another port. There is no step at which anything is "in charge".</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49</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 AGAIN — AS GRAPHS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Example — the Order Flow in FBP</a:t>
            </a:r>
          </a:p>
        </p:txBody>
      </p:sp>
      <p:pic>
        <p:nvPicPr>
          <p:cNvPr id="5" name="Picture 4" descr="flowbased_order_food.png"/>
          <p:cNvPicPr>
            <a:picLocks noChangeAspect="1"/>
          </p:cNvPicPr>
          <p:nvPr/>
        </p:nvPicPr>
        <p:blipFill>
          <a:blip r:embed="rId2"/>
          <a:stretch>
            <a:fillRect/>
          </a:stretch>
        </p:blipFill>
        <p:spPr>
          <a:xfrm>
            <a:off x="2629336" y="1245870"/>
            <a:ext cx="7079326"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 AGAIN — AS GRAPHS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Example — the Order Flow in FBP</a:t>
            </a:r>
          </a:p>
        </p:txBody>
      </p:sp>
      <p:pic>
        <p:nvPicPr>
          <p:cNvPr id="5" name="Picture 4" descr="flowbased_order_placement.png"/>
          <p:cNvPicPr>
            <a:picLocks noChangeAspect="1"/>
          </p:cNvPicPr>
          <p:nvPr/>
        </p:nvPicPr>
        <p:blipFill>
          <a:blip r:embed="rId2"/>
          <a:stretch>
            <a:fillRect/>
          </a:stretch>
        </p:blipFill>
        <p:spPr>
          <a:xfrm>
            <a:off x="713232" y="1415796"/>
            <a:ext cx="10911535" cy="4851652"/>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 AGAIN — AS GRAPHS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Example — the Order Flow in FBP</a:t>
            </a:r>
          </a:p>
        </p:txBody>
      </p:sp>
      <p:pic>
        <p:nvPicPr>
          <p:cNvPr id="5" name="Picture 4" descr="flowbased_order_all.png"/>
          <p:cNvPicPr>
            <a:picLocks noChangeAspect="1"/>
          </p:cNvPicPr>
          <p:nvPr/>
        </p:nvPicPr>
        <p:blipFill>
          <a:blip r:embed="rId2"/>
          <a:stretch>
            <a:fillRect/>
          </a:stretch>
        </p:blipFill>
        <p:spPr>
          <a:xfrm>
            <a:off x="815884" y="1245870"/>
            <a:ext cx="10706229"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 AGAIN — AS GRAPHS</a:t>
            </a:r>
          </a:p>
        </p:txBody>
      </p:sp>
      <p:sp>
        <p:nvSpPr>
          <p:cNvPr id="4" name="TextBox 3"/>
          <p:cNvSpPr txBox="1"/>
          <p:nvPr/>
        </p:nvSpPr>
        <p:spPr>
          <a:xfrm>
            <a:off x="713232" y="606722"/>
            <a:ext cx="10911535" cy="858012"/>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Example — When It Fails, and What the Arcs Really Are</a:t>
            </a:r>
          </a:p>
        </p:txBody>
      </p:sp>
      <p:sp>
        <p:nvSpPr>
          <p:cNvPr id="5" name="TextBox 4"/>
          <p:cNvSpPr txBox="1"/>
          <p:nvPr/>
        </p:nvSpPr>
        <p:spPr>
          <a:xfrm>
            <a:off x="713232" y="1739411"/>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error variant, as a graph.</a:t>
            </a:r>
            <a:r>
              <a:rPr sz="1800" b="0" i="0">
                <a:solidFill>
                  <a:srgbClr val="181B1F"/>
                </a:solidFill>
                <a:latin typeface="IBM Plex Sans"/>
              </a:rPr>
              <a:t> The same failures from </a:t>
            </a:r>
            <a:r>
              <a:rPr sz="1800" b="0" i="1">
                <a:solidFill>
                  <a:srgbClr val="181B1F"/>
                </a:solidFill>
                <a:latin typeface="IBM Plex Sans"/>
              </a:rPr>
              <a:t>How Do We Deal with Errors?</a:t>
            </a:r>
            <a:r>
              <a:rPr sz="1800" b="0" i="0">
                <a:solidFill>
                  <a:srgbClr val="181B1F"/>
                </a:solidFill>
                <a:latin typeface="IBM Plex Sans"/>
              </a:rPr>
              <a:t> — the request goes missing, no receipt comes back, the same document arrives twice — expressed in ports and packets.</a:t>
            </a:r>
          </a:p>
        </p:txBody>
      </p:sp>
      <p:sp>
        <p:nvSpPr>
          <p:cNvPr id="6" name="TextBox 5"/>
          <p:cNvSpPr txBox="1"/>
          <p:nvPr/>
        </p:nvSpPr>
        <p:spPr>
          <a:xfrm>
            <a:off x="713232" y="243586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239523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Retry is a packet sent again on the same port; the correlation id is what stops it being a second order.</a:t>
            </a:r>
          </a:p>
        </p:txBody>
      </p:sp>
      <p:sp>
        <p:nvSpPr>
          <p:cNvPr id="8" name="TextBox 7"/>
          <p:cNvSpPr txBox="1"/>
          <p:nvPr/>
        </p:nvSpPr>
        <p:spPr>
          <a:xfrm>
            <a:off x="713232" y="280822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76760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stored workflow is what makes retry safe, because the answer can arrive after a crash.</a:t>
            </a:r>
          </a:p>
        </p:txBody>
      </p:sp>
      <p:sp>
        <p:nvSpPr>
          <p:cNvPr id="10" name="TextBox 9"/>
          <p:cNvSpPr txBox="1"/>
          <p:nvPr/>
        </p:nvSpPr>
        <p:spPr>
          <a:xfrm>
            <a:off x="713232" y="318058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13996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failure is </a:t>
            </a:r>
            <a:r>
              <a:rPr sz="1800" b="1" i="0">
                <a:solidFill>
                  <a:srgbClr val="181B1F"/>
                </a:solidFill>
                <a:latin typeface="IBM Plex Sans"/>
              </a:rPr>
              <a:t>local to a node</a:t>
            </a:r>
            <a:r>
              <a:rPr sz="1800" b="0" i="0">
                <a:solidFill>
                  <a:srgbClr val="181B1F"/>
                </a:solidFill>
                <a:latin typeface="IBM Plex Sans"/>
              </a:rPr>
              <a:t>. The graph does not unwind; the packet waits.</a:t>
            </a:r>
          </a:p>
        </p:txBody>
      </p:sp>
      <p:sp>
        <p:nvSpPr>
          <p:cNvPr id="12" name="TextBox 11"/>
          <p:cNvSpPr txBox="1"/>
          <p:nvPr/>
        </p:nvSpPr>
        <p:spPr>
          <a:xfrm>
            <a:off x="713232" y="3537731"/>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Then the last move of the movement: </a:t>
            </a:r>
            <a:r>
              <a:rPr sz="1800" b="1" i="0">
                <a:solidFill>
                  <a:srgbClr val="181B1F"/>
                </a:solidFill>
                <a:latin typeface="IBM Plex Sans"/>
              </a:rPr>
              <a:t>make the arcs middleware and the nodes processes.</a:t>
            </a:r>
          </a:p>
        </p:txBody>
      </p:sp>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53</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 AGAIN — AS GRAPHS</a:t>
            </a:r>
          </a:p>
        </p:txBody>
      </p:sp>
      <p:sp>
        <p:nvSpPr>
          <p:cNvPr id="4" name="TextBox 3"/>
          <p:cNvSpPr txBox="1"/>
          <p:nvPr/>
        </p:nvSpPr>
        <p:spPr>
          <a:xfrm>
            <a:off x="713232" y="606722"/>
            <a:ext cx="10911535" cy="858012"/>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Example — When It Fails, and What the Arcs Really Are</a:t>
            </a:r>
          </a:p>
        </p:txBody>
      </p:sp>
      <p:pic>
        <p:nvPicPr>
          <p:cNvPr id="5" name="Picture 4" descr="flowbased_order_food_errors.png"/>
          <p:cNvPicPr>
            <a:picLocks noChangeAspect="1"/>
          </p:cNvPicPr>
          <p:nvPr/>
        </p:nvPicPr>
        <p:blipFill>
          <a:blip r:embed="rId2"/>
          <a:stretch>
            <a:fillRect/>
          </a:stretch>
        </p:blipFill>
        <p:spPr>
          <a:xfrm>
            <a:off x="3694133" y="1665732"/>
            <a:ext cx="4949732" cy="4771644"/>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54</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 AGAIN — AS GRAPHS</a:t>
            </a:r>
          </a:p>
        </p:txBody>
      </p:sp>
      <p:sp>
        <p:nvSpPr>
          <p:cNvPr id="4" name="TextBox 3"/>
          <p:cNvSpPr txBox="1"/>
          <p:nvPr/>
        </p:nvSpPr>
        <p:spPr>
          <a:xfrm>
            <a:off x="713232" y="606722"/>
            <a:ext cx="10911535" cy="858012"/>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Worked Example — When It Fails, and What the Arcs Really Are</a:t>
            </a:r>
          </a:p>
        </p:txBody>
      </p:sp>
      <p:pic>
        <p:nvPicPr>
          <p:cNvPr id="5" name="Picture 4" descr="flow-nodes-as-processes.png"/>
          <p:cNvPicPr>
            <a:picLocks noChangeAspect="1"/>
          </p:cNvPicPr>
          <p:nvPr/>
        </p:nvPicPr>
        <p:blipFill>
          <a:blip r:embed="rId2"/>
          <a:stretch>
            <a:fillRect/>
          </a:stretch>
        </p:blipFill>
        <p:spPr>
          <a:xfrm>
            <a:off x="1208846" y="1665732"/>
            <a:ext cx="9920306" cy="4771644"/>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THE WORKED FLOWS AGAIN — AS GRAPHS</a:t>
            </a:r>
          </a:p>
        </p:txBody>
      </p:sp>
      <p:sp>
        <p:nvSpPr>
          <p:cNvPr id="4" name="TextBox 3"/>
          <p:cNvSpPr txBox="1"/>
          <p:nvPr/>
        </p:nvSpPr>
        <p:spPr>
          <a:xfrm>
            <a:off x="713232" y="606722"/>
            <a:ext cx="6074336" cy="858012"/>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Now Do One — the Hotel, as a Graph</a:t>
            </a:r>
          </a:p>
        </p:txBody>
      </p:sp>
      <p:sp>
        <p:nvSpPr>
          <p:cNvPr id="5" name="TextBox 4"/>
          <p:cNvSpPr txBox="1"/>
          <p:nvPr/>
        </p:nvSpPr>
        <p:spPr>
          <a:xfrm>
            <a:off x="713232" y="1739411"/>
            <a:ext cx="6074336"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have seen the takeaway flow four ways: </a:t>
            </a:r>
            <a:r>
              <a:rPr sz="1800" b="1" i="0">
                <a:solidFill>
                  <a:srgbClr val="181B1F"/>
                </a:solidFill>
                <a:latin typeface="IBM Plex Sans"/>
              </a:rPr>
              <a:t>as paper</a:t>
            </a:r>
            <a:r>
              <a:rPr sz="1800" b="0" i="0">
                <a:solidFill>
                  <a:srgbClr val="181B1F"/>
                </a:solidFill>
                <a:latin typeface="IBM Plex Sans"/>
              </a:rPr>
              <a:t>, </a:t>
            </a:r>
            <a:r>
              <a:rPr sz="1800" b="1" i="0">
                <a:solidFill>
                  <a:srgbClr val="181B1F"/>
                </a:solidFill>
                <a:latin typeface="IBM Plex Sans"/>
              </a:rPr>
              <a:t>as errors on paper</a:t>
            </a:r>
            <a:r>
              <a:rPr sz="1800" b="0" i="0">
                <a:solidFill>
                  <a:srgbClr val="181B1F"/>
                </a:solidFill>
                <a:latin typeface="IBM Plex Sans"/>
              </a:rPr>
              <a:t>, </a:t>
            </a:r>
            <a:r>
              <a:rPr sz="1800" b="1" i="0">
                <a:solidFill>
                  <a:srgbClr val="181B1F"/>
                </a:solidFill>
                <a:latin typeface="IBM Plex Sans"/>
              </a:rPr>
              <a:t>as a graph</a:t>
            </a:r>
            <a:r>
              <a:rPr sz="1800" b="0" i="0">
                <a:solidFill>
                  <a:srgbClr val="181B1F"/>
                </a:solidFill>
                <a:latin typeface="IBM Plex Sans"/>
              </a:rPr>
              <a:t>, and </a:t>
            </a:r>
            <a:r>
              <a:rPr sz="1800" b="1" i="0">
                <a:solidFill>
                  <a:srgbClr val="181B1F"/>
                </a:solidFill>
                <a:latin typeface="IBM Plex Sans"/>
              </a:rPr>
              <a:t>as a graph that fails</a:t>
            </a:r>
            <a:r>
              <a:rPr sz="1800" b="0" i="0">
                <a:solidFill>
                  <a:srgbClr val="181B1F"/>
                </a:solidFill>
                <a:latin typeface="IBM Plex Sans"/>
              </a:rPr>
              <a:t>.</a:t>
            </a:r>
          </a:p>
        </p:txBody>
      </p:sp>
      <p:sp>
        <p:nvSpPr>
          <p:cNvPr id="6" name="TextBox 5"/>
          <p:cNvSpPr txBox="1"/>
          <p:nvPr/>
        </p:nvSpPr>
        <p:spPr>
          <a:xfrm>
            <a:off x="713232" y="2420639"/>
            <a:ext cx="6074336"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Now draw the hotel's as a graph.</a:t>
            </a:r>
          </a:p>
        </p:txBody>
      </p:sp>
      <p:sp>
        <p:nvSpPr>
          <p:cNvPr id="7" name="TextBox 6"/>
          <p:cNvSpPr txBox="1"/>
          <p:nvPr/>
        </p:nvSpPr>
        <p:spPr>
          <a:xfrm>
            <a:off x="713232" y="283362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793003"/>
            <a:ext cx="5827448"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Your own flow from this morning, re-expressed: information packets, nodes, ports.</a:t>
            </a:r>
          </a:p>
        </p:txBody>
      </p:sp>
      <p:sp>
        <p:nvSpPr>
          <p:cNvPr id="9" name="TextBox 8"/>
          <p:cNvSpPr txBox="1"/>
          <p:nvPr/>
        </p:nvSpPr>
        <p:spPr>
          <a:xfrm>
            <a:off x="713232" y="3489451"/>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3448831"/>
            <a:ext cx="5827448"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Where do the lookups live? Where is state stored? Which arcs must survive a crash?</a:t>
            </a:r>
          </a:p>
        </p:txBody>
      </p:sp>
      <p:sp>
        <p:nvSpPr>
          <p:cNvPr id="11" name="TextBox 10"/>
          <p:cNvSpPr txBox="1"/>
          <p:nvPr/>
        </p:nvSpPr>
        <p:spPr>
          <a:xfrm>
            <a:off x="713232" y="414528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4104659"/>
            <a:ext cx="5827448"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Then join your graph to the next table's.</a:t>
            </a:r>
          </a:p>
        </p:txBody>
      </p:sp>
      <p:sp>
        <p:nvSpPr>
          <p:cNvPr id="13" name="Rectangle 12"/>
          <p:cNvSpPr/>
          <p:nvPr/>
        </p:nvSpPr>
        <p:spPr>
          <a:xfrm>
            <a:off x="7135040" y="384048"/>
            <a:ext cx="4489726" cy="6053328"/>
          </a:xfrm>
          <a:prstGeom prst="rect">
            <a:avLst/>
          </a:prstGeom>
          <a:solidFill>
            <a:srgbClr val="F3EFE6"/>
          </a:solidFill>
          <a:ln w="1270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dont-panic.jpg"/>
          <p:cNvPicPr>
            <a:picLocks noChangeAspect="1"/>
          </p:cNvPicPr>
          <p:nvPr/>
        </p:nvPicPr>
        <p:blipFill>
          <a:blip r:embed="rId2"/>
          <a:stretch>
            <a:fillRect/>
          </a:stretch>
        </p:blipFill>
        <p:spPr>
          <a:xfrm>
            <a:off x="7272200" y="2093738"/>
            <a:ext cx="4215406" cy="2633947"/>
          </a:xfrm>
          <a:prstGeom prst="rect">
            <a:avLst/>
          </a:prstGeom>
        </p:spPr>
      </p:pic>
      <p:sp>
        <p:nvSpPr>
          <p:cNvPr id="15" name="TextBox 14"/>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FLOW AND REACTIVE PROGRAMMING</a:t>
            </a:r>
          </a:p>
        </p:txBody>
      </p:sp>
      <p:sp>
        <p:nvSpPr>
          <p:cNvPr id="4" name="TextBox 3"/>
          <p:cNvSpPr txBox="1"/>
          <p:nvPr/>
        </p:nvSpPr>
        <p:spPr>
          <a:xfrm>
            <a:off x="713232" y="2255520"/>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a:t>
            </a:r>
          </a:p>
        </p:txBody>
      </p:sp>
      <p:sp>
        <p:nvSpPr>
          <p:cNvPr id="5" name="TextBox 4"/>
          <p:cNvSpPr txBox="1"/>
          <p:nvPr/>
        </p:nvSpPr>
        <p:spPr>
          <a:xfrm>
            <a:off x="713232" y="2600114"/>
            <a:ext cx="8510997"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The Name</a:t>
            </a:r>
          </a:p>
        </p:txBody>
      </p:sp>
      <p:sp>
        <p:nvSpPr>
          <p:cNvPr id="6" name="TextBox 5"/>
          <p:cNvSpPr txBox="1"/>
          <p:nvPr/>
        </p:nvSpPr>
        <p:spPr>
          <a:xfrm>
            <a:off x="713232" y="3198641"/>
            <a:ext cx="6546921" cy="585216"/>
          </a:xfrm>
          <a:prstGeom prst="rect">
            <a:avLst/>
          </a:prstGeom>
          <a:noFill/>
        </p:spPr>
        <p:txBody>
          <a:bodyPr wrap="square" lIns="0" rIns="0" tIns="0" bIns="0">
            <a:spAutoFit/>
          </a:bodyPr>
          <a:lstStyle/>
          <a:p>
            <a:pPr>
              <a:lnSpc>
                <a:spcPts val="2232"/>
              </a:lnSpc>
            </a:pPr>
            <a:r>
              <a:rPr sz="1800" b="0" i="0">
                <a:solidFill>
                  <a:srgbClr val="2F5D3A"/>
                </a:solidFill>
                <a:latin typeface="IBM Plex Sans"/>
              </a:rPr>
              <a:t>Reactive: the name for what you have been building since yesterday morning.</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The Reactive Manifesto</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Reactive derives from </a:t>
            </a:r>
            <a:r>
              <a:rPr sz="1800" b="1" i="0">
                <a:solidFill>
                  <a:srgbClr val="181B1F"/>
                </a:solidFill>
                <a:latin typeface="IBM Plex Sans"/>
              </a:rPr>
              <a:t>reactive programming</a:t>
            </a:r>
            <a:r>
              <a:rPr sz="1800" b="0" i="0">
                <a:solidFill>
                  <a:srgbClr val="181B1F"/>
                </a:solidFill>
                <a:latin typeface="IBM Plex Sans"/>
              </a:rPr>
              <a:t>, not from OO.</a:t>
            </a:r>
          </a:p>
        </p:txBody>
      </p:sp>
      <p:sp>
        <p:nvSpPr>
          <p:cNvPr id="6" name="TextBox 5"/>
          <p:cNvSpPr txBox="1"/>
          <p:nvPr/>
        </p:nvSpPr>
        <p:spPr>
          <a:xfrm>
            <a:off x="713232" y="1717313"/>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Published 2014. It defines an architectural style — </a:t>
            </a:r>
            <a:r>
              <a:rPr sz="1800" b="1" i="0">
                <a:solidFill>
                  <a:srgbClr val="181B1F"/>
                </a:solidFill>
                <a:latin typeface="IBM Plex Sans"/>
              </a:rPr>
              <a:t>Reactive Applications</a:t>
            </a:r>
            <a:r>
              <a:rPr sz="1800" b="0" i="0">
                <a:solidFill>
                  <a:srgbClr val="181B1F"/>
                </a:solidFill>
                <a:latin typeface="IBM Plex Sans"/>
              </a:rPr>
              <a:t>. Write applications that:</a:t>
            </a:r>
          </a:p>
        </p:txBody>
      </p:sp>
      <p:sp>
        <p:nvSpPr>
          <p:cNvPr id="7" name="TextBox 6"/>
          <p:cNvSpPr txBox="1"/>
          <p:nvPr/>
        </p:nvSpPr>
        <p:spPr>
          <a:xfrm>
            <a:off x="713232" y="21302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0896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react to events</a:t>
            </a:r>
            <a:r>
              <a:rPr sz="1800" b="0" i="0">
                <a:solidFill>
                  <a:srgbClr val="181B1F"/>
                </a:solidFill>
                <a:latin typeface="IBM Plex Sans"/>
              </a:rPr>
              <a:t> — the event-driven nature enables everything else;</a:t>
            </a:r>
          </a:p>
        </p:txBody>
      </p:sp>
      <p:sp>
        <p:nvSpPr>
          <p:cNvPr id="9" name="TextBox 8"/>
          <p:cNvSpPr txBox="1"/>
          <p:nvPr/>
        </p:nvSpPr>
        <p:spPr>
          <a:xfrm>
            <a:off x="713232" y="25026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24620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react to load</a:t>
            </a:r>
            <a:r>
              <a:rPr sz="1800" b="0" i="0">
                <a:solidFill>
                  <a:srgbClr val="181B1F"/>
                </a:solidFill>
                <a:latin typeface="IBM Plex Sans"/>
              </a:rPr>
              <a:t> — scalability rather than single-user performance;</a:t>
            </a:r>
          </a:p>
        </p:txBody>
      </p:sp>
      <p:sp>
        <p:nvSpPr>
          <p:cNvPr id="11" name="TextBox 10"/>
          <p:cNvSpPr txBox="1"/>
          <p:nvPr/>
        </p:nvSpPr>
        <p:spPr>
          <a:xfrm>
            <a:off x="713232" y="28750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2834405"/>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react to failure</a:t>
            </a:r>
            <a:r>
              <a:rPr sz="1800" b="0" i="0">
                <a:solidFill>
                  <a:srgbClr val="181B1F"/>
                </a:solidFill>
                <a:latin typeface="IBM Plex Sans"/>
              </a:rPr>
              <a:t> — resilient systems that recover at all levels;</a:t>
            </a:r>
          </a:p>
        </p:txBody>
      </p:sp>
      <p:sp>
        <p:nvSpPr>
          <p:cNvPr id="13" name="TextBox 12"/>
          <p:cNvSpPr txBox="1"/>
          <p:nvPr/>
        </p:nvSpPr>
        <p:spPr>
          <a:xfrm>
            <a:off x="713232" y="32473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4" name="TextBox 13"/>
          <p:cNvSpPr txBox="1"/>
          <p:nvPr/>
        </p:nvSpPr>
        <p:spPr>
          <a:xfrm>
            <a:off x="960120" y="3206769"/>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react to users</a:t>
            </a:r>
            <a:r>
              <a:rPr sz="1800" b="0" i="0">
                <a:solidFill>
                  <a:srgbClr val="181B1F"/>
                </a:solidFill>
                <a:latin typeface="IBM Plex Sans"/>
              </a:rPr>
              <a:t> — combine the above into an interactive experience.</a:t>
            </a:r>
          </a:p>
        </p:txBody>
      </p:sp>
      <p:sp>
        <p:nvSpPr>
          <p:cNvPr id="15" name="TextBox 14"/>
          <p:cNvSpPr txBox="1"/>
          <p:nvPr/>
        </p:nvSpPr>
        <p:spPr>
          <a:xfrm>
            <a:off x="713232" y="3604533"/>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Four traits: </a:t>
            </a:r>
            <a:r>
              <a:rPr sz="1800" b="1" i="0">
                <a:solidFill>
                  <a:srgbClr val="181B1F"/>
                </a:solidFill>
                <a:latin typeface="IBM Plex Sans"/>
              </a:rPr>
              <a:t>Responsive</a:t>
            </a:r>
            <a:r>
              <a:rPr sz="1800" b="0" i="0">
                <a:solidFill>
                  <a:srgbClr val="181B1F"/>
                </a:solidFill>
                <a:latin typeface="IBM Plex Sans"/>
              </a:rPr>
              <a:t> (responds in a timely manner), </a:t>
            </a:r>
            <a:r>
              <a:rPr sz="1800" b="1" i="0">
                <a:solidFill>
                  <a:srgbClr val="181B1F"/>
                </a:solidFill>
                <a:latin typeface="IBM Plex Sans"/>
              </a:rPr>
              <a:t>Resilient</a:t>
            </a:r>
            <a:r>
              <a:rPr sz="1800" b="0" i="0">
                <a:solidFill>
                  <a:srgbClr val="181B1F"/>
                </a:solidFill>
                <a:latin typeface="IBM Plex Sans"/>
              </a:rPr>
              <a:t> (stays responsive in the presence of failure), </a:t>
            </a:r>
            <a:r>
              <a:rPr sz="1800" b="1" i="0">
                <a:solidFill>
                  <a:srgbClr val="181B1F"/>
                </a:solidFill>
                <a:latin typeface="IBM Plex Sans"/>
              </a:rPr>
              <a:t>Elastic</a:t>
            </a:r>
            <a:r>
              <a:rPr sz="1800" b="0" i="0">
                <a:solidFill>
                  <a:srgbClr val="181B1F"/>
                </a:solidFill>
                <a:latin typeface="IBM Plex Sans"/>
              </a:rPr>
              <a:t> (stays responsive under varying workload), </a:t>
            </a:r>
            <a:r>
              <a:rPr sz="1800" b="1" i="0">
                <a:solidFill>
                  <a:srgbClr val="181B1F"/>
                </a:solidFill>
                <a:latin typeface="IBM Plex Sans"/>
              </a:rPr>
              <a:t>Message Driven</a:t>
            </a:r>
            <a:r>
              <a:rPr sz="1800" b="0" i="0">
                <a:solidFill>
                  <a:srgbClr val="181B1F"/>
                </a:solidFill>
                <a:latin typeface="IBM Plex Sans"/>
              </a:rPr>
              <a:t> (relies on asynchronous message passing). — reactivemanifesto.org</a:t>
            </a:r>
          </a:p>
        </p:txBody>
      </p:sp>
      <p:sp>
        <p:nvSpPr>
          <p:cNvPr id="16" name="TextBox 1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The Reactive Manifesto</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You have met two of these already, under other names.</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Resilient</a:t>
            </a:r>
            <a:r>
              <a:rPr sz="1800" b="0" i="0">
                <a:solidFill>
                  <a:srgbClr val="181B1F"/>
                </a:solidFill>
                <a:latin typeface="IBM Plex Sans"/>
              </a:rPr>
              <a:t> is what we called </a:t>
            </a:r>
            <a:r>
              <a:rPr sz="1800" b="1" i="0">
                <a:solidFill>
                  <a:srgbClr val="181B1F"/>
                </a:solidFill>
                <a:latin typeface="IBM Plex Sans"/>
              </a:rPr>
              <a:t>robust</a:t>
            </a:r>
            <a:r>
              <a:rPr sz="1800" b="0" i="0">
                <a:solidFill>
                  <a:srgbClr val="181B1F"/>
                </a:solidFill>
                <a:latin typeface="IBM Plex Sans"/>
              </a:rPr>
              <a:t> on Day 1: stay working when something you depend on is not.</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And </a:t>
            </a:r>
            <a:r>
              <a:rPr sz="1800" b="0" i="1">
                <a:solidFill>
                  <a:srgbClr val="181B1F"/>
                </a:solidFill>
                <a:latin typeface="IBM Plex Sans"/>
              </a:rPr>
              <a:t>easy to change</a:t>
            </a:r>
            <a:r>
              <a:rPr sz="1800" b="0" i="0">
                <a:solidFill>
                  <a:srgbClr val="181B1F"/>
                </a:solidFill>
                <a:latin typeface="IBM Plex Sans"/>
              </a:rPr>
              <a:t> is in the manifesto's own words: "Systems built as Reactive Systems are more flexible, loosely-coupled and scalable. This makes them easier to develop and </a:t>
            </a:r>
            <a:r>
              <a:rPr sz="1800" b="1" i="0">
                <a:solidFill>
                  <a:srgbClr val="181B1F"/>
                </a:solidFill>
                <a:latin typeface="IBM Plex Sans"/>
              </a:rPr>
              <a:t>amenable to change</a:t>
            </a:r>
            <a:r>
              <a:rPr sz="1800" b="0" i="0">
                <a:solidFill>
                  <a:srgbClr val="181B1F"/>
                </a:solidFill>
                <a:latin typeface="IBM Plex Sans"/>
              </a:rPr>
              <a:t>."</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Elastic</a:t>
            </a:r>
            <a:r>
              <a:rPr sz="1800" b="0" i="0">
                <a:solidFill>
                  <a:srgbClr val="181B1F"/>
                </a:solidFill>
                <a:latin typeface="IBM Plex Sans"/>
              </a:rPr>
              <a:t> and </a:t>
            </a:r>
            <a:r>
              <a:rPr sz="1800" b="1" i="0">
                <a:solidFill>
                  <a:srgbClr val="181B1F"/>
                </a:solidFill>
                <a:latin typeface="IBM Plex Sans"/>
              </a:rPr>
              <a:t>Responsive</a:t>
            </a:r>
            <a:r>
              <a:rPr sz="1800" b="0" i="0">
                <a:solidFill>
                  <a:srgbClr val="181B1F"/>
                </a:solidFill>
                <a:latin typeface="IBM Plex Sans"/>
              </a:rPr>
              <a:t> are the two Day 1 did not have names for.</a:t>
            </a:r>
          </a:p>
        </p:txBody>
      </p:sp>
      <p:sp>
        <p:nvSpPr>
          <p:cNvPr id="12" name="TextBox 11"/>
          <p:cNvSpPr txBox="1"/>
          <p:nvPr/>
        </p:nvSpPr>
        <p:spPr>
          <a:xfrm>
            <a:off x="713232" y="31330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092469"/>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Message Driven</a:t>
            </a:r>
            <a:r>
              <a:rPr sz="1800" b="0" i="0">
                <a:solidFill>
                  <a:srgbClr val="181B1F"/>
                </a:solidFill>
                <a:latin typeface="IBM Plex Sans"/>
              </a:rPr>
              <a:t> is the mechanism — the same one, all the way through.</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59</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Reactive Traits — Value, Form, Means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Read the four traits as value, form and means:</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Responsive</a:t>
            </a:r>
            <a:r>
              <a:rPr sz="1800" b="0" i="0">
                <a:solidFill>
                  <a:srgbClr val="181B1F"/>
                </a:solidFill>
                <a:latin typeface="IBM Plex Sans"/>
              </a:rPr>
              <a:t> is the </a:t>
            </a:r>
            <a:r>
              <a:rPr sz="1800" b="1" i="0">
                <a:solidFill>
                  <a:srgbClr val="181B1F"/>
                </a:solidFill>
                <a:latin typeface="IBM Plex Sans"/>
              </a:rPr>
              <a:t>value</a:t>
            </a:r>
            <a:r>
              <a:rPr sz="1800" b="0" i="0">
                <a:solidFill>
                  <a:srgbClr val="181B1F"/>
                </a:solidFill>
                <a:latin typeface="IBM Plex Sans"/>
              </a:rPr>
              <a:t> — the thing the user actually gets.</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Resilient</a:t>
            </a:r>
            <a:r>
              <a:rPr sz="1800" b="0" i="0">
                <a:solidFill>
                  <a:srgbClr val="181B1F"/>
                </a:solidFill>
                <a:latin typeface="IBM Plex Sans"/>
              </a:rPr>
              <a:t> and </a:t>
            </a:r>
            <a:r>
              <a:rPr sz="1800" b="1" i="0">
                <a:solidFill>
                  <a:srgbClr val="181B1F"/>
                </a:solidFill>
                <a:latin typeface="IBM Plex Sans"/>
              </a:rPr>
              <a:t>Elastic</a:t>
            </a:r>
            <a:r>
              <a:rPr sz="1800" b="0" i="0">
                <a:solidFill>
                  <a:srgbClr val="181B1F"/>
                </a:solidFill>
                <a:latin typeface="IBM Plex Sans"/>
              </a:rPr>
              <a:t> are the </a:t>
            </a:r>
            <a:r>
              <a:rPr sz="1800" b="1" i="0">
                <a:solidFill>
                  <a:srgbClr val="181B1F"/>
                </a:solidFill>
                <a:latin typeface="IBM Plex Sans"/>
              </a:rPr>
              <a:t>form</a:t>
            </a:r>
            <a:r>
              <a:rPr sz="1800" b="0" i="0">
                <a:solidFill>
                  <a:srgbClr val="181B1F"/>
                </a:solidFill>
                <a:latin typeface="IBM Plex Sans"/>
              </a:rPr>
              <a:t> — the shape that delivers it under failure and load.</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Message Driven</a:t>
            </a:r>
            <a:r>
              <a:rPr sz="1800" b="0" i="0">
                <a:solidFill>
                  <a:srgbClr val="181B1F"/>
                </a:solidFill>
                <a:latin typeface="IBM Plex Sans"/>
              </a:rPr>
              <a:t> is the </a:t>
            </a:r>
            <a:r>
              <a:rPr sz="1800" b="1" i="0">
                <a:solidFill>
                  <a:srgbClr val="181B1F"/>
                </a:solidFill>
                <a:latin typeface="IBM Plex Sans"/>
              </a:rPr>
              <a:t>means</a:t>
            </a:r>
            <a:r>
              <a:rPr sz="1800" b="0" i="0">
                <a:solidFill>
                  <a:srgbClr val="181B1F"/>
                </a:solidFill>
                <a:latin typeface="IBM Plex Sans"/>
              </a:rPr>
              <a:t> — how the form is achieved.</a:t>
            </a:r>
          </a:p>
        </p:txBody>
      </p:sp>
      <p:sp>
        <p:nvSpPr>
          <p:cNvPr id="12" name="TextBox 11"/>
          <p:cNvSpPr txBox="1"/>
          <p:nvPr/>
        </p:nvSpPr>
        <p:spPr>
          <a:xfrm>
            <a:off x="713232" y="2834405"/>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This split is </a:t>
            </a:r>
            <a:r>
              <a:rPr sz="1800" b="1" i="0">
                <a:solidFill>
                  <a:srgbClr val="181B1F"/>
                </a:solidFill>
                <a:latin typeface="IBM Plex Sans"/>
              </a:rPr>
              <a:t>Bonér's</a:t>
            </a:r>
            <a:r>
              <a:rPr sz="1800" b="0" i="0">
                <a:solidFill>
                  <a:srgbClr val="181B1F"/>
                </a:solidFill>
                <a:latin typeface="IBM Plex Sans"/>
              </a:rPr>
              <a:t>, from his talks — the manifesto itself does not rank the four traits this way.</a:t>
            </a:r>
          </a:p>
        </p:txBody>
      </p:sp>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60</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Message Passing</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Message passing</a:t>
            </a:r>
            <a:r>
              <a:rPr sz="1800" b="0" i="0">
                <a:solidFill>
                  <a:srgbClr val="181B1F"/>
                </a:solidFill>
                <a:latin typeface="IBM Plex Sans"/>
              </a:rPr>
              <a:t> is an asynchronous method of communication: both parties need not be simultaneously present. Mail is delivered to a </a:t>
            </a:r>
            <a:r>
              <a:rPr sz="1800" b="1" i="0">
                <a:solidFill>
                  <a:srgbClr val="181B1F"/>
                </a:solidFill>
                <a:latin typeface="IBM Plex Sans"/>
              </a:rPr>
              <a:t>mailbox</a:t>
            </a:r>
            <a:r>
              <a:rPr sz="1800" b="0" i="0">
                <a:solidFill>
                  <a:srgbClr val="181B1F"/>
                </a:solidFill>
                <a:latin typeface="IBM Plex Sans"/>
              </a:rPr>
              <a:t> of some form, for later retrieval.</a:t>
            </a:r>
          </a:p>
        </p:txBody>
      </p:sp>
      <p:pic>
        <p:nvPicPr>
          <p:cNvPr id="6" name="Picture 5" descr="flow-message-passing.png"/>
          <p:cNvPicPr>
            <a:picLocks noChangeAspect="1"/>
          </p:cNvPicPr>
          <p:nvPr/>
        </p:nvPicPr>
        <p:blipFill>
          <a:blip r:embed="rId2"/>
          <a:stretch>
            <a:fillRect/>
          </a:stretch>
        </p:blipFill>
        <p:spPr>
          <a:xfrm>
            <a:off x="1722884" y="2018538"/>
            <a:ext cx="8892229" cy="4418837"/>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Microservices Are Reactive Architectures</a:t>
            </a:r>
          </a:p>
        </p:txBody>
      </p:sp>
      <p:sp>
        <p:nvSpPr>
          <p:cNvPr id="5" name="TextBox 4"/>
          <p:cNvSpPr txBox="1"/>
          <p:nvPr/>
        </p:nvSpPr>
        <p:spPr>
          <a:xfrm>
            <a:off x="713232" y="1319549"/>
            <a:ext cx="4965109" cy="1435608"/>
          </a:xfrm>
          <a:prstGeom prst="rect">
            <a:avLst/>
          </a:prstGeom>
          <a:noFill/>
        </p:spPr>
        <p:txBody>
          <a:bodyPr wrap="square" lIns="0" rIns="0" tIns="0" bIns="0">
            <a:spAutoFit/>
          </a:bodyPr>
          <a:lstStyle/>
          <a:p>
            <a:pPr>
              <a:lnSpc>
                <a:spcPts val="2232"/>
              </a:lnSpc>
            </a:pPr>
            <a:r>
              <a:rPr sz="1800" b="0" i="0">
                <a:solidFill>
                  <a:srgbClr val="181B1F"/>
                </a:solidFill>
                <a:latin typeface="IBM Plex Sans"/>
              </a:rPr>
              <a:t>We separate data from behaviour, activate a component in response to work being on a queue, process it, and send an outgoing message. That is a node with ports. That is a desk with trays.</a:t>
            </a:r>
          </a:p>
        </p:txBody>
      </p:sp>
      <p:sp>
        <p:nvSpPr>
          <p:cNvPr id="6" name="TextBox 5"/>
          <p:cNvSpPr txBox="1"/>
          <p:nvPr/>
        </p:nvSpPr>
        <p:spPr>
          <a:xfrm>
            <a:off x="713232" y="28663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2825769"/>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component's inputs are commands and events; its outputs are events.</a:t>
            </a:r>
          </a:p>
        </p:txBody>
      </p:sp>
      <p:sp>
        <p:nvSpPr>
          <p:cNvPr id="8" name="TextBox 7"/>
          <p:cNvSpPr txBox="1"/>
          <p:nvPr/>
        </p:nvSpPr>
        <p:spPr>
          <a:xfrm>
            <a:off x="713232" y="35222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3481597"/>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Nobody holds the whole process. There is no gateway </a:t>
            </a:r>
            <a:r>
              <a:rPr sz="1700" b="0" i="0">
                <a:solidFill>
                  <a:srgbClr val="181B1F"/>
                </a:solidFill>
                <a:latin typeface="IBM Plex Mono"/>
              </a:rPr>
              <a:t>main</a:t>
            </a:r>
            <a:r>
              <a:rPr sz="1800" b="0" i="0">
                <a:solidFill>
                  <a:srgbClr val="181B1F"/>
                </a:solidFill>
                <a:latin typeface="IBM Plex Sans"/>
              </a:rPr>
              <a:t>.</a:t>
            </a:r>
          </a:p>
        </p:txBody>
      </p:sp>
      <p:pic>
        <p:nvPicPr>
          <p:cNvPr id="10" name="Picture 9" descr="flow-command-event-ports.png"/>
          <p:cNvPicPr>
            <a:picLocks noChangeAspect="1"/>
          </p:cNvPicPr>
          <p:nvPr/>
        </p:nvPicPr>
        <p:blipFill>
          <a:blip r:embed="rId2"/>
          <a:stretch>
            <a:fillRect/>
          </a:stretch>
        </p:blipFill>
        <p:spPr>
          <a:xfrm>
            <a:off x="6025813" y="2228346"/>
            <a:ext cx="5598953" cy="2735315"/>
          </a:xfrm>
          <a:prstGeom prst="rect">
            <a:avLst/>
          </a:prstGeom>
        </p:spPr>
      </p:pic>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62</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Partitioning and Dataflow</a:t>
            </a:r>
          </a:p>
        </p:txBody>
      </p:sp>
      <p:sp>
        <p:nvSpPr>
          <p:cNvPr id="5" name="TextBox 4"/>
          <p:cNvSpPr txBox="1"/>
          <p:nvPr/>
        </p:nvSpPr>
        <p:spPr>
          <a:xfrm>
            <a:off x="713232" y="133477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6" name="TextBox 5"/>
          <p:cNvSpPr txBox="1"/>
          <p:nvPr/>
        </p:nvSpPr>
        <p:spPr>
          <a:xfrm>
            <a:off x="960120" y="1294149"/>
            <a:ext cx="4718221"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Partition to exploit parallelism</a:t>
            </a:r>
            <a:r>
              <a:rPr sz="1800" b="0" i="0">
                <a:solidFill>
                  <a:srgbClr val="181B1F"/>
                </a:solidFill>
                <a:latin typeface="IBM Plex Sans"/>
              </a:rPr>
              <a:t> — find the tasks that could run concurrently and give each its own component.</a:t>
            </a:r>
          </a:p>
        </p:txBody>
      </p:sp>
      <p:sp>
        <p:nvSpPr>
          <p:cNvPr id="7" name="TextBox 6"/>
          <p:cNvSpPr txBox="1"/>
          <p:nvPr/>
        </p:nvSpPr>
        <p:spPr>
          <a:xfrm>
            <a:off x="713232" y="22740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233441"/>
            <a:ext cx="4718221" cy="1152144"/>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Coordinate dataflow</a:t>
            </a:r>
            <a:r>
              <a:rPr sz="1800" b="0" i="0">
                <a:solidFill>
                  <a:srgbClr val="181B1F"/>
                </a:solidFill>
                <a:latin typeface="IBM Plex Sans"/>
              </a:rPr>
              <a:t> — "orchestrate a continuous steady flow of information", dividing the system by </a:t>
            </a:r>
            <a:r>
              <a:rPr sz="1800" b="1" i="0">
                <a:solidFill>
                  <a:srgbClr val="181B1F"/>
                </a:solidFill>
                <a:latin typeface="IBM Plex Sans"/>
              </a:rPr>
              <a:t>behaviour</a:t>
            </a:r>
            <a:r>
              <a:rPr sz="1800" b="0" i="0">
                <a:solidFill>
                  <a:srgbClr val="181B1F"/>
                </a:solidFill>
                <a:latin typeface="IBM Plex Sans"/>
              </a:rPr>
              <a:t>, not by structure.</a:t>
            </a:r>
          </a:p>
        </p:txBody>
      </p:sp>
      <p:pic>
        <p:nvPicPr>
          <p:cNvPr id="9" name="Picture 8" descr="flow-partition-checkout.png"/>
          <p:cNvPicPr>
            <a:picLocks noChangeAspect="1"/>
          </p:cNvPicPr>
          <p:nvPr/>
        </p:nvPicPr>
        <p:blipFill>
          <a:blip r:embed="rId2"/>
          <a:stretch>
            <a:fillRect/>
          </a:stretch>
        </p:blipFill>
        <p:spPr>
          <a:xfrm>
            <a:off x="6025813" y="2336050"/>
            <a:ext cx="5598953" cy="2466055"/>
          </a:xfrm>
          <a:prstGeom prst="rect">
            <a:avLst/>
          </a:prstGeom>
        </p:spPr>
      </p:pic>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63</a:t>
            </a:r>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Putting Reactive Together</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Four mechanisms are coming, and each one answers a different way of being overwhelmed.</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Message passing</a:t>
            </a:r>
            <a:r>
              <a:rPr sz="1800" b="0" i="0">
                <a:solidFill>
                  <a:srgbClr val="181B1F"/>
                </a:solidFill>
                <a:latin typeface="IBM Plex Sans"/>
              </a:rPr>
              <a:t> decouples in time — the bulkhead.</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Backpressure and load-shedding</a:t>
            </a:r>
            <a:r>
              <a:rPr sz="1800" b="0" i="0">
                <a:solidFill>
                  <a:srgbClr val="181B1F"/>
                </a:solidFill>
                <a:latin typeface="IBM Plex Sans"/>
              </a:rPr>
              <a:t> handle a consumer that cannot keep up.</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Circuit breaker</a:t>
            </a:r>
            <a:r>
              <a:rPr sz="1800" b="0" i="0">
                <a:solidFill>
                  <a:srgbClr val="181B1F"/>
                </a:solidFill>
                <a:latin typeface="IBM Plex Sans"/>
              </a:rPr>
              <a:t> handles a downstream that is failing rather than slow: stop consuming, stop hammering it, resume when it recovers.</a:t>
            </a:r>
          </a:p>
        </p:txBody>
      </p:sp>
      <p:sp>
        <p:nvSpPr>
          <p:cNvPr id="12" name="TextBox 11"/>
          <p:cNvSpPr txBox="1"/>
          <p:nvPr/>
        </p:nvSpPr>
        <p:spPr>
          <a:xfrm>
            <a:off x="713232" y="31330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092469"/>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Scale out, not up</a:t>
            </a:r>
            <a:r>
              <a:rPr sz="1800" b="0" i="0">
                <a:solidFill>
                  <a:srgbClr val="181B1F"/>
                </a:solidFill>
                <a:latin typeface="IBM Plex Sans"/>
              </a:rPr>
              <a:t> — a supervisor fans work out to worker instances; that is elasticity, and it is competing consumers from Day 1 §4.3.</a:t>
            </a:r>
          </a:p>
        </p:txBody>
      </p:sp>
      <p:sp>
        <p:nvSpPr>
          <p:cNvPr id="14" name="Rectangle 13"/>
          <p:cNvSpPr/>
          <p:nvPr/>
        </p:nvSpPr>
        <p:spPr>
          <a:xfrm>
            <a:off x="713232" y="3892550"/>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862795"/>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Responsive under failure, responsive under load. The traits are these mechanisms.</a:t>
            </a:r>
          </a:p>
        </p:txBody>
      </p:sp>
      <p:sp>
        <p:nvSpPr>
          <p:cNvPr id="16" name="TextBox 1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64</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Bulkheads</a:t>
            </a:r>
          </a:p>
        </p:txBody>
      </p:sp>
      <p:sp>
        <p:nvSpPr>
          <p:cNvPr id="5" name="TextBox 4"/>
          <p:cNvSpPr txBox="1"/>
          <p:nvPr/>
        </p:nvSpPr>
        <p:spPr>
          <a:xfrm>
            <a:off x="713232" y="1319549"/>
            <a:ext cx="4965109" cy="1435608"/>
          </a:xfrm>
          <a:prstGeom prst="rect">
            <a:avLst/>
          </a:prstGeom>
          <a:noFill/>
        </p:spPr>
        <p:txBody>
          <a:bodyPr wrap="square" lIns="0" rIns="0" tIns="0" bIns="0">
            <a:spAutoFit/>
          </a:bodyPr>
          <a:lstStyle/>
          <a:p>
            <a:pPr>
              <a:lnSpc>
                <a:spcPts val="2232"/>
              </a:lnSpc>
            </a:pPr>
            <a:r>
              <a:rPr sz="1800" b="0" i="0">
                <a:solidFill>
                  <a:srgbClr val="181B1F"/>
                </a:solidFill>
                <a:latin typeface="IBM Plex Sans"/>
              </a:rPr>
              <a:t>In a synchronous conversation both parties must be up, so a fault </a:t>
            </a:r>
            <a:r>
              <a:rPr sz="1800" b="1" i="0">
                <a:solidFill>
                  <a:srgbClr val="181B1F"/>
                </a:solidFill>
                <a:latin typeface="IBM Plex Sans"/>
              </a:rPr>
              <a:t>propagates</a:t>
            </a:r>
            <a:r>
              <a:rPr sz="1800" b="0" i="0">
                <a:solidFill>
                  <a:srgbClr val="181B1F"/>
                </a:solidFill>
                <a:latin typeface="IBM Plex Sans"/>
              </a:rPr>
              <a:t> back up the chain and we are brittle. In an asynchronous conversation it does not: the work queues up instead.</a:t>
            </a:r>
          </a:p>
        </p:txBody>
      </p:sp>
      <p:sp>
        <p:nvSpPr>
          <p:cNvPr id="6" name="TextBox 5"/>
          <p:cNvSpPr txBox="1"/>
          <p:nvPr/>
        </p:nvSpPr>
        <p:spPr>
          <a:xfrm>
            <a:off x="713232" y="28663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2825769"/>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sender sends and returns immediately, whether or not the receiver is up.</a:t>
            </a:r>
          </a:p>
        </p:txBody>
      </p:sp>
      <p:sp>
        <p:nvSpPr>
          <p:cNvPr id="8" name="TextBox 7"/>
          <p:cNvSpPr txBox="1"/>
          <p:nvPr/>
        </p:nvSpPr>
        <p:spPr>
          <a:xfrm>
            <a:off x="713232" y="35222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3481597"/>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Messages wait until the receiver asks for them; results go to a queue for collection.</a:t>
            </a:r>
          </a:p>
        </p:txBody>
      </p:sp>
      <p:sp>
        <p:nvSpPr>
          <p:cNvPr id="10" name="TextBox 9"/>
          <p:cNvSpPr txBox="1"/>
          <p:nvPr/>
        </p:nvSpPr>
        <p:spPr>
          <a:xfrm>
            <a:off x="713232" y="417804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4137425"/>
            <a:ext cx="4718221"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failure is contained in one compartment — a </a:t>
            </a:r>
            <a:r>
              <a:rPr sz="1800" b="1" i="0">
                <a:solidFill>
                  <a:srgbClr val="181B1F"/>
                </a:solidFill>
                <a:latin typeface="IBM Plex Sans"/>
              </a:rPr>
              <a:t>bulkhead</a:t>
            </a:r>
            <a:r>
              <a:rPr sz="1800" b="0" i="0">
                <a:solidFill>
                  <a:srgbClr val="181B1F"/>
                </a:solidFill>
                <a:latin typeface="IBM Plex Sans"/>
              </a:rPr>
              <a:t>.</a:t>
            </a:r>
          </a:p>
        </p:txBody>
      </p:sp>
      <p:pic>
        <p:nvPicPr>
          <p:cNvPr id="12" name="Picture 11" descr="flow-bulkhead.png"/>
          <p:cNvPicPr>
            <a:picLocks noChangeAspect="1"/>
          </p:cNvPicPr>
          <p:nvPr/>
        </p:nvPicPr>
        <p:blipFill>
          <a:blip r:embed="rId2"/>
          <a:stretch>
            <a:fillRect/>
          </a:stretch>
        </p:blipFill>
        <p:spPr>
          <a:xfrm>
            <a:off x="6025813" y="2172877"/>
            <a:ext cx="5598953" cy="2873987"/>
          </a:xfrm>
          <a:prstGeom prst="rect">
            <a:avLst/>
          </a:prstGeom>
        </p:spPr>
      </p:pic>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65</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When the Pipe Fills — Backpressure or Load-Shedding</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Buffers are finite, so when a consumer cannot keep up something has to give. There are exactly two answers, and it is a </a:t>
            </a:r>
            <a:r>
              <a:rPr sz="1800" b="1" i="0">
                <a:solidFill>
                  <a:srgbClr val="181B1F"/>
                </a:solidFill>
                <a:latin typeface="IBM Plex Sans"/>
              </a:rPr>
              <a:t>decision</a:t>
            </a:r>
            <a:r>
              <a:rPr sz="1800" b="0" i="0">
                <a:solidFill>
                  <a:srgbClr val="181B1F"/>
                </a:solidFill>
                <a:latin typeface="IBM Plex Sans"/>
              </a:rPr>
              <a:t>, not a default.</a:t>
            </a:r>
          </a:p>
        </p:txBody>
      </p:sp>
      <p:graphicFrame>
        <p:nvGraphicFramePr>
          <p:cNvPr id="6" name="Table 5"/>
          <p:cNvGraphicFramePr>
            <a:graphicFrameLocks noGrp="1"/>
          </p:cNvGraphicFramePr>
          <p:nvPr/>
        </p:nvGraphicFramePr>
        <p:xfrm>
          <a:off x="713232" y="2036826"/>
          <a:ext cx="10911534" cy="1946905"/>
        </p:xfrm>
        <a:graphic>
          <a:graphicData uri="http://schemas.openxmlformats.org/drawingml/2006/table">
            <a:tbl>
              <a:tblPr firstRow="1">
                <a:tableStyleId>{5C22544A-7EE6-4342-B048-85BDC9FD1C3A}</a:tableStyleId>
              </a:tblPr>
              <a:tblGrid>
                <a:gridCol w="1425169"/>
                <a:gridCol w="5060570"/>
                <a:gridCol w="4425795"/>
              </a:tblGrid>
              <a:tr h="389381">
                <a:tc>
                  <a:txBody>
                    <a:bodyPr/>
                    <a:lstStyle/>
                    <a:p>
                      <a:pPr>
                        <a:lnSpc>
                          <a:spcPct val="118000"/>
                        </a:lnSpc>
                      </a:pP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Backpressure</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Load-shedding</a:t>
                      </a:r>
                    </a:p>
                  </a:txBody>
                  <a:tcPr marL="82296" marR="82296" marT="27432" marB="27432">
                    <a:solidFill>
                      <a:srgbClr val="F3EFE6"/>
                    </a:solidFill>
                  </a:tcPr>
                </a:tc>
              </a:tr>
              <a:tr h="389381">
                <a:tc>
                  <a:txBody>
                    <a:bodyPr/>
                    <a:lstStyle/>
                    <a:p>
                      <a:pPr>
                        <a:lnSpc>
                          <a:spcPct val="118000"/>
                        </a:lnSpc>
                      </a:pPr>
                      <a:r>
                        <a:rPr sz="1500" b="0" i="0">
                          <a:solidFill>
                            <a:srgbClr val="181B1F"/>
                          </a:solidFill>
                          <a:latin typeface="IBM Plex Sans"/>
                        </a:rPr>
                        <a:t>what happens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slow the producer down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discard messages</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what you lose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latency</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data</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choose when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data loss is unacceptable and extra latency is tolerable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volume is high and you only need a sample</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example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blocking retry against a database you cannot reach</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1,000 metrics a second when 10 meets the SLA</a:t>
                      </a:r>
                    </a:p>
                  </a:txBody>
                  <a:tcPr marL="82296" marR="82296" marT="27432" marB="27432">
                    <a:solidFill>
                      <a:srgbClr val="FDFCFA"/>
                    </a:solidFill>
                  </a:tcPr>
                </a:tc>
              </a:tr>
            </a:tbl>
          </a:graphicData>
        </a:graphic>
      </p:graphicFrame>
      <p:sp>
        <p:nvSpPr>
          <p:cNvPr id="7" name="TextBox 6"/>
          <p:cNvSpPr txBox="1"/>
          <p:nvPr/>
        </p:nvSpPr>
        <p:spPr>
          <a:xfrm>
            <a:off x="713232" y="421894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4178319"/>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Backpressure</a:t>
            </a:r>
            <a:r>
              <a:rPr sz="1800" b="0" i="0">
                <a:solidFill>
                  <a:srgbClr val="181B1F"/>
                </a:solidFill>
                <a:latin typeface="IBM Plex Sans"/>
              </a:rPr>
              <a:t> is the producer feeling backward pressure from the pipe, forcing it to slow until the pressure alleviates. Blocking retry creates it as a side effect: retrying a connection slows consumption, which fills the queue, which slows the producer.</a:t>
            </a:r>
          </a:p>
        </p:txBody>
      </p:sp>
      <p:sp>
        <p:nvSpPr>
          <p:cNvPr id="9" name="TextBox 8"/>
          <p:cNvSpPr txBox="1"/>
          <p:nvPr/>
        </p:nvSpPr>
        <p:spPr>
          <a:xfrm>
            <a:off x="713232" y="515823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511761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Load-shedding</a:t>
            </a:r>
            <a:r>
              <a:rPr sz="1800" b="0" i="0">
                <a:solidFill>
                  <a:srgbClr val="181B1F"/>
                </a:solidFill>
                <a:latin typeface="IBM Plex Sans"/>
              </a:rPr>
              <a:t> can discriminate — prioritise, and discard only the less valuable data.</a:t>
            </a:r>
          </a:p>
        </p:txBody>
      </p:sp>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When the Pipe Fills — Backpressure or Load-Shedding</a:t>
            </a:r>
          </a:p>
        </p:txBody>
      </p:sp>
      <p:pic>
        <p:nvPicPr>
          <p:cNvPr id="5" name="Picture 4" descr="flow-when-the-pipe-fills.png"/>
          <p:cNvPicPr>
            <a:picLocks noChangeAspect="1"/>
          </p:cNvPicPr>
          <p:nvPr/>
        </p:nvPicPr>
        <p:blipFill>
          <a:blip r:embed="rId2"/>
          <a:stretch>
            <a:fillRect/>
          </a:stretch>
        </p:blipFill>
        <p:spPr>
          <a:xfrm>
            <a:off x="1515872" y="1245870"/>
            <a:ext cx="9306255"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67</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Circuit Breaker</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Backpressure answers a consumer that is </a:t>
            </a:r>
            <a:r>
              <a:rPr sz="1800" b="1" i="0">
                <a:solidFill>
                  <a:srgbClr val="181B1F"/>
                </a:solidFill>
                <a:latin typeface="IBM Plex Sans"/>
              </a:rPr>
              <a:t>slow</a:t>
            </a:r>
            <a:r>
              <a:rPr sz="1800" b="0" i="0">
                <a:solidFill>
                  <a:srgbClr val="181B1F"/>
                </a:solidFill>
                <a:latin typeface="IBM Plex Sans"/>
              </a:rPr>
              <a:t>. This answers a downstream that is </a:t>
            </a:r>
            <a:r>
              <a:rPr sz="1800" b="1" i="0">
                <a:solidFill>
                  <a:srgbClr val="181B1F"/>
                </a:solidFill>
                <a:latin typeface="IBM Plex Sans"/>
              </a:rPr>
              <a:t>down</a:t>
            </a:r>
            <a:r>
              <a:rPr sz="1800" b="0" i="0">
                <a:solidFill>
                  <a:srgbClr val="181B1F"/>
                </a:solidFill>
                <a:latin typeface="IBM Plex Sans"/>
              </a:rPr>
              <a:t> — and that every retry in the system is now making it harder to come back.</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Closed</a:t>
            </a:r>
            <a:r>
              <a:rPr sz="1800" b="0" i="0">
                <a:solidFill>
                  <a:srgbClr val="181B1F"/>
                </a:solidFill>
                <a:latin typeface="IBM Plex Sans"/>
              </a:rPr>
              <a:t> — normal. Calls go through, and failures are counted.</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Open</a:t>
            </a:r>
            <a:r>
              <a:rPr sz="1800" b="0" i="0">
                <a:solidFill>
                  <a:srgbClr val="181B1F"/>
                </a:solidFill>
                <a:latin typeface="IBM Plex Sans"/>
              </a:rPr>
              <a:t> — the count crossed a threshold, so we stop consuming altogether.</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Half-open</a:t>
            </a:r>
            <a:r>
              <a:rPr sz="1800" b="0" i="0">
                <a:solidFill>
                  <a:srgbClr val="181B1F"/>
                </a:solidFill>
                <a:latin typeface="IBM Plex Sans"/>
              </a:rPr>
              <a:t> — after a wait, one trial call. It succeeds and we close; it fails and we open again.</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68</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Circuit Breaker</a:t>
            </a:r>
          </a:p>
        </p:txBody>
      </p:sp>
      <p:pic>
        <p:nvPicPr>
          <p:cNvPr id="5" name="Picture 4" descr="flow-circuit-breaker.png"/>
          <p:cNvPicPr>
            <a:picLocks noChangeAspect="1"/>
          </p:cNvPicPr>
          <p:nvPr/>
        </p:nvPicPr>
        <p:blipFill>
          <a:blip r:embed="rId2"/>
          <a:stretch>
            <a:fillRect/>
          </a:stretch>
        </p:blipFill>
        <p:spPr>
          <a:xfrm>
            <a:off x="713232" y="1432503"/>
            <a:ext cx="10911535" cy="4818239"/>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69</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Scale Out, Not Up</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fourth answer is not a mechanism inside one component — it is </a:t>
            </a:r>
            <a:r>
              <a:rPr sz="1800" b="1" i="0">
                <a:solidFill>
                  <a:srgbClr val="181B1F"/>
                </a:solidFill>
                <a:latin typeface="IBM Plex Sans"/>
              </a:rPr>
              <a:t>more components</a:t>
            </a:r>
            <a:r>
              <a:rPr sz="1800" b="0" i="0">
                <a:solidFill>
                  <a:srgbClr val="181B1F"/>
                </a:solidFill>
                <a:latin typeface="IBM Plex Sans"/>
              </a:rPr>
              <a:t>. A supervisor fans the same work out to identical workers.</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Not up.</a:t>
            </a:r>
            <a:r>
              <a:rPr sz="1800" b="0" i="0">
                <a:solidFill>
                  <a:srgbClr val="181B1F"/>
                </a:solidFill>
                <a:latin typeface="IBM Plex Sans"/>
              </a:rPr>
              <a:t> A bigger machine has a ceiling, and buys nothing at all when the machine dies.</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Out.</a:t>
            </a:r>
            <a:r>
              <a:rPr sz="1800" b="0" i="0">
                <a:solidFill>
                  <a:srgbClr val="181B1F"/>
                </a:solidFill>
                <a:latin typeface="IBM Plex Sans"/>
              </a:rPr>
              <a:t> Throughput is a count you can change while the system is running.</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One arrangement, two traits: </a:t>
            </a:r>
            <a:r>
              <a:rPr sz="1800" b="1" i="0">
                <a:solidFill>
                  <a:srgbClr val="181B1F"/>
                </a:solidFill>
                <a:latin typeface="IBM Plex Sans"/>
              </a:rPr>
              <a:t>Elastic</a:t>
            </a:r>
            <a:r>
              <a:rPr sz="1800" b="0" i="0">
                <a:solidFill>
                  <a:srgbClr val="181B1F"/>
                </a:solidFill>
                <a:latin typeface="IBM Plex Sans"/>
              </a:rPr>
              <a:t> going up, </a:t>
            </a:r>
            <a:r>
              <a:rPr sz="1800" b="1" i="0">
                <a:solidFill>
                  <a:srgbClr val="181B1F"/>
                </a:solidFill>
                <a:latin typeface="IBM Plex Sans"/>
              </a:rPr>
              <a:t>Resilient</a:t>
            </a:r>
            <a:r>
              <a:rPr sz="1800" b="0" i="0">
                <a:solidFill>
                  <a:srgbClr val="181B1F"/>
                </a:solidFill>
                <a:latin typeface="IBM Plex Sans"/>
              </a:rPr>
              <a:t> going down.</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70</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Scale Out, Not Up</a:t>
            </a:r>
          </a:p>
        </p:txBody>
      </p:sp>
      <p:pic>
        <p:nvPicPr>
          <p:cNvPr id="5" name="Picture 4" descr="flow-scale-out.png"/>
          <p:cNvPicPr>
            <a:picLocks noChangeAspect="1"/>
          </p:cNvPicPr>
          <p:nvPr/>
        </p:nvPicPr>
        <p:blipFill>
          <a:blip r:embed="rId2"/>
          <a:stretch>
            <a:fillRect/>
          </a:stretch>
        </p:blipFill>
        <p:spPr>
          <a:xfrm>
            <a:off x="713232" y="1275321"/>
            <a:ext cx="10911535" cy="5132603"/>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MOVEMENT D — THE NAME</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So Who Is in Charge?</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section opened on one question. Here it is again, and now you can answer it — but answer it with people, not slides.</a:t>
            </a:r>
          </a:p>
        </p:txBody>
      </p:sp>
      <p:sp>
        <p:nvSpPr>
          <p:cNvPr id="6" name="TextBox 5"/>
          <p:cNvSpPr txBox="1"/>
          <p:nvPr/>
        </p:nvSpPr>
        <p:spPr>
          <a:xfrm>
            <a:off x="713232" y="2000777"/>
            <a:ext cx="10911535"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Take your flow from this morning and run it twice.</a:t>
            </a:r>
          </a:p>
        </p:txBody>
      </p:sp>
      <p:sp>
        <p:nvSpPr>
          <p:cNvPr id="7" name="TextBox 6"/>
          <p:cNvSpPr txBox="1"/>
          <p:nvPr/>
        </p:nvSpPr>
        <p:spPr>
          <a:xfrm>
            <a:off x="713232" y="24137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3731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With a conductor.</a:t>
            </a:r>
            <a:r>
              <a:rPr sz="1800" b="0" i="0">
                <a:solidFill>
                  <a:srgbClr val="181B1F"/>
                </a:solidFill>
                <a:latin typeface="IBM Plex Sans"/>
              </a:rPr>
              <a:t> One person holds a routing slip and tells each desk when to act.</a:t>
            </a:r>
          </a:p>
        </p:txBody>
      </p:sp>
      <p:sp>
        <p:nvSpPr>
          <p:cNvPr id="9" name="TextBox 8"/>
          <p:cNvSpPr txBox="1"/>
          <p:nvPr/>
        </p:nvSpPr>
        <p:spPr>
          <a:xfrm>
            <a:off x="713232" y="27861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2745505"/>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With none.</a:t>
            </a:r>
            <a:r>
              <a:rPr sz="1800" b="0" i="0">
                <a:solidFill>
                  <a:srgbClr val="181B1F"/>
                </a:solidFill>
                <a:latin typeface="IBM Plex Sans"/>
              </a:rPr>
              <a:t> Every desk acts on what is in its in-tray, and nothing else.</a:t>
            </a:r>
          </a:p>
        </p:txBody>
      </p:sp>
      <p:sp>
        <p:nvSpPr>
          <p:cNvPr id="11" name="TextBox 10"/>
          <p:cNvSpPr txBox="1"/>
          <p:nvPr/>
        </p:nvSpPr>
        <p:spPr>
          <a:xfrm>
            <a:off x="713232" y="314326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Then: </a:t>
            </a:r>
            <a:r>
              <a:rPr sz="1800" b="1" i="0">
                <a:solidFill>
                  <a:srgbClr val="181B1F"/>
                </a:solidFill>
                <a:latin typeface="IBM Plex Sans"/>
              </a:rPr>
              <a:t>where did knowledge of the whole process live?</a:t>
            </a:r>
            <a:r>
              <a:rPr sz="1800" b="0" i="0">
                <a:solidFill>
                  <a:srgbClr val="181B1F"/>
                </a:solidFill>
                <a:latin typeface="IBM Plex Sans"/>
              </a:rPr>
              <a:t> And </a:t>
            </a:r>
            <a:r>
              <a:rPr sz="1800" b="1" i="0">
                <a:solidFill>
                  <a:srgbClr val="181B1F"/>
                </a:solidFill>
                <a:latin typeface="IBM Plex Sans"/>
              </a:rPr>
              <a:t>who had to change when we added a step?</a:t>
            </a:r>
          </a:p>
        </p:txBody>
      </p:sp>
      <p:sp>
        <p:nvSpPr>
          <p:cNvPr id="12" name="Rectangle 11"/>
          <p:cNvSpPr/>
          <p:nvPr/>
        </p:nvSpPr>
        <p:spPr>
          <a:xfrm>
            <a:off x="713232" y="3659886"/>
            <a:ext cx="50292" cy="646176"/>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630131"/>
            <a:ext cx="10637215" cy="664464"/>
          </a:xfrm>
          <a:prstGeom prst="rect">
            <a:avLst/>
          </a:prstGeom>
          <a:noFill/>
        </p:spPr>
        <p:txBody>
          <a:bodyPr wrap="square" lIns="0" rIns="0" tIns="0" bIns="0">
            <a:spAutoFit/>
          </a:bodyPr>
          <a:lstStyle/>
          <a:p>
            <a:pPr>
              <a:lnSpc>
                <a:spcPts val="2544"/>
              </a:lnSpc>
            </a:pPr>
            <a:r>
              <a:rPr sz="2400" b="0" i="0">
                <a:solidFill>
                  <a:srgbClr val="C0453B"/>
                </a:solidFill>
                <a:latin typeface="Caveat"/>
              </a:rPr>
              <a:t>You have just invented orchestration and choreography. The next section gives them their names — and a notation.</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TWO</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Process Automation</a:t>
            </a:r>
          </a:p>
        </p:txBody>
      </p:sp>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Your Flow, in the Standard Notation</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Pre-Arrival, as you modelled it on paper — and the same flow as BPMN.</a:t>
            </a:r>
            <a:r>
              <a:rPr sz="1800" b="0" i="0">
                <a:solidFill>
                  <a:srgbClr val="181B1F"/>
                </a:solidFill>
                <a:latin typeface="IBM Plex Sans"/>
              </a:rPr>
              <a:t> Same three participants, same hand-offs, same numbered steps:</a:t>
            </a:r>
          </a:p>
        </p:txBody>
      </p:sp>
      <p:graphicFrame>
        <p:nvGraphicFramePr>
          <p:cNvPr id="6" name="Table 5"/>
          <p:cNvGraphicFramePr>
            <a:graphicFrameLocks noGrp="1"/>
          </p:cNvGraphicFramePr>
          <p:nvPr/>
        </p:nvGraphicFramePr>
        <p:xfrm>
          <a:off x="713232" y="2036826"/>
          <a:ext cx="10911535" cy="2725667"/>
        </p:xfrm>
        <a:graphic>
          <a:graphicData uri="http://schemas.openxmlformats.org/drawingml/2006/table">
            <a:tbl>
              <a:tblPr firstRow="1">
                <a:tableStyleId>{5C22544A-7EE6-4342-B048-85BDC9FD1C3A}</a:tableStyleId>
              </a:tblPr>
              <a:tblGrid>
                <a:gridCol w="7424126"/>
                <a:gridCol w="3487409"/>
              </a:tblGrid>
              <a:tr h="389381">
                <a:tc>
                  <a:txBody>
                    <a:bodyPr/>
                    <a:lstStyle/>
                    <a:p>
                      <a:pPr>
                        <a:lnSpc>
                          <a:spcPct val="118000"/>
                        </a:lnSpc>
                      </a:pPr>
                      <a:r>
                        <a:rPr sz="1500" b="1" i="0">
                          <a:solidFill>
                            <a:srgbClr val="181B1F"/>
                          </a:solidFill>
                          <a:latin typeface="IBM Plex Sans"/>
                        </a:rPr>
                        <a:t>what you drew</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what it is called</a:t>
                      </a:r>
                    </a:p>
                  </a:txBody>
                  <a:tcPr marL="82296" marR="82296" marT="27432" marB="27432">
                    <a:solidFill>
                      <a:srgbClr val="F3EFE6"/>
                    </a:solidFill>
                  </a:tcPr>
                </a:tc>
              </a:tr>
              <a:tr h="389381">
                <a:tc>
                  <a:txBody>
                    <a:bodyPr/>
                    <a:lstStyle/>
                    <a:p>
                      <a:pPr>
                        <a:lnSpc>
                          <a:spcPct val="118000"/>
                        </a:lnSpc>
                      </a:pPr>
                      <a:r>
                        <a:rPr sz="1500" b="0" i="0">
                          <a:solidFill>
                            <a:srgbClr val="181B1F"/>
                          </a:solidFill>
                          <a:latin typeface="IBM Plex Sans"/>
                        </a:rPr>
                        <a:t>a desk</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a:t>
                      </a:r>
                      <a:r>
                        <a:rPr sz="1500" b="1" i="0">
                          <a:solidFill>
                            <a:srgbClr val="181B1F"/>
                          </a:solidFill>
                          <a:latin typeface="IBM Plex Sans"/>
                        </a:rPr>
                        <a:t>task</a:t>
                      </a:r>
                      <a:r>
                        <a:rPr sz="1500" b="0" i="0">
                          <a:solidFill>
                            <a:srgbClr val="181B1F"/>
                          </a:solidFill>
                          <a:latin typeface="IBM Plex Sans"/>
                        </a:rPr>
                        <a:t>, sitting in a </a:t>
                      </a:r>
                      <a:r>
                        <a:rPr sz="1500" b="1" i="0">
                          <a:solidFill>
                            <a:srgbClr val="181B1F"/>
                          </a:solidFill>
                          <a:latin typeface="IBM Plex Sans"/>
                        </a:rPr>
                        <a:t>lane</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the heavy vertical bar</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a:t>
                      </a:r>
                      <a:r>
                        <a:rPr sz="1500" b="1" i="0">
                          <a:solidFill>
                            <a:srgbClr val="181B1F"/>
                          </a:solidFill>
                          <a:latin typeface="IBM Plex Sans"/>
                        </a:rPr>
                        <a:t>pool</a:t>
                      </a:r>
                      <a:r>
                        <a:rPr sz="1500" b="0" i="0">
                          <a:solidFill>
                            <a:srgbClr val="181B1F"/>
                          </a:solidFill>
                          <a:latin typeface="IBM Plex Sans"/>
                        </a:rPr>
                        <a:t> boundary</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a hand-off between two desks </a:t>
                      </a:r>
                      <a:r>
                        <a:rPr sz="1500" b="1" i="0">
                          <a:solidFill>
                            <a:srgbClr val="181B1F"/>
                          </a:solidFill>
                          <a:latin typeface="IBM Plex Sans"/>
                        </a:rPr>
                        <a:t>inside</a:t>
                      </a:r>
                      <a:r>
                        <a:rPr sz="1500" b="0" i="0">
                          <a:solidFill>
                            <a:srgbClr val="181B1F"/>
                          </a:solidFill>
                          <a:latin typeface="IBM Plex Sans"/>
                        </a:rPr>
                        <a:t> the same bar — out-tray to in-tray</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a:t>
                      </a:r>
                      <a:r>
                        <a:rPr sz="1500" b="1" i="0">
                          <a:solidFill>
                            <a:srgbClr val="181B1F"/>
                          </a:solidFill>
                          <a:latin typeface="IBM Plex Sans"/>
                        </a:rPr>
                        <a:t>sequence flow</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a hand-off </a:t>
                      </a:r>
                      <a:r>
                        <a:rPr sz="1500" b="1" i="0">
                          <a:solidFill>
                            <a:srgbClr val="181B1F"/>
                          </a:solidFill>
                          <a:latin typeface="IBM Plex Sans"/>
                        </a:rPr>
                        <a:t>across</a:t>
                      </a:r>
                      <a:r>
                        <a:rPr sz="1500" b="0" i="0">
                          <a:solidFill>
                            <a:srgbClr val="181B1F"/>
                          </a:solidFill>
                          <a:latin typeface="IBM Plex Sans"/>
                        </a:rPr>
                        <a:t> the bar — the phone call, the fax, the mail cart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a:t>
                      </a:r>
                      <a:r>
                        <a:rPr sz="1500" b="1" i="0">
                          <a:solidFill>
                            <a:srgbClr val="181B1F"/>
                          </a:solidFill>
                          <a:latin typeface="IBM Plex Sans"/>
                        </a:rPr>
                        <a:t>message flow</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a folder</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state a task reads and writes</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the conductor holding the routing slip</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a:t>
                      </a:r>
                      <a:r>
                        <a:rPr sz="1500" b="1" i="0">
                          <a:solidFill>
                            <a:srgbClr val="181B1F"/>
                          </a:solidFill>
                          <a:latin typeface="IBM Plex Sans"/>
                        </a:rPr>
                        <a:t>process</a:t>
                      </a:r>
                      <a:r>
                        <a:rPr sz="1500" b="0" i="0">
                          <a:solidFill>
                            <a:srgbClr val="181B1F"/>
                          </a:solidFill>
                          <a:latin typeface="IBM Plex Sans"/>
                        </a:rPr>
                        <a:t>, and its </a:t>
                      </a:r>
                      <a:r>
                        <a:rPr sz="1500" b="1" i="0">
                          <a:solidFill>
                            <a:srgbClr val="181B1F"/>
                          </a:solidFill>
                          <a:latin typeface="IBM Plex Sans"/>
                        </a:rPr>
                        <a:t>token</a:t>
                      </a:r>
                    </a:p>
                  </a:txBody>
                  <a:tcPr marL="82296" marR="82296" marT="27432" marB="27432">
                    <a:solidFill>
                      <a:srgbClr val="FDFCFA"/>
                    </a:solidFill>
                  </a:tcPr>
                </a:tc>
              </a:tr>
            </a:tbl>
          </a:graphicData>
        </a:graphic>
      </p:graphicFrame>
      <p:sp>
        <p:nvSpPr>
          <p:cNvPr id="7" name="TextBox 6"/>
          <p:cNvSpPr txBox="1"/>
          <p:nvPr/>
        </p:nvSpPr>
        <p:spPr>
          <a:xfrm>
            <a:off x="713232" y="4982483"/>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bar is the discriminator, not the arrow style.</a:t>
            </a:r>
            <a:r>
              <a:rPr sz="1800" b="0" i="0">
                <a:solidFill>
                  <a:srgbClr val="181B1F"/>
                </a:solidFill>
                <a:latin typeface="IBM Plex Sans"/>
              </a:rPr>
              <a:t> Inside it, control walks from desk to desk and the process holds together. Across it, a message leaves and nobody controls what happens next.</a:t>
            </a:r>
          </a:p>
        </p:txBody>
      </p:sp>
      <p:sp>
        <p:nvSpPr>
          <p:cNvPr id="8" name="TextBox 7"/>
          <p:cNvSpPr txBox="1"/>
          <p:nvPr/>
        </p:nvSpPr>
        <p:spPr>
          <a:xfrm>
            <a:off x="713232" y="5663711"/>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Nothing new happens in this section. It gives names to what the room already built.</a:t>
            </a:r>
          </a:p>
        </p:txBody>
      </p:sp>
      <p:sp>
        <p:nvSpPr>
          <p:cNvPr id="9" name="TextBox 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74</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Your Flow, in the Standard Notation</a:t>
            </a:r>
          </a:p>
        </p:txBody>
      </p:sp>
      <p:sp>
        <p:nvSpPr>
          <p:cNvPr id="5" name="Rectangle 4"/>
          <p:cNvSpPr/>
          <p:nvPr/>
        </p:nvSpPr>
        <p:spPr>
          <a:xfrm>
            <a:off x="713232" y="1438402"/>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You drew this an hour ago. Here it is again, in a notation the rest of the industry already reads.</a:t>
            </a:r>
          </a:p>
        </p:txBody>
      </p:sp>
      <p:pic>
        <p:nvPicPr>
          <p:cNvPr id="7" name="Picture 6" descr="bpmn-your-flow-side-by-side.png"/>
          <p:cNvPicPr>
            <a:picLocks noChangeAspect="1"/>
          </p:cNvPicPr>
          <p:nvPr/>
        </p:nvPicPr>
        <p:blipFill>
          <a:blip r:embed="rId2"/>
          <a:stretch>
            <a:fillRect/>
          </a:stretch>
        </p:blipFill>
        <p:spPr>
          <a:xfrm>
            <a:off x="1518877" y="1937258"/>
            <a:ext cx="9300243" cy="4500117"/>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75</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BPMN</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BPMN</a:t>
            </a:r>
            <a:r>
              <a:rPr sz="1800" b="0" i="0">
                <a:solidFill>
                  <a:srgbClr val="181B1F"/>
                </a:solidFill>
                <a:latin typeface="IBM Plex Sans"/>
              </a:rPr>
              <a:t> (Business Process Management and Notation) is a visual language for diagramming business processes clearly, in a standardized and comprehensive way.</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start event</a:t>
            </a:r>
            <a:r>
              <a:rPr sz="1800" b="0" i="0">
                <a:solidFill>
                  <a:srgbClr val="181B1F"/>
                </a:solidFill>
                <a:latin typeface="IBM Plex Sans"/>
              </a:rPr>
              <a:t> begins a flow; an </a:t>
            </a:r>
            <a:r>
              <a:rPr sz="1800" b="1" i="0">
                <a:solidFill>
                  <a:srgbClr val="181B1F"/>
                </a:solidFill>
                <a:latin typeface="IBM Plex Sans"/>
              </a:rPr>
              <a:t>end event</a:t>
            </a:r>
            <a:r>
              <a:rPr sz="1800" b="0" i="0">
                <a:solidFill>
                  <a:srgbClr val="181B1F"/>
                </a:solidFill>
                <a:latin typeface="IBM Plex Sans"/>
              </a:rPr>
              <a:t> terminates it (and may throw a message).</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Sequence flow</a:t>
            </a:r>
            <a:r>
              <a:rPr sz="1800" b="0" i="0">
                <a:solidFill>
                  <a:srgbClr val="181B1F"/>
                </a:solidFill>
                <a:latin typeface="IBM Plex Sans"/>
              </a:rPr>
              <a:t> arrows show the path of execution.</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An </a:t>
            </a:r>
            <a:r>
              <a:rPr sz="1800" b="1" i="0">
                <a:solidFill>
                  <a:srgbClr val="181B1F"/>
                </a:solidFill>
                <a:latin typeface="IBM Plex Sans"/>
              </a:rPr>
              <a:t>event</a:t>
            </a:r>
            <a:r>
              <a:rPr sz="1800" b="0" i="0">
                <a:solidFill>
                  <a:srgbClr val="181B1F"/>
                </a:solidFill>
                <a:latin typeface="IBM Plex Sans"/>
              </a:rPr>
              <a:t> begins, ends, or interrupts a flow; a </a:t>
            </a:r>
            <a:r>
              <a:rPr sz="1800" b="1" i="0">
                <a:solidFill>
                  <a:srgbClr val="181B1F"/>
                </a:solidFill>
                <a:latin typeface="IBM Plex Sans"/>
              </a:rPr>
              <a:t>task</a:t>
            </a:r>
            <a:r>
              <a:rPr sz="1800" b="0" i="0">
                <a:solidFill>
                  <a:srgbClr val="181B1F"/>
                </a:solidFill>
                <a:latin typeface="IBM Plex Sans"/>
              </a:rPr>
              <a:t> is where work gets done.</a:t>
            </a:r>
          </a:p>
        </p:txBody>
      </p:sp>
      <p:pic>
        <p:nvPicPr>
          <p:cNvPr id="12" name="Picture 11" descr="bpmn-ordering-flow.png"/>
          <p:cNvPicPr>
            <a:picLocks noChangeAspect="1"/>
          </p:cNvPicPr>
          <p:nvPr/>
        </p:nvPicPr>
        <p:blipFill>
          <a:blip r:embed="rId2"/>
          <a:stretch>
            <a:fillRect/>
          </a:stretch>
        </p:blipFill>
        <p:spPr>
          <a:xfrm>
            <a:off x="713232" y="3892885"/>
            <a:ext cx="10911535" cy="1787234"/>
          </a:xfrm>
          <a:prstGeom prst="rect">
            <a:avLst/>
          </a:prstGeom>
        </p:spPr>
      </p:pic>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76</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BPMN — The Elements</a:t>
            </a:r>
          </a:p>
        </p:txBody>
      </p:sp>
      <p:sp>
        <p:nvSpPr>
          <p:cNvPr id="5" name="TextBox 4"/>
          <p:cNvSpPr txBox="1"/>
          <p:nvPr/>
        </p:nvSpPr>
        <p:spPr>
          <a:xfrm>
            <a:off x="713232" y="1319549"/>
            <a:ext cx="4965109"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BPMN diagram is six things: </a:t>
            </a:r>
            <a:r>
              <a:rPr sz="1800" b="1" i="0">
                <a:solidFill>
                  <a:srgbClr val="181B1F"/>
                </a:solidFill>
                <a:latin typeface="IBM Plex Sans"/>
              </a:rPr>
              <a:t>Start Event</a:t>
            </a:r>
            <a:r>
              <a:rPr sz="1800" b="0" i="0">
                <a:solidFill>
                  <a:srgbClr val="181B1F"/>
                </a:solidFill>
                <a:latin typeface="IBM Plex Sans"/>
              </a:rPr>
              <a:t>, </a:t>
            </a:r>
            <a:r>
              <a:rPr sz="1800" b="1" i="0">
                <a:solidFill>
                  <a:srgbClr val="181B1F"/>
                </a:solidFill>
                <a:latin typeface="IBM Plex Sans"/>
              </a:rPr>
              <a:t>End Event</a:t>
            </a:r>
            <a:r>
              <a:rPr sz="1800" b="0" i="0">
                <a:solidFill>
                  <a:srgbClr val="181B1F"/>
                </a:solidFill>
                <a:latin typeface="IBM Plex Sans"/>
              </a:rPr>
              <a:t>, </a:t>
            </a:r>
            <a:r>
              <a:rPr sz="1800" b="1" i="0">
                <a:solidFill>
                  <a:srgbClr val="181B1F"/>
                </a:solidFill>
                <a:latin typeface="IBM Plex Sans"/>
              </a:rPr>
              <a:t>Activity</a:t>
            </a:r>
            <a:r>
              <a:rPr sz="1800" b="0" i="0">
                <a:solidFill>
                  <a:srgbClr val="181B1F"/>
                </a:solidFill>
                <a:latin typeface="IBM Plex Sans"/>
              </a:rPr>
              <a:t> (Task or Sub-process), </a:t>
            </a:r>
            <a:r>
              <a:rPr sz="1800" b="1" i="0">
                <a:solidFill>
                  <a:srgbClr val="181B1F"/>
                </a:solidFill>
                <a:latin typeface="IBM Plex Sans"/>
              </a:rPr>
              <a:t>Gateway</a:t>
            </a:r>
            <a:r>
              <a:rPr sz="1800" b="0" i="0">
                <a:solidFill>
                  <a:srgbClr val="181B1F"/>
                </a:solidFill>
                <a:latin typeface="IBM Plex Sans"/>
              </a:rPr>
              <a:t>, </a:t>
            </a:r>
            <a:r>
              <a:rPr sz="1800" b="1" i="0">
                <a:solidFill>
                  <a:srgbClr val="181B1F"/>
                </a:solidFill>
                <a:latin typeface="IBM Plex Sans"/>
              </a:rPr>
              <a:t>Event</a:t>
            </a:r>
            <a:r>
              <a:rPr sz="1800" b="0" i="0">
                <a:solidFill>
                  <a:srgbClr val="181B1F"/>
                </a:solidFill>
                <a:latin typeface="IBM Plex Sans"/>
              </a:rPr>
              <a:t>, and the arrows that join them.</a:t>
            </a:r>
          </a:p>
        </p:txBody>
      </p:sp>
      <p:sp>
        <p:nvSpPr>
          <p:cNvPr id="6" name="TextBox 5"/>
          <p:cNvSpPr txBox="1"/>
          <p:nvPr/>
        </p:nvSpPr>
        <p:spPr>
          <a:xfrm>
            <a:off x="713232" y="2284241"/>
            <a:ext cx="4965109"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There are two kinds of arrow, and the difference between them is what the rest of this section is about:</a:t>
            </a:r>
          </a:p>
        </p:txBody>
      </p:sp>
      <p:sp>
        <p:nvSpPr>
          <p:cNvPr id="7" name="TextBox 6"/>
          <p:cNvSpPr txBox="1"/>
          <p:nvPr/>
        </p:nvSpPr>
        <p:spPr>
          <a:xfrm>
            <a:off x="713232" y="32641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3223533"/>
            <a:ext cx="4718221"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Sequence Flow</a:t>
            </a:r>
            <a:r>
              <a:rPr sz="1800" b="0" i="0">
                <a:solidFill>
                  <a:srgbClr val="181B1F"/>
                </a:solidFill>
                <a:latin typeface="IBM Plex Sans"/>
              </a:rPr>
              <a:t> — control moving </a:t>
            </a:r>
            <a:r>
              <a:rPr sz="1800" b="0" i="1">
                <a:solidFill>
                  <a:srgbClr val="181B1F"/>
                </a:solidFill>
                <a:latin typeface="IBM Plex Sans"/>
              </a:rPr>
              <a:t>within</a:t>
            </a:r>
            <a:r>
              <a:rPr sz="1800" b="0" i="0">
                <a:solidFill>
                  <a:srgbClr val="181B1F"/>
                </a:solidFill>
                <a:latin typeface="IBM Plex Sans"/>
              </a:rPr>
              <a:t> one participant. </a:t>
            </a:r>
            <a:r>
              <a:rPr sz="1800" b="1" i="0">
                <a:solidFill>
                  <a:srgbClr val="181B1F"/>
                </a:solidFill>
                <a:latin typeface="IBM Plex Sans"/>
              </a:rPr>
              <a:t>The token follows it.</a:t>
            </a:r>
          </a:p>
        </p:txBody>
      </p:sp>
      <p:sp>
        <p:nvSpPr>
          <p:cNvPr id="9" name="TextBox 8"/>
          <p:cNvSpPr txBox="1"/>
          <p:nvPr/>
        </p:nvSpPr>
        <p:spPr>
          <a:xfrm>
            <a:off x="713232" y="391998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3879361"/>
            <a:ext cx="4718221"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Message Flow</a:t>
            </a:r>
            <a:r>
              <a:rPr sz="1800" b="0" i="0">
                <a:solidFill>
                  <a:srgbClr val="181B1F"/>
                </a:solidFill>
                <a:latin typeface="IBM Plex Sans"/>
              </a:rPr>
              <a:t> — a message crossing </a:t>
            </a:r>
            <a:r>
              <a:rPr sz="1800" b="0" i="1">
                <a:solidFill>
                  <a:srgbClr val="181B1F"/>
                </a:solidFill>
                <a:latin typeface="IBM Plex Sans"/>
              </a:rPr>
              <a:t>between</a:t>
            </a:r>
            <a:r>
              <a:rPr sz="1800" b="0" i="0">
                <a:solidFill>
                  <a:srgbClr val="181B1F"/>
                </a:solidFill>
                <a:latin typeface="IBM Plex Sans"/>
              </a:rPr>
              <a:t> participants. </a:t>
            </a:r>
            <a:r>
              <a:rPr sz="1800" b="1" i="0">
                <a:solidFill>
                  <a:srgbClr val="181B1F"/>
                </a:solidFill>
                <a:latin typeface="IBM Plex Sans"/>
              </a:rPr>
              <a:t>No token crosses it.</a:t>
            </a:r>
          </a:p>
        </p:txBody>
      </p:sp>
      <p:pic>
        <p:nvPicPr>
          <p:cNvPr id="11" name="Picture 10" descr="bpmn-elements.png"/>
          <p:cNvPicPr>
            <a:picLocks noChangeAspect="1"/>
          </p:cNvPicPr>
          <p:nvPr/>
        </p:nvPicPr>
        <p:blipFill>
          <a:blip r:embed="rId2"/>
          <a:stretch>
            <a:fillRect/>
          </a:stretch>
        </p:blipFill>
        <p:spPr>
          <a:xfrm>
            <a:off x="6025813" y="2245567"/>
            <a:ext cx="5598953" cy="2692262"/>
          </a:xfrm>
          <a:prstGeom prst="rect">
            <a:avLst/>
          </a:prstGeom>
        </p:spPr>
      </p:pic>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77</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BPMN — Tasks, Events and Gateways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Three of the six have variants. They are reference, not material:</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Tasks</a:t>
            </a:r>
            <a:r>
              <a:rPr sz="1800" b="0" i="0">
                <a:solidFill>
                  <a:srgbClr val="181B1F"/>
                </a:solidFill>
                <a:latin typeface="IBM Plex Sans"/>
              </a:rPr>
              <a:t> — atomic activities: Generic, </a:t>
            </a:r>
            <a:r>
              <a:rPr sz="1800" b="1" i="0">
                <a:solidFill>
                  <a:srgbClr val="181B1F"/>
                </a:solidFill>
                <a:latin typeface="IBM Plex Sans"/>
              </a:rPr>
              <a:t>Service</a:t>
            </a:r>
            <a:r>
              <a:rPr sz="1800" b="0" i="0">
                <a:solidFill>
                  <a:srgbClr val="181B1F"/>
                </a:solidFill>
                <a:latin typeface="IBM Plex Sans"/>
              </a:rPr>
              <a:t> (uses a service), </a:t>
            </a:r>
            <a:r>
              <a:rPr sz="1800" b="1" i="0">
                <a:solidFill>
                  <a:srgbClr val="181B1F"/>
                </a:solidFill>
                <a:latin typeface="IBM Plex Sans"/>
              </a:rPr>
              <a:t>Receive</a:t>
            </a:r>
            <a:r>
              <a:rPr sz="1800" b="0" i="0">
                <a:solidFill>
                  <a:srgbClr val="181B1F"/>
                </a:solidFill>
                <a:latin typeface="IBM Plex Sans"/>
              </a:rPr>
              <a:t> (waits for a message), </a:t>
            </a:r>
            <a:r>
              <a:rPr sz="1800" b="1" i="0">
                <a:solidFill>
                  <a:srgbClr val="181B1F"/>
                </a:solidFill>
                <a:latin typeface="IBM Plex Sans"/>
              </a:rPr>
              <a:t>Send</a:t>
            </a:r>
            <a:r>
              <a:rPr sz="1800" b="0" i="0">
                <a:solidFill>
                  <a:srgbClr val="181B1F"/>
                </a:solidFill>
                <a:latin typeface="IBM Plex Sans"/>
              </a:rPr>
              <a:t>, </a:t>
            </a:r>
            <a:r>
              <a:rPr sz="1800" b="1" i="0">
                <a:solidFill>
                  <a:srgbClr val="181B1F"/>
                </a:solidFill>
                <a:latin typeface="IBM Plex Sans"/>
              </a:rPr>
              <a:t>User</a:t>
            </a:r>
            <a:r>
              <a:rPr sz="1800" b="0" i="0">
                <a:solidFill>
                  <a:srgbClr val="181B1F"/>
                </a:solidFill>
                <a:latin typeface="IBM Plex Sans"/>
              </a:rPr>
              <a:t> (human, via software), Manual (human, not via software), Business Rule, Script. Markers: Loop, Transaction.</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Events</a:t>
            </a:r>
            <a:r>
              <a:rPr sz="1800" b="0" i="0">
                <a:solidFill>
                  <a:srgbClr val="181B1F"/>
                </a:solidFill>
                <a:latin typeface="IBM Plex Sans"/>
              </a:rPr>
              <a:t> — start, end, or interrupt a flow: None, </a:t>
            </a:r>
            <a:r>
              <a:rPr sz="1800" b="1" i="0">
                <a:solidFill>
                  <a:srgbClr val="181B1F"/>
                </a:solidFill>
                <a:latin typeface="IBM Plex Sans"/>
              </a:rPr>
              <a:t>Message</a:t>
            </a:r>
            <a:r>
              <a:rPr sz="1800" b="0" i="0">
                <a:solidFill>
                  <a:srgbClr val="181B1F"/>
                </a:solidFill>
                <a:latin typeface="IBM Plex Sans"/>
              </a:rPr>
              <a:t>, </a:t>
            </a:r>
            <a:r>
              <a:rPr sz="1800" b="1" i="0">
                <a:solidFill>
                  <a:srgbClr val="181B1F"/>
                </a:solidFill>
                <a:latin typeface="IBM Plex Sans"/>
              </a:rPr>
              <a:t>Time</a:t>
            </a:r>
            <a:r>
              <a:rPr sz="1800" b="0" i="0">
                <a:solidFill>
                  <a:srgbClr val="181B1F"/>
                </a:solidFill>
                <a:latin typeface="IBM Plex Sans"/>
              </a:rPr>
              <a:t>, Signal, </a:t>
            </a:r>
            <a:r>
              <a:rPr sz="1800" b="1" i="0">
                <a:solidFill>
                  <a:srgbClr val="181B1F"/>
                </a:solidFill>
                <a:latin typeface="IBM Plex Sans"/>
              </a:rPr>
              <a:t>Compensation</a:t>
            </a:r>
            <a:r>
              <a:rPr sz="1800" b="0" i="0">
                <a:solidFill>
                  <a:srgbClr val="181B1F"/>
                </a:solidFill>
                <a:latin typeface="IBM Plex Sans"/>
              </a:rPr>
              <a:t>, Conditional, Escalation, Parallel, Cancel.</a:t>
            </a:r>
          </a:p>
        </p:txBody>
      </p:sp>
      <p:sp>
        <p:nvSpPr>
          <p:cNvPr id="10" name="TextBox 9"/>
          <p:cNvSpPr txBox="1"/>
          <p:nvPr/>
        </p:nvSpPr>
        <p:spPr>
          <a:xfrm>
            <a:off x="713232" y="33276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287033"/>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Gateways</a:t>
            </a:r>
            <a:r>
              <a:rPr sz="1800" b="0" i="0">
                <a:solidFill>
                  <a:srgbClr val="181B1F"/>
                </a:solidFill>
                <a:latin typeface="IBM Plex Sans"/>
              </a:rPr>
              <a:t> — branch and converge sequence flow: </a:t>
            </a:r>
            <a:r>
              <a:rPr sz="1800" b="1" i="0">
                <a:solidFill>
                  <a:srgbClr val="181B1F"/>
                </a:solidFill>
                <a:latin typeface="IBM Plex Sans"/>
              </a:rPr>
              <a:t>Exclusive</a:t>
            </a:r>
            <a:r>
              <a:rPr sz="1800" b="0" i="0">
                <a:solidFill>
                  <a:srgbClr val="181B1F"/>
                </a:solidFill>
                <a:latin typeface="IBM Plex Sans"/>
              </a:rPr>
              <a:t> (X, one path), Inclusive, </a:t>
            </a:r>
            <a:r>
              <a:rPr sz="1800" b="1" i="0">
                <a:solidFill>
                  <a:srgbClr val="181B1F"/>
                </a:solidFill>
                <a:latin typeface="IBM Plex Sans"/>
              </a:rPr>
              <a:t>Parallel</a:t>
            </a:r>
            <a:r>
              <a:rPr sz="1800" b="0" i="0">
                <a:solidFill>
                  <a:srgbClr val="181B1F"/>
                </a:solidFill>
                <a:latin typeface="IBM Plex Sans"/>
              </a:rPr>
              <a:t> (+, split/join), Complex, Event-based (an event picks the path).</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78</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BPMN — Tasks, Events and Gateways</a:t>
            </a:r>
          </a:p>
        </p:txBody>
      </p:sp>
      <p:sp>
        <p:nvSpPr>
          <p:cNvPr id="5" name="Rectangle 4"/>
          <p:cNvSpPr/>
          <p:nvPr/>
        </p:nvSpPr>
        <p:spPr>
          <a:xfrm>
            <a:off x="713232" y="1438402"/>
            <a:ext cx="50292" cy="646176"/>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1408647"/>
            <a:ext cx="10637215" cy="664464"/>
          </a:xfrm>
          <a:prstGeom prst="rect">
            <a:avLst/>
          </a:prstGeom>
          <a:noFill/>
        </p:spPr>
        <p:txBody>
          <a:bodyPr wrap="square" lIns="0" rIns="0" tIns="0" bIns="0">
            <a:spAutoFit/>
          </a:bodyPr>
          <a:lstStyle/>
          <a:p>
            <a:pPr>
              <a:lnSpc>
                <a:spcPts val="2544"/>
              </a:lnSpc>
            </a:pPr>
            <a:r>
              <a:rPr sz="2400" b="0" i="0">
                <a:solidFill>
                  <a:srgbClr val="C0453B"/>
                </a:solidFill>
                <a:latin typeface="Caveat"/>
              </a:rPr>
              <a:t>Six of them do nearly all the work: </a:t>
            </a:r>
            <a:r>
              <a:rPr sz="2400" b="1" i="0">
                <a:solidFill>
                  <a:srgbClr val="C0453B"/>
                </a:solidFill>
                <a:latin typeface="Caveat"/>
              </a:rPr>
              <a:t>Service</a:t>
            </a:r>
            <a:r>
              <a:rPr sz="2400" b="0" i="0">
                <a:solidFill>
                  <a:srgbClr val="C0453B"/>
                </a:solidFill>
                <a:latin typeface="Caveat"/>
              </a:rPr>
              <a:t> and </a:t>
            </a:r>
            <a:r>
              <a:rPr sz="2400" b="1" i="0">
                <a:solidFill>
                  <a:srgbClr val="C0453B"/>
                </a:solidFill>
                <a:latin typeface="Caveat"/>
              </a:rPr>
              <a:t>Receive</a:t>
            </a:r>
            <a:r>
              <a:rPr sz="2400" b="0" i="0">
                <a:solidFill>
                  <a:srgbClr val="C0453B"/>
                </a:solidFill>
                <a:latin typeface="Caveat"/>
              </a:rPr>
              <a:t> tasks, </a:t>
            </a:r>
            <a:r>
              <a:rPr sz="2400" b="1" i="0">
                <a:solidFill>
                  <a:srgbClr val="C0453B"/>
                </a:solidFill>
                <a:latin typeface="Caveat"/>
              </a:rPr>
              <a:t>Message</a:t>
            </a:r>
            <a:r>
              <a:rPr sz="2400" b="0" i="0">
                <a:solidFill>
                  <a:srgbClr val="C0453B"/>
                </a:solidFill>
                <a:latin typeface="Caveat"/>
              </a:rPr>
              <a:t> and </a:t>
            </a:r>
            <a:r>
              <a:rPr sz="2400" b="1" i="0">
                <a:solidFill>
                  <a:srgbClr val="C0453B"/>
                </a:solidFill>
                <a:latin typeface="Caveat"/>
              </a:rPr>
              <a:t>Timer</a:t>
            </a:r>
            <a:r>
              <a:rPr sz="2400" b="0" i="0">
                <a:solidFill>
                  <a:srgbClr val="C0453B"/>
                </a:solidFill>
                <a:latin typeface="Caveat"/>
              </a:rPr>
              <a:t> events, </a:t>
            </a:r>
            <a:r>
              <a:rPr sz="2400" b="1" i="0">
                <a:solidFill>
                  <a:srgbClr val="C0453B"/>
                </a:solidFill>
                <a:latin typeface="Caveat"/>
              </a:rPr>
              <a:t>Exclusive</a:t>
            </a:r>
            <a:r>
              <a:rPr sz="2400" b="0" i="0">
                <a:solidFill>
                  <a:srgbClr val="C0453B"/>
                </a:solidFill>
                <a:latin typeface="Caveat"/>
              </a:rPr>
              <a:t> and </a:t>
            </a:r>
            <a:r>
              <a:rPr sz="2400" b="1" i="0">
                <a:solidFill>
                  <a:srgbClr val="C0453B"/>
                </a:solidFill>
                <a:latin typeface="Caveat"/>
              </a:rPr>
              <a:t>Parallel</a:t>
            </a:r>
            <a:r>
              <a:rPr sz="2400" b="0" i="0">
                <a:solidFill>
                  <a:srgbClr val="C0453B"/>
                </a:solidFill>
                <a:latin typeface="Caveat"/>
              </a:rPr>
              <a:t> gateways.</a:t>
            </a:r>
          </a:p>
        </p:txBody>
      </p:sp>
      <p:pic>
        <p:nvPicPr>
          <p:cNvPr id="7" name="Picture 6" descr="bpmn-the-six.png"/>
          <p:cNvPicPr>
            <a:picLocks noChangeAspect="1"/>
          </p:cNvPicPr>
          <p:nvPr/>
        </p:nvPicPr>
        <p:blipFill>
          <a:blip r:embed="rId2"/>
          <a:stretch>
            <a:fillRect/>
          </a:stretch>
        </p:blipFill>
        <p:spPr>
          <a:xfrm>
            <a:off x="1847934" y="2260346"/>
            <a:ext cx="8642131" cy="4177029"/>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79</a:t>
            </a:r>
          </a:p>
        </p:txBody>
      </p:sp>
    </p:spTree>
  </p:cSld>
  <p:clrMapOvr>
    <a:masterClrMapping/>
  </p:clrMapOvr>
  <p:timing>
    <p:tnLst>
      <p:par>
        <p:cTn id="1" dur="indefinite" restart="never" nodeType="tmRoot">
          <p:childTnLst>
            <p:seq concurrent="1" nextAc="seek">
              <p:cTn id="2" dur="indefinite" nodeType="mainSeq">
                <p:childTnLst>
                  <p:par>
                    <p:cTn id="7" fill="hold">
                      <p:stCondLst>
                        <p:cond delay="indefinite"/>
                      </p:stCondLst>
                      <p:childTnLst>
                        <p:par>
                          <p:cTn id="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Workflow Patterns</a:t>
            </a:r>
          </a:p>
        </p:txBody>
      </p:sp>
      <p:sp>
        <p:nvSpPr>
          <p:cNvPr id="5" name="TextBox 4"/>
          <p:cNvSpPr txBox="1"/>
          <p:nvPr/>
        </p:nvSpPr>
        <p:spPr>
          <a:xfrm>
            <a:off x="713232" y="1319549"/>
            <a:ext cx="10911535" cy="868680"/>
          </a:xfrm>
          <a:prstGeom prst="rect">
            <a:avLst/>
          </a:prstGeom>
          <a:noFill/>
        </p:spPr>
        <p:txBody>
          <a:bodyPr wrap="square" lIns="0" rIns="0" tIns="0" bIns="0">
            <a:spAutoFit/>
          </a:bodyPr>
          <a:lstStyle/>
          <a:p>
            <a:pPr>
              <a:lnSpc>
                <a:spcPts val="2232"/>
              </a:lnSpc>
            </a:pPr>
            <a:r>
              <a:rPr sz="1800" b="0" i="1">
                <a:solidFill>
                  <a:srgbClr val="181B1F"/>
                </a:solidFill>
                <a:latin typeface="IBM Plex Sans"/>
              </a:rPr>
              <a:t>Workflow Patterns</a:t>
            </a:r>
            <a:r>
              <a:rPr sz="1800" b="0" i="0">
                <a:solidFill>
                  <a:srgbClr val="181B1F"/>
                </a:solidFill>
                <a:latin typeface="IBM Plex Sans"/>
              </a:rPr>
              <a:t> — van der Aalst, ter Hofstede, Kiepuszewski, Barros (2000): 5 basic + 15 advanced patterns. </a:t>
            </a:r>
            <a:r>
              <a:rPr sz="1800" b="0" i="1">
                <a:solidFill>
                  <a:srgbClr val="181B1F"/>
                </a:solidFill>
                <a:latin typeface="IBM Plex Sans"/>
              </a:rPr>
              <a:t>Workflow Control-Flow Patterns: A Revised View</a:t>
            </a:r>
            <a:r>
              <a:rPr sz="1800" b="0" i="0">
                <a:solidFill>
                  <a:srgbClr val="181B1F"/>
                </a:solidFill>
                <a:latin typeface="IBM Plex Sans"/>
              </a:rPr>
              <a:t> — van der Aalst, Mulyar, Russell, ter Hofstede (2007): 23 new patterns.</a:t>
            </a:r>
          </a:p>
        </p:txBody>
      </p:sp>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Pattern 1 — Sequence</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One activity follows another. BPMN: connect two tasks with a sequence-flow arrow. Easy to model and execute. Example (Booking Team): Take the Call → Create Booking Request.</a:t>
            </a:r>
          </a:p>
        </p:txBody>
      </p:sp>
      <p:pic>
        <p:nvPicPr>
          <p:cNvPr id="6" name="Picture 5" descr="bpmn-hotel-p1-sequence.png"/>
          <p:cNvPicPr>
            <a:picLocks noChangeAspect="1"/>
          </p:cNvPicPr>
          <p:nvPr/>
        </p:nvPicPr>
        <p:blipFill>
          <a:blip r:embed="rId2"/>
          <a:stretch>
            <a:fillRect/>
          </a:stretch>
        </p:blipFill>
        <p:spPr>
          <a:xfrm>
            <a:off x="713231" y="2591226"/>
            <a:ext cx="10911535" cy="3273460"/>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Pattern 2 — Parallel Split</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One path splits into two or more concurrent branches. BPMN: a </a:t>
            </a:r>
            <a:r>
              <a:rPr sz="1800" b="1" i="0">
                <a:solidFill>
                  <a:srgbClr val="181B1F"/>
                </a:solidFill>
                <a:latin typeface="IBM Plex Sans"/>
              </a:rPr>
              <a:t>Parallel Gateway</a:t>
            </a:r>
            <a:r>
              <a:rPr sz="1800" b="0" i="0">
                <a:solidFill>
                  <a:srgbClr val="181B1F"/>
                </a:solidFill>
                <a:latin typeface="IBM Plex Sans"/>
              </a:rPr>
              <a:t> (+) forks. Example: once the hotel accepts, Take Payment + Prepare Booking Confirmation.</a:t>
            </a:r>
          </a:p>
        </p:txBody>
      </p:sp>
      <p:pic>
        <p:nvPicPr>
          <p:cNvPr id="6" name="Picture 5" descr="bpmn-hotel-p2-parallel-split.png"/>
          <p:cNvPicPr>
            <a:picLocks noChangeAspect="1"/>
          </p:cNvPicPr>
          <p:nvPr/>
        </p:nvPicPr>
        <p:blipFill>
          <a:blip r:embed="rId2"/>
          <a:stretch>
            <a:fillRect/>
          </a:stretch>
        </p:blipFill>
        <p:spPr>
          <a:xfrm>
            <a:off x="981668" y="2018538"/>
            <a:ext cx="10374663" cy="4418838"/>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Pattern 3 — Synchronization (Join)</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Wait until multiple concurrent branches complete. BPMN: a </a:t>
            </a:r>
            <a:r>
              <a:rPr sz="1800" b="1" i="0">
                <a:solidFill>
                  <a:srgbClr val="181B1F"/>
                </a:solidFill>
                <a:latin typeface="IBM Plex Sans"/>
              </a:rPr>
              <a:t>Parallel Gateway</a:t>
            </a:r>
            <a:r>
              <a:rPr sz="1800" b="0" i="0">
                <a:solidFill>
                  <a:srgbClr val="181B1F"/>
                </a:solidFill>
                <a:latin typeface="IBM Plex Sans"/>
              </a:rPr>
              <a:t> joins. Example: the guest is not told until payment has cleared </a:t>
            </a:r>
            <a:r>
              <a:rPr sz="1800" b="0" i="1">
                <a:solidFill>
                  <a:srgbClr val="181B1F"/>
                </a:solidFill>
                <a:latin typeface="IBM Plex Sans"/>
              </a:rPr>
              <a:t>and</a:t>
            </a:r>
            <a:r>
              <a:rPr sz="1800" b="0" i="0">
                <a:solidFill>
                  <a:srgbClr val="181B1F"/>
                </a:solidFill>
                <a:latin typeface="IBM Plex Sans"/>
              </a:rPr>
              <a:t> the confirmation is ready.</a:t>
            </a:r>
          </a:p>
        </p:txBody>
      </p:sp>
      <p:pic>
        <p:nvPicPr>
          <p:cNvPr id="6" name="Picture 5" descr="bpmn-hotel-p3-join.png"/>
          <p:cNvPicPr>
            <a:picLocks noChangeAspect="1"/>
          </p:cNvPicPr>
          <p:nvPr/>
        </p:nvPicPr>
        <p:blipFill>
          <a:blip r:embed="rId2"/>
          <a:stretch>
            <a:fillRect/>
          </a:stretch>
        </p:blipFill>
        <p:spPr>
          <a:xfrm>
            <a:off x="789544" y="2018538"/>
            <a:ext cx="10758909" cy="4418838"/>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83</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Pattern 4 — Exclusive Choice</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Choose one path based on a condition. BPMN: an </a:t>
            </a:r>
            <a:r>
              <a:rPr sz="1800" b="1" i="0">
                <a:solidFill>
                  <a:srgbClr val="181B1F"/>
                </a:solidFill>
                <a:latin typeface="IBM Plex Sans"/>
              </a:rPr>
              <a:t>Exclusive Gateway</a:t>
            </a:r>
            <a:r>
              <a:rPr sz="1800" b="0" i="0">
                <a:solidFill>
                  <a:srgbClr val="181B1F"/>
                </a:solidFill>
                <a:latin typeface="IBM Plex Sans"/>
              </a:rPr>
              <a:t> (X) with condition expressions. Example (Concierge): Check Availability → Accept Booking </a:t>
            </a:r>
            <a:r>
              <a:rPr sz="1800" b="1" i="0">
                <a:solidFill>
                  <a:srgbClr val="181B1F"/>
                </a:solidFill>
                <a:latin typeface="IBM Plex Sans"/>
              </a:rPr>
              <a:t>X</a:t>
            </a:r>
            <a:r>
              <a:rPr sz="1800" b="0" i="0">
                <a:solidFill>
                  <a:srgbClr val="181B1F"/>
                </a:solidFill>
                <a:latin typeface="IBM Plex Sans"/>
              </a:rPr>
              <a:t> Reject Booking.</a:t>
            </a:r>
          </a:p>
        </p:txBody>
      </p:sp>
      <p:pic>
        <p:nvPicPr>
          <p:cNvPr id="6" name="Picture 5" descr="bpmn-hotel-p4-exclusive-choice.png"/>
          <p:cNvPicPr>
            <a:picLocks noChangeAspect="1"/>
          </p:cNvPicPr>
          <p:nvPr/>
        </p:nvPicPr>
        <p:blipFill>
          <a:blip r:embed="rId2"/>
          <a:stretch>
            <a:fillRect/>
          </a:stretch>
        </p:blipFill>
        <p:spPr>
          <a:xfrm>
            <a:off x="713232" y="2136579"/>
            <a:ext cx="10911535" cy="4182755"/>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84</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Pattern 5 — Simple Merge</a:t>
            </a:r>
          </a:p>
        </p:txBody>
      </p:sp>
      <p:sp>
        <p:nvSpPr>
          <p:cNvPr id="5" name="TextBox 4"/>
          <p:cNvSpPr txBox="1"/>
          <p:nvPr/>
        </p:nvSpPr>
        <p:spPr>
          <a:xfrm>
            <a:off x="713232" y="1319549"/>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Merge non-concurrent paths back into one. BPMN: a converging sequence flow — no gateway needed if no synchronization is required. Example (Guest): the confirmation arrives, or the guest gets tired of waiting and chases; either way, Check the Booking → Pack for the Trip.</a:t>
            </a:r>
          </a:p>
        </p:txBody>
      </p:sp>
      <p:pic>
        <p:nvPicPr>
          <p:cNvPr id="6" name="Picture 5" descr="bpmn-hotel-p5-simple-merge.png"/>
          <p:cNvPicPr>
            <a:picLocks noChangeAspect="1"/>
          </p:cNvPicPr>
          <p:nvPr/>
        </p:nvPicPr>
        <p:blipFill>
          <a:blip r:embed="rId2"/>
          <a:stretch>
            <a:fillRect/>
          </a:stretch>
        </p:blipFill>
        <p:spPr>
          <a:xfrm>
            <a:off x="1206550" y="2302002"/>
            <a:ext cx="9924897" cy="4135374"/>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Process = Orchestration</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Process</a:t>
            </a:r>
            <a:r>
              <a:rPr sz="1800" b="0" i="0">
                <a:solidFill>
                  <a:srgbClr val="181B1F"/>
                </a:solidFill>
                <a:latin typeface="IBM Plex Sans"/>
              </a:rPr>
              <a:t> describes a sequence/flow of activities. In BPMN it is a graph of flow elements (a sequence flow of activities, events, gateways).</a:t>
            </a:r>
          </a:p>
        </p:txBody>
      </p:sp>
      <p:sp>
        <p:nvSpPr>
          <p:cNvPr id="6" name="TextBox 5"/>
          <p:cNvSpPr txBox="1"/>
          <p:nvPr/>
        </p:nvSpPr>
        <p:spPr>
          <a:xfrm>
            <a:off x="713232" y="2000777"/>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Process is an </a:t>
            </a:r>
            <a:r>
              <a:rPr sz="1800" b="1" i="0">
                <a:solidFill>
                  <a:srgbClr val="181B1F"/>
                </a:solidFill>
                <a:latin typeface="IBM Plex Sans"/>
              </a:rPr>
              <a:t>orchestration</a:t>
            </a:r>
            <a:r>
              <a:rPr sz="1800" b="0" i="0">
                <a:solidFill>
                  <a:srgbClr val="181B1F"/>
                </a:solidFill>
                <a:latin typeface="IBM Plex Sans"/>
              </a:rPr>
              <a:t> — focused on a </a:t>
            </a:r>
            <a:r>
              <a:rPr sz="1800" b="1" i="0">
                <a:solidFill>
                  <a:srgbClr val="181B1F"/>
                </a:solidFill>
                <a:latin typeface="IBM Plex Sans"/>
              </a:rPr>
              <a:t>single participant's perspective</a:t>
            </a:r>
            <a:r>
              <a:rPr sz="1800" b="0" i="0">
                <a:solidFill>
                  <a:srgbClr val="181B1F"/>
                </a:solidFill>
                <a:latin typeface="IBM Plex Sans"/>
              </a:rPr>
              <a:t>:</a:t>
            </a:r>
          </a:p>
        </p:txBody>
      </p:sp>
      <p:sp>
        <p:nvSpPr>
          <p:cNvPr id="7" name="TextBox 6"/>
          <p:cNvSpPr txBox="1"/>
          <p:nvPr/>
        </p:nvSpPr>
        <p:spPr>
          <a:xfrm>
            <a:off x="713232" y="24137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37314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sequence flow represents control of a process. Like writing your own script.</a:t>
            </a:r>
          </a:p>
        </p:txBody>
      </p:sp>
      <p:sp>
        <p:nvSpPr>
          <p:cNvPr id="9" name="TextBox 8"/>
          <p:cNvSpPr txBox="1"/>
          <p:nvPr/>
        </p:nvSpPr>
        <p:spPr>
          <a:xfrm>
            <a:off x="713232" y="27861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27455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a:t>
            </a:r>
            <a:r>
              <a:rPr sz="1800" b="1" i="0">
                <a:solidFill>
                  <a:srgbClr val="181B1F"/>
                </a:solidFill>
                <a:latin typeface="IBM Plex Sans"/>
              </a:rPr>
              <a:t>token</a:t>
            </a:r>
            <a:r>
              <a:rPr sz="1800" b="0" i="0">
                <a:solidFill>
                  <a:srgbClr val="181B1F"/>
                </a:solidFill>
                <a:latin typeface="IBM Plex Sans"/>
              </a:rPr>
              <a:t> represents state for an instance.</a:t>
            </a:r>
          </a:p>
        </p:txBody>
      </p:sp>
      <p:sp>
        <p:nvSpPr>
          <p:cNvPr id="11" name="TextBox 10"/>
          <p:cNvSpPr txBox="1"/>
          <p:nvPr/>
        </p:nvSpPr>
        <p:spPr>
          <a:xfrm>
            <a:off x="713232" y="31584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311786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Control flow, state and decisions are </a:t>
            </a:r>
            <a:r>
              <a:rPr sz="1800" b="1" i="0">
                <a:solidFill>
                  <a:srgbClr val="181B1F"/>
                </a:solidFill>
                <a:latin typeface="IBM Plex Sans"/>
              </a:rPr>
              <a:t>all local to the orchestrator</a:t>
            </a:r>
            <a:r>
              <a:rPr sz="1800" b="0" i="0">
                <a:solidFill>
                  <a:srgbClr val="181B1F"/>
                </a:solidFill>
                <a:latin typeface="IBM Plex Sans"/>
              </a:rPr>
              <a:t>.</a:t>
            </a:r>
          </a:p>
        </p:txBody>
      </p:sp>
      <p:sp>
        <p:nvSpPr>
          <p:cNvPr id="13" name="TextBox 12"/>
          <p:cNvSpPr txBox="1"/>
          <p:nvPr/>
        </p:nvSpPr>
        <p:spPr>
          <a:xfrm>
            <a:off x="713232" y="35308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4" name="TextBox 13"/>
          <p:cNvSpPr txBox="1"/>
          <p:nvPr/>
        </p:nvSpPr>
        <p:spPr>
          <a:xfrm>
            <a:off x="960120" y="349023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Generally a process orchestration lives within an address space (not distributed) — an embedded workflow or an external process manager, often a state machine or a workflow engine.</a:t>
            </a:r>
          </a:p>
        </p:txBody>
      </p:sp>
      <p:pic>
        <p:nvPicPr>
          <p:cNvPr id="15" name="Picture 14" descr="bpmn-shopping-as-sequence.png"/>
          <p:cNvPicPr>
            <a:picLocks noChangeAspect="1"/>
          </p:cNvPicPr>
          <p:nvPr/>
        </p:nvPicPr>
        <p:blipFill>
          <a:blip r:embed="rId2"/>
          <a:stretch>
            <a:fillRect/>
          </a:stretch>
        </p:blipFill>
        <p:spPr>
          <a:xfrm>
            <a:off x="713232" y="4376797"/>
            <a:ext cx="10911535" cy="1873003"/>
          </a:xfrm>
          <a:prstGeom prst="rect">
            <a:avLst/>
          </a:prstGeom>
        </p:spPr>
      </p:pic>
      <p:sp>
        <p:nvSpPr>
          <p:cNvPr id="16" name="TextBox 1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Tokens</a:t>
            </a:r>
          </a:p>
        </p:txBody>
      </p:sp>
      <p:sp>
        <p:nvSpPr>
          <p:cNvPr id="5" name="TextBox 4"/>
          <p:cNvSpPr txBox="1"/>
          <p:nvPr/>
        </p:nvSpPr>
        <p:spPr>
          <a:xfrm>
            <a:off x="713232" y="133477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6" name="TextBox 5"/>
          <p:cNvSpPr txBox="1"/>
          <p:nvPr/>
        </p:nvSpPr>
        <p:spPr>
          <a:xfrm>
            <a:off x="960120" y="129414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token</a:t>
            </a:r>
            <a:r>
              <a:rPr sz="1800" b="0" i="0">
                <a:solidFill>
                  <a:srgbClr val="181B1F"/>
                </a:solidFill>
                <a:latin typeface="IBM Plex Sans"/>
              </a:rPr>
              <a:t> represents an instance of a process.</a:t>
            </a:r>
          </a:p>
        </p:txBody>
      </p:sp>
      <p:sp>
        <p:nvSpPr>
          <p:cNvPr id="7" name="TextBox 6"/>
          <p:cNvSpPr txBox="1"/>
          <p:nvPr/>
        </p:nvSpPr>
        <p:spPr>
          <a:xfrm>
            <a:off x="713232" y="17071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166651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token flows down the process; it is the state of the process for that instance.</a:t>
            </a:r>
          </a:p>
        </p:txBody>
      </p:sp>
      <p:pic>
        <p:nvPicPr>
          <p:cNvPr id="9" name="Picture 8" descr="bpmn-shopping-collaboration.png"/>
          <p:cNvPicPr>
            <a:picLocks noChangeAspect="1"/>
          </p:cNvPicPr>
          <p:nvPr/>
        </p:nvPicPr>
        <p:blipFill>
          <a:blip r:embed="rId2"/>
          <a:stretch>
            <a:fillRect/>
          </a:stretch>
        </p:blipFill>
        <p:spPr>
          <a:xfrm>
            <a:off x="713232" y="2331728"/>
            <a:ext cx="10911535" cy="3855956"/>
          </a:xfrm>
          <a:prstGeom prst="rect">
            <a:avLst/>
          </a:prstGeom>
        </p:spPr>
      </p:pic>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87</a:t>
            </a:r>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Hotel Example — BPMN Orchestration (Guest Pool)</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guest's journey as an orchestration.</a:t>
            </a:r>
          </a:p>
        </p:txBody>
      </p:sp>
      <p:pic>
        <p:nvPicPr>
          <p:cNvPr id="6" name="Picture 5" descr="bpmn-hotel-guest-pool.png"/>
          <p:cNvPicPr>
            <a:picLocks noChangeAspect="1"/>
          </p:cNvPicPr>
          <p:nvPr/>
        </p:nvPicPr>
        <p:blipFill>
          <a:blip r:embed="rId2"/>
          <a:stretch>
            <a:fillRect/>
          </a:stretch>
        </p:blipFill>
        <p:spPr>
          <a:xfrm>
            <a:off x="794940" y="1735074"/>
            <a:ext cx="10748118" cy="4702302"/>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858012"/>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Hotel Example — BPMN Orchestration (Just Paper Hotels Pool)</a:t>
            </a:r>
          </a:p>
        </p:txBody>
      </p:sp>
      <p:sp>
        <p:nvSpPr>
          <p:cNvPr id="5" name="TextBox 4"/>
          <p:cNvSpPr txBox="1"/>
          <p:nvPr/>
        </p:nvSpPr>
        <p:spPr>
          <a:xfrm>
            <a:off x="713232" y="1739411"/>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agency as an orchestration, initiated by a message. Two lanes: </a:t>
            </a:r>
            <a:r>
              <a:rPr sz="1800" b="1" i="0">
                <a:solidFill>
                  <a:srgbClr val="181B1F"/>
                </a:solidFill>
                <a:latin typeface="IBM Plex Sans"/>
              </a:rPr>
              <a:t>Booking Team</a:t>
            </a:r>
            <a:r>
              <a:rPr sz="1800" b="0" i="0">
                <a:solidFill>
                  <a:srgbClr val="181B1F"/>
                </a:solidFill>
                <a:latin typeface="IBM Plex Sans"/>
              </a:rPr>
              <a:t> and </a:t>
            </a:r>
            <a:r>
              <a:rPr sz="1800" b="1" i="0">
                <a:solidFill>
                  <a:srgbClr val="181B1F"/>
                </a:solidFill>
                <a:latin typeface="IBM Plex Sans"/>
              </a:rPr>
              <a:t>Fax Operator</a:t>
            </a:r>
            <a:r>
              <a:rPr sz="1800" b="0" i="0">
                <a:solidFill>
                  <a:srgbClr val="181B1F"/>
                </a:solidFill>
                <a:latin typeface="IBM Plex Sans"/>
              </a:rPr>
              <a:t>.</a:t>
            </a:r>
          </a:p>
        </p:txBody>
      </p:sp>
      <p:pic>
        <p:nvPicPr>
          <p:cNvPr id="6" name="Picture 5" descr="bpmn-hotel-agency-pool.png"/>
          <p:cNvPicPr>
            <a:picLocks noChangeAspect="1"/>
          </p:cNvPicPr>
          <p:nvPr/>
        </p:nvPicPr>
        <p:blipFill>
          <a:blip r:embed="rId2"/>
          <a:stretch>
            <a:fillRect/>
          </a:stretch>
        </p:blipFill>
        <p:spPr>
          <a:xfrm>
            <a:off x="713232" y="2347667"/>
            <a:ext cx="10911535" cy="3896976"/>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89</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Hotel Example — BPMN Orchestration (The Hotel Pool)</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hotel as an orchestration, initiated by a message. Lanes: </a:t>
            </a:r>
            <a:r>
              <a:rPr sz="1800" b="1" i="0">
                <a:solidFill>
                  <a:srgbClr val="181B1F"/>
                </a:solidFill>
                <a:latin typeface="IBM Plex Sans"/>
              </a:rPr>
              <a:t>Concierge</a:t>
            </a:r>
            <a:r>
              <a:rPr sz="1800" b="0" i="0">
                <a:solidFill>
                  <a:srgbClr val="181B1F"/>
                </a:solidFill>
                <a:latin typeface="IBM Plex Sans"/>
              </a:rPr>
              <a:t> and </a:t>
            </a:r>
            <a:r>
              <a:rPr sz="1800" b="1" i="0">
                <a:solidFill>
                  <a:srgbClr val="181B1F"/>
                </a:solidFill>
                <a:latin typeface="IBM Plex Sans"/>
              </a:rPr>
              <a:t>Front Desk</a:t>
            </a:r>
            <a:r>
              <a:rPr sz="1800" b="0" i="0">
                <a:solidFill>
                  <a:srgbClr val="181B1F"/>
                </a:solidFill>
                <a:latin typeface="IBM Plex Sans"/>
              </a:rPr>
              <a:t>.</a:t>
            </a:r>
          </a:p>
        </p:txBody>
      </p:sp>
      <p:pic>
        <p:nvPicPr>
          <p:cNvPr id="6" name="Picture 5" descr="bpmn-hotel-hotel-pool.png"/>
          <p:cNvPicPr>
            <a:picLocks noChangeAspect="1"/>
          </p:cNvPicPr>
          <p:nvPr/>
        </p:nvPicPr>
        <p:blipFill>
          <a:blip r:embed="rId2"/>
          <a:stretch>
            <a:fillRect/>
          </a:stretch>
        </p:blipFill>
        <p:spPr>
          <a:xfrm>
            <a:off x="713232" y="1964537"/>
            <a:ext cx="10911535" cy="4243374"/>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Hotel Example — Pools and Lanes</a:t>
            </a:r>
          </a:p>
        </p:txBody>
      </p:sp>
      <p:pic>
        <p:nvPicPr>
          <p:cNvPr id="5" name="Picture 4" descr="bpmn-hotel-pools-and-lanes.png"/>
          <p:cNvPicPr>
            <a:picLocks noChangeAspect="1"/>
          </p:cNvPicPr>
          <p:nvPr/>
        </p:nvPicPr>
        <p:blipFill>
          <a:blip r:embed="rId2"/>
          <a:stretch>
            <a:fillRect/>
          </a:stretch>
        </p:blipFill>
        <p:spPr>
          <a:xfrm>
            <a:off x="1750696" y="1245870"/>
            <a:ext cx="8836605" cy="5191505"/>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Collaboration and Choreography</a:t>
            </a:r>
          </a:p>
        </p:txBody>
      </p:sp>
      <p:sp>
        <p:nvSpPr>
          <p:cNvPr id="5" name="TextBox 4"/>
          <p:cNvSpPr txBox="1"/>
          <p:nvPr/>
        </p:nvSpPr>
        <p:spPr>
          <a:xfrm>
            <a:off x="713232" y="133477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6" name="TextBox 5"/>
          <p:cNvSpPr txBox="1"/>
          <p:nvPr/>
        </p:nvSpPr>
        <p:spPr>
          <a:xfrm>
            <a:off x="960120" y="129414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Collaboration</a:t>
            </a:r>
            <a:r>
              <a:rPr sz="1800" b="0" i="0">
                <a:solidFill>
                  <a:srgbClr val="181B1F"/>
                </a:solidFill>
                <a:latin typeface="IBM Plex Sans"/>
              </a:rPr>
              <a:t> has multiple participants, and is focused on </a:t>
            </a:r>
            <a:r>
              <a:rPr sz="1800" b="1" i="0">
                <a:solidFill>
                  <a:srgbClr val="181B1F"/>
                </a:solidFill>
                <a:latin typeface="IBM Plex Sans"/>
              </a:rPr>
              <a:t>how they interact</a:t>
            </a:r>
            <a:r>
              <a:rPr sz="1800" b="0" i="0">
                <a:solidFill>
                  <a:srgbClr val="181B1F"/>
                </a:solidFill>
                <a:latin typeface="IBM Plex Sans"/>
              </a:rPr>
              <a:t>.</a:t>
            </a:r>
          </a:p>
        </p:txBody>
      </p:sp>
      <p:sp>
        <p:nvSpPr>
          <p:cNvPr id="7" name="TextBox 6"/>
          <p:cNvSpPr txBox="1"/>
          <p:nvPr/>
        </p:nvSpPr>
        <p:spPr>
          <a:xfrm>
            <a:off x="713232" y="17071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1666513"/>
            <a:ext cx="10664647"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message exchange between participants in a collaboration is a </a:t>
            </a:r>
            <a:r>
              <a:rPr sz="1800" b="1" i="0">
                <a:solidFill>
                  <a:srgbClr val="181B1F"/>
                </a:solidFill>
                <a:latin typeface="IBM Plex Sans"/>
              </a:rPr>
              <a:t>Choreography</a:t>
            </a:r>
            <a:r>
              <a:rPr sz="1800" b="0" i="0">
                <a:solidFill>
                  <a:srgbClr val="181B1F"/>
                </a:solidFill>
                <a:latin typeface="IBM Plex Sans"/>
              </a:rPr>
              <a:t> — generally the flow of messages between participants; within each orchestrated process there are message events caught or raised.</a:t>
            </a:r>
          </a:p>
        </p:txBody>
      </p:sp>
      <p:sp>
        <p:nvSpPr>
          <p:cNvPr id="9" name="TextBox 8"/>
          <p:cNvSpPr txBox="1"/>
          <p:nvPr/>
        </p:nvSpPr>
        <p:spPr>
          <a:xfrm>
            <a:off x="713232" y="26464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2605805"/>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Processes </a:t>
            </a:r>
            <a:r>
              <a:rPr sz="1800" b="0" i="1">
                <a:solidFill>
                  <a:srgbClr val="181B1F"/>
                </a:solidFill>
                <a:latin typeface="IBM Plex Sans"/>
              </a:rPr>
              <a:t>react</a:t>
            </a:r>
            <a:r>
              <a:rPr sz="1800" b="0" i="0">
                <a:solidFill>
                  <a:srgbClr val="181B1F"/>
                </a:solidFill>
                <a:latin typeface="IBM Plex Sans"/>
              </a:rPr>
              <a:t> to what happens in the choreography — no one owns it (it has no tokens or state of its own).</a:t>
            </a:r>
          </a:p>
        </p:txBody>
      </p:sp>
      <p:sp>
        <p:nvSpPr>
          <p:cNvPr id="11" name="TextBox 10"/>
          <p:cNvSpPr txBox="1"/>
          <p:nvPr/>
        </p:nvSpPr>
        <p:spPr>
          <a:xfrm>
            <a:off x="713232" y="3287033"/>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Interaction can happen two ways:</a:t>
            </a:r>
          </a:p>
        </p:txBody>
      </p:sp>
      <p:sp>
        <p:nvSpPr>
          <p:cNvPr id="12" name="TextBox 11"/>
          <p:cNvSpPr txBox="1"/>
          <p:nvPr/>
        </p:nvSpPr>
        <p:spPr>
          <a:xfrm>
            <a:off x="713232" y="37000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65939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Within a workflow engine</a:t>
            </a:r>
            <a:r>
              <a:rPr sz="1800" b="0" i="0">
                <a:solidFill>
                  <a:srgbClr val="181B1F"/>
                </a:solidFill>
                <a:latin typeface="IBM Plex Sans"/>
              </a:rPr>
              <a:t> — but this creates coupling, and both participants must run in the engine.</a:t>
            </a:r>
          </a:p>
        </p:txBody>
      </p:sp>
      <p:sp>
        <p:nvSpPr>
          <p:cNvPr id="14" name="TextBox 13"/>
          <p:cNvSpPr txBox="1"/>
          <p:nvPr/>
        </p:nvSpPr>
        <p:spPr>
          <a:xfrm>
            <a:off x="713232" y="407238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5" name="TextBox 14"/>
          <p:cNvSpPr txBox="1"/>
          <p:nvPr/>
        </p:nvSpPr>
        <p:spPr>
          <a:xfrm>
            <a:off x="960120" y="4031761"/>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Via an API</a:t>
            </a:r>
            <a:r>
              <a:rPr sz="1800" b="0" i="0">
                <a:solidFill>
                  <a:srgbClr val="181B1F"/>
                </a:solidFill>
                <a:latin typeface="IBM Plex Sans"/>
              </a:rPr>
              <a:t> — from an event-driven perspective, this is the model we care about.</a:t>
            </a:r>
          </a:p>
        </p:txBody>
      </p:sp>
      <p:sp>
        <p:nvSpPr>
          <p:cNvPr id="16" name="TextBox 1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92</a:t>
            </a:r>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Collaboration and Choreography</a:t>
            </a:r>
          </a:p>
        </p:txBody>
      </p:sp>
      <p:pic>
        <p:nvPicPr>
          <p:cNvPr id="5" name="Picture 4" descr="bpmn-shopping-collaboration.png"/>
          <p:cNvPicPr>
            <a:picLocks noChangeAspect="1"/>
          </p:cNvPicPr>
          <p:nvPr/>
        </p:nvPicPr>
        <p:blipFill>
          <a:blip r:embed="rId2"/>
          <a:stretch>
            <a:fillRect/>
          </a:stretch>
        </p:blipFill>
        <p:spPr>
          <a:xfrm>
            <a:off x="713232" y="1913644"/>
            <a:ext cx="10911535" cy="385595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93</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Pools and Lanes</a:t>
            </a:r>
          </a:p>
        </p:txBody>
      </p:sp>
      <p:sp>
        <p:nvSpPr>
          <p:cNvPr id="5" name="TextBox 4"/>
          <p:cNvSpPr txBox="1"/>
          <p:nvPr/>
        </p:nvSpPr>
        <p:spPr>
          <a:xfrm>
            <a:off x="713232" y="133477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6" name="TextBox 5"/>
          <p:cNvSpPr txBox="1"/>
          <p:nvPr/>
        </p:nvSpPr>
        <p:spPr>
          <a:xfrm>
            <a:off x="960120" y="1294149"/>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Pool</a:t>
            </a:r>
            <a:r>
              <a:rPr sz="1800" b="0" i="0">
                <a:solidFill>
                  <a:srgbClr val="181B1F"/>
                </a:solidFill>
                <a:latin typeface="IBM Plex Sans"/>
              </a:rPr>
              <a:t> is a participant in a collaboration (a role or an organization). Not required for the main internal pool (the modeler's own org); required for other organizations' processes.</a:t>
            </a:r>
          </a:p>
        </p:txBody>
      </p:sp>
      <p:sp>
        <p:nvSpPr>
          <p:cNvPr id="7" name="TextBox 6"/>
          <p:cNvSpPr txBox="1"/>
          <p:nvPr/>
        </p:nvSpPr>
        <p:spPr>
          <a:xfrm>
            <a:off x="713232" y="19905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1949977"/>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Lane</a:t>
            </a:r>
            <a:r>
              <a:rPr sz="1800" b="0" i="0">
                <a:solidFill>
                  <a:srgbClr val="181B1F"/>
                </a:solidFill>
                <a:latin typeface="IBM Plex Sans"/>
              </a:rPr>
              <a:t> distinguishes sequences of activities within a pool. White box = can see process; black box = cannot.</a:t>
            </a:r>
          </a:p>
        </p:txBody>
      </p:sp>
      <p:sp>
        <p:nvSpPr>
          <p:cNvPr id="9" name="TextBox 8"/>
          <p:cNvSpPr txBox="1"/>
          <p:nvPr/>
        </p:nvSpPr>
        <p:spPr>
          <a:xfrm>
            <a:off x="713232" y="26464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26058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Activities within the pool are organised by sequence flow.</a:t>
            </a:r>
          </a:p>
        </p:txBody>
      </p:sp>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94</a:t>
            </a:r>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Pools and Lanes</a:t>
            </a:r>
          </a:p>
        </p:txBody>
      </p:sp>
      <p:pic>
        <p:nvPicPr>
          <p:cNvPr id="5" name="Picture 4" descr="bpmn-shopping-collaboration.png"/>
          <p:cNvPicPr>
            <a:picLocks noChangeAspect="1"/>
          </p:cNvPicPr>
          <p:nvPr/>
        </p:nvPicPr>
        <p:blipFill>
          <a:blip r:embed="rId2"/>
          <a:stretch>
            <a:fillRect/>
          </a:stretch>
        </p:blipFill>
        <p:spPr>
          <a:xfrm>
            <a:off x="713232" y="1913644"/>
            <a:ext cx="10911535" cy="385595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Just Paper Hotels Collaboration</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full collaboration diagram for the hotel example.</a:t>
            </a:r>
          </a:p>
        </p:txBody>
      </p:sp>
      <p:pic>
        <p:nvPicPr>
          <p:cNvPr id="6" name="Picture 5" descr="bpmn-hotel-collaboration.png"/>
          <p:cNvPicPr>
            <a:picLocks noChangeAspect="1"/>
          </p:cNvPicPr>
          <p:nvPr/>
        </p:nvPicPr>
        <p:blipFill>
          <a:blip r:embed="rId2"/>
          <a:stretch>
            <a:fillRect/>
          </a:stretch>
        </p:blipFill>
        <p:spPr>
          <a:xfrm>
            <a:off x="2878993" y="1735074"/>
            <a:ext cx="6580013" cy="4702302"/>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Choreography and Conversation</a:t>
            </a:r>
          </a:p>
        </p:txBody>
      </p:sp>
      <p:sp>
        <p:nvSpPr>
          <p:cNvPr id="5" name="TextBox 4"/>
          <p:cNvSpPr txBox="1"/>
          <p:nvPr/>
        </p:nvSpPr>
        <p:spPr>
          <a:xfrm>
            <a:off x="713232" y="133477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6" name="TextBox 5"/>
          <p:cNvSpPr txBox="1"/>
          <p:nvPr/>
        </p:nvSpPr>
        <p:spPr>
          <a:xfrm>
            <a:off x="960120" y="1294149"/>
            <a:ext cx="10664647" cy="1152144"/>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Choreography</a:t>
            </a:r>
            <a:r>
              <a:rPr sz="1800" b="0" i="0">
                <a:solidFill>
                  <a:srgbClr val="181B1F"/>
                </a:solidFill>
                <a:latin typeface="IBM Plex Sans"/>
              </a:rPr>
              <a:t> describes a sequence/flow of activities </a:t>
            </a:r>
            <a:r>
              <a:rPr sz="1800" b="0" i="1">
                <a:solidFill>
                  <a:srgbClr val="181B1F"/>
                </a:solidFill>
                <a:latin typeface="IBM Plex Sans"/>
              </a:rPr>
              <a:t>between</a:t>
            </a:r>
            <a:r>
              <a:rPr sz="1800" b="0" i="0">
                <a:solidFill>
                  <a:srgbClr val="181B1F"/>
                </a:solidFill>
                <a:latin typeface="IBM Plex Sans"/>
              </a:rPr>
              <a:t> participants — a graph of flow elements (a message flow of activities, events, gateways). It is focused on the interaction across participants, </a:t>
            </a:r>
            <a:r>
              <a:rPr sz="1800" b="1" i="0">
                <a:solidFill>
                  <a:srgbClr val="181B1F"/>
                </a:solidFill>
                <a:latin typeface="IBM Plex Sans"/>
              </a:rPr>
              <a:t>like describing a dance</a:t>
            </a:r>
            <a:r>
              <a:rPr sz="1800" b="0" i="0">
                <a:solidFill>
                  <a:srgbClr val="181B1F"/>
                </a:solidFill>
                <a:latin typeface="IBM Plex Sans"/>
              </a:rPr>
              <a:t>: no single owner of the flow, no centralized control, and no access to anyone's shared internal state. It defines </a:t>
            </a:r>
            <a:r>
              <a:rPr sz="1800" b="1" i="0">
                <a:solidFill>
                  <a:srgbClr val="181B1F"/>
                </a:solidFill>
                <a:latin typeface="IBM Plex Sans"/>
              </a:rPr>
              <a:t>who talks to whom, in what order</a:t>
            </a:r>
            <a:r>
              <a:rPr sz="1800" b="0" i="0">
                <a:solidFill>
                  <a:srgbClr val="181B1F"/>
                </a:solidFill>
                <a:latin typeface="IBM Plex Sans"/>
              </a:rPr>
              <a:t>.</a:t>
            </a:r>
          </a:p>
        </p:txBody>
      </p:sp>
      <p:sp>
        <p:nvSpPr>
          <p:cNvPr id="7" name="TextBox 6"/>
          <p:cNvSpPr txBox="1"/>
          <p:nvPr/>
        </p:nvSpPr>
        <p:spPr>
          <a:xfrm>
            <a:off x="713232" y="25575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516905"/>
            <a:ext cx="10664647"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Conversation</a:t>
            </a:r>
            <a:r>
              <a:rPr sz="1800" b="0" i="0">
                <a:solidFill>
                  <a:srgbClr val="181B1F"/>
                </a:solidFill>
                <a:latin typeface="IBM Plex Sans"/>
              </a:rPr>
              <a:t> is a logical association of messages that can all be correlated. </a:t>
            </a:r>
            <a:r>
              <a:rPr sz="1800" b="1" i="0">
                <a:solidFill>
                  <a:srgbClr val="181B1F"/>
                </a:solidFill>
                <a:latin typeface="IBM Plex Sans"/>
              </a:rPr>
              <a:t>Correlation Keys</a:t>
            </a:r>
            <a:r>
              <a:rPr sz="1800" b="0" i="0">
                <a:solidFill>
                  <a:srgbClr val="181B1F"/>
                </a:solidFill>
                <a:latin typeface="IBM Plex Sans"/>
              </a:rPr>
              <a:t> associate messages in the same conversation (may be existing message data); the first task in a conversation </a:t>
            </a:r>
            <a:r>
              <a:rPr sz="1800" b="0" i="1">
                <a:solidFill>
                  <a:srgbClr val="181B1F"/>
                </a:solidFill>
                <a:latin typeface="IBM Plex Sans"/>
              </a:rPr>
              <a:t>must</a:t>
            </a:r>
            <a:r>
              <a:rPr sz="1800" b="0" i="0">
                <a:solidFill>
                  <a:srgbClr val="181B1F"/>
                </a:solidFill>
                <a:latin typeface="IBM Plex Sans"/>
              </a:rPr>
              <a:t> populate the conversation id.</a:t>
            </a:r>
          </a:p>
        </p:txBody>
      </p:sp>
      <p:sp>
        <p:nvSpPr>
          <p:cNvPr id="9" name="TextBox 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97</a:t>
            </a:r>
          </a:p>
        </p:txBody>
      </p:sp>
    </p:spTree>
  </p:cSld>
  <p:clrMapOvr>
    <a:masterClrMapping/>
  </p:clrMapOvr>
  <p:timing>
    <p:tnLst>
      <p:par>
        <p:cTn id="1" dur="indefinite" restart="never" nodeType="tmRoot">
          <p:childTnLst>
            <p:seq concurrent="1" nextAc="seek">
              <p:cTn id="2" dur="indefinite" nodeType="mainSeq">
                <p:childTnLst>
                  <p:par>
                    <p:cTn id="11" fill="hold">
                      <p:stCondLst>
                        <p:cond delay="indefinite"/>
                      </p:stCondLst>
                      <p:childTnLst>
                        <p:par>
                          <p:cTn id="1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Choreography and Conversation</a:t>
            </a:r>
          </a:p>
        </p:txBody>
      </p:sp>
      <p:pic>
        <p:nvPicPr>
          <p:cNvPr id="5" name="Picture 4" descr="bpmn-shopping-choreography.png"/>
          <p:cNvPicPr>
            <a:picLocks noChangeAspect="1"/>
          </p:cNvPicPr>
          <p:nvPr/>
        </p:nvPicPr>
        <p:blipFill>
          <a:blip r:embed="rId2"/>
          <a:stretch>
            <a:fillRect/>
          </a:stretch>
        </p:blipFill>
        <p:spPr>
          <a:xfrm>
            <a:off x="713232" y="2236985"/>
            <a:ext cx="10911535" cy="3209275"/>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Hotel Example — BPMN Choreography</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booking choreography — the flow of messages between participants.</a:t>
            </a:r>
          </a:p>
        </p:txBody>
      </p:sp>
      <p:pic>
        <p:nvPicPr>
          <p:cNvPr id="6" name="Picture 5" descr="bpmn-hotel-choreography.png"/>
          <p:cNvPicPr>
            <a:picLocks noChangeAspect="1"/>
          </p:cNvPicPr>
          <p:nvPr/>
        </p:nvPicPr>
        <p:blipFill>
          <a:blip r:embed="rId2"/>
          <a:stretch>
            <a:fillRect/>
          </a:stretch>
        </p:blipFill>
        <p:spPr>
          <a:xfrm>
            <a:off x="713231" y="2183359"/>
            <a:ext cx="10911535" cy="3805730"/>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99</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Misunderstandings: Choreography and Orchestration</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common EDA notion: </a:t>
            </a:r>
            <a:r>
              <a:rPr sz="1800" b="0" i="1">
                <a:solidFill>
                  <a:srgbClr val="181B1F"/>
                </a:solidFill>
                <a:latin typeface="IBM Plex Sans"/>
              </a:rPr>
              <a:t>messaging (commands) is orchestration; eventing is choreography.</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It is </a:t>
            </a:r>
            <a:r>
              <a:rPr sz="1800" b="1" i="0">
                <a:solidFill>
                  <a:srgbClr val="181B1F"/>
                </a:solidFill>
                <a:latin typeface="IBM Plex Sans"/>
              </a:rPr>
              <a:t>not</a:t>
            </a:r>
            <a:r>
              <a:rPr sz="1800" b="0" i="0">
                <a:solidFill>
                  <a:srgbClr val="181B1F"/>
                </a:solidFill>
                <a:latin typeface="IBM Plex Sans"/>
              </a:rPr>
              <a:t> a helpful rule.</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Choreography is the flow of control and information </a:t>
            </a:r>
            <a:r>
              <a:rPr sz="1800" b="0" i="1">
                <a:solidFill>
                  <a:srgbClr val="181B1F"/>
                </a:solidFill>
                <a:latin typeface="IBM Plex Sans"/>
              </a:rPr>
              <a:t>between</a:t>
            </a:r>
            <a:r>
              <a:rPr sz="1800" b="0" i="0">
                <a:solidFill>
                  <a:srgbClr val="181B1F"/>
                </a:solidFill>
                <a:latin typeface="IBM Plex Sans"/>
              </a:rPr>
              <a:t> orchestrations — frequently out of process, and can use messaging or eventing as required.</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An orchestration is a sequence with attendant session state (token) — frequently not distributed, within an executable process. A </a:t>
            </a:r>
            <a:r>
              <a:rPr sz="1800" b="1" i="0">
                <a:solidFill>
                  <a:srgbClr val="181B1F"/>
                </a:solidFill>
                <a:latin typeface="IBM Plex Sans"/>
              </a:rPr>
              <a:t>routing slip</a:t>
            </a:r>
            <a:r>
              <a:rPr sz="1800" b="0" i="0">
                <a:solidFill>
                  <a:srgbClr val="181B1F"/>
                </a:solidFill>
                <a:latin typeface="IBM Plex Sans"/>
              </a:rPr>
              <a:t> is a distributed orchestration that uses message attributes as the engine of application state.</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100</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Mistakes: Event Chaining</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sensible balance of orchestrated bounded contexts and choreography between them reduces event chaining. But </a:t>
            </a:r>
            <a:r>
              <a:rPr sz="1800" b="1" i="0">
                <a:solidFill>
                  <a:srgbClr val="181B1F"/>
                </a:solidFill>
                <a:latin typeface="IBM Plex Sans"/>
              </a:rPr>
              <a:t>Event Pinball</a:t>
            </a:r>
            <a:r>
              <a:rPr sz="1800" b="0" i="0">
                <a:solidFill>
                  <a:srgbClr val="181B1F"/>
                </a:solidFill>
                <a:latin typeface="IBM Plex Sans"/>
              </a:rPr>
              <a:t> can still be a problem between orchestrated services.</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In-Out (or Robust In-Only):</a:t>
            </a:r>
            <a:r>
              <a:rPr sz="1800" b="0" i="0">
                <a:solidFill>
                  <a:srgbClr val="181B1F"/>
                </a:solidFill>
                <a:latin typeface="IBM Plex Sans"/>
              </a:rPr>
              <a:t> explicit transfer of control reduces the "pinball effect" — creates causality by awaiting a response (send a </a:t>
            </a:r>
            <a:r>
              <a:rPr sz="1800" b="0" i="1">
                <a:solidFill>
                  <a:srgbClr val="181B1F"/>
                </a:solidFill>
                <a:latin typeface="IBM Plex Sans"/>
              </a:rPr>
              <a:t>command</a:t>
            </a:r>
            <a:r>
              <a:rPr sz="1800" b="0" i="0">
                <a:solidFill>
                  <a:srgbClr val="181B1F"/>
                </a:solidFill>
                <a:latin typeface="IBM Plex Sans"/>
              </a:rPr>
              <a:t> and wait for a response, not an event).</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Out-Only:</a:t>
            </a:r>
            <a:r>
              <a:rPr sz="1800" b="0" i="0">
                <a:solidFill>
                  <a:srgbClr val="181B1F"/>
                </a:solidFill>
                <a:latin typeface="IBM Plex Sans"/>
              </a:rPr>
              <a:t> often better at the </a:t>
            </a:r>
            <a:r>
              <a:rPr sz="1800" b="0" i="1">
                <a:solidFill>
                  <a:srgbClr val="181B1F"/>
                </a:solidFill>
                <a:latin typeface="IBM Plex Sans"/>
              </a:rPr>
              <a:t>termination</a:t>
            </a:r>
            <a:r>
              <a:rPr sz="1800" b="0" i="0">
                <a:solidFill>
                  <a:srgbClr val="181B1F"/>
                </a:solidFill>
                <a:latin typeface="IBM Plex Sans"/>
              </a:rPr>
              <a:t> of a workflow, or to broadcast intermediate states with no expectation of response.</a:t>
            </a:r>
          </a:p>
        </p:txBody>
      </p:sp>
      <p:sp>
        <p:nvSpPr>
          <p:cNvPr id="10" name="TextBox 9"/>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101</a:t>
            </a:r>
          </a:p>
        </p:txBody>
      </p:sp>
    </p:spTree>
  </p:cSld>
  <p:clrMapOvr>
    <a:masterClrMapping/>
  </p:clrMapOvr>
  <p:timing>
    <p:tnLst>
      <p:par>
        <p:cTn id="1" dur="indefinite" restart="never" nodeType="tmRoot">
          <p:childTnLst>
            <p:seq concurrent="1" nextAc="seek">
              <p:cTn id="2" dur="indefinite" nodeType="mainSeq">
                <p:childTnLst>
                  <p:par>
                    <p:cTn id="13" fill="hold">
                      <p:stCondLst>
                        <p:cond delay="indefinite"/>
                      </p:stCondLst>
                      <p:childTnLst>
                        <p:par>
                          <p:cTn id="1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Allocating Responsibility for Collaborations</a:t>
            </a:r>
          </a:p>
        </p:txBody>
      </p:sp>
      <p:sp>
        <p:nvSpPr>
          <p:cNvPr id="5" name="TextBox 4"/>
          <p:cNvSpPr txBox="1"/>
          <p:nvPr/>
        </p:nvSpPr>
        <p:spPr>
          <a:xfrm>
            <a:off x="713232" y="133477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6" name="TextBox 5"/>
          <p:cNvSpPr txBox="1"/>
          <p:nvPr/>
        </p:nvSpPr>
        <p:spPr>
          <a:xfrm>
            <a:off x="960120" y="1294149"/>
            <a:ext cx="10664647" cy="868680"/>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Commands / Messaging</a:t>
            </a:r>
            <a:r>
              <a:rPr sz="1800" b="0" i="0">
                <a:solidFill>
                  <a:srgbClr val="181B1F"/>
                </a:solidFill>
                <a:latin typeface="IBM Plex Sans"/>
              </a:rPr>
              <a:t> — transfer of control/data; typically delegating responsibility for part of a workflow. In-Out (expected to return); In-Only (not expected to return, but may on error → Robust In-Only).</a:t>
            </a:r>
          </a:p>
        </p:txBody>
      </p:sp>
      <p:sp>
        <p:nvSpPr>
          <p:cNvPr id="7" name="TextBox 6"/>
          <p:cNvSpPr txBox="1"/>
          <p:nvPr/>
        </p:nvSpPr>
        <p:spPr>
          <a:xfrm>
            <a:off x="713232" y="22740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2233441"/>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Events</a:t>
            </a:r>
            <a:r>
              <a:rPr sz="1800" b="0" i="0">
                <a:solidFill>
                  <a:srgbClr val="181B1F"/>
                </a:solidFill>
                <a:latin typeface="IBM Plex Sans"/>
              </a:rPr>
              <a:t> — communicate the outcome of a workflow (complete, or a milestone broadcast). Out-Only (no expected return).</a:t>
            </a:r>
          </a:p>
        </p:txBody>
      </p:sp>
      <p:sp>
        <p:nvSpPr>
          <p:cNvPr id="9" name="TextBox 8"/>
          <p:cNvSpPr txBox="1"/>
          <p:nvPr/>
        </p:nvSpPr>
        <p:spPr>
          <a:xfrm>
            <a:off x="713232" y="29298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2889269"/>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Workflow code is glue</a:t>
            </a:r>
            <a:r>
              <a:rPr sz="1800" b="0" i="0">
                <a:solidFill>
                  <a:srgbClr val="181B1F"/>
                </a:solidFill>
                <a:latin typeface="IBM Plex Sans"/>
              </a:rPr>
              <a:t> — glue does not execute the domain (it is not the behaviour); it </a:t>
            </a:r>
            <a:r>
              <a:rPr sz="1800" b="0" i="1">
                <a:solidFill>
                  <a:srgbClr val="181B1F"/>
                </a:solidFill>
                <a:latin typeface="IBM Plex Sans"/>
              </a:rPr>
              <a:t>calls</a:t>
            </a:r>
            <a:r>
              <a:rPr sz="1800" b="0" i="0">
                <a:solidFill>
                  <a:srgbClr val="181B1F"/>
                </a:solidFill>
                <a:latin typeface="IBM Plex Sans"/>
              </a:rPr>
              <a:t> something that has the behaviour.</a:t>
            </a:r>
          </a:p>
        </p:txBody>
      </p:sp>
      <p:sp>
        <p:nvSpPr>
          <p:cNvPr id="11" name="TextBox 10"/>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102</a:t>
            </a:r>
          </a:p>
        </p:txBody>
      </p:sp>
    </p:spTree>
  </p:cSld>
  <p:clrMapOvr>
    <a:masterClrMapping/>
  </p:clrMapOvr>
  <p:timing>
    <p:tnLst>
      <p:par>
        <p:cTn id="1" dur="indefinite" restart="never" nodeType="tmRoot">
          <p:childTnLst>
            <p:seq concurrent="1" nextAc="seek">
              <p:cTn id="2" dur="indefinite" nodeType="mainSeq">
                <p:childTnLst>
                  <p:par>
                    <p:cTn id="15" fill="hold">
                      <p:stCondLst>
                        <p:cond delay="indefinite"/>
                      </p:stCondLst>
                      <p:childTnLst>
                        <p:par>
                          <p:cTn id="1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Orchestration vs. Choreography — Summary</a:t>
            </a:r>
          </a:p>
        </p:txBody>
      </p:sp>
      <p:graphicFrame>
        <p:nvGraphicFramePr>
          <p:cNvPr id="5" name="Table 4"/>
          <p:cNvGraphicFramePr>
            <a:graphicFrameLocks noGrp="1"/>
          </p:cNvGraphicFramePr>
          <p:nvPr/>
        </p:nvGraphicFramePr>
        <p:xfrm>
          <a:off x="713232" y="1355598"/>
          <a:ext cx="10911534" cy="2725667"/>
        </p:xfrm>
        <a:graphic>
          <a:graphicData uri="http://schemas.openxmlformats.org/drawingml/2006/table">
            <a:tbl>
              <a:tblPr firstRow="1">
                <a:tableStyleId>{5C22544A-7EE6-4342-B048-85BDC9FD1C3A}</a:tableStyleId>
              </a:tblPr>
              <a:tblGrid>
                <a:gridCol w="1678778"/>
                <a:gridCol w="5822664"/>
                <a:gridCol w="3410092"/>
              </a:tblGrid>
              <a:tr h="389381">
                <a:tc>
                  <a:txBody>
                    <a:bodyPr/>
                    <a:lstStyle/>
                    <a:p>
                      <a:pPr>
                        <a:lnSpc>
                          <a:spcPct val="118000"/>
                        </a:lnSpc>
                      </a:pPr>
                      <a:r>
                        <a:rPr sz="1500" b="1" i="0">
                          <a:solidFill>
                            <a:srgbClr val="181B1F"/>
                          </a:solidFill>
                          <a:latin typeface="IBM Plex Sans"/>
                        </a:rPr>
                        <a:t>Aspect</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Orchestration</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Choreography</a:t>
                      </a:r>
                    </a:p>
                  </a:txBody>
                  <a:tcPr marL="82296" marR="82296" marT="27432" marB="27432">
                    <a:solidFill>
                      <a:srgbClr val="F3EFE6"/>
                    </a:solidFill>
                  </a:tcPr>
                </a:tc>
              </a:tr>
              <a:tr h="389381">
                <a:tc>
                  <a:txBody>
                    <a:bodyPr/>
                    <a:lstStyle/>
                    <a:p>
                      <a:pPr>
                        <a:lnSpc>
                          <a:spcPct val="118000"/>
                        </a:lnSpc>
                      </a:pPr>
                      <a:r>
                        <a:rPr sz="1500" b="0" i="0">
                          <a:solidFill>
                            <a:srgbClr val="181B1F"/>
                          </a:solidFill>
                          <a:latin typeface="IBM Plex Sans"/>
                        </a:rPr>
                        <a:t>Control</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Centralized (one participant)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Decentralized (shared)</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BPMN Shape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Inside a Pool</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Between Pools</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Perspective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One party's process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Multi-party message exchange</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Data Access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Internal</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Shared messages</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Execution Tool</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API calls, handlers, workflow engine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Messaging protocol</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Example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agency coordinates payment and the hotel booking</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Guest + Agency + Hotel interact</a:t>
                      </a:r>
                    </a:p>
                  </a:txBody>
                  <a:tcPr marL="82296" marR="82296" marT="27432" marB="27432">
                    <a:solidFill>
                      <a:srgbClr val="FDFCFA"/>
                    </a:solidFill>
                  </a:tcPr>
                </a:tc>
              </a:tr>
            </a:tbl>
          </a:graphicData>
        </a:graphic>
      </p:graphicFrame>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103</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Durable Execution</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Long-running processes must: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Survive restarts.</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Handle retries and failures.</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Resume after waiting (e.g. for payment or the hotel's answer).</a:t>
            </a:r>
          </a:p>
        </p:txBody>
      </p:sp>
      <p:sp>
        <p:nvSpPr>
          <p:cNvPr id="12" name="TextBox 11"/>
          <p:cNvSpPr txBox="1"/>
          <p:nvPr/>
        </p:nvSpPr>
        <p:spPr>
          <a:xfrm>
            <a:off x="713232" y="2834405"/>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Durable execution = we </a:t>
            </a:r>
            <a:r>
              <a:rPr sz="1800" b="1" i="0">
                <a:solidFill>
                  <a:srgbClr val="181B1F"/>
                </a:solidFill>
                <a:latin typeface="IBM Plex Sans"/>
              </a:rPr>
              <a:t>persist activity state</a:t>
            </a:r>
            <a:r>
              <a:rPr sz="1800" b="0" i="0">
                <a:solidFill>
                  <a:srgbClr val="181B1F"/>
                </a:solidFill>
                <a:latin typeface="IBM Plex Sans"/>
              </a:rPr>
              <a:t> to indicate which steps are complete, when we're awaiting an event, etc.</a:t>
            </a:r>
          </a:p>
        </p:txBody>
      </p:sp>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104</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Tentative Operations</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conversation that spans more than a request and a response: the requestor may not know whether the provider can succeed, and may not want to proceed without knowing.</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585216"/>
          </a:xfrm>
          <a:prstGeom prst="rect">
            <a:avLst/>
          </a:prstGeom>
          <a:noFill/>
        </p:spPr>
        <p:txBody>
          <a:bodyPr wrap="square" lIns="0" rIns="0" tIns="0" bIns="0">
            <a:spAutoFit/>
          </a:bodyPr>
          <a:lstStyle/>
          <a:p>
            <a:pPr>
              <a:lnSpc>
                <a:spcPts val="2232"/>
              </a:lnSpc>
            </a:pPr>
            <a:r>
              <a:rPr sz="1700" b="0" i="0">
                <a:solidFill>
                  <a:srgbClr val="181B1F"/>
                </a:solidFill>
                <a:latin typeface="IBM Plex Mono"/>
              </a:rPr>
              <a:t>reserve()</a:t>
            </a:r>
            <a:r>
              <a:rPr sz="1800" b="0" i="0">
                <a:solidFill>
                  <a:srgbClr val="181B1F"/>
                </a:solidFill>
                <a:latin typeface="IBM Plex Sans"/>
              </a:rPr>
              <a:t> — the requestor asks if the operation is possible and reserves the resources; the provider reserves the resource (usually with a timeout) and awaits commit or rollback (</a:t>
            </a:r>
            <a:r>
              <a:rPr sz="1700" b="0" i="0">
                <a:solidFill>
                  <a:srgbClr val="181B1F"/>
                </a:solidFill>
                <a:latin typeface="IBM Plex Mono"/>
              </a:rPr>
              <a:t>reservation()</a:t>
            </a:r>
            <a:r>
              <a:rPr sz="1800" b="0" i="0">
                <a:solidFill>
                  <a:srgbClr val="181B1F"/>
                </a:solidFill>
                <a:latin typeface="IBM Plex Sans"/>
              </a:rPr>
              <a:t>).</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 success → </a:t>
            </a:r>
            <a:r>
              <a:rPr sz="1700" b="0" i="0">
                <a:solidFill>
                  <a:srgbClr val="181B1F"/>
                </a:solidFill>
                <a:latin typeface="IBM Plex Mono"/>
              </a:rPr>
              <a:t>commit()</a:t>
            </a:r>
            <a:r>
              <a:rPr sz="1800" b="0" i="0">
                <a:solidFill>
                  <a:srgbClr val="181B1F"/>
                </a:solidFill>
                <a:latin typeface="IBM Plex Sans"/>
              </a:rPr>
              <a:t> → </a:t>
            </a:r>
            <a:r>
              <a:rPr sz="1700" b="0" i="0">
                <a:solidFill>
                  <a:srgbClr val="181B1F"/>
                </a:solidFill>
                <a:latin typeface="IBM Plex Mono"/>
              </a:rPr>
              <a:t>acknowledge()</a:t>
            </a:r>
            <a:r>
              <a:rPr sz="1800" b="0" i="0">
                <a:solidFill>
                  <a:srgbClr val="181B1F"/>
                </a:solidFill>
                <a:latin typeface="IBM Plex Sans"/>
              </a:rPr>
              <a:t> (allocate the reserved capacity).</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 failure → </a:t>
            </a:r>
            <a:r>
              <a:rPr sz="1700" b="0" i="0">
                <a:solidFill>
                  <a:srgbClr val="181B1F"/>
                </a:solidFill>
                <a:latin typeface="IBM Plex Mono"/>
              </a:rPr>
              <a:t>rollback()</a:t>
            </a:r>
            <a:r>
              <a:rPr sz="1800" b="0" i="0">
                <a:solidFill>
                  <a:srgbClr val="181B1F"/>
                </a:solidFill>
                <a:latin typeface="IBM Plex Sans"/>
              </a:rPr>
              <a:t> → </a:t>
            </a:r>
            <a:r>
              <a:rPr sz="1700" b="0" i="0">
                <a:solidFill>
                  <a:srgbClr val="181B1F"/>
                </a:solidFill>
                <a:latin typeface="IBM Plex Mono"/>
              </a:rPr>
              <a:t>freed()</a:t>
            </a:r>
            <a:r>
              <a:rPr sz="1800" b="0" i="0">
                <a:solidFill>
                  <a:srgbClr val="181B1F"/>
                </a:solidFill>
                <a:latin typeface="IBM Plex Sans"/>
              </a:rPr>
              <a:t> (free the reserved capacity).</a:t>
            </a:r>
          </a:p>
        </p:txBody>
      </p:sp>
      <p:sp>
        <p:nvSpPr>
          <p:cNvPr id="12" name="TextBox 11"/>
          <p:cNvSpPr txBox="1"/>
          <p:nvPr/>
        </p:nvSpPr>
        <p:spPr>
          <a:xfrm>
            <a:off x="713232" y="3401333"/>
            <a:ext cx="10911535" cy="1152144"/>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booking, exactly:</a:t>
            </a:r>
            <a:r>
              <a:rPr sz="1800" b="0" i="0">
                <a:solidFill>
                  <a:srgbClr val="181B1F"/>
                </a:solidFill>
                <a:latin typeface="IBM Plex Sans"/>
              </a:rPr>
              <a:t> the agency asks the hotel to </a:t>
            </a:r>
            <a:r>
              <a:rPr sz="1700" b="0" i="0">
                <a:solidFill>
                  <a:srgbClr val="181B1F"/>
                </a:solidFill>
                <a:latin typeface="IBM Plex Mono"/>
              </a:rPr>
              <a:t>reserve()</a:t>
            </a:r>
            <a:r>
              <a:rPr sz="1800" b="0" i="0">
                <a:solidFill>
                  <a:srgbClr val="181B1F"/>
                </a:solidFill>
                <a:latin typeface="IBM Plex Sans"/>
              </a:rPr>
              <a:t> a room. The hotel holds it </a:t>
            </a:r>
            <a:r>
              <a:rPr sz="1800" b="1" i="0">
                <a:solidFill>
                  <a:srgbClr val="181B1F"/>
                </a:solidFill>
                <a:latin typeface="IBM Plex Sans"/>
              </a:rPr>
              <a:t>with a timeout</a:t>
            </a:r>
            <a:r>
              <a:rPr sz="1800" b="0" i="0">
                <a:solidFill>
                  <a:srgbClr val="181B1F"/>
                </a:solidFill>
                <a:latin typeface="IBM Plex Sans"/>
              </a:rPr>
              <a:t>, so it can sell the room to someone else if we go quiet. Guest pays inside the limit → </a:t>
            </a:r>
            <a:r>
              <a:rPr sz="1700" b="0" i="0">
                <a:solidFill>
                  <a:srgbClr val="181B1F"/>
                </a:solidFill>
                <a:latin typeface="IBM Plex Mono"/>
              </a:rPr>
              <a:t>commit()</a:t>
            </a:r>
            <a:r>
              <a:rPr sz="1800" b="0" i="0">
                <a:solidFill>
                  <a:srgbClr val="181B1F"/>
                </a:solidFill>
                <a:latin typeface="IBM Plex Sans"/>
              </a:rPr>
              <a:t> → </a:t>
            </a:r>
            <a:r>
              <a:rPr sz="1700" b="0" i="0">
                <a:solidFill>
                  <a:srgbClr val="181B1F"/>
                </a:solidFill>
                <a:latin typeface="IBM Plex Mono"/>
              </a:rPr>
              <a:t>acknowledge()</a:t>
            </a:r>
            <a:r>
              <a:rPr sz="1800" b="0" i="0">
                <a:solidFill>
                  <a:srgbClr val="181B1F"/>
                </a:solidFill>
                <a:latin typeface="IBM Plex Sans"/>
              </a:rPr>
              <a:t>, the room is allocated. Guest abandons, or the card is declined → </a:t>
            </a:r>
            <a:r>
              <a:rPr sz="1700" b="0" i="0">
                <a:solidFill>
                  <a:srgbClr val="181B1F"/>
                </a:solidFill>
                <a:latin typeface="IBM Plex Mono"/>
              </a:rPr>
              <a:t>rollback()</a:t>
            </a:r>
            <a:r>
              <a:rPr sz="1800" b="0" i="0">
                <a:solidFill>
                  <a:srgbClr val="181B1F"/>
                </a:solidFill>
                <a:latin typeface="IBM Plex Sans"/>
              </a:rPr>
              <a:t> → </a:t>
            </a:r>
            <a:r>
              <a:rPr sz="1700" b="0" i="0">
                <a:solidFill>
                  <a:srgbClr val="181B1F"/>
                </a:solidFill>
                <a:latin typeface="IBM Plex Mono"/>
              </a:rPr>
              <a:t>freed()</a:t>
            </a:r>
            <a:r>
              <a:rPr sz="1800" b="0" i="0">
                <a:solidFill>
                  <a:srgbClr val="181B1F"/>
                </a:solidFill>
                <a:latin typeface="IBM Plex Sans"/>
              </a:rPr>
              <a:t>.</a:t>
            </a:r>
          </a:p>
        </p:txBody>
      </p:sp>
      <p:sp>
        <p:nvSpPr>
          <p:cNvPr id="13" name="TextBox 1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105</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Activities and Resources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Broadly, a software component manages </a:t>
            </a:r>
            <a:r>
              <a:rPr sz="1800" b="1" i="0">
                <a:solidFill>
                  <a:srgbClr val="181B1F"/>
                </a:solidFill>
                <a:latin typeface="IBM Plex Sans"/>
              </a:rPr>
              <a:t>activities</a:t>
            </a:r>
            <a:r>
              <a:rPr sz="1800" b="0" i="0">
                <a:solidFill>
                  <a:srgbClr val="181B1F"/>
                </a:solidFill>
                <a:latin typeface="IBM Plex Sans"/>
              </a:rPr>
              <a:t> and </a:t>
            </a:r>
            <a:r>
              <a:rPr sz="1800" b="1" i="0">
                <a:solidFill>
                  <a:srgbClr val="181B1F"/>
                </a:solidFill>
                <a:latin typeface="IBM Plex Sans"/>
              </a:rPr>
              <a:t>resources</a:t>
            </a:r>
            <a:r>
              <a:rPr sz="1800" b="0" i="0">
                <a:solidFill>
                  <a:srgbClr val="181B1F"/>
                </a:solidFill>
                <a:latin typeface="IBM Plex Sans"/>
              </a:rPr>
              <a:t> (Pat Helland).</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Resources:</a:t>
            </a:r>
            <a:r>
              <a:rPr sz="1800" b="0" i="0">
                <a:solidFill>
                  <a:srgbClr val="181B1F"/>
                </a:solidFill>
                <a:latin typeface="IBM Plex Sans"/>
              </a:rPr>
              <a:t> domain concepts we manage — hotels, rooms, guests.</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Activities:</a:t>
            </a:r>
            <a:r>
              <a:rPr sz="1800" b="0" i="0">
                <a:solidFill>
                  <a:srgbClr val="181B1F"/>
                </a:solidFill>
                <a:latin typeface="IBM Plex Sans"/>
              </a:rPr>
              <a:t> one or more sequences for our interaction with resources.</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As the token moves through the sequence we update resources </a:t>
            </a:r>
            <a:r>
              <a:rPr sz="1800" b="0" i="1">
                <a:solidFill>
                  <a:srgbClr val="181B1F"/>
                </a:solidFill>
                <a:latin typeface="IBM Plex Sans"/>
              </a:rPr>
              <a:t>and</a:t>
            </a:r>
            <a:r>
              <a:rPr sz="1800" b="0" i="0">
                <a:solidFill>
                  <a:srgbClr val="181B1F"/>
                </a:solidFill>
                <a:latin typeface="IBM Plex Sans"/>
              </a:rPr>
              <a:t> the activity (to indicate progress).</a:t>
            </a:r>
          </a:p>
        </p:txBody>
      </p:sp>
      <p:sp>
        <p:nvSpPr>
          <p:cNvPr id="12" name="TextBox 11"/>
          <p:cNvSpPr txBox="1"/>
          <p:nvPr/>
        </p:nvSpPr>
        <p:spPr>
          <a:xfrm>
            <a:off x="713232" y="28496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28090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implementation question: </a:t>
            </a:r>
            <a:r>
              <a:rPr sz="1800" b="1" i="0">
                <a:solidFill>
                  <a:srgbClr val="181B1F"/>
                </a:solidFill>
                <a:latin typeface="IBM Plex Sans"/>
              </a:rPr>
              <a:t>where does activity state live, and who updates it?</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106</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Activities and Resources — Worked Example</a:t>
            </a:r>
          </a:p>
        </p:txBody>
      </p:sp>
      <p:sp>
        <p:nvSpPr>
          <p:cNvPr id="5" name="TextBox 4"/>
          <p:cNvSpPr txBox="1"/>
          <p:nvPr/>
        </p:nvSpPr>
        <p:spPr>
          <a:xfrm>
            <a:off x="713232" y="133477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6" name="TextBox 5"/>
          <p:cNvSpPr txBox="1"/>
          <p:nvPr/>
        </p:nvSpPr>
        <p:spPr>
          <a:xfrm>
            <a:off x="960120" y="1294149"/>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Booking Team → Hotel:</a:t>
            </a:r>
            <a:r>
              <a:rPr sz="1800" b="0" i="0">
                <a:solidFill>
                  <a:srgbClr val="181B1F"/>
                </a:solidFill>
                <a:latin typeface="IBM Plex Sans"/>
              </a:rPr>
              <a:t> </a:t>
            </a:r>
            <a:r>
              <a:rPr sz="1700" b="0" i="0">
                <a:solidFill>
                  <a:srgbClr val="181B1F"/>
                </a:solidFill>
                <a:latin typeface="IBM Plex Mono"/>
              </a:rPr>
              <a:t>reserve()</a:t>
            </a:r>
            <a:r>
              <a:rPr sz="1800" b="0" i="0">
                <a:solidFill>
                  <a:srgbClr val="181B1F"/>
                </a:solidFill>
                <a:latin typeface="IBM Plex Sans"/>
              </a:rPr>
              <a:t> a room → </a:t>
            </a:r>
            <a:r>
              <a:rPr sz="1700" b="0" i="0">
                <a:solidFill>
                  <a:srgbClr val="181B1F"/>
                </a:solidFill>
                <a:latin typeface="IBM Plex Mono"/>
              </a:rPr>
              <a:t>reservation()</a:t>
            </a:r>
            <a:r>
              <a:rPr sz="1800" b="0" i="0">
                <a:solidFill>
                  <a:srgbClr val="181B1F"/>
                </a:solidFill>
                <a:latin typeface="IBM Plex Sans"/>
              </a:rPr>
              <a:t> (waiting for response).</a:t>
            </a:r>
          </a:p>
        </p:txBody>
      </p:sp>
      <p:sp>
        <p:nvSpPr>
          <p:cNvPr id="7" name="TextBox 6"/>
          <p:cNvSpPr txBox="1"/>
          <p:nvPr/>
        </p:nvSpPr>
        <p:spPr>
          <a:xfrm>
            <a:off x="713232" y="17071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8" name="TextBox 7"/>
          <p:cNvSpPr txBox="1"/>
          <p:nvPr/>
        </p:nvSpPr>
        <p:spPr>
          <a:xfrm>
            <a:off x="960120" y="1666513"/>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Booking Team → Payment Provider:</a:t>
            </a:r>
            <a:r>
              <a:rPr sz="1800" b="0" i="0">
                <a:solidFill>
                  <a:srgbClr val="181B1F"/>
                </a:solidFill>
                <a:latin typeface="IBM Plex Sans"/>
              </a:rPr>
              <a:t> </a:t>
            </a:r>
            <a:r>
              <a:rPr sz="1700" b="0" i="0">
                <a:solidFill>
                  <a:srgbClr val="181B1F"/>
                </a:solidFill>
                <a:latin typeface="IBM Plex Mono"/>
              </a:rPr>
              <a:t>take payment()</a:t>
            </a:r>
            <a:r>
              <a:rPr sz="1800" b="0" i="0">
                <a:solidFill>
                  <a:srgbClr val="181B1F"/>
                </a:solidFill>
                <a:latin typeface="IBM Plex Sans"/>
              </a:rPr>
              <a:t> → </a:t>
            </a:r>
            <a:r>
              <a:rPr sz="1700" b="0" i="0">
                <a:solidFill>
                  <a:srgbClr val="181B1F"/>
                </a:solidFill>
                <a:latin typeface="IBM Plex Mono"/>
              </a:rPr>
              <a:t>payment taken()</a:t>
            </a:r>
            <a:r>
              <a:rPr sz="1800" b="0" i="0">
                <a:solidFill>
                  <a:srgbClr val="181B1F"/>
                </a:solidFill>
                <a:latin typeface="IBM Plex Sans"/>
              </a:rPr>
              <a:t> (waiting for response).</a:t>
            </a:r>
          </a:p>
        </p:txBody>
      </p:sp>
      <p:sp>
        <p:nvSpPr>
          <p:cNvPr id="9" name="TextBox 8"/>
          <p:cNvSpPr txBox="1"/>
          <p:nvPr/>
        </p:nvSpPr>
        <p:spPr>
          <a:xfrm>
            <a:off x="713232" y="20794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0" name="TextBox 9"/>
          <p:cNvSpPr txBox="1"/>
          <p:nvPr/>
        </p:nvSpPr>
        <p:spPr>
          <a:xfrm>
            <a:off x="960120" y="2038877"/>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Activity</a:t>
            </a:r>
            <a:r>
              <a:rPr sz="1800" b="0" i="0">
                <a:solidFill>
                  <a:srgbClr val="181B1F"/>
                </a:solidFill>
                <a:latin typeface="IBM Plex Sans"/>
              </a:rPr>
              <a:t> (usually a service task) — glue code that calls domain logic internally or messages another app; could be a framework, a bespoke state machine, or pipes and filters.</a:t>
            </a:r>
          </a:p>
        </p:txBody>
      </p:sp>
      <p:sp>
        <p:nvSpPr>
          <p:cNvPr id="11" name="TextBox 10"/>
          <p:cNvSpPr txBox="1"/>
          <p:nvPr/>
        </p:nvSpPr>
        <p:spPr>
          <a:xfrm>
            <a:off x="713232" y="27353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2" name="TextBox 11"/>
          <p:cNvSpPr txBox="1"/>
          <p:nvPr/>
        </p:nvSpPr>
        <p:spPr>
          <a:xfrm>
            <a:off x="960120" y="2694705"/>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Resources</a:t>
            </a:r>
            <a:r>
              <a:rPr sz="1800" b="0" i="0">
                <a:solidFill>
                  <a:srgbClr val="181B1F"/>
                </a:solidFill>
                <a:latin typeface="IBM Plex Sans"/>
              </a:rPr>
              <a:t> — code/data managing shared items coordinated across activities (room inventory, rate plans) — our domain model.</a:t>
            </a:r>
          </a:p>
        </p:txBody>
      </p:sp>
      <p:sp>
        <p:nvSpPr>
          <p:cNvPr id="13" name="TextBox 12"/>
          <p:cNvSpPr txBox="1"/>
          <p:nvPr/>
        </p:nvSpPr>
        <p:spPr>
          <a:xfrm>
            <a:off x="713232" y="33911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4" name="TextBox 13"/>
          <p:cNvSpPr txBox="1"/>
          <p:nvPr/>
        </p:nvSpPr>
        <p:spPr>
          <a:xfrm>
            <a:off x="960120" y="335053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Our workflow stores the token state (where are we in the flow?), and there is a choreography — the messages we exchange with other participants running their own flows.</a:t>
            </a:r>
          </a:p>
        </p:txBody>
      </p:sp>
      <p:sp>
        <p:nvSpPr>
          <p:cNvPr id="15" name="TextBox 14"/>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107</a:t>
            </a:r>
          </a:p>
        </p:txBody>
      </p:sp>
    </p:spTree>
  </p:cSld>
  <p:clrMapOvr>
    <a:masterClrMapping/>
  </p:clrMapOvr>
  <p:timing>
    <p:tnLst>
      <p:par>
        <p:cTn id="1" dur="indefinite" restart="never" nodeType="tmRoot">
          <p:childTnLst>
            <p:seq concurrent="1" nextAc="seek">
              <p:cTn id="2" dur="indefinite" nodeType="mainSeq">
                <p:childTnLst>
                  <p:par>
                    <p:cTn id="23" fill="hold">
                      <p:stCondLst>
                        <p:cond delay="indefinite"/>
                      </p:stCondLst>
                      <p:childTnLst>
                        <p:par>
                          <p:cTn id="24"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Handlers + Activity State Updates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Handlers process events (change resources) and update activity state.</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Durable because state is stored (e.g. a database), but control flow is </a:t>
            </a:r>
            <a:r>
              <a:rPr sz="1800" b="1" i="0">
                <a:solidFill>
                  <a:srgbClr val="181B1F"/>
                </a:solidFill>
                <a:latin typeface="IBM Plex Sans"/>
              </a:rPr>
              <a:t>implicit</a:t>
            </a:r>
            <a:r>
              <a:rPr sz="1800" b="0" i="0">
                <a:solidFill>
                  <a:srgbClr val="181B1F"/>
                </a:solidFill>
                <a:latin typeface="IBM Plex Sans"/>
              </a:rPr>
              <a:t> — activity state is often implicit (e.g. within an aggregate).</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Great for simple workflows, but logic becomes scattered across handlers.</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Becomes complex with split/join/choice/merge (not a sequence), and with retry / circuit breakers / compensation.</a:t>
            </a:r>
          </a:p>
        </p:txBody>
      </p:sp>
      <p:sp>
        <p:nvSpPr>
          <p:cNvPr id="12" name="TextBox 11"/>
          <p:cNvSpPr txBox="1"/>
          <p:nvPr/>
        </p:nvSpPr>
        <p:spPr>
          <a:xfrm>
            <a:off x="713232" y="34165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37593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Relies on </a:t>
            </a:r>
            <a:r>
              <a:rPr sz="1800" b="1" i="0">
                <a:solidFill>
                  <a:srgbClr val="181B1F"/>
                </a:solidFill>
                <a:latin typeface="IBM Plex Sans"/>
              </a:rPr>
              <a:t>guaranteed delivery</a:t>
            </a:r>
            <a:r>
              <a:rPr sz="1800" b="0" i="0">
                <a:solidFill>
                  <a:srgbClr val="181B1F"/>
                </a:solidFill>
                <a:latin typeface="IBM Plex Sans"/>
              </a:rPr>
              <a:t> (store work for retry unless ack'd) and </a:t>
            </a:r>
            <a:r>
              <a:rPr sz="1800" b="1" i="0">
                <a:solidFill>
                  <a:srgbClr val="181B1F"/>
                </a:solidFill>
                <a:latin typeface="IBM Plex Sans"/>
              </a:rPr>
              <a:t>Transactional Messaging (Outbox)</a:t>
            </a:r>
            <a:r>
              <a:rPr sz="1800" b="0" i="0">
                <a:solidFill>
                  <a:srgbClr val="181B1F"/>
                </a:solidFill>
                <a:latin typeface="IBM Plex Sans"/>
              </a:rPr>
              <a:t>.</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108</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Handlers + Activity State Updates</a:t>
            </a:r>
          </a:p>
        </p:txBody>
      </p:sp>
      <p:sp>
        <p:nvSpPr>
          <p:cNvPr id="5" name="Rectangle 4"/>
          <p:cNvSpPr/>
          <p:nvPr/>
        </p:nvSpPr>
        <p:spPr>
          <a:xfrm>
            <a:off x="713232" y="1279906"/>
            <a:ext cx="10911535" cy="4072128"/>
          </a:xfrm>
          <a:prstGeom prst="rect">
            <a:avLst/>
          </a:prstGeom>
          <a:solidFill>
            <a:srgbClr val="F3EFE6"/>
          </a:solidFill>
          <a:ln w="1016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347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var tx = await _uow.BeginOrGetTransactionAsync(ct);</a:t>
            </a:r>
          </a:p>
        </p:txBody>
      </p:sp>
      <p:sp>
        <p:nvSpPr>
          <p:cNvPr id="7" name="TextBox 6"/>
          <p:cNvSpPr txBox="1"/>
          <p:nvPr/>
        </p:nvSpPr>
        <p:spPr>
          <a:xfrm>
            <a:off x="822960" y="15824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try</a:t>
            </a:r>
          </a:p>
        </p:txBody>
      </p:sp>
      <p:sp>
        <p:nvSpPr>
          <p:cNvPr id="8" name="TextBox 7"/>
          <p:cNvSpPr txBox="1"/>
          <p:nvPr/>
        </p:nvSpPr>
        <p:spPr>
          <a:xfrm>
            <a:off x="822960" y="18300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a:t>
            </a:r>
          </a:p>
        </p:txBody>
      </p:sp>
      <p:sp>
        <p:nvSpPr>
          <p:cNvPr id="9" name="TextBox 8"/>
          <p:cNvSpPr txBox="1"/>
          <p:nvPr/>
        </p:nvSpPr>
        <p:spPr>
          <a:xfrm>
            <a:off x="822960" y="20777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orderRepository.Received(_uow, order);            // the state change</a:t>
            </a:r>
          </a:p>
        </p:txBody>
      </p:sp>
      <p:sp>
        <p:nvSpPr>
          <p:cNvPr id="10" name="TextBox 9"/>
          <p:cNvSpPr txBox="1"/>
          <p:nvPr/>
        </p:nvSpPr>
        <p:spPr>
          <a:xfrm>
            <a:off x="822960" y="23253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var canMake = await stock.Check(order);</a:t>
            </a:r>
          </a:p>
        </p:txBody>
      </p:sp>
      <p:sp>
        <p:nvSpPr>
          <p:cNvPr id="11" name="TextBox 10"/>
          <p:cNvSpPr txBox="1"/>
          <p:nvPr/>
        </p:nvSpPr>
        <p:spPr>
          <a:xfrm>
            <a:off x="822960" y="25730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var reply = canMake ? new OrderAccepted(order.Id)</a:t>
            </a:r>
          </a:p>
        </p:txBody>
      </p:sp>
      <p:sp>
        <p:nvSpPr>
          <p:cNvPr id="12" name="TextBox 11"/>
          <p:cNvSpPr txBox="1"/>
          <p:nvPr/>
        </p:nvSpPr>
        <p:spPr>
          <a:xfrm>
            <a:off x="822960" y="28206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 new OrderRejected(order.Id);</a:t>
            </a:r>
          </a:p>
        </p:txBody>
      </p:sp>
      <p:sp>
        <p:nvSpPr>
          <p:cNvPr id="13" name="TextBox 12"/>
          <p:cNvSpPr txBox="1"/>
          <p:nvPr/>
        </p:nvSpPr>
        <p:spPr>
          <a:xfrm>
            <a:off x="822960" y="30683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posts.Add(await _postBox.DepositPostAsync(reply, ct));   // and the message</a:t>
            </a:r>
          </a:p>
        </p:txBody>
      </p:sp>
      <p:sp>
        <p:nvSpPr>
          <p:cNvPr id="14" name="TextBox 13"/>
          <p:cNvSpPr txBox="1"/>
          <p:nvPr/>
        </p:nvSpPr>
        <p:spPr>
          <a:xfrm>
            <a:off x="822960" y="33159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await tx.CommitAsync(ct);                         // both, or neither</a:t>
            </a:r>
          </a:p>
        </p:txBody>
      </p:sp>
      <p:sp>
        <p:nvSpPr>
          <p:cNvPr id="15" name="TextBox 14"/>
          <p:cNvSpPr txBox="1"/>
          <p:nvPr/>
        </p:nvSpPr>
        <p:spPr>
          <a:xfrm>
            <a:off x="822960" y="35636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a:t>
            </a:r>
          </a:p>
        </p:txBody>
      </p:sp>
      <p:sp>
        <p:nvSpPr>
          <p:cNvPr id="16" name="TextBox 15"/>
          <p:cNvSpPr txBox="1"/>
          <p:nvPr/>
        </p:nvSpPr>
        <p:spPr>
          <a:xfrm>
            <a:off x="822960" y="38112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catch (Exception)</a:t>
            </a:r>
          </a:p>
        </p:txBody>
      </p:sp>
      <p:sp>
        <p:nvSpPr>
          <p:cNvPr id="17" name="TextBox 16"/>
          <p:cNvSpPr txBox="1"/>
          <p:nvPr/>
        </p:nvSpPr>
        <p:spPr>
          <a:xfrm>
            <a:off x="822960" y="40589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a:t>
            </a:r>
          </a:p>
        </p:txBody>
      </p:sp>
      <p:sp>
        <p:nvSpPr>
          <p:cNvPr id="18" name="TextBox 17"/>
          <p:cNvSpPr txBox="1"/>
          <p:nvPr/>
        </p:nvSpPr>
        <p:spPr>
          <a:xfrm>
            <a:off x="822960" y="43065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await tx.RollbackAsync(ct);</a:t>
            </a:r>
          </a:p>
        </p:txBody>
      </p:sp>
      <p:sp>
        <p:nvSpPr>
          <p:cNvPr id="19" name="TextBox 18"/>
          <p:cNvSpPr txBox="1"/>
          <p:nvPr/>
        </p:nvSpPr>
        <p:spPr>
          <a:xfrm>
            <a:off x="822960" y="45542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throw;                                            // so it can be retried</a:t>
            </a:r>
          </a:p>
        </p:txBody>
      </p:sp>
      <p:sp>
        <p:nvSpPr>
          <p:cNvPr id="20" name="TextBox 19"/>
          <p:cNvSpPr txBox="1"/>
          <p:nvPr/>
        </p:nvSpPr>
        <p:spPr>
          <a:xfrm>
            <a:off x="822960" y="48018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a:t>
            </a:r>
          </a:p>
        </p:txBody>
      </p:sp>
      <p:sp>
        <p:nvSpPr>
          <p:cNvPr id="21" name="TextBox 20"/>
          <p:cNvSpPr txBox="1"/>
          <p:nvPr/>
        </p:nvSpPr>
        <p:spPr>
          <a:xfrm>
            <a:off x="822960" y="50495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await _postBox.ClearOutboxAsync(posts, ct);           // only now does it leave</a:t>
            </a:r>
          </a:p>
        </p:txBody>
      </p:sp>
      <p:sp>
        <p:nvSpPr>
          <p:cNvPr id="22" name="TextBox 2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109</a:t>
            </a:r>
          </a:p>
        </p:txBody>
      </p:sp>
    </p:spTree>
  </p:cSld>
  <p:clrMapOvr>
    <a:masterClrMapping/>
  </p:clrMapOvr>
  <p:timing>
    <p:tnLst>
      <p:par>
        <p:cTn id="1" dur="indefinite" restart="never" nodeType="tmRoot">
          <p:childTnLst>
            <p:seq concurrent="1" nextAc="seek">
              <p:cTn id="2" dur="indefinite" nodeType="mainSeq">
                <p:childTnLst>
                  <p:par>
                    <p:cTn id="37" fill="hold">
                      <p:stCondLst>
                        <p:cond delay="indefinite"/>
                      </p:stCondLst>
                      <p:childTnLst>
                        <p:par>
                          <p:cTn id="3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State Machine + Activity State Updates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When handler interaction becomes complex, make the activity </a:t>
            </a:r>
            <a:r>
              <a:rPr sz="1800" b="1" i="0">
                <a:solidFill>
                  <a:srgbClr val="181B1F"/>
                </a:solidFill>
                <a:latin typeface="IBM Plex Sans"/>
              </a:rPr>
              <a:t>explicit</a:t>
            </a:r>
            <a:r>
              <a:rPr sz="1800" b="0" i="0">
                <a:solidFill>
                  <a:srgbClr val="181B1F"/>
                </a:solidFill>
                <a:latin typeface="IBM Plex Sans"/>
              </a:rPr>
              <a: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State Machine</a:t>
            </a:r>
            <a:r>
              <a:rPr sz="1800" b="0" i="0">
                <a:solidFill>
                  <a:srgbClr val="181B1F"/>
                </a:solidFill>
                <a:latin typeface="IBM Plex Sans"/>
              </a:rPr>
              <a:t> represents the activity and triggers actions on transitions.</a:t>
            </a:r>
          </a:p>
        </p:txBody>
      </p:sp>
      <p:sp>
        <p:nvSpPr>
          <p:cNvPr id="8" name="TextBox 7"/>
          <p:cNvSpPr txBox="1"/>
          <p:nvPr/>
        </p:nvSpPr>
        <p:spPr>
          <a:xfrm>
            <a:off x="713232" y="21048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064277"/>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Transitions are caused by receiving a message.</a:t>
            </a:r>
          </a:p>
        </p:txBody>
      </p:sp>
      <p:sp>
        <p:nvSpPr>
          <p:cNvPr id="10" name="TextBox 9"/>
          <p:cNvSpPr txBox="1"/>
          <p:nvPr/>
        </p:nvSpPr>
        <p:spPr>
          <a:xfrm>
            <a:off x="713232" y="24772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4366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handler loads the state machine for the conversation id, triggers the transition denoted by the message, and runs the associated code.</a:t>
            </a:r>
          </a:p>
        </p:txBody>
      </p:sp>
      <p:sp>
        <p:nvSpPr>
          <p:cNvPr id="12" name="TextBox 11"/>
          <p:cNvSpPr txBox="1"/>
          <p:nvPr/>
        </p:nvSpPr>
        <p:spPr>
          <a:xfrm>
            <a:off x="713232" y="31330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09246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Save the new state and ack the message.</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110</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State Machine + Activity State Updates</a:t>
            </a:r>
          </a:p>
        </p:txBody>
      </p:sp>
      <p:sp>
        <p:nvSpPr>
          <p:cNvPr id="5" name="Rectangle 4"/>
          <p:cNvSpPr/>
          <p:nvPr/>
        </p:nvSpPr>
        <p:spPr>
          <a:xfrm>
            <a:off x="713232" y="1279906"/>
            <a:ext cx="10911535" cy="4319778"/>
          </a:xfrm>
          <a:prstGeom prst="rect">
            <a:avLst/>
          </a:prstGeom>
          <a:solidFill>
            <a:srgbClr val="F3EFE6"/>
          </a:solidFill>
          <a:ln w="1016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347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public OrderStateMachine(ILogger&lt;OrderStateMachine&gt; logger)</a:t>
            </a:r>
          </a:p>
        </p:txBody>
      </p:sp>
      <p:sp>
        <p:nvSpPr>
          <p:cNvPr id="7" name="TextBox 6"/>
          <p:cNvSpPr txBox="1"/>
          <p:nvPr/>
        </p:nvSpPr>
        <p:spPr>
          <a:xfrm>
            <a:off x="822960" y="15824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a:t>
            </a:r>
          </a:p>
        </p:txBody>
      </p:sp>
      <p:sp>
        <p:nvSpPr>
          <p:cNvPr id="8" name="TextBox 7"/>
          <p:cNvSpPr txBox="1"/>
          <p:nvPr/>
        </p:nvSpPr>
        <p:spPr>
          <a:xfrm>
            <a:off x="822960" y="18300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InstanceState(x =&gt; x.CurrentState);</a:t>
            </a:r>
          </a:p>
        </p:txBody>
      </p:sp>
      <p:sp>
        <p:nvSpPr>
          <p:cNvPr id="9" name="TextBox 8"/>
          <p:cNvSpPr txBox="1"/>
          <p:nvPr/>
        </p:nvSpPr>
        <p:spPr>
          <a:xfrm>
            <a:off x="822960" y="20777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a:r>
          </a:p>
        </p:txBody>
      </p:sp>
      <p:sp>
        <p:nvSpPr>
          <p:cNvPr id="10" name="TextBox 9"/>
          <p:cNvSpPr txBox="1"/>
          <p:nvPr/>
        </p:nvSpPr>
        <p:spPr>
          <a:xfrm>
            <a:off x="822960" y="23253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Initially(</a:t>
            </a:r>
          </a:p>
        </p:txBody>
      </p:sp>
      <p:sp>
        <p:nvSpPr>
          <p:cNvPr id="11" name="TextBox 10"/>
          <p:cNvSpPr txBox="1"/>
          <p:nvPr/>
        </p:nvSpPr>
        <p:spPr>
          <a:xfrm>
            <a:off x="822960" y="25730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When(OnOrderSubmitted)                        // a message arrives...</a:t>
            </a:r>
          </a:p>
        </p:txBody>
      </p:sp>
      <p:sp>
        <p:nvSpPr>
          <p:cNvPr id="12" name="TextBox 11"/>
          <p:cNvSpPr txBox="1"/>
          <p:nvPr/>
        </p:nvSpPr>
        <p:spPr>
          <a:xfrm>
            <a:off x="822960" y="28206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.Then(x =&gt; logger.LogInformation("Order submitted"))</a:t>
            </a:r>
          </a:p>
        </p:txBody>
      </p:sp>
      <p:sp>
        <p:nvSpPr>
          <p:cNvPr id="13" name="TextBox 12"/>
          <p:cNvSpPr txBox="1"/>
          <p:nvPr/>
        </p:nvSpPr>
        <p:spPr>
          <a:xfrm>
            <a:off x="822960" y="30683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.SendAsync(new Uri("queue:stock-check"), Init&lt;CheckStock&gt;())</a:t>
            </a:r>
          </a:p>
        </p:txBody>
      </p:sp>
      <p:sp>
        <p:nvSpPr>
          <p:cNvPr id="14" name="TextBox 13"/>
          <p:cNvSpPr txBox="1"/>
          <p:nvPr/>
        </p:nvSpPr>
        <p:spPr>
          <a:xfrm>
            <a:off x="822960" y="33159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.TransitionTo(PendingStock));             // ...and the state moves</a:t>
            </a:r>
          </a:p>
        </p:txBody>
      </p:sp>
      <p:sp>
        <p:nvSpPr>
          <p:cNvPr id="15" name="TextBox 14"/>
          <p:cNvSpPr txBox="1"/>
          <p:nvPr/>
        </p:nvSpPr>
        <p:spPr>
          <a:xfrm>
            <a:off x="822960" y="35636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a:r>
          </a:p>
        </p:txBody>
      </p:sp>
      <p:sp>
        <p:nvSpPr>
          <p:cNvPr id="16" name="TextBox 15"/>
          <p:cNvSpPr txBox="1"/>
          <p:nvPr/>
        </p:nvSpPr>
        <p:spPr>
          <a:xfrm>
            <a:off x="822960" y="38112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During(PendingStock,</a:t>
            </a:r>
          </a:p>
        </p:txBody>
      </p:sp>
      <p:sp>
        <p:nvSpPr>
          <p:cNvPr id="17" name="TextBox 16"/>
          <p:cNvSpPr txBox="1"/>
          <p:nvPr/>
        </p:nvSpPr>
        <p:spPr>
          <a:xfrm>
            <a:off x="822960" y="40589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When(OnHasStock)</a:t>
            </a:r>
          </a:p>
        </p:txBody>
      </p:sp>
      <p:sp>
        <p:nvSpPr>
          <p:cNvPr id="18" name="TextBox 17"/>
          <p:cNvSpPr txBox="1"/>
          <p:nvPr/>
        </p:nvSpPr>
        <p:spPr>
          <a:xfrm>
            <a:off x="822960" y="43065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.SendAsync(new Uri("queue:order-accepted"), Init&lt;CallPartner&gt;())</a:t>
            </a:r>
          </a:p>
        </p:txBody>
      </p:sp>
      <p:sp>
        <p:nvSpPr>
          <p:cNvPr id="19" name="TextBox 18"/>
          <p:cNvSpPr txBox="1"/>
          <p:nvPr/>
        </p:nvSpPr>
        <p:spPr>
          <a:xfrm>
            <a:off x="822960" y="45542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.TransitionTo(AwaitingKitchen),</a:t>
            </a:r>
          </a:p>
        </p:txBody>
      </p:sp>
      <p:sp>
        <p:nvSpPr>
          <p:cNvPr id="20" name="TextBox 19"/>
          <p:cNvSpPr txBox="1"/>
          <p:nvPr/>
        </p:nvSpPr>
        <p:spPr>
          <a:xfrm>
            <a:off x="822960" y="48018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When(OnLackStock)</a:t>
            </a:r>
          </a:p>
        </p:txBody>
      </p:sp>
      <p:sp>
        <p:nvSpPr>
          <p:cNvPr id="21" name="TextBox 20"/>
          <p:cNvSpPr txBox="1"/>
          <p:nvPr/>
        </p:nvSpPr>
        <p:spPr>
          <a:xfrm>
            <a:off x="822960" y="504952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            .TransitionTo(RejectOrder));</a:t>
            </a:r>
          </a:p>
        </p:txBody>
      </p:sp>
      <p:sp>
        <p:nvSpPr>
          <p:cNvPr id="22" name="TextBox 21"/>
          <p:cNvSpPr txBox="1"/>
          <p:nvPr/>
        </p:nvSpPr>
        <p:spPr>
          <a:xfrm>
            <a:off x="822960" y="5297170"/>
            <a:ext cx="12191695" cy="208788"/>
          </a:xfrm>
          <a:prstGeom prst="rect">
            <a:avLst/>
          </a:prstGeom>
          <a:noFill/>
        </p:spPr>
        <p:txBody>
          <a:bodyPr wrap="none" lIns="0" rIns="0" tIns="0" bIns="0">
            <a:spAutoFit/>
          </a:bodyPr>
          <a:lstStyle/>
          <a:p>
            <a:pPr>
              <a:lnSpc>
                <a:spcPct val="100000"/>
              </a:lnSpc>
            </a:pPr>
            <a:r>
              <a:rPr sz="1500" b="0" i="0">
                <a:solidFill>
                  <a:srgbClr val="1D4E6B"/>
                </a:solidFill>
                <a:latin typeface="IBM Plex Mono"/>
              </a:rPr>
              <a:t>}</a:t>
            </a:r>
          </a:p>
        </p:txBody>
      </p:sp>
      <p:sp>
        <p:nvSpPr>
          <p:cNvPr id="23" name="TextBox 22"/>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111</a:t>
            </a:r>
          </a:p>
        </p:txBody>
      </p:sp>
    </p:spTree>
  </p:cSld>
  <p:clrMapOvr>
    <a:masterClrMapping/>
  </p:clrMapOvr>
  <p:timing>
    <p:tnLst>
      <p:par>
        <p:cTn id="1" dur="indefinite" restart="never" nodeType="tmRoot">
          <p:childTnLst>
            <p:seq concurrent="1" nextAc="seek">
              <p:cTn id="2" dur="indefinite" nodeType="mainSeq">
                <p:childTnLst>
                  <p:par>
                    <p:cTn id="39" fill="hold">
                      <p:stCondLst>
                        <p:cond delay="indefinite"/>
                      </p:stCondLst>
                      <p:childTnLst>
                        <p:par>
                          <p:cTn id="40"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Routing Slip + Activity State Updates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To </a:t>
            </a:r>
            <a:r>
              <a:rPr sz="1800" b="1" i="0">
                <a:solidFill>
                  <a:srgbClr val="181B1F"/>
                </a:solidFill>
                <a:latin typeface="IBM Plex Sans"/>
              </a:rPr>
              <a:t>distribute</a:t>
            </a:r>
            <a:r>
              <a:rPr sz="1800" b="0" i="0">
                <a:solidFill>
                  <a:srgbClr val="181B1F"/>
                </a:solidFill>
                <a:latin typeface="IBM Plex Sans"/>
              </a:rPr>
              <a:t> steps in the sequence, transport the activity state </a:t>
            </a:r>
            <a:r>
              <a:rPr sz="1800" b="0" i="1">
                <a:solidFill>
                  <a:srgbClr val="181B1F"/>
                </a:solidFill>
                <a:latin typeface="IBM Plex Sans"/>
              </a:rPr>
              <a:t>in the message</a:t>
            </a:r>
            <a:r>
              <a:rPr sz="1800" b="0" i="0">
                <a:solidFill>
                  <a:srgbClr val="181B1F"/>
                </a:solidFill>
                <a:latin typeface="IBM Plex Sans"/>
              </a:rPr>
              <a: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routing slip</a:t>
            </a:r>
            <a:r>
              <a:rPr sz="1800" b="0" i="0">
                <a:solidFill>
                  <a:srgbClr val="181B1F"/>
                </a:solidFill>
                <a:latin typeface="IBM Plex Sans"/>
              </a:rPr>
              <a:t> is an envelope carrying activity state (next step, context, etc.) — "Message As the Engine of Application State".</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handler updates state when work is done, forwards according to the slip, then acks.</a:t>
            </a:r>
          </a:p>
        </p:txBody>
      </p:sp>
      <p:sp>
        <p:nvSpPr>
          <p:cNvPr id="10" name="TextBox 9"/>
          <p:cNvSpPr txBox="1"/>
          <p:nvPr/>
        </p:nvSpPr>
        <p:spPr>
          <a:xfrm>
            <a:off x="713232" y="27607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7201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Complex if "next" is dynamic routing (the code must understand how to execute).</a:t>
            </a:r>
          </a:p>
        </p:txBody>
      </p:sp>
      <p:sp>
        <p:nvSpPr>
          <p:cNvPr id="12" name="TextBox 11"/>
          <p:cNvSpPr txBox="1"/>
          <p:nvPr/>
        </p:nvSpPr>
        <p:spPr>
          <a:xfrm>
            <a:off x="713232" y="31330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09246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Complex because you distribute the steps — hard to observe (OpenTelemetry).</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112</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Workflow Engines + Activity State Updates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When we want more than state transitions (split, join, merge, choice), use a </a:t>
            </a:r>
            <a:r>
              <a:rPr sz="1800" b="1" i="0">
                <a:solidFill>
                  <a:srgbClr val="181B1F"/>
                </a:solidFill>
                <a:latin typeface="IBM Plex Sans"/>
              </a:rPr>
              <a:t>workflow engine</a:t>
            </a:r>
            <a:r>
              <a:rPr sz="1800" b="0" i="0">
                <a:solidFill>
                  <a:srgbClr val="181B1F"/>
                </a:solidFill>
                <a:latin typeface="IBM Plex Sans"/>
              </a:rPr>
              <a:t>.</a:t>
            </a:r>
          </a:p>
        </p:txBody>
      </p:sp>
      <p:sp>
        <p:nvSpPr>
          <p:cNvPr id="6" name="TextBox 5"/>
          <p:cNvSpPr txBox="1"/>
          <p:nvPr/>
        </p:nvSpPr>
        <p:spPr>
          <a:xfrm>
            <a:off x="713232" y="173253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69191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Explicitly models a sequence of activities and gateways; may support BPMN (or a proprietary language) with visual modelling.</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step receives the token; the step is </a:t>
            </a:r>
            <a:r>
              <a:rPr sz="1800" b="1" i="0">
                <a:solidFill>
                  <a:srgbClr val="181B1F"/>
                </a:solidFill>
                <a:latin typeface="IBM Plex Sans"/>
              </a:rPr>
              <a:t>glue</a:t>
            </a:r>
            <a:r>
              <a:rPr sz="1800" b="0" i="0">
                <a:solidFill>
                  <a:srgbClr val="181B1F"/>
                </a:solidFill>
                <a:latin typeface="IBM Plex Sans"/>
              </a:rPr>
              <a:t> — invokes domain action, calls another service, sends a message.</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a:t>
            </a:r>
            <a:r>
              <a:rPr sz="1800" b="1" i="0">
                <a:solidFill>
                  <a:srgbClr val="181B1F"/>
                </a:solidFill>
                <a:latin typeface="IBM Plex Sans"/>
              </a:rPr>
              <a:t>job scheduler</a:t>
            </a:r>
            <a:r>
              <a:rPr sz="1800" b="0" i="0">
                <a:solidFill>
                  <a:srgbClr val="181B1F"/>
                </a:solidFill>
                <a:latin typeface="IBM Plex Sans"/>
              </a:rPr>
              <a:t> provides durable execution; typically any instance can resume a paused job (distributed).</a:t>
            </a:r>
          </a:p>
        </p:txBody>
      </p:sp>
      <p:sp>
        <p:nvSpPr>
          <p:cNvPr id="12" name="TextBox 11"/>
          <p:cNvSpPr txBox="1"/>
          <p:nvPr/>
        </p:nvSpPr>
        <p:spPr>
          <a:xfrm>
            <a:off x="713232" y="370001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3" name="TextBox 12"/>
          <p:cNvSpPr txBox="1"/>
          <p:nvPr/>
        </p:nvSpPr>
        <p:spPr>
          <a:xfrm>
            <a:off x="960120" y="3659397"/>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step may wait for an event or timer to resume — the handler equivalent, or triggered by the handler calling the engine.</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113</a:t>
            </a:r>
          </a:p>
        </p:txBody>
      </p:sp>
    </p:spTree>
  </p:cSld>
  <p:clrMapOvr>
    <a:masterClrMapping/>
  </p:clrMapOvr>
  <p:timing>
    <p:tnLst>
      <p:par>
        <p:cTn id="1" dur="indefinite" restart="never" nodeType="tmRoot">
          <p:childTnLst>
            <p:seq concurrent="1" nextAc="seek">
              <p:cTn id="2" dur="indefinite" nodeType="mainSeq">
                <p:childTnLst>
                  <p:par>
                    <p:cTn id="21" fill="hold">
                      <p:stCondLst>
                        <p:cond delay="indefinite"/>
                      </p:stCondLst>
                      <p:childTnLst>
                        <p:par>
                          <p:cTn id="22"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Compensation, Four Ways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cannot roll back across desks, so for every "do" you write an "undo".</a:t>
            </a:r>
          </a:p>
        </p:txBody>
      </p:sp>
      <p:graphicFrame>
        <p:nvGraphicFramePr>
          <p:cNvPr id="6" name="Table 5"/>
          <p:cNvGraphicFramePr>
            <a:graphicFrameLocks noGrp="1"/>
          </p:cNvGraphicFramePr>
          <p:nvPr/>
        </p:nvGraphicFramePr>
        <p:xfrm>
          <a:off x="713232" y="1753362"/>
          <a:ext cx="10911534" cy="3745229"/>
        </p:xfrm>
        <a:graphic>
          <a:graphicData uri="http://schemas.openxmlformats.org/drawingml/2006/table">
            <a:tbl>
              <a:tblPr firstRow="1">
                <a:tableStyleId>{5C22544A-7EE6-4342-B048-85BDC9FD1C3A}</a:tableStyleId>
              </a:tblPr>
              <a:tblGrid>
                <a:gridCol w="1301411"/>
                <a:gridCol w="2693023"/>
                <a:gridCol w="3142472"/>
                <a:gridCol w="3774628"/>
              </a:tblGrid>
              <a:tr h="389381">
                <a:tc>
                  <a:txBody>
                    <a:bodyPr/>
                    <a:lstStyle/>
                    <a:p>
                      <a:pPr>
                        <a:lnSpc>
                          <a:spcPct val="118000"/>
                        </a:lnSpc>
                      </a:pPr>
                      <a:r>
                        <a:rPr sz="1500" b="1" i="0">
                          <a:solidFill>
                            <a:srgbClr val="181B1F"/>
                          </a:solidFill>
                          <a:latin typeface="IBM Plex Sans"/>
                        </a:rPr>
                        <a:t>mechanism</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where the undo lives</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what triggers it</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the catch</a:t>
                      </a:r>
                    </a:p>
                  </a:txBody>
                  <a:tcPr marL="82296" marR="82296" marT="27432" marB="27432">
                    <a:solidFill>
                      <a:srgbClr val="F3EFE6"/>
                    </a:solidFill>
                  </a:tcPr>
                </a:tc>
              </a:tr>
              <a:tr h="838962">
                <a:tc>
                  <a:txBody>
                    <a:bodyPr/>
                    <a:lstStyle/>
                    <a:p>
                      <a:pPr>
                        <a:lnSpc>
                          <a:spcPct val="118000"/>
                        </a:lnSpc>
                      </a:pPr>
                      <a:r>
                        <a:rPr sz="1500" b="1" i="0">
                          <a:solidFill>
                            <a:srgbClr val="181B1F"/>
                          </a:solidFill>
                          <a:latin typeface="IBM Plex Sans"/>
                        </a:rPr>
                        <a:t>Handlers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fallback handler per step</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a:t>
                      </a:r>
                      <a:r>
                        <a:rPr sz="1500" b="1" i="0">
                          <a:solidFill>
                            <a:srgbClr val="181B1F"/>
                          </a:solidFill>
                          <a:latin typeface="IBM Plex Sans"/>
                        </a:rPr>
                        <a:t>fault message</a:t>
                      </a:r>
                      <a:r>
                        <a:rPr sz="1500" b="0" i="0">
                          <a:solidFill>
                            <a:srgbClr val="181B1F"/>
                          </a:solidFill>
                          <a:latin typeface="IBM Plex Sans"/>
                        </a:rPr>
                        <a:t> — In-Only needs a dedicated fault channel; In-Out marks the response as a fault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retry first, compensate only after X failures; the undo logic scatters exactly like the do logic</a:t>
                      </a:r>
                    </a:p>
                  </a:txBody>
                  <a:tcPr marL="82296" marR="82296" marT="27432" marB="27432">
                    <a:solidFill>
                      <a:srgbClr val="FDFCFA"/>
                    </a:solidFill>
                  </a:tcPr>
                </a:tc>
              </a:tr>
              <a:tr h="838962">
                <a:tc>
                  <a:txBody>
                    <a:bodyPr/>
                    <a:lstStyle/>
                    <a:p>
                      <a:pPr>
                        <a:lnSpc>
                          <a:spcPct val="118000"/>
                        </a:lnSpc>
                      </a:pPr>
                      <a:r>
                        <a:rPr sz="1500" b="1" i="0">
                          <a:solidFill>
                            <a:srgbClr val="181B1F"/>
                          </a:solidFill>
                          <a:latin typeface="IBM Plex Sans"/>
                        </a:rPr>
                        <a:t>State Machine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transition to a faulted state, then a compensating flow back to </a:t>
                      </a:r>
                      <a:r>
                        <a:rPr sz="1500" b="0" i="1">
                          <a:solidFill>
                            <a:srgbClr val="181B1F"/>
                          </a:solidFill>
                          <a:latin typeface="IBM Plex Sans"/>
                        </a:rPr>
                        <a:t>safe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same fault message, but it drives a transition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run </a:t>
                      </a:r>
                      <a:r>
                        <a:rPr sz="1500" b="1" i="0">
                          <a:solidFill>
                            <a:srgbClr val="181B1F"/>
                          </a:solidFill>
                          <a:latin typeface="IBM Plex Sans"/>
                        </a:rPr>
                        <a:t>all</a:t>
                      </a:r>
                      <a:r>
                        <a:rPr sz="1500" b="0" i="0">
                          <a:solidFill>
                            <a:srgbClr val="181B1F"/>
                          </a:solidFill>
                          <a:latin typeface="IBM Plex Sans"/>
                        </a:rPr>
                        <a:t> fault transitions to safe </a:t>
                      </a:r>
                      <a:r>
                        <a:rPr sz="1500" b="0" i="1">
                          <a:solidFill>
                            <a:srgbClr val="181B1F"/>
                          </a:solidFill>
                          <a:latin typeface="IBM Plex Sans"/>
                        </a:rPr>
                        <a:t>before</a:t>
                      </a:r>
                      <a:r>
                        <a:rPr sz="1500" b="0" i="0">
                          <a:solidFill>
                            <a:srgbClr val="181B1F"/>
                          </a:solidFill>
                          <a:latin typeface="IBM Plex Sans"/>
                        </a:rPr>
                        <a:t> acking the fault message; needs durable execution, so a restart mid-fault resumes</a:t>
                      </a:r>
                    </a:p>
                  </a:txBody>
                  <a:tcPr marL="82296" marR="82296" marT="27432" marB="27432">
                    <a:solidFill>
                      <a:srgbClr val="FDFCFA"/>
                    </a:solidFill>
                  </a:tcPr>
                </a:tc>
              </a:tr>
              <a:tr h="838962">
                <a:tc>
                  <a:txBody>
                    <a:bodyPr/>
                    <a:lstStyle/>
                    <a:p>
                      <a:pPr>
                        <a:lnSpc>
                          <a:spcPct val="118000"/>
                        </a:lnSpc>
                      </a:pPr>
                      <a:r>
                        <a:rPr sz="1500" b="1" i="0">
                          <a:solidFill>
                            <a:srgbClr val="181B1F"/>
                          </a:solidFill>
                          <a:latin typeface="IBM Plex Sans"/>
                        </a:rPr>
                        <a:t>Routing Slip</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slip's </a:t>
                      </a:r>
                      <a:r>
                        <a:rPr sz="1500" b="1" i="0">
                          <a:solidFill>
                            <a:srgbClr val="181B1F"/>
                          </a:solidFill>
                          <a:latin typeface="IBM Plex Sans"/>
                        </a:rPr>
                        <a:t>fault next</a:t>
                      </a:r>
                      <a:r>
                        <a:rPr sz="1500" b="0" i="0">
                          <a:solidFill>
                            <a:srgbClr val="181B1F"/>
                          </a:solidFill>
                          <a:latin typeface="IBM Plex Sans"/>
                        </a:rPr>
                        <a:t> — the reverse of the step just completed</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context on the envelope flips to "faulted" and the slip runs backwards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the slip must carry the undo route as well as the do route</a:t>
                      </a:r>
                    </a:p>
                  </a:txBody>
                  <a:tcPr marL="82296" marR="82296" marT="27432" marB="27432">
                    <a:solidFill>
                      <a:srgbClr val="FDFCFA"/>
                    </a:solidFill>
                  </a:tcPr>
                </a:tc>
              </a:tr>
              <a:tr h="838962">
                <a:tc>
                  <a:txBody>
                    <a:bodyPr/>
                    <a:lstStyle/>
                    <a:p>
                      <a:pPr>
                        <a:lnSpc>
                          <a:spcPct val="118000"/>
                        </a:lnSpc>
                      </a:pPr>
                      <a:r>
                        <a:rPr sz="1500" b="1" i="0">
                          <a:solidFill>
                            <a:srgbClr val="181B1F"/>
                          </a:solidFill>
                          <a:latin typeface="IBM Plex Sans"/>
                        </a:rPr>
                        <a:t>Workflow Engine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a </a:t>
                      </a:r>
                      <a:r>
                        <a:rPr sz="1500" b="1" i="0">
                          <a:solidFill>
                            <a:srgbClr val="181B1F"/>
                          </a:solidFill>
                          <a:latin typeface="IBM Plex Sans"/>
                        </a:rPr>
                        <a:t>compensation event</a:t>
                      </a:r>
                      <a:r>
                        <a:rPr sz="1500" b="0" i="0">
                          <a:solidFill>
                            <a:srgbClr val="181B1F"/>
                          </a:solidFill>
                          <a:latin typeface="IBM Plex Sans"/>
                        </a:rPr>
                        <a:t> linked to the task</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retry handles technical faults; a </a:t>
                      </a:r>
                      <a:r>
                        <a:rPr sz="1500" b="0" i="1">
                          <a:solidFill>
                            <a:srgbClr val="181B1F"/>
                          </a:solidFill>
                          <a:latin typeface="IBM Plex Sans"/>
                        </a:rPr>
                        <a:t>business</a:t>
                      </a:r>
                      <a:r>
                        <a:rPr sz="1500" b="0" i="0">
                          <a:solidFill>
                            <a:srgbClr val="181B1F"/>
                          </a:solidFill>
                          <a:latin typeface="IBM Plex Sans"/>
                        </a:rPr>
                        <a:t> error (card declined) is a modelled branch on a gateway</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with no catch, the workflow rolls back to the last wait state or terminates</a:t>
                      </a:r>
                    </a:p>
                  </a:txBody>
                  <a:tcPr marL="82296" marR="82296" marT="27432" marB="27432">
                    <a:solidFill>
                      <a:srgbClr val="FDFCFA"/>
                    </a:solidFill>
                  </a:tcPr>
                </a:tc>
              </a:tr>
            </a:tbl>
          </a:graphicData>
        </a:graphic>
      </p:graphicFrame>
      <p:sp>
        <p:nvSpPr>
          <p:cNvPr id="7" name="Rectangle 6"/>
          <p:cNvSpPr/>
          <p:nvPr/>
        </p:nvSpPr>
        <p:spPr>
          <a:xfrm>
            <a:off x="713232" y="5837428"/>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5807673"/>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This is the </a:t>
            </a:r>
            <a:r>
              <a:rPr sz="2400" b="1" i="0">
                <a:solidFill>
                  <a:srgbClr val="C0453B"/>
                </a:solidFill>
                <a:latin typeface="Caveat"/>
              </a:rPr>
              <a:t>Saga</a:t>
            </a:r>
            <a:r>
              <a:rPr sz="2400" b="0" i="0">
                <a:solidFill>
                  <a:srgbClr val="C0453B"/>
                </a:solidFill>
                <a:latin typeface="Caveat"/>
              </a:rPr>
              <a:t>. Four costumes, one idea.</a:t>
            </a:r>
          </a:p>
        </p:txBody>
      </p:sp>
      <p:sp>
        <p:nvSpPr>
          <p:cNvPr id="9" name="TextBox 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114</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858012"/>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Workflow Engines — Embedded, External, and the Lessons from SOA</a:t>
            </a:r>
          </a:p>
        </p:txBody>
      </p:sp>
      <p:sp>
        <p:nvSpPr>
          <p:cNvPr id="5" name="TextBox 4"/>
          <p:cNvSpPr txBox="1"/>
          <p:nvPr/>
        </p:nvSpPr>
        <p:spPr>
          <a:xfrm>
            <a:off x="713232" y="1739411"/>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Embedded in a service, or an external orchestrator? The question underneath is who owns the process.</a:t>
            </a:r>
          </a:p>
        </p:txBody>
      </p:sp>
      <p:sp>
        <p:nvSpPr>
          <p:cNvPr id="6" name="TextBox 5"/>
          <p:cNvSpPr txBox="1"/>
          <p:nvPr/>
        </p:nvSpPr>
        <p:spPr>
          <a:xfrm>
            <a:off x="713232" y="215239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2111775"/>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External orchestration is not an anti-pattern</a:t>
            </a:r>
            <a:r>
              <a:rPr sz="1800" b="0" i="0">
                <a:solidFill>
                  <a:srgbClr val="181B1F"/>
                </a:solidFill>
                <a:latin typeface="IBM Plex Sans"/>
              </a:rPr>
              <a:t>, but it requires care.</a:t>
            </a:r>
          </a:p>
        </p:txBody>
      </p:sp>
      <p:sp>
        <p:nvSpPr>
          <p:cNvPr id="8" name="TextBox 7"/>
          <p:cNvSpPr txBox="1"/>
          <p:nvPr/>
        </p:nvSpPr>
        <p:spPr>
          <a:xfrm>
            <a:off x="713232" y="252476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484139"/>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Keep core domain logic </a:t>
            </a:r>
            <a:r>
              <a:rPr sz="1800" b="1" i="0">
                <a:solidFill>
                  <a:srgbClr val="181B1F"/>
                </a:solidFill>
                <a:latin typeface="IBM Plex Sans"/>
              </a:rPr>
              <a:t>inside</a:t>
            </a:r>
            <a:r>
              <a:rPr sz="1800" b="0" i="0">
                <a:solidFill>
                  <a:srgbClr val="181B1F"/>
                </a:solidFill>
                <a:latin typeface="IBM Plex Sans"/>
              </a:rPr>
              <a:t> services; let the engine coordinate </a:t>
            </a:r>
            <a:r>
              <a:rPr sz="1800" b="0" i="1">
                <a:solidFill>
                  <a:srgbClr val="181B1F"/>
                </a:solidFill>
                <a:latin typeface="IBM Plex Sans"/>
              </a:rPr>
              <a:t>outcomes</a:t>
            </a:r>
            <a:r>
              <a:rPr sz="1800" b="0" i="0">
                <a:solidFill>
                  <a:srgbClr val="181B1F"/>
                </a:solidFill>
                <a:latin typeface="IBM Plex Sans"/>
              </a:rPr>
              <a:t>, not fine-grained steps.</a:t>
            </a:r>
          </a:p>
        </p:txBody>
      </p:sp>
      <p:sp>
        <p:nvSpPr>
          <p:cNvPr id="10" name="TextBox 9"/>
          <p:cNvSpPr txBox="1"/>
          <p:nvPr/>
        </p:nvSpPr>
        <p:spPr>
          <a:xfrm>
            <a:off x="713232" y="289712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2856503"/>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Consider choreography, or a local embedded orchestration, where autonomy matters more than visibility.</a:t>
            </a:r>
          </a:p>
        </p:txBody>
      </p:sp>
      <p:sp>
        <p:nvSpPr>
          <p:cNvPr id="12" name="Rectangle 11"/>
          <p:cNvSpPr/>
          <p:nvPr/>
        </p:nvSpPr>
        <p:spPr>
          <a:xfrm>
            <a:off x="713232" y="3656584"/>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626829"/>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"Smart endpoints and dumb pipes." — James Lewis and Martin Fowler</a:t>
            </a:r>
          </a:p>
        </p:txBody>
      </p:sp>
      <p:sp>
        <p:nvSpPr>
          <p:cNvPr id="14" name="TextBox 13"/>
          <p:cNvSpPr txBox="1"/>
          <p:nvPr/>
        </p:nvSpPr>
        <p:spPr>
          <a:xfrm>
            <a:off x="713232" y="4137679"/>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ESB products often include sophisticated routing, choreography, transformation and business rules. The microservice community favours the alternative, and that phrase is the name for the danger above: the more the pipe knows, the less the endpoints are allowed to.</a:t>
            </a:r>
          </a:p>
        </p:txBody>
      </p:sp>
      <p:sp>
        <p:nvSpPr>
          <p:cNvPr id="15" name="TextBox 14"/>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115</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PROCESS AUTOMATION</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Implementing Workflow Patterns</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How the basic patterns map onto the three implementation styles:</a:t>
            </a:r>
          </a:p>
        </p:txBody>
      </p:sp>
      <p:graphicFrame>
        <p:nvGraphicFramePr>
          <p:cNvPr id="6" name="Table 5"/>
          <p:cNvGraphicFramePr>
            <a:graphicFrameLocks noGrp="1"/>
          </p:cNvGraphicFramePr>
          <p:nvPr/>
        </p:nvGraphicFramePr>
        <p:xfrm>
          <a:off x="713232" y="1753362"/>
          <a:ext cx="10911533" cy="2725667"/>
        </p:xfrm>
        <a:graphic>
          <a:graphicData uri="http://schemas.openxmlformats.org/drawingml/2006/table">
            <a:tbl>
              <a:tblPr firstRow="1">
                <a:tableStyleId>{5C22544A-7EE6-4342-B048-85BDC9FD1C3A}</a:tableStyleId>
              </a:tblPr>
              <a:tblGrid>
                <a:gridCol w="1664567"/>
                <a:gridCol w="2419756"/>
                <a:gridCol w="3363392"/>
                <a:gridCol w="3463818"/>
              </a:tblGrid>
              <a:tr h="389381">
                <a:tc>
                  <a:txBody>
                    <a:bodyPr/>
                    <a:lstStyle/>
                    <a:p>
                      <a:pPr>
                        <a:lnSpc>
                          <a:spcPct val="118000"/>
                        </a:lnSpc>
                      </a:pPr>
                      <a:r>
                        <a:rPr sz="1500" b="1" i="0">
                          <a:solidFill>
                            <a:srgbClr val="181B1F"/>
                          </a:solidFill>
                          <a:latin typeface="IBM Plex Sans"/>
                        </a:rPr>
                        <a:t>Pattern</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Handlers Only</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State Machine</a:t>
                      </a:r>
                    </a:p>
                  </a:txBody>
                  <a:tcPr marL="82296" marR="82296" marT="27432" marB="27432">
                    <a:solidFill>
                      <a:srgbClr val="F3EFE6"/>
                    </a:solidFill>
                  </a:tcPr>
                </a:tc>
                <a:tc>
                  <a:txBody>
                    <a:bodyPr/>
                    <a:lstStyle/>
                    <a:p>
                      <a:pPr>
                        <a:lnSpc>
                          <a:spcPct val="118000"/>
                        </a:lnSpc>
                      </a:pPr>
                      <a:r>
                        <a:rPr sz="1500" b="1" i="0">
                          <a:solidFill>
                            <a:srgbClr val="181B1F"/>
                          </a:solidFill>
                          <a:latin typeface="IBM Plex Sans"/>
                        </a:rPr>
                        <a:t>Workflow Engine</a:t>
                      </a:r>
                    </a:p>
                  </a:txBody>
                  <a:tcPr marL="82296" marR="82296" marT="27432" marB="27432">
                    <a:solidFill>
                      <a:srgbClr val="F3EFE6"/>
                    </a:solidFill>
                  </a:tcPr>
                </a:tc>
              </a:tr>
              <a:tr h="389381">
                <a:tc>
                  <a:txBody>
                    <a:bodyPr/>
                    <a:lstStyle/>
                    <a:p>
                      <a:pPr>
                        <a:lnSpc>
                          <a:spcPct val="118000"/>
                        </a:lnSpc>
                      </a:pPr>
                      <a:r>
                        <a:rPr sz="1500" b="0" i="0">
                          <a:solidFill>
                            <a:srgbClr val="181B1F"/>
                          </a:solidFill>
                          <a:latin typeface="IBM Plex Sans"/>
                        </a:rPr>
                        <a:t>Sequence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Chain message handlers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State transitions (A→B→C)</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Sequential steps</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Parallel Split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Trigger multiple handlers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 Complex manual coordination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Parallel branches with fork/join</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Synchronization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Wait for multiple states</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 Hard without orchestration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Join after parallel branches</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Compensation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Fallback handler</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Saga</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Implicit</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Exclusive Choice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Conditional in handler</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State transition on input</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Conditional branching</a:t>
                      </a:r>
                    </a:p>
                  </a:txBody>
                  <a:tcPr marL="82296" marR="82296" marT="27432" marB="27432">
                    <a:solidFill>
                      <a:srgbClr val="FDFCFA"/>
                    </a:solidFill>
                  </a:tcPr>
                </a:tc>
              </a:tr>
              <a:tr h="389381">
                <a:tc>
                  <a:txBody>
                    <a:bodyPr/>
                    <a:lstStyle/>
                    <a:p>
                      <a:pPr>
                        <a:lnSpc>
                          <a:spcPct val="118000"/>
                        </a:lnSpc>
                      </a:pPr>
                      <a:r>
                        <a:rPr sz="1500" b="0" i="0">
                          <a:solidFill>
                            <a:srgbClr val="181B1F"/>
                          </a:solidFill>
                          <a:latin typeface="IBM Plex Sans"/>
                        </a:rPr>
                        <a:t>Simple Merge</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Trigger single follow-up</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Re-entrant transition or rehydration</a:t>
                      </a:r>
                    </a:p>
                  </a:txBody>
                  <a:tcPr marL="82296" marR="82296" marT="27432" marB="27432">
                    <a:solidFill>
                      <a:srgbClr val="FDFCFA"/>
                    </a:solidFill>
                  </a:tcPr>
                </a:tc>
                <a:tc>
                  <a:txBody>
                    <a:bodyPr/>
                    <a:lstStyle/>
                    <a:p>
                      <a:pPr>
                        <a:lnSpc>
                          <a:spcPct val="118000"/>
                        </a:lnSpc>
                      </a:pPr>
                      <a:r>
                        <a:rPr sz="1500" b="0" i="0">
                          <a:solidFill>
                            <a:srgbClr val="181B1F"/>
                          </a:solidFill>
                          <a:latin typeface="IBM Plex Sans"/>
                        </a:rPr>
                        <a:t>Multiple incoming flows, OR gateway</a:t>
                      </a:r>
                    </a:p>
                  </a:txBody>
                  <a:tcPr marL="82296" marR="82296" marT="27432" marB="27432">
                    <a:solidFill>
                      <a:srgbClr val="FDFCFA"/>
                    </a:solidFill>
                  </a:tcPr>
                </a:tc>
              </a:tr>
            </a:tbl>
          </a:graphicData>
        </a:graphic>
      </p:graphicFrame>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TWO</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Putting It Together</a:t>
            </a:r>
          </a:p>
        </p:txBody>
      </p:sp>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Putting It Together</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fax workflow again — the takeaway you saw first. This time we walk it and </a:t>
            </a:r>
            <a:r>
              <a:rPr sz="1800" b="1" i="0">
                <a:solidFill>
                  <a:srgbClr val="181B1F"/>
                </a:solidFill>
                <a:latin typeface="IBM Plex Sans"/>
              </a:rPr>
              <a:t>name every interaction as an exchange pattern.</a:t>
            </a:r>
            <a:r>
              <a:rPr sz="1800" b="0" i="0">
                <a:solidFill>
                  <a:srgbClr val="181B1F"/>
                </a:solidFill>
                <a:latin typeface="IBM Plex Sans"/>
              </a:rPr>
              <a:t> You chose all four of them on paper this morning, before any of them had a name.</a:t>
            </a:r>
          </a:p>
        </p:txBody>
      </p:sp>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Fax Workflow — Storage and Correlation</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700" b="0" i="0">
                <a:solidFill>
                  <a:srgbClr val="181B1F"/>
                </a:solidFill>
                <a:latin typeface="IBM Plex Mono"/>
              </a:rPr>
              <a:t>fax out</a:t>
            </a:r>
            <a:r>
              <a:rPr sz="1800" b="0" i="0">
                <a:solidFill>
                  <a:srgbClr val="181B1F"/>
                </a:solidFill>
                <a:latin typeface="IBM Plex Sans"/>
              </a:rPr>
              <a:t> and </a:t>
            </a:r>
            <a:r>
              <a:rPr sz="1700" b="0" i="0">
                <a:solidFill>
                  <a:srgbClr val="181B1F"/>
                </a:solidFill>
                <a:latin typeface="IBM Plex Mono"/>
              </a:rPr>
              <a:t>fax in</a:t>
            </a:r>
            <a:r>
              <a:rPr sz="1800" b="0" i="0">
                <a:solidFill>
                  <a:srgbClr val="181B1F"/>
                </a:solidFill>
                <a:latin typeface="IBM Plex Sans"/>
              </a:rPr>
              <a:t> are one </a:t>
            </a:r>
            <a:r>
              <a:rPr sz="1800" b="1" i="0">
                <a:solidFill>
                  <a:srgbClr val="181B1F"/>
                </a:solidFill>
                <a:latin typeface="IBM Plex Sans"/>
              </a:rPr>
              <a:t>In-Out</a:t>
            </a:r>
            <a:r>
              <a:rPr sz="1800" b="0" i="0">
                <a:solidFill>
                  <a:srgbClr val="181B1F"/>
                </a:solidFill>
                <a:latin typeface="IBM Plex Sans"/>
              </a:rPr>
              <a:t> with a gap in the middle. Every other arc on the graph is one-way — and that difference is the whole slide.</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Storage:</a:t>
            </a:r>
            <a:r>
              <a:rPr sz="1800" b="0" i="0">
                <a:solidFill>
                  <a:srgbClr val="181B1F"/>
                </a:solidFill>
                <a:latin typeface="IBM Plex Sans"/>
              </a:rPr>
              <a:t> store workflow state in case we crash before receiving a response.</a:t>
            </a:r>
          </a:p>
        </p:txBody>
      </p:sp>
      <p:sp>
        <p:nvSpPr>
          <p:cNvPr id="8" name="TextBox 7"/>
          <p:cNvSpPr txBox="1"/>
          <p:nvPr/>
        </p:nvSpPr>
        <p:spPr>
          <a:xfrm>
            <a:off x="713232" y="2388362"/>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347741"/>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Correlation:</a:t>
            </a:r>
            <a:r>
              <a:rPr sz="1800" b="0" i="0">
                <a:solidFill>
                  <a:srgbClr val="181B1F"/>
                </a:solidFill>
                <a:latin typeface="IBM Plex Sans"/>
              </a:rPr>
              <a:t> use a correlation id sent to </a:t>
            </a:r>
            <a:r>
              <a:rPr sz="1700" b="0" i="0">
                <a:solidFill>
                  <a:srgbClr val="181B1F"/>
                </a:solidFill>
                <a:latin typeface="IBM Plex Mono"/>
              </a:rPr>
              <a:t>fax_out</a:t>
            </a:r>
            <a:r>
              <a:rPr sz="1800" b="0" i="0">
                <a:solidFill>
                  <a:srgbClr val="181B1F"/>
                </a:solidFill>
                <a:latin typeface="IBM Plex Sans"/>
              </a:rPr>
              <a:t> and returned via </a:t>
            </a:r>
            <a:r>
              <a:rPr sz="1700" b="0" i="0">
                <a:solidFill>
                  <a:srgbClr val="181B1F"/>
                </a:solidFill>
                <a:latin typeface="IBM Plex Mono"/>
              </a:rPr>
              <a:t>fax_in</a:t>
            </a:r>
            <a:r>
              <a:rPr sz="1800" b="0" i="0">
                <a:solidFill>
                  <a:srgbClr val="181B1F"/>
                </a:solidFill>
                <a:latin typeface="IBM Plex Sans"/>
              </a:rPr>
              <a:t> to look up the stored workflow.</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301752"/>
          </a:xfrm>
          <a:prstGeom prst="rect">
            <a:avLst/>
          </a:prstGeom>
          <a:noFill/>
        </p:spPr>
        <p:txBody>
          <a:bodyPr wrap="square" lIns="0" rIns="0" tIns="0" bIns="0">
            <a:spAutoFit/>
          </a:bodyPr>
          <a:lstStyle/>
          <a:p>
            <a:pPr>
              <a:lnSpc>
                <a:spcPts val="2232"/>
              </a:lnSpc>
            </a:pPr>
            <a:r>
              <a:rPr sz="1800" b="1" i="0">
                <a:solidFill>
                  <a:srgbClr val="181B1F"/>
                </a:solidFill>
                <a:latin typeface="IBM Plex Sans"/>
              </a:rPr>
              <a:t>Both of those are the In-Out's bill.</a:t>
            </a:r>
            <a:r>
              <a:rPr sz="1800" b="0" i="0">
                <a:solidFill>
                  <a:srgbClr val="181B1F"/>
                </a:solidFill>
                <a:latin typeface="IBM Plex Sans"/>
              </a:rPr>
              <a:t> The one-way arcs need neither, because nothing is waiting.</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119</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Fax Workflow — Storage and Correlation</a:t>
            </a:r>
          </a:p>
        </p:txBody>
      </p:sp>
      <p:pic>
        <p:nvPicPr>
          <p:cNvPr id="5" name="Picture 4" descr="Restaurant Onboarding.drawio.png"/>
          <p:cNvPicPr>
            <a:picLocks noChangeAspect="1"/>
          </p:cNvPicPr>
          <p:nvPr/>
        </p:nvPicPr>
        <p:blipFill>
          <a:blip r:embed="rId2"/>
          <a:stretch>
            <a:fillRect/>
          </a:stretch>
        </p:blipFill>
        <p:spPr>
          <a:xfrm>
            <a:off x="2345295" y="1245870"/>
            <a:ext cx="7647408"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Fax Workflow — Storage and Correlation</a:t>
            </a:r>
          </a:p>
        </p:txBody>
      </p:sp>
      <p:pic>
        <p:nvPicPr>
          <p:cNvPr id="5" name="Picture 4" descr="flowbased_onboard_restaurant.png"/>
          <p:cNvPicPr>
            <a:picLocks noChangeAspect="1"/>
          </p:cNvPicPr>
          <p:nvPr/>
        </p:nvPicPr>
        <p:blipFill>
          <a:blip r:embed="rId2"/>
          <a:stretch>
            <a:fillRect/>
          </a:stretch>
        </p:blipFill>
        <p:spPr>
          <a:xfrm>
            <a:off x="713232" y="1341273"/>
            <a:ext cx="10911535" cy="5000698"/>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121</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Lookup Store — the Graph Form</a:t>
            </a:r>
          </a:p>
        </p:txBody>
      </p:sp>
      <p:sp>
        <p:nvSpPr>
          <p:cNvPr id="5" name="TextBox 4"/>
          <p:cNvSpPr txBox="1"/>
          <p:nvPr/>
        </p:nvSpPr>
        <p:spPr>
          <a:xfrm>
            <a:off x="713232" y="1319549"/>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A component builds its lookup store from packets another component raises. </a:t>
            </a:r>
            <a:r>
              <a:rPr sz="1800" b="1" i="0">
                <a:solidFill>
                  <a:srgbClr val="181B1F"/>
                </a:solidFill>
                <a:latin typeface="IBM Plex Sans"/>
              </a:rPr>
              <a:t>This is Day 1 §6.2 as a graph:</a:t>
            </a:r>
            <a:r>
              <a:rPr sz="1800" b="0" i="0">
                <a:solidFill>
                  <a:srgbClr val="181B1F"/>
                </a:solidFill>
                <a:latin typeface="IBM Plex Sans"/>
              </a:rPr>
              <a:t> an Out-Only fills the store, and everything after it reads locally — so nothing in the flow makes a synchronous call to go and find the data.</a:t>
            </a:r>
          </a:p>
        </p:txBody>
      </p:sp>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122</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Lookup Store — the Graph Form</a:t>
            </a:r>
          </a:p>
        </p:txBody>
      </p:sp>
      <p:pic>
        <p:nvPicPr>
          <p:cNvPr id="5" name="Picture 4" descr="Customer Order.drawio.png"/>
          <p:cNvPicPr>
            <a:picLocks noChangeAspect="1"/>
          </p:cNvPicPr>
          <p:nvPr/>
        </p:nvPicPr>
        <p:blipFill>
          <a:blip r:embed="rId2"/>
          <a:stretch>
            <a:fillRect/>
          </a:stretch>
        </p:blipFill>
        <p:spPr>
          <a:xfrm>
            <a:off x="2452729" y="1245870"/>
            <a:ext cx="7432539"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123</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Lookup Store — the Graph Form</a:t>
            </a:r>
          </a:p>
        </p:txBody>
      </p:sp>
      <p:pic>
        <p:nvPicPr>
          <p:cNvPr id="5" name="Picture 4" descr="flowbased_order_food.png"/>
          <p:cNvPicPr>
            <a:picLocks noChangeAspect="1"/>
          </p:cNvPicPr>
          <p:nvPr/>
        </p:nvPicPr>
        <p:blipFill>
          <a:blip r:embed="rId2"/>
          <a:stretch>
            <a:fillRect/>
          </a:stretch>
        </p:blipFill>
        <p:spPr>
          <a:xfrm>
            <a:off x="2629336" y="1245870"/>
            <a:ext cx="7079326"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124</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Fault Path — Message Triggers Fault</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The card is declined. The fault comes back on a channel of its own — </a:t>
            </a:r>
            <a:r>
              <a:rPr sz="1800" b="1" i="0">
                <a:solidFill>
                  <a:srgbClr val="181B1F"/>
                </a:solidFill>
                <a:latin typeface="IBM Plex Sans"/>
              </a:rPr>
              <a:t>Message Triggers Fault</a:t>
            </a:r>
            <a:r>
              <a:rPr sz="1800" b="0" i="0">
                <a:solidFill>
                  <a:srgbClr val="181B1F"/>
                </a:solidFill>
                <a:latin typeface="IBM Plex Sans"/>
              </a:rPr>
              <a:t> — because the In-Only that started it took no response, so there is no response for a fault to replace.</a:t>
            </a:r>
          </a:p>
        </p:txBody>
      </p:sp>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Fault Path — Message Triggers Fault</a:t>
            </a:r>
          </a:p>
        </p:txBody>
      </p:sp>
      <p:pic>
        <p:nvPicPr>
          <p:cNvPr id="5" name="Picture 4" descr="Customer Order Errors.drawio.png"/>
          <p:cNvPicPr>
            <a:picLocks noChangeAspect="1"/>
          </p:cNvPicPr>
          <p:nvPr/>
        </p:nvPicPr>
        <p:blipFill>
          <a:blip r:embed="rId2"/>
          <a:stretch>
            <a:fillRect/>
          </a:stretch>
        </p:blipFill>
        <p:spPr>
          <a:xfrm>
            <a:off x="2368075" y="1245870"/>
            <a:ext cx="7601848"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Fault Path — Message Triggers Fault</a:t>
            </a:r>
          </a:p>
        </p:txBody>
      </p:sp>
      <p:pic>
        <p:nvPicPr>
          <p:cNvPr id="5" name="Picture 4" descr="flowbased_order_food_errors.png"/>
          <p:cNvPicPr>
            <a:picLocks noChangeAspect="1"/>
          </p:cNvPicPr>
          <p:nvPr/>
        </p:nvPicPr>
        <p:blipFill>
          <a:blip r:embed="rId2"/>
          <a:stretch>
            <a:fillRect/>
          </a:stretch>
        </p:blipFill>
        <p:spPr>
          <a:xfrm>
            <a:off x="3476367" y="1245870"/>
            <a:ext cx="5385264"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127</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Full Flow, End to End</a:t>
            </a:r>
          </a:p>
        </p:txBody>
      </p:sp>
      <p:sp>
        <p:nvSpPr>
          <p:cNvPr id="5" name="TextBox 4"/>
          <p:cNvSpPr txBox="1"/>
          <p:nvPr/>
        </p:nvSpPr>
        <p:spPr>
          <a:xfrm>
            <a:off x="713232" y="1319549"/>
            <a:ext cx="10911535" cy="868680"/>
          </a:xfrm>
          <a:prstGeom prst="rect">
            <a:avLst/>
          </a:prstGeom>
          <a:noFill/>
        </p:spPr>
        <p:txBody>
          <a:bodyPr wrap="square" lIns="0" rIns="0" tIns="0" bIns="0">
            <a:spAutoFit/>
          </a:bodyPr>
          <a:lstStyle/>
          <a:p>
            <a:pPr>
              <a:lnSpc>
                <a:spcPts val="2232"/>
              </a:lnSpc>
            </a:pPr>
            <a:r>
              <a:rPr sz="1800" b="0" i="0">
                <a:solidFill>
                  <a:srgbClr val="181B1F"/>
                </a:solidFill>
                <a:latin typeface="IBM Plex Sans"/>
              </a:rPr>
              <a:t>Everything, both ways round: the four flows as the room drew them on paper, and the whole thing as one graph. </a:t>
            </a:r>
            <a:r>
              <a:rPr sz="1800" b="1" i="0">
                <a:solidFill>
                  <a:srgbClr val="181B1F"/>
                </a:solidFill>
                <a:latin typeface="IBM Plex Sans"/>
              </a:rPr>
              <a:t>Name each arc as you walk it, and count the In-Outs</a:t>
            </a:r>
            <a:r>
              <a:rPr sz="1800" b="0" i="0">
                <a:solidFill>
                  <a:srgbClr val="181B1F"/>
                </a:solidFill>
                <a:latin typeface="IBM Plex Sans"/>
              </a:rPr>
              <a:t> — every one of them is a correlation id and a piece of state somebody has to own across a restart.</a:t>
            </a:r>
          </a:p>
        </p:txBody>
      </p:sp>
      <p:sp>
        <p:nvSpPr>
          <p:cNvPr id="6" name="TextBox 5"/>
          <p:cNvSpPr txBox="1"/>
          <p:nvPr/>
        </p:nvSpPr>
        <p:spPr>
          <a:xfrm>
            <a:off x="713232" y="2284241"/>
            <a:ext cx="10911535"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The room picked these before it knew they were choices</a:t>
            </a:r>
            <a:r>
              <a:rPr sz="1800" b="0" i="0">
                <a:solidFill>
                  <a:srgbClr val="181B1F"/>
                </a:solidFill>
                <a:latin typeface="IBM Plex Sans"/>
              </a:rPr>
              <a:t>, which is the point of having drawn them on paper first.</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Full Flow, End to End</a:t>
            </a:r>
          </a:p>
        </p:txBody>
      </p:sp>
      <p:pic>
        <p:nvPicPr>
          <p:cNvPr id="5" name="Picture 4" descr="paper-worked-flows-montage-complete.png"/>
          <p:cNvPicPr>
            <a:picLocks noChangeAspect="1"/>
          </p:cNvPicPr>
          <p:nvPr/>
        </p:nvPicPr>
        <p:blipFill>
          <a:blip r:embed="rId2"/>
          <a:stretch>
            <a:fillRect/>
          </a:stretch>
        </p:blipFill>
        <p:spPr>
          <a:xfrm>
            <a:off x="3034297" y="1245870"/>
            <a:ext cx="6269403"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129</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PUTTING IT TOGETHER</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Full Flow, End to End</a:t>
            </a:r>
          </a:p>
        </p:txBody>
      </p:sp>
      <p:pic>
        <p:nvPicPr>
          <p:cNvPr id="5" name="Picture 4" descr="flowbased_order_all.png"/>
          <p:cNvPicPr>
            <a:picLocks noChangeAspect="1"/>
          </p:cNvPicPr>
          <p:nvPr/>
        </p:nvPicPr>
        <p:blipFill>
          <a:blip r:embed="rId2"/>
          <a:stretch>
            <a:fillRect/>
          </a:stretch>
        </p:blipFill>
        <p:spPr>
          <a:xfrm>
            <a:off x="815884" y="1245870"/>
            <a:ext cx="10706229" cy="5191506"/>
          </a:xfrm>
          <a:prstGeom prst="rect">
            <a:avLst/>
          </a:prstGeom>
        </p:spPr>
      </p:pic>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130</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PRACTICAL MESSAGING — DAY TWO</a:t>
            </a:r>
          </a:p>
        </p:txBody>
      </p:sp>
      <p:sp>
        <p:nvSpPr>
          <p:cNvPr id="5" name="TextBox 4"/>
          <p:cNvSpPr txBox="1"/>
          <p:nvPr/>
        </p:nvSpPr>
        <p:spPr>
          <a:xfrm>
            <a:off x="713232" y="2327226"/>
            <a:ext cx="8510997" cy="597408"/>
          </a:xfrm>
          <a:prstGeom prst="rect">
            <a:avLst/>
          </a:prstGeom>
          <a:noFill/>
        </p:spPr>
        <p:txBody>
          <a:bodyPr wrap="square" lIns="0" rIns="0" tIns="0" bIns="0">
            <a:spAutoFit/>
          </a:bodyPr>
          <a:lstStyle/>
          <a:p>
            <a:pPr>
              <a:lnSpc>
                <a:spcPts val="4559"/>
              </a:lnSpc>
            </a:pPr>
            <a:r>
              <a:rPr sz="4000" b="0" i="0">
                <a:solidFill>
                  <a:srgbClr val="181B1F"/>
                </a:solidFill>
                <a:latin typeface="IBM Plex Serif SemiBold"/>
              </a:rPr>
              <a:t>Next Steps</a:t>
            </a:r>
          </a:p>
        </p:txBody>
      </p:sp>
      <p:sp>
        <p:nvSpPr>
          <p:cNvPr id="6" name="TextBox 5"/>
          <p:cNvSpPr txBox="1"/>
          <p:nvPr/>
        </p:nvSpPr>
        <p:spPr>
          <a:xfrm>
            <a:off x="713232" y="3098819"/>
            <a:ext cx="6546921" cy="301752"/>
          </a:xfrm>
          <a:prstGeom prst="rect">
            <a:avLst/>
          </a:prstGeom>
          <a:noFill/>
        </p:spPr>
        <p:txBody>
          <a:bodyPr wrap="square" lIns="0" rIns="0" tIns="0" bIns="0">
            <a:spAutoFit/>
          </a:bodyPr>
          <a:lstStyle/>
          <a:p>
            <a:pPr>
              <a:lnSpc>
                <a:spcPts val="2232"/>
              </a:lnSpc>
            </a:pPr>
            <a:r>
              <a:rPr sz="1800" b="0" i="0">
                <a:solidFill>
                  <a:srgbClr val="2F5D3A"/>
                </a:solidFill>
                <a:latin typeface="IBM Plex Sans"/>
              </a:rPr>
              <a:t>What we did not cover, and where it lives.</a:t>
            </a:r>
          </a:p>
        </p:txBody>
      </p:sp>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NEXT STEPS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Describing and Versioning Your Messages — the Handout</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Everything about the </a:t>
            </a:r>
            <a:r>
              <a:rPr sz="1800" b="0" i="1">
                <a:solidFill>
                  <a:srgbClr val="181B1F"/>
                </a:solidFill>
                <a:latin typeface="IBM Plex Sans"/>
              </a:rPr>
              <a:t>contract</a:t>
            </a:r>
            <a:r>
              <a:rPr sz="1800" b="0" i="0">
                <a:solidFill>
                  <a:srgbClr val="181B1F"/>
                </a:solidFill>
                <a:latin typeface="IBM Plex Sans"/>
              </a:rPr>
              <a:t> rather than the message: how you publish what your endpoints are, and how you change a message you have already published.</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Describing endpoints</a:t>
            </a:r>
            <a:r>
              <a:rPr sz="1800" b="0" i="0">
                <a:solidFill>
                  <a:srgbClr val="181B1F"/>
                </a:solidFill>
                <a:latin typeface="IBM Plex Sans"/>
              </a:rPr>
              <a:t> — the ABCs: Address, Binding, Contract. AsyncAPI, CloudEvents, xRegistry, and the tooling around them (EventCatalog, Backstage, AsyncAPI Studio).</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Versioning</a:t>
            </a:r>
            <a:r>
              <a:rPr sz="1800" b="0" i="0">
                <a:solidFill>
                  <a:srgbClr val="181B1F"/>
                </a:solidFill>
                <a:latin typeface="IBM Plex Sans"/>
              </a:rPr>
              <a:t> — Postel's Law and the </a:t>
            </a:r>
            <a:r>
              <a:rPr sz="1800" b="1" i="0">
                <a:solidFill>
                  <a:srgbClr val="181B1F"/>
                </a:solidFill>
                <a:latin typeface="IBM Plex Sans"/>
              </a:rPr>
              <a:t>Tolerant Reader</a:t>
            </a:r>
            <a:r>
              <a:rPr sz="1800" b="0" i="0">
                <a:solidFill>
                  <a:srgbClr val="181B1F"/>
                </a:solidFill>
                <a:latin typeface="IBM Plex Sans"/>
              </a:rPr>
              <a:t>; additive change vs. breaking change; why a breaking change means a new message type.</a:t>
            </a:r>
          </a:p>
        </p:txBody>
      </p:sp>
      <p:sp>
        <p:nvSpPr>
          <p:cNvPr id="10" name="TextBox 9"/>
          <p:cNvSpPr txBox="1"/>
          <p:nvPr/>
        </p:nvSpPr>
        <p:spPr>
          <a:xfrm>
            <a:off x="713232" y="3327654"/>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287033"/>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Schema and registries</a:t>
            </a:r>
            <a:r>
              <a:rPr sz="1800" b="0" i="0">
                <a:solidFill>
                  <a:srgbClr val="181B1F"/>
                </a:solidFill>
                <a:latin typeface="IBM Plex Sans"/>
              </a:rPr>
              <a:t> — JSON Schema vs. Avro vs. Protobuf; schema registries and compatibility modes (backward / forward / full / none).</a:t>
            </a:r>
          </a:p>
        </p:txBody>
      </p:sp>
      <p:sp>
        <p:nvSpPr>
          <p:cNvPr id="12" name="Rectangle 11"/>
          <p:cNvSpPr/>
          <p:nvPr/>
        </p:nvSpPr>
        <p:spPr>
          <a:xfrm>
            <a:off x="713232" y="4087114"/>
            <a:ext cx="50292" cy="323088"/>
          </a:xfrm>
          <a:prstGeom prst="rect">
            <a:avLst/>
          </a:prstGeom>
          <a:solidFill>
            <a:srgbClr val="C045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4057359"/>
            <a:ext cx="10637215" cy="341376"/>
          </a:xfrm>
          <a:prstGeom prst="rect">
            <a:avLst/>
          </a:prstGeom>
          <a:noFill/>
        </p:spPr>
        <p:txBody>
          <a:bodyPr wrap="square" lIns="0" rIns="0" tIns="0" bIns="0">
            <a:spAutoFit/>
          </a:bodyPr>
          <a:lstStyle/>
          <a:p>
            <a:pPr>
              <a:lnSpc>
                <a:spcPts val="2544"/>
              </a:lnSpc>
            </a:pPr>
            <a:r>
              <a:rPr sz="2400" b="0" i="0">
                <a:solidFill>
                  <a:srgbClr val="C0453B"/>
                </a:solidFill>
                <a:latin typeface="Caveat"/>
              </a:rPr>
              <a:t>Be strict when sending and tolerant when receiving. The rest is in the handout.</a:t>
            </a:r>
          </a:p>
        </p:txBody>
      </p:sp>
      <p:sp>
        <p:nvSpPr>
          <p:cNvPr id="14" name="TextBox 13"/>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132</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NEXT STEPS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Observability</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You cannot debug a flow by reading one service's logs. A message crosses process boundaries, so the trace has to cross them too.</a:t>
            </a:r>
          </a:p>
        </p:txBody>
      </p:sp>
      <p:sp>
        <p:nvSpPr>
          <p:cNvPr id="6" name="TextBox 5"/>
          <p:cNvSpPr txBox="1"/>
          <p:nvPr/>
        </p:nvSpPr>
        <p:spPr>
          <a:xfrm>
            <a:off x="713232" y="2015998"/>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7" name="TextBox 6"/>
          <p:cNvSpPr txBox="1"/>
          <p:nvPr/>
        </p:nvSpPr>
        <p:spPr>
          <a:xfrm>
            <a:off x="960120" y="1975377"/>
            <a:ext cx="10664647" cy="585216"/>
          </a:xfrm>
          <a:prstGeom prst="rect">
            <a:avLst/>
          </a:prstGeom>
          <a:noFill/>
        </p:spPr>
        <p:txBody>
          <a:bodyPr wrap="square" lIns="0" rIns="0" tIns="0" bIns="0">
            <a:spAutoFit/>
          </a:bodyPr>
          <a:lstStyle/>
          <a:p>
            <a:pPr>
              <a:lnSpc>
                <a:spcPts val="2232"/>
              </a:lnSpc>
            </a:pPr>
            <a:r>
              <a:rPr sz="1800" b="1" i="0">
                <a:solidFill>
                  <a:srgbClr val="181B1F"/>
                </a:solidFill>
                <a:latin typeface="IBM Plex Sans"/>
              </a:rPr>
              <a:t>OpenTelemetry</a:t>
            </a:r>
            <a:r>
              <a:rPr sz="1800" b="0" i="0">
                <a:solidFill>
                  <a:srgbClr val="181B1F"/>
                </a:solidFill>
                <a:latin typeface="IBM Plex Sans"/>
              </a:rPr>
              <a:t> carries trace and span ids in the </a:t>
            </a:r>
            <a:r>
              <a:rPr sz="1800" b="1" i="0">
                <a:solidFill>
                  <a:srgbClr val="181B1F"/>
                </a:solidFill>
                <a:latin typeface="IBM Plex Sans"/>
              </a:rPr>
              <a:t>message header</a:t>
            </a:r>
            <a:r>
              <a:rPr sz="1800" b="0" i="0">
                <a:solidFill>
                  <a:srgbClr val="181B1F"/>
                </a:solidFill>
                <a:latin typeface="IBM Plex Sans"/>
              </a:rPr>
              <a:t> — the same envelope as the correlation id from the fax workflow.</a:t>
            </a:r>
          </a:p>
        </p:txBody>
      </p:sp>
      <p:sp>
        <p:nvSpPr>
          <p:cNvPr id="8" name="TextBox 7"/>
          <p:cNvSpPr txBox="1"/>
          <p:nvPr/>
        </p:nvSpPr>
        <p:spPr>
          <a:xfrm>
            <a:off x="713232" y="2671826"/>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9" name="TextBox 8"/>
          <p:cNvSpPr txBox="1"/>
          <p:nvPr/>
        </p:nvSpPr>
        <p:spPr>
          <a:xfrm>
            <a:off x="960120" y="2631205"/>
            <a:ext cx="10664647"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One trace spans producer, broker and every consumer, so you can see the whole conversation.</a:t>
            </a:r>
          </a:p>
        </p:txBody>
      </p:sp>
      <p:sp>
        <p:nvSpPr>
          <p:cNvPr id="10" name="TextBox 9"/>
          <p:cNvSpPr txBox="1"/>
          <p:nvPr/>
        </p:nvSpPr>
        <p:spPr>
          <a:xfrm>
            <a:off x="713232" y="3044190"/>
            <a:ext cx="12191695" cy="246888"/>
          </a:xfrm>
          <a:prstGeom prst="rect">
            <a:avLst/>
          </a:prstGeom>
          <a:noFill/>
        </p:spPr>
        <p:txBody>
          <a:bodyPr wrap="none" lIns="0" rIns="0" tIns="0" bIns="0">
            <a:spAutoFit/>
          </a:bodyPr>
          <a:lstStyle/>
          <a:p>
            <a:pPr>
              <a:lnSpc>
                <a:spcPct val="100000"/>
              </a:lnSpc>
            </a:pPr>
            <a:r>
              <a:rPr sz="1800" b="0" i="0">
                <a:solidFill>
                  <a:srgbClr val="1D4E6B"/>
                </a:solidFill>
                <a:latin typeface="IBM Plex Sans"/>
              </a:rPr>
              <a:t>•</a:t>
            </a:r>
          </a:p>
        </p:txBody>
      </p:sp>
      <p:sp>
        <p:nvSpPr>
          <p:cNvPr id="11" name="TextBox 10"/>
          <p:cNvSpPr txBox="1"/>
          <p:nvPr/>
        </p:nvSpPr>
        <p:spPr>
          <a:xfrm>
            <a:off x="960120" y="3003569"/>
            <a:ext cx="10664647"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This is the observability story for everything the two days built: the pump, the outbox, the DLQ, and the flows delegates drew on paper.</a:t>
            </a:r>
          </a:p>
        </p:txBody>
      </p:sp>
      <p:sp>
        <p:nvSpPr>
          <p:cNvPr id="12" name="TextBox 11"/>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133</a:t>
            </a:r>
          </a:p>
        </p:txBody>
      </p:sp>
    </p:spTree>
  </p:cSld>
  <p:clrMapOvr>
    <a:masterClrMapping/>
  </p:clrMapOvr>
  <p:timing>
    <p:tnLst>
      <p:par>
        <p:cTn id="1" dur="indefinite" restart="never" nodeType="tmRoot">
          <p:childTnLst>
            <p:seq concurrent="1" nextAc="seek">
              <p:cTn id="2" dur="indefinite" nodeType="mainSeq">
                <p:childTnLst>
                  <p:par>
                    <p:cTn id="17" fill="hold">
                      <p:stCondLst>
                        <p:cond delay="indefinite"/>
                      </p:stCondLst>
                      <p:childTnLst>
                        <p:par>
                          <p:cTn id="18"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NEXT STEPS</a:t>
            </a:r>
          </a:p>
        </p:txBody>
      </p:sp>
      <p:sp>
        <p:nvSpPr>
          <p:cNvPr id="4" name="TextBox 3"/>
          <p:cNvSpPr txBox="1"/>
          <p:nvPr/>
        </p:nvSpPr>
        <p:spPr>
          <a:xfrm>
            <a:off x="713232" y="606722"/>
            <a:ext cx="6074336" cy="858012"/>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Further Reading — Reactive Microservices</a:t>
            </a:r>
          </a:p>
        </p:txBody>
      </p:sp>
      <p:sp>
        <p:nvSpPr>
          <p:cNvPr id="5" name="TextBox 4"/>
          <p:cNvSpPr txBox="1"/>
          <p:nvPr/>
        </p:nvSpPr>
        <p:spPr>
          <a:xfrm>
            <a:off x="713232" y="1739411"/>
            <a:ext cx="6074336" cy="585216"/>
          </a:xfrm>
          <a:prstGeom prst="rect">
            <a:avLst/>
          </a:prstGeom>
          <a:noFill/>
        </p:spPr>
        <p:txBody>
          <a:bodyPr wrap="square" lIns="0" rIns="0" tIns="0" bIns="0">
            <a:spAutoFit/>
          </a:bodyPr>
          <a:lstStyle/>
          <a:p>
            <a:pPr>
              <a:lnSpc>
                <a:spcPts val="2232"/>
              </a:lnSpc>
            </a:pPr>
            <a:r>
              <a:rPr sz="1800" b="0" i="1">
                <a:solidFill>
                  <a:srgbClr val="181B1F"/>
                </a:solidFill>
                <a:latin typeface="IBM Plex Sans"/>
              </a:rPr>
              <a:t>Reactive Microservices Architecture</a:t>
            </a:r>
            <a:r>
              <a:rPr sz="1800" b="0" i="0">
                <a:solidFill>
                  <a:srgbClr val="181B1F"/>
                </a:solidFill>
                <a:latin typeface="IBM Plex Sans"/>
              </a:rPr>
              <a:t> — Jonas Bonér. Free PDF at jonasboner.com, under Resources.</a:t>
            </a:r>
          </a:p>
        </p:txBody>
      </p:sp>
      <p:sp>
        <p:nvSpPr>
          <p:cNvPr id="6" name="Rectangle 5"/>
          <p:cNvSpPr/>
          <p:nvPr/>
        </p:nvSpPr>
        <p:spPr>
          <a:xfrm>
            <a:off x="7135040" y="384048"/>
            <a:ext cx="4489726" cy="6053328"/>
          </a:xfrm>
          <a:prstGeom prst="rect">
            <a:avLst/>
          </a:prstGeom>
          <a:solidFill>
            <a:srgbClr val="F3EFE6"/>
          </a:solidFill>
          <a:ln w="1270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ver-reactive-microservices.jpg"/>
          <p:cNvPicPr>
            <a:picLocks noChangeAspect="1"/>
          </p:cNvPicPr>
          <p:nvPr/>
        </p:nvPicPr>
        <p:blipFill>
          <a:blip r:embed="rId2"/>
          <a:stretch>
            <a:fillRect/>
          </a:stretch>
        </p:blipFill>
        <p:spPr>
          <a:xfrm>
            <a:off x="7441333" y="521207"/>
            <a:ext cx="3877140" cy="5779008"/>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134</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NEXT STEPS</a:t>
            </a:r>
          </a:p>
        </p:txBody>
      </p:sp>
      <p:sp>
        <p:nvSpPr>
          <p:cNvPr id="4" name="TextBox 3"/>
          <p:cNvSpPr txBox="1"/>
          <p:nvPr/>
        </p:nvSpPr>
        <p:spPr>
          <a:xfrm>
            <a:off x="713232" y="606722"/>
            <a:ext cx="6074336" cy="858012"/>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Further Reading — Practical Process Automation</a:t>
            </a:r>
          </a:p>
        </p:txBody>
      </p:sp>
      <p:sp>
        <p:nvSpPr>
          <p:cNvPr id="5" name="TextBox 4"/>
          <p:cNvSpPr txBox="1"/>
          <p:nvPr/>
        </p:nvSpPr>
        <p:spPr>
          <a:xfrm>
            <a:off x="713232" y="1739411"/>
            <a:ext cx="6074336" cy="585216"/>
          </a:xfrm>
          <a:prstGeom prst="rect">
            <a:avLst/>
          </a:prstGeom>
          <a:noFill/>
        </p:spPr>
        <p:txBody>
          <a:bodyPr wrap="square" lIns="0" rIns="0" tIns="0" bIns="0">
            <a:spAutoFit/>
          </a:bodyPr>
          <a:lstStyle/>
          <a:p>
            <a:pPr>
              <a:lnSpc>
                <a:spcPts val="2232"/>
              </a:lnSpc>
            </a:pPr>
            <a:r>
              <a:rPr sz="1800" b="0" i="1">
                <a:solidFill>
                  <a:srgbClr val="181B1F"/>
                </a:solidFill>
                <a:latin typeface="IBM Plex Sans"/>
              </a:rPr>
              <a:t>Practical Process Automation</a:t>
            </a:r>
            <a:r>
              <a:rPr sz="1800" b="0" i="0">
                <a:solidFill>
                  <a:srgbClr val="181B1F"/>
                </a:solidFill>
                <a:latin typeface="IBM Plex Sans"/>
              </a:rPr>
              <a:t> — Bernd Ruecker. (processautomationbook.com)</a:t>
            </a:r>
          </a:p>
        </p:txBody>
      </p:sp>
      <p:sp>
        <p:nvSpPr>
          <p:cNvPr id="6" name="Rectangle 5"/>
          <p:cNvSpPr/>
          <p:nvPr/>
        </p:nvSpPr>
        <p:spPr>
          <a:xfrm>
            <a:off x="7135040" y="384048"/>
            <a:ext cx="4489726" cy="6053328"/>
          </a:xfrm>
          <a:prstGeom prst="rect">
            <a:avLst/>
          </a:prstGeom>
          <a:solidFill>
            <a:srgbClr val="F3EFE6"/>
          </a:solidFill>
          <a:ln w="1270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ver-practical-process-automation.jpg"/>
          <p:cNvPicPr>
            <a:picLocks noChangeAspect="1"/>
          </p:cNvPicPr>
          <p:nvPr/>
        </p:nvPicPr>
        <p:blipFill>
          <a:blip r:embed="rId2"/>
          <a:stretch>
            <a:fillRect/>
          </a:stretch>
        </p:blipFill>
        <p:spPr>
          <a:xfrm>
            <a:off x="7272200" y="650229"/>
            <a:ext cx="4215406" cy="5520965"/>
          </a:xfrm>
          <a:prstGeom prst="rect">
            <a:avLst/>
          </a:prstGeom>
        </p:spPr>
      </p:pic>
      <p:sp>
        <p:nvSpPr>
          <p:cNvPr id="8" name="TextBox 7"/>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135</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NEXT STEPS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Further Reading — EDA Visuals</a:t>
            </a:r>
          </a:p>
        </p:txBody>
      </p:sp>
      <p:sp>
        <p:nvSpPr>
          <p:cNvPr id="5" name="TextBox 4"/>
          <p:cNvSpPr txBox="1"/>
          <p:nvPr/>
        </p:nvSpPr>
        <p:spPr>
          <a:xfrm>
            <a:off x="713232" y="1319549"/>
            <a:ext cx="10911535"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Serverless Land — event-driven architecture visuals. (serverlessland.com/event-driven-architecture/visuals)</a:t>
            </a:r>
          </a:p>
        </p:txBody>
      </p:sp>
      <p:pic>
        <p:nvPicPr>
          <p:cNvPr id="6" name="Picture 5" descr="screenshot-eda-visuals.png"/>
          <p:cNvPicPr>
            <a:picLocks noChangeAspect="1"/>
          </p:cNvPicPr>
          <p:nvPr/>
        </p:nvPicPr>
        <p:blipFill>
          <a:blip r:embed="rId2"/>
          <a:stretch>
            <a:fillRect/>
          </a:stretch>
        </p:blipFill>
        <p:spPr>
          <a:xfrm>
            <a:off x="2840062" y="2018538"/>
            <a:ext cx="6657873" cy="4418838"/>
          </a:xfrm>
          <a:prstGeom prst="rect">
            <a:avLst/>
          </a:prstGeom>
        </p:spPr>
      </p:pic>
      <p:sp>
        <p:nvSpPr>
          <p:cNvPr id="7" name="TextBox 6"/>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136</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NEXT STEPS</a:t>
            </a:r>
          </a:p>
        </p:txBody>
      </p:sp>
      <p:sp>
        <p:nvSpPr>
          <p:cNvPr id="4" name="TextBox 3"/>
          <p:cNvSpPr txBox="1"/>
          <p:nvPr/>
        </p:nvSpPr>
        <p:spPr>
          <a:xfrm>
            <a:off x="713232" y="606722"/>
            <a:ext cx="6074336" cy="858012"/>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Further Reading — Enterprise Integration Patterns</a:t>
            </a:r>
          </a:p>
        </p:txBody>
      </p:sp>
      <p:sp>
        <p:nvSpPr>
          <p:cNvPr id="5" name="TextBox 4"/>
          <p:cNvSpPr txBox="1"/>
          <p:nvPr/>
        </p:nvSpPr>
        <p:spPr>
          <a:xfrm>
            <a:off x="713232" y="1739411"/>
            <a:ext cx="6074336" cy="585216"/>
          </a:xfrm>
          <a:prstGeom prst="rect">
            <a:avLst/>
          </a:prstGeom>
          <a:noFill/>
        </p:spPr>
        <p:txBody>
          <a:bodyPr wrap="square" lIns="0" rIns="0" tIns="0" bIns="0">
            <a:spAutoFit/>
          </a:bodyPr>
          <a:lstStyle/>
          <a:p>
            <a:pPr>
              <a:lnSpc>
                <a:spcPts val="2232"/>
              </a:lnSpc>
            </a:pPr>
            <a:r>
              <a:rPr sz="1800" b="0" i="0">
                <a:solidFill>
                  <a:srgbClr val="181B1F"/>
                </a:solidFill>
                <a:latin typeface="IBM Plex Sans"/>
              </a:rPr>
              <a:t>Gregor Hohpe. (enterpriseintegrationpatterns.com/gregor.html)</a:t>
            </a:r>
          </a:p>
        </p:txBody>
      </p:sp>
      <p:sp>
        <p:nvSpPr>
          <p:cNvPr id="6" name="TextBox 5"/>
          <p:cNvSpPr txBox="1"/>
          <p:nvPr/>
        </p:nvSpPr>
        <p:spPr>
          <a:xfrm>
            <a:off x="713232" y="2420639"/>
            <a:ext cx="6074336" cy="1152144"/>
          </a:xfrm>
          <a:prstGeom prst="rect">
            <a:avLst/>
          </a:prstGeom>
          <a:noFill/>
        </p:spPr>
        <p:txBody>
          <a:bodyPr wrap="square" lIns="0" rIns="0" tIns="0" bIns="0">
            <a:spAutoFit/>
          </a:bodyPr>
          <a:lstStyle/>
          <a:p>
            <a:pPr>
              <a:lnSpc>
                <a:spcPts val="2232"/>
              </a:lnSpc>
            </a:pPr>
            <a:r>
              <a:rPr sz="1800" b="1" i="0">
                <a:solidFill>
                  <a:srgbClr val="181B1F"/>
                </a:solidFill>
                <a:latin typeface="IBM Plex Sans"/>
              </a:rPr>
              <a:t>Eight of them are in your pack</a:t>
            </a:r>
            <a:r>
              <a:rPr sz="1800" b="0" i="0">
                <a:solidFill>
                  <a:srgbClr val="181B1F"/>
                </a:solidFill>
                <a:latin typeface="IBM Plex Sans"/>
              </a:rPr>
              <a:t> — </a:t>
            </a:r>
            <a:r>
              <a:rPr sz="1800" b="0" i="1">
                <a:solidFill>
                  <a:srgbClr val="181B1F"/>
                </a:solidFill>
                <a:latin typeface="IBM Plex Sans"/>
              </a:rPr>
              <a:t>Routing Patterns</a:t>
            </a:r>
            <a:r>
              <a:rPr sz="1800" b="0" i="0">
                <a:solidFill>
                  <a:srgbClr val="181B1F"/>
                </a:solidFill>
                <a:latin typeface="IBM Plex Sans"/>
              </a:rPr>
              <a:t>: Pipes and Filters, Message Translator, Content Based Router, Dynamic Router, Recipient List, Splitter, Aggregator, Resequencer.</a:t>
            </a:r>
          </a:p>
        </p:txBody>
      </p:sp>
      <p:sp>
        <p:nvSpPr>
          <p:cNvPr id="7" name="Rectangle 6"/>
          <p:cNvSpPr/>
          <p:nvPr/>
        </p:nvSpPr>
        <p:spPr>
          <a:xfrm>
            <a:off x="7135040" y="384048"/>
            <a:ext cx="4489726" cy="6053328"/>
          </a:xfrm>
          <a:prstGeom prst="rect">
            <a:avLst/>
          </a:prstGeom>
          <a:solidFill>
            <a:srgbClr val="F3EFE6"/>
          </a:solidFill>
          <a:ln w="12700">
            <a:solidFill>
              <a:srgbClr val="E0D9C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over-enterprise-integration-patterns.jpg"/>
          <p:cNvPicPr>
            <a:picLocks noChangeAspect="1"/>
          </p:cNvPicPr>
          <p:nvPr/>
        </p:nvPicPr>
        <p:blipFill>
          <a:blip r:embed="rId2"/>
          <a:stretch>
            <a:fillRect/>
          </a:stretch>
        </p:blipFill>
        <p:spPr>
          <a:xfrm>
            <a:off x="7272200" y="624328"/>
            <a:ext cx="4215406" cy="5572767"/>
          </a:xfrm>
          <a:prstGeom prst="rect">
            <a:avLst/>
          </a:prstGeom>
        </p:spPr>
      </p:pic>
      <p:sp>
        <p:nvSpPr>
          <p:cNvPr id="9" name="TextBox 8"/>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137</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7" presetID="1" presetClass="entr" presetSubtype="0" fill="hold" grpId="0" nodeType="click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DFC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13232" y="384048"/>
            <a:ext cx="12191695" cy="170687"/>
          </a:xfrm>
          <a:prstGeom prst="rect">
            <a:avLst/>
          </a:prstGeom>
          <a:noFill/>
        </p:spPr>
        <p:txBody>
          <a:bodyPr wrap="none" lIns="0" rIns="0" tIns="0" bIns="0">
            <a:spAutoFit/>
          </a:bodyPr>
          <a:lstStyle/>
          <a:p>
            <a:pPr>
              <a:lnSpc>
                <a:spcPct val="100000"/>
              </a:lnSpc>
            </a:pPr>
            <a:r>
              <a:rPr sz="1200" b="0" i="0" spc="192">
                <a:solidFill>
                  <a:srgbClr val="1D4E6B"/>
                </a:solidFill>
                <a:latin typeface="IBM Plex Mono"/>
              </a:rPr>
              <a:t>NEXT STEPS</a:t>
            </a:r>
          </a:p>
        </p:txBody>
      </p:sp>
      <p:sp>
        <p:nvSpPr>
          <p:cNvPr id="4" name="TextBox 3"/>
          <p:cNvSpPr txBox="1"/>
          <p:nvPr/>
        </p:nvSpPr>
        <p:spPr>
          <a:xfrm>
            <a:off x="713232" y="606722"/>
            <a:ext cx="10911535" cy="438150"/>
          </a:xfrm>
          <a:prstGeom prst="rect">
            <a:avLst/>
          </a:prstGeom>
          <a:noFill/>
        </p:spPr>
        <p:txBody>
          <a:bodyPr wrap="square" lIns="0" rIns="0" tIns="0" bIns="0">
            <a:spAutoFit/>
          </a:bodyPr>
          <a:lstStyle/>
          <a:p>
            <a:pPr>
              <a:lnSpc>
                <a:spcPts val="3305"/>
              </a:lnSpc>
            </a:pPr>
            <a:r>
              <a:rPr sz="2900" b="0" i="0">
                <a:solidFill>
                  <a:srgbClr val="181B1F"/>
                </a:solidFill>
                <a:latin typeface="IBM Plex Serif SemiBold"/>
              </a:rPr>
              <a:t>Q&amp;A</a:t>
            </a:r>
          </a:p>
        </p:txBody>
      </p:sp>
      <p:sp>
        <p:nvSpPr>
          <p:cNvPr id="5" name="TextBox 4"/>
          <p:cNvSpPr txBox="1"/>
          <p:nvPr/>
        </p:nvSpPr>
        <p:spPr>
          <a:xfrm>
            <a:off x="713232" y="1319549"/>
            <a:ext cx="10911535" cy="301752"/>
          </a:xfrm>
          <a:prstGeom prst="rect">
            <a:avLst/>
          </a:prstGeom>
          <a:noFill/>
        </p:spPr>
        <p:txBody>
          <a:bodyPr wrap="square" lIns="0" rIns="0" tIns="0" bIns="0">
            <a:spAutoFit/>
          </a:bodyPr>
          <a:lstStyle/>
          <a:p>
            <a:pPr>
              <a:lnSpc>
                <a:spcPts val="2232"/>
              </a:lnSpc>
            </a:pPr>
            <a:r>
              <a:rPr sz="1800" b="0" i="0">
                <a:solidFill>
                  <a:srgbClr val="181B1F"/>
                </a:solidFill>
                <a:latin typeface="IBM Plex Sans"/>
              </a:rPr>
              <a:t>Questions and discussion.</a:t>
            </a:r>
          </a:p>
        </p:txBody>
      </p:sp>
      <p:sp>
        <p:nvSpPr>
          <p:cNvPr id="6" name="TextBox 5"/>
          <p:cNvSpPr txBox="1"/>
          <p:nvPr/>
        </p:nvSpPr>
        <p:spPr>
          <a:xfrm>
            <a:off x="713232" y="6573520"/>
            <a:ext cx="12191695" cy="145288"/>
          </a:xfrm>
          <a:prstGeom prst="rect">
            <a:avLst/>
          </a:prstGeom>
          <a:noFill/>
        </p:spPr>
        <p:txBody>
          <a:bodyPr wrap="none" lIns="0" rIns="0" tIns="0" bIns="0">
            <a:spAutoFit/>
          </a:bodyPr>
          <a:lstStyle/>
          <a:p>
            <a:pPr>
              <a:lnSpc>
                <a:spcPct val="100000"/>
              </a:lnSpc>
            </a:pPr>
            <a:r>
              <a:rPr sz="1000" b="0" i="0" spc="100">
                <a:solidFill>
                  <a:srgbClr val="1D4E6B"/>
                </a:solidFill>
                <a:latin typeface="IBM Plex Mono"/>
              </a:rPr>
              <a:t>138</a:t>
            </a:r>
          </a:p>
        </p:txBody>
      </p:sp>
    </p:spTree>
  </p:cSld>
  <p:clrMapOvr>
    <a:masterClrMapping/>
  </p:clrMapOvr>
  <p:timing>
    <p:tnLst>
      <p:par>
        <p:cTn id="1" dur="indefinite" restart="never" nodeType="tmRoot">
          <p:childTnLst>
            <p:seq concurrent="1" nextAc="seek">
              <p:cTn id="2" dur="indefinite" nodeType="mainSeq">
                <p:childTnLst>
                  <p:par>
                    <p:cTn id="5" fill="hold">
                      <p:stCondLst>
                        <p:cond delay="indefinite"/>
                      </p:stCondLst>
                      <p:childTnLst>
                        <p:par>
                          <p:cTn id="6" fill="hold">
                            <p:stCondLst>
                              <p:cond delay="0"/>
                            </p:stCondLst>
                            <p:childTnLst>
                              <p:par>
                                <p:cTn id="3" presetID="1"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