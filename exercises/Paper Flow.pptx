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1" r:id="rId3"/>
    <p:sldId id="257" r:id="rId4"/>
    <p:sldId id="265" r:id="rId16"/>
    <p:sldId id="262" r:id="rId5"/>
    <p:sldId id="266" r:id="rId17"/>
    <p:sldId id="258" r:id="rId6"/>
    <p:sldId id="259" r:id="rId7"/>
    <p:sldId id="260" r:id="rId8"/>
    <p:sldId id="264" r:id="rId9"/>
    <p:sldId id="267" r:id="rId18"/>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08"/>
    <p:restoredTop sz="94719"/>
  </p:normalViewPr>
  <p:slideViewPr>
    <p:cSldViewPr snapToGrid="0">
      <p:cViewPr varScale="1">
        <p:scale>
          <a:sx n="118" d="100"/>
          <a:sy n="118" d="100"/>
        </p:scale>
        <p:origin x="248" y="9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2.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notesMaster" Target="notesMasters/notesMaster1.xml"/><Relationship Id="rId16" Type="http://schemas.openxmlformats.org/officeDocument/2006/relationships/slide" Target="slides/slide4.xml"/><Relationship Id="rId17" Type="http://schemas.openxmlformats.org/officeDocument/2006/relationships/slide" Target="slides/slide6.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 of the domain, and the table allocation. Two things to say and then move on. Onboarding sits outside the loop because the guest is not there for it -- that matters, because five tables are about to take five stages and only four of them are guest-cycle stages. And every stage hands the next one a piece of paper: catalogue, booking, key, invoices. The cycle is a chain of hand-offs before anyone has drawn a desk.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for the whole of round 1. It is the only thing the tables need on screen while they draw, and every table has it on paper as well. Walk the six glyphs once, then stop -- the rule at the top is the only part worth labouring: every hand-off goes out-tray to in-tray, nobody shouts across the office. Enforce it from the first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Everything after this slide is an answer. The four hotel flows used to sit immediately after the task slide, which put the answers in front of the room before the work -- see-one/do-one makes that wrong, and the see-one is the takeaway, not the hotel. Reveal them one per table, in cycle order, and reveal Departure LAST: no worked flow for it exists in the delegates' world, so it is the collective piece. Ask the Departure table to walk theirs before you show ours, and if theirs is better, say so. Land the line here -- ACID transactions take place at a desk; BASE takes place across desks. It works at this moment and nowhere else, because the out-tray rule has just been enforced for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this one last, and only after the Departure table has walked their own. Five desk-turns. Step 3 is the one to point at: the guest settles the bill and hands the key back in the same turn, so it is one number branching to two arrows -- that is how you show two things happening at once without reusing a number. The muted stub above the Guest Stay File is the answer to the question the task actually asked: the invoices have been landing in that file all week. The bill is not written at check-out; it is totalled from paper that was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Hotel Onboarding. Five desks and two organisations, so it has the most boundary crossings of the five -- point at the heavy bar. The Catalogue Maker is the only desk that owns the catalogue, and every later stage depends on it; that is the whole argument for why Onboarding is not a guest-cycle stage.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Pre-Arrival. The one the room will recognise in Process Automation later, because its three participants become the three BPMN pools. Point at the fax operator: a desk whose entire job is moving a message between two organisations is a channel, and nobody has said that word yet.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Arrival. The shortest of the five, and the one where the file does the work -- the Front Desk files the booking confirmation, then looks it up again to issue the key. Same desk, two turns, and it cannot remember anything between them without the file.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Occupancy. Ends by filing the room-service invoice in the Guest Stay File, which is exactly where Departure picks up. Show this immediately before Departure so the room sees the join.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0096-FC97-C68C-3774-E942EE026BE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C2D414D-F761-F4DB-67DA-CD1371F271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527EA61-404A-07E3-3A55-31FC0A4354F6}"/>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5" name="Footer Placeholder 4">
            <a:extLst>
              <a:ext uri="{FF2B5EF4-FFF2-40B4-BE49-F238E27FC236}">
                <a16:creationId xmlns:a16="http://schemas.microsoft.com/office/drawing/2014/main" id="{0CE420ED-6710-4ABD-6843-6006C110B76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34D04E-A745-C225-3BA0-A0EF768E4BC6}"/>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1536137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BD9AB-0FC5-0052-510D-6E295C86511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32EC18D-1130-DCEF-8C79-50809BC8EB0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6C1D9B9-A344-E041-C8EA-4F86D8C887EA}"/>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5" name="Footer Placeholder 4">
            <a:extLst>
              <a:ext uri="{FF2B5EF4-FFF2-40B4-BE49-F238E27FC236}">
                <a16:creationId xmlns:a16="http://schemas.microsoft.com/office/drawing/2014/main" id="{1C348828-0977-CB0D-83C2-6C78DBA872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5AE6FFE-3689-F395-2613-1E57BEE00144}"/>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450339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BD600-EDA1-E186-A791-1F971038101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B7DC05ED-38E0-B191-8D69-AECE41201F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9D2FDF0-91D4-2855-4EDF-BDC8B7DB99F9}"/>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5" name="Footer Placeholder 4">
            <a:extLst>
              <a:ext uri="{FF2B5EF4-FFF2-40B4-BE49-F238E27FC236}">
                <a16:creationId xmlns:a16="http://schemas.microsoft.com/office/drawing/2014/main" id="{E17475E5-3E50-94C6-060A-8B0A68A900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04B7EA5-6845-59CA-1A4D-41EEDB73E395}"/>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227201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81ADE-AF36-2A02-2BE0-C93064DDD4E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2C705BB-C4A5-FBD4-8A3D-FEDD272EE9C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FAD3C11B-5C27-904E-09BA-7B604F50F99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47BB44A-F1DC-D980-5813-E309453909D8}"/>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6" name="Footer Placeholder 5">
            <a:extLst>
              <a:ext uri="{FF2B5EF4-FFF2-40B4-BE49-F238E27FC236}">
                <a16:creationId xmlns:a16="http://schemas.microsoft.com/office/drawing/2014/main" id="{E383246A-F7C3-30FB-34CA-3494F8E0A22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6C6DA53-1AC7-B596-4147-0E5F51C68BDE}"/>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597889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E8AD-4683-D155-BA2B-5E1D57B915FA}"/>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4DAE7765-EAB5-6870-8B39-D8C3E572C6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7888ACE-081B-B321-D37F-629AB010489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7A6E1ED7-8777-C8E8-835E-8710C60104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D86479A-7EA4-C577-4208-FDD851D99DF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7E1FA82-A44A-9C84-F99E-8B2AD0A33070}"/>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8" name="Footer Placeholder 7">
            <a:extLst>
              <a:ext uri="{FF2B5EF4-FFF2-40B4-BE49-F238E27FC236}">
                <a16:creationId xmlns:a16="http://schemas.microsoft.com/office/drawing/2014/main" id="{F244F453-7FF3-6423-7BE2-37D387F0EBC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F9FA12F-1144-0EB9-6B8E-F3A9F418C883}"/>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2724274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D6A53-B712-110B-3F2C-28C07572B80E}"/>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828467F-2829-8C8D-F203-F7B8FB20F454}"/>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4" name="Footer Placeholder 3">
            <a:extLst>
              <a:ext uri="{FF2B5EF4-FFF2-40B4-BE49-F238E27FC236}">
                <a16:creationId xmlns:a16="http://schemas.microsoft.com/office/drawing/2014/main" id="{1F81FBCD-5409-863B-7983-2391FA96F11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6DFA197-32C9-903C-C6EE-DB76D0DEB9A5}"/>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2281594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E5E404-3A6C-AA96-6806-47B1D1AD5DC9}"/>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3" name="Footer Placeholder 2">
            <a:extLst>
              <a:ext uri="{FF2B5EF4-FFF2-40B4-BE49-F238E27FC236}">
                <a16:creationId xmlns:a16="http://schemas.microsoft.com/office/drawing/2014/main" id="{C4BD3FF9-3984-3FE7-830B-BF160E3F027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40FEDE7-0853-8A8C-987F-707F8FE9D3D5}"/>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544696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BB7DC-7A36-46D3-BD46-81421D4D580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3BE7B4B-C1B6-3FDF-29BE-5CD9D8BFF8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A1346619-027F-CD4C-B52C-1F4678D425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7DEED9A-F619-7DC4-80BE-635B62A7E278}"/>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6" name="Footer Placeholder 5">
            <a:extLst>
              <a:ext uri="{FF2B5EF4-FFF2-40B4-BE49-F238E27FC236}">
                <a16:creationId xmlns:a16="http://schemas.microsoft.com/office/drawing/2014/main" id="{556A43D3-A838-0777-6AEE-38C036C3D8B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30FB20E-8D1A-0B72-3DC5-8D022E8A3A98}"/>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2683568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6BEBD-C8F0-B4C2-09E6-15F1C44F5A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CEE0C8F-97A2-DE81-3682-DD9557F63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2A0A68F-0C85-A725-F1D4-AF77C98A2D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75EF50B-A18A-2789-C96F-274632CA0594}"/>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6" name="Footer Placeholder 5">
            <a:extLst>
              <a:ext uri="{FF2B5EF4-FFF2-40B4-BE49-F238E27FC236}">
                <a16:creationId xmlns:a16="http://schemas.microsoft.com/office/drawing/2014/main" id="{DF719564-0453-59F3-AB9F-A2F2A0908C9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9E9508A-B5D1-E09B-C64D-C253C8EEE361}"/>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196370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984E-05B5-6BE1-5CFB-E72144121B6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10164326-0A59-4740-9C02-B0A271358F0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36F7163-62E9-CBBD-A521-5D6A77FB733A}"/>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5" name="Footer Placeholder 4">
            <a:extLst>
              <a:ext uri="{FF2B5EF4-FFF2-40B4-BE49-F238E27FC236}">
                <a16:creationId xmlns:a16="http://schemas.microsoft.com/office/drawing/2014/main" id="{3451BBD0-01D9-1262-EF55-AA5EDA97E3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56F376-4EBD-B4B3-BE71-429F63B6DF7E}"/>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924645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9C8852-087D-F95C-FB0B-4290C7C46F5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3341B5C-4CCC-746B-A8F5-D0FECDB2027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557FD55-7E6A-E637-79A0-C565B896AE5A}"/>
              </a:ext>
            </a:extLst>
          </p:cNvPr>
          <p:cNvSpPr>
            <a:spLocks noGrp="1"/>
          </p:cNvSpPr>
          <p:nvPr>
            <p:ph type="dt" sz="half" idx="10"/>
          </p:nvPr>
        </p:nvSpPr>
        <p:spPr/>
        <p:txBody>
          <a:bodyPr/>
          <a:lstStyle/>
          <a:p>
            <a:fld id="{A0F93794-A7D6-114D-A0A0-A74EA76A7C4E}" type="datetimeFigureOut">
              <a:rPr lang="en-GB" smtClean="0"/>
              <a:t>11/06/2024</a:t>
            </a:fld>
            <a:endParaRPr lang="en-GB"/>
          </a:p>
        </p:txBody>
      </p:sp>
      <p:sp>
        <p:nvSpPr>
          <p:cNvPr id="5" name="Footer Placeholder 4">
            <a:extLst>
              <a:ext uri="{FF2B5EF4-FFF2-40B4-BE49-F238E27FC236}">
                <a16:creationId xmlns:a16="http://schemas.microsoft.com/office/drawing/2014/main" id="{16CC75E1-261C-C7BC-1D86-F97C955B23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2D33EA-DF4D-0BF8-C522-FB606FC40310}"/>
              </a:ext>
            </a:extLst>
          </p:cNvPr>
          <p:cNvSpPr>
            <a:spLocks noGrp="1"/>
          </p:cNvSpPr>
          <p:nvPr>
            <p:ph type="sldNum" sz="quarter" idx="12"/>
          </p:nvPr>
        </p:nvSpPr>
        <p:spPr/>
        <p:txBody>
          <a:bodyPr/>
          <a:lstStyle/>
          <a:p>
            <a:fld id="{2E1D23B9-DD88-0E4A-9A96-B4090FF77414}" type="slidenum">
              <a:rPr lang="en-GB" smtClean="0"/>
              <a:t>‹#›</a:t>
            </a:fld>
            <a:endParaRPr lang="en-GB"/>
          </a:p>
        </p:txBody>
      </p:sp>
    </p:spTree>
    <p:extLst>
      <p:ext uri="{BB962C8B-B14F-4D97-AF65-F5344CB8AC3E}">
        <p14:creationId xmlns:p14="http://schemas.microsoft.com/office/powerpoint/2010/main" val="295039316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55F1B3-FA9E-2C1D-3D80-3385C2232B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1428518-3183-BCB7-B66F-E065EFCFF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8219066-320B-CF95-1F08-0130F44620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F93794-A7D6-114D-A0A0-A74EA76A7C4E}" type="datetimeFigureOut">
              <a:rPr lang="en-GB" smtClean="0"/>
              <a:t>11/06/2024</a:t>
            </a:fld>
            <a:endParaRPr lang="en-GB"/>
          </a:p>
        </p:txBody>
      </p:sp>
      <p:sp>
        <p:nvSpPr>
          <p:cNvPr id="5" name="Footer Placeholder 4">
            <a:extLst>
              <a:ext uri="{FF2B5EF4-FFF2-40B4-BE49-F238E27FC236}">
                <a16:creationId xmlns:a16="http://schemas.microsoft.com/office/drawing/2014/main" id="{F7AD084D-A4F1-3CEF-77DE-381DDD813A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DD8C90A-AA18-044A-DDEF-E4F844F340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1D23B9-DD88-0E4A-9A96-B4090FF77414}" type="slidenum">
              <a:rPr lang="en-GB" smtClean="0"/>
              <a:t>‹#›</a:t>
            </a:fld>
            <a:endParaRPr lang="en-GB"/>
          </a:p>
        </p:txBody>
      </p:sp>
    </p:spTree>
    <p:extLst>
      <p:ext uri="{BB962C8B-B14F-4D97-AF65-F5344CB8AC3E}">
        <p14:creationId xmlns:p14="http://schemas.microsoft.com/office/powerpoint/2010/main" val="3229585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8AB73-3699-BDA4-B0F4-F86D395BD8C7}"/>
              </a:ext>
            </a:extLst>
          </p:cNvPr>
          <p:cNvSpPr>
            <a:spLocks noGrp="1"/>
          </p:cNvSpPr>
          <p:nvPr>
            <p:ph type="ctrTitle"/>
          </p:nvPr>
        </p:nvSpPr>
        <p:spPr/>
        <p:txBody>
          <a:bodyPr/>
          <a:lstStyle/>
          <a:p>
            <a:r>
              <a:rPr lang="en-GB" dirty="0"/>
              <a:t>Paper Flow</a:t>
            </a:r>
          </a:p>
        </p:txBody>
      </p:sp>
      <p:sp>
        <p:nvSpPr>
          <p:cNvPr id="3" name="Subtitle 2">
            <a:extLst>
              <a:ext uri="{FF2B5EF4-FFF2-40B4-BE49-F238E27FC236}">
                <a16:creationId xmlns:a16="http://schemas.microsoft.com/office/drawing/2014/main" id="{934B1A22-68B4-AD5F-E971-D2589D641A95}"/>
              </a:ext>
            </a:extLst>
          </p:cNvPr>
          <p:cNvSpPr>
            <a:spLocks noGrp="1"/>
          </p:cNvSpPr>
          <p:nvPr>
            <p:ph type="subTitle" idx="1"/>
          </p:nvPr>
        </p:nvSpPr>
        <p:spPr/>
        <p:txBody>
          <a:bodyPr/>
          <a:lstStyle/>
          <a:p>
            <a:r>
              <a:rPr lang="en-GB" dirty="0"/>
              <a:t>Partitioning our System</a:t>
            </a:r>
          </a:p>
        </p:txBody>
      </p:sp>
    </p:spTree>
    <p:extLst>
      <p:ext uri="{BB962C8B-B14F-4D97-AF65-F5344CB8AC3E}">
        <p14:creationId xmlns:p14="http://schemas.microsoft.com/office/powerpoint/2010/main" val="30220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E1A8-624A-201C-7B77-2ACA62051C83}"/>
              </a:ext>
            </a:extLst>
          </p:cNvPr>
          <p:cNvSpPr>
            <a:spLocks noGrp="1"/>
          </p:cNvSpPr>
          <p:nvPr>
            <p:ph type="title"/>
          </p:nvPr>
        </p:nvSpPr>
        <p:spPr/>
        <p:txBody>
          <a:bodyPr/>
          <a:lstStyle/>
          <a:p>
            <a:r>
              <a:rPr lang="en-GB" dirty="0"/>
              <a:t>Create a Paper Flow</a:t>
            </a:r>
          </a:p>
        </p:txBody>
      </p:sp>
      <p:sp>
        <p:nvSpPr>
          <p:cNvPr id="3" name="Content Placeholder 2">
            <a:extLst>
              <a:ext uri="{FF2B5EF4-FFF2-40B4-BE49-F238E27FC236}">
                <a16:creationId xmlns:a16="http://schemas.microsoft.com/office/drawing/2014/main" id="{E7652786-E9AE-56EB-AE90-95A87636056F}"/>
              </a:ext>
            </a:extLst>
          </p:cNvPr>
          <p:cNvSpPr>
            <a:spLocks noGrp="1"/>
          </p:cNvSpPr>
          <p:nvPr>
            <p:ph idx="1"/>
          </p:nvPr>
        </p:nvSpPr>
        <p:spPr/>
        <p:txBody>
          <a:bodyPr/>
          <a:lstStyle/>
          <a:p>
            <a:r>
              <a:rPr lang="en-GB" dirty="0"/>
              <a:t>Our goal here is to create a paper flow for a process</a:t>
            </a:r>
          </a:p>
          <a:p>
            <a:pPr lvl="1"/>
            <a:r>
              <a:rPr lang="en-GB" dirty="0"/>
              <a:t>Then we can use that paper process to think about how we could partition our system</a:t>
            </a:r>
          </a:p>
          <a:p>
            <a:pPr lvl="1"/>
            <a:r>
              <a:rPr lang="en-GB" dirty="0"/>
              <a:t>Team Topologies calls these points “fracture planes”</a:t>
            </a:r>
          </a:p>
          <a:p>
            <a:pPr lvl="1"/>
            <a:r>
              <a:rPr lang="en-GB" dirty="0"/>
              <a:t>For an event driven architecture, fracture planes around “hand offs”, inbox to outbox help us build a robust system</a:t>
            </a:r>
          </a:p>
          <a:p>
            <a:pPr lvl="1"/>
            <a:r>
              <a:rPr lang="en-GB" dirty="0"/>
              <a:t>”ACID” transactions take place at a desk; “BASE” takes place across desks</a:t>
            </a:r>
          </a:p>
        </p:txBody>
      </p:sp>
    </p:spTree>
    <p:extLst>
      <p:ext uri="{BB962C8B-B14F-4D97-AF65-F5344CB8AC3E}">
        <p14:creationId xmlns:p14="http://schemas.microsoft.com/office/powerpoint/2010/main" val="684595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paper-guest-cycle.png"/>
          <p:cNvPicPr>
            <a:picLocks noChangeAspect="1"/>
          </p:cNvPicPr>
          <p:nvPr/>
        </p:nvPicPr>
        <p:blipFill>
          <a:blip r:embed="rId3"/>
          <a:stretch>
            <a:fillRect/>
          </a:stretch>
        </p:blipFill>
        <p:spPr>
          <a:xfrm>
            <a:off x="518160" y="1347716"/>
            <a:ext cx="11155680" cy="4162567"/>
          </a:xfrm>
          <a:prstGeom prst="rect">
            <a:avLst/>
          </a:prstGeom>
        </p:spPr>
      </p:pic>
    </p:spTree>
    <p:extLst>
      <p:ext uri="{BB962C8B-B14F-4D97-AF65-F5344CB8AC3E}">
        <p14:creationId xmlns:p14="http://schemas.microsoft.com/office/powerpoint/2010/main" val="3497614762"/>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per-notation-key.png"/>
          <p:cNvPicPr>
            <a:picLocks noChangeAspect="1"/>
          </p:cNvPicPr>
          <p:nvPr/>
        </p:nvPicPr>
        <p:blipFill>
          <a:blip r:embed="rId2"/>
          <a:stretch>
            <a:fillRect/>
          </a:stretch>
        </p:blipFill>
        <p:spPr>
          <a:xfrm>
            <a:off x="1016000" y="685800"/>
            <a:ext cx="10160000" cy="5486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E1A8-624A-201C-7B77-2ACA62051C83}"/>
              </a:ext>
            </a:extLst>
          </p:cNvPr>
          <p:cNvSpPr>
            <a:spLocks noGrp="1"/>
          </p:cNvSpPr>
          <p:nvPr>
            <p:ph type="title"/>
          </p:nvPr>
        </p:nvSpPr>
        <p:spPr/>
        <p:txBody>
          <a:bodyPr/>
          <a:lstStyle/>
          <a:p>
            <a:r>
              <a:rPr lang="en-GB" dirty="0"/>
              <a:t>Pick One Step and Model As A Paper Flow</a:t>
            </a:r>
          </a:p>
        </p:txBody>
      </p:sp>
      <p:sp>
        <p:nvSpPr>
          <p:cNvPr id="3" name="Content Placeholder 2">
            <a:extLst>
              <a:ext uri="{FF2B5EF4-FFF2-40B4-BE49-F238E27FC236}">
                <a16:creationId xmlns:a16="http://schemas.microsoft.com/office/drawing/2014/main" id="{E7652786-E9AE-56EB-AE90-95A87636056F}"/>
              </a:ext>
            </a:extLst>
          </p:cNvPr>
          <p:cNvSpPr>
            <a:spLocks noGrp="1"/>
          </p:cNvSpPr>
          <p:nvPr>
            <p:ph idx="1"/>
          </p:nvPr>
        </p:nvSpPr>
        <p:spPr/>
        <p:txBody>
          <a:bodyPr>
            <a:normAutofit fontScale="85000" lnSpcReduction="20000"/>
          </a:bodyPr>
          <a:lstStyle/>
          <a:p>
            <a:r>
              <a:rPr lang="en-GB" dirty="0"/>
              <a:t>Onboarding a Hotel is another Step we can model</a:t>
            </a:r>
          </a:p>
          <a:p>
            <a:pPr lvl="1"/>
            <a:r>
              <a:rPr lang="en-GB" dirty="0"/>
              <a:t>How do we get hotels into our catalogue?</a:t>
            </a:r>
          </a:p>
          <a:p>
            <a:r>
              <a:rPr lang="en-GB" dirty="0"/>
              <a:t>Pre-Arrival and Arrival</a:t>
            </a:r>
          </a:p>
          <a:p>
            <a:pPr lvl="1"/>
            <a:r>
              <a:rPr lang="en-GB" dirty="0"/>
              <a:t>Pre-Arrival is booking a stay</a:t>
            </a:r>
          </a:p>
          <a:p>
            <a:pPr lvl="1"/>
            <a:r>
              <a:rPr lang="en-GB" dirty="0"/>
              <a:t>Arrival is check-in at the desk</a:t>
            </a:r>
          </a:p>
          <a:p>
            <a:pPr lvl="1"/>
            <a:r>
              <a:rPr lang="en-GB" dirty="0"/>
              <a:t>You can make assumptions about outputs of prior steps</a:t>
            </a:r>
          </a:p>
          <a:p>
            <a:pPr lvl="2"/>
            <a:r>
              <a:rPr lang="en-GB" dirty="0"/>
              <a:t>Onboarding: A catalogue of hotels</a:t>
            </a:r>
          </a:p>
          <a:p>
            <a:pPr lvl="2"/>
            <a:r>
              <a:rPr lang="en-GB" dirty="0"/>
              <a:t>Pre-Arrival: A booking</a:t>
            </a:r>
          </a:p>
          <a:p>
            <a:pPr lvl="2"/>
            <a:r>
              <a:rPr lang="en-GB" dirty="0"/>
              <a:t>Arrival: A Key</a:t>
            </a:r>
          </a:p>
          <a:p>
            <a:r>
              <a:rPr lang="en-GB" dirty="0"/>
              <a:t>Occupancy is less obvious</a:t>
            </a:r>
          </a:p>
          <a:p>
            <a:pPr lvl="1"/>
            <a:r>
              <a:rPr lang="en-GB" dirty="0"/>
              <a:t>Try: making a purchase from Room Service</a:t>
            </a:r>
          </a:p>
          <a:p>
            <a:pPr lvl="2"/>
            <a:r>
              <a:rPr lang="en-GB" dirty="0"/>
              <a:t>Assume a Room Service Menu</a:t>
            </a:r>
          </a:p>
          <a:p>
            <a:r>
              <a:rPr lang="en-GB" dirty="0"/>
              <a:t>Departure is how I get my bill</a:t>
            </a:r>
          </a:p>
          <a:p>
            <a:pPr lvl="1"/>
            <a:r>
              <a:rPr lang="en-GB" dirty="0"/>
              <a:t>Show how the flow of bills reaches my file</a:t>
            </a:r>
          </a:p>
        </p:txBody>
      </p:sp>
    </p:spTree>
    <p:extLst>
      <p:ext uri="{BB962C8B-B14F-4D97-AF65-F5344CB8AC3E}">
        <p14:creationId xmlns:p14="http://schemas.microsoft.com/office/powerpoint/2010/main" val="2082356654"/>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Debrief — the Worked Flows</a:t>
            </a:r>
          </a:p>
        </p:txBody>
      </p:sp>
      <p:sp>
        <p:nvSpPr>
          <p:cNvPr id="3" name="Text Placeholder 2"/>
          <p:cNvSpPr>
            <a:spLocks noGrp="1"/>
          </p:cNvSpPr>
          <p:nvPr>
            <p:ph type="body" idx="1"/>
          </p:nvPr>
        </p:nvSpPr>
        <p:spPr/>
        <p:txBody>
          <a:bodyPr/>
          <a:lstStyle/>
          <a:p>
            <a:r>
              <a:t>Do not show these until the tables have drawn their own.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telephone call and a catalog&#10;&#10;Description automatically generated with medium confidence">
            <a:extLst>
              <a:ext uri="{FF2B5EF4-FFF2-40B4-BE49-F238E27FC236}">
                <a16:creationId xmlns:a16="http://schemas.microsoft.com/office/drawing/2014/main" id="{7042F05E-1871-85C0-21A7-1D3E6C0F6ABF}"/>
              </a:ext>
            </a:extLst>
          </p:cNvPr>
          <p:cNvPicPr>
            <a:picLocks noChangeAspect="1"/>
          </p:cNvPicPr>
          <p:nvPr/>
        </p:nvPicPr>
        <p:blipFill>
          <a:blip r:embed="rId2"/>
          <a:stretch>
            <a:fillRect/>
          </a:stretch>
        </p:blipFill>
        <p:spPr>
          <a:xfrm>
            <a:off x="1555531" y="347967"/>
            <a:ext cx="8703118" cy="5905688"/>
          </a:xfrm>
          <a:prstGeom prst="rect">
            <a:avLst/>
          </a:prstGeom>
        </p:spPr>
      </p:pic>
    </p:spTree>
    <p:extLst>
      <p:ext uri="{BB962C8B-B14F-4D97-AF65-F5344CB8AC3E}">
        <p14:creationId xmlns:p14="http://schemas.microsoft.com/office/powerpoint/2010/main" val="270936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screenshot of a diagram&#10;&#10;Description automatically generated">
            <a:extLst>
              <a:ext uri="{FF2B5EF4-FFF2-40B4-BE49-F238E27FC236}">
                <a16:creationId xmlns:a16="http://schemas.microsoft.com/office/drawing/2014/main" id="{AD53898E-4CD4-CFCB-025D-81707968387B}"/>
              </a:ext>
            </a:extLst>
          </p:cNvPr>
          <p:cNvPicPr>
            <a:picLocks noChangeAspect="1"/>
          </p:cNvPicPr>
          <p:nvPr/>
        </p:nvPicPr>
        <p:blipFill>
          <a:blip r:embed="rId2"/>
          <a:stretch>
            <a:fillRect/>
          </a:stretch>
        </p:blipFill>
        <p:spPr>
          <a:xfrm>
            <a:off x="3790971" y="643466"/>
            <a:ext cx="4610057" cy="5571067"/>
          </a:xfrm>
          <a:prstGeom prst="rect">
            <a:avLst/>
          </a:prstGeom>
        </p:spPr>
      </p:pic>
    </p:spTree>
    <p:extLst>
      <p:ext uri="{BB962C8B-B14F-4D97-AF65-F5344CB8AC3E}">
        <p14:creationId xmlns:p14="http://schemas.microsoft.com/office/powerpoint/2010/main" val="4257081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A8B0A782-82F0-53C3-B225-2BA7AC72366F}"/>
              </a:ext>
            </a:extLst>
          </p:cNvPr>
          <p:cNvPicPr>
            <a:picLocks noChangeAspect="1"/>
          </p:cNvPicPr>
          <p:nvPr/>
        </p:nvPicPr>
        <p:blipFill>
          <a:blip r:embed="rId2"/>
          <a:stretch>
            <a:fillRect/>
          </a:stretch>
        </p:blipFill>
        <p:spPr>
          <a:xfrm>
            <a:off x="2344439" y="643466"/>
            <a:ext cx="7503121" cy="5571067"/>
          </a:xfrm>
          <a:prstGeom prst="rect">
            <a:avLst/>
          </a:prstGeom>
        </p:spPr>
      </p:pic>
    </p:spTree>
    <p:extLst>
      <p:ext uri="{BB962C8B-B14F-4D97-AF65-F5344CB8AC3E}">
        <p14:creationId xmlns:p14="http://schemas.microsoft.com/office/powerpoint/2010/main" val="1793994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service&#10;&#10;Description automatically generated">
            <a:extLst>
              <a:ext uri="{FF2B5EF4-FFF2-40B4-BE49-F238E27FC236}">
                <a16:creationId xmlns:a16="http://schemas.microsoft.com/office/drawing/2014/main" id="{6A5EF504-89C5-07FD-0B0C-16BCD1A79D96}"/>
              </a:ext>
            </a:extLst>
          </p:cNvPr>
          <p:cNvPicPr>
            <a:picLocks noChangeAspect="1"/>
          </p:cNvPicPr>
          <p:nvPr/>
        </p:nvPicPr>
        <p:blipFill>
          <a:blip r:embed="rId2"/>
          <a:stretch>
            <a:fillRect/>
          </a:stretch>
        </p:blipFill>
        <p:spPr>
          <a:xfrm>
            <a:off x="2698750" y="1035050"/>
            <a:ext cx="6794500" cy="4787900"/>
          </a:xfrm>
          <a:prstGeom prst="rect">
            <a:avLst/>
          </a:prstGeom>
        </p:spPr>
      </p:pic>
    </p:spTree>
    <p:extLst>
      <p:ext uri="{BB962C8B-B14F-4D97-AF65-F5344CB8AC3E}">
        <p14:creationId xmlns:p14="http://schemas.microsoft.com/office/powerpoint/2010/main" val="2233859570"/>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parture.png"/>
          <p:cNvPicPr>
            <a:picLocks noChangeAspect="1"/>
          </p:cNvPicPr>
          <p:nvPr/>
        </p:nvPicPr>
        <p:blipFill>
          <a:blip r:embed="rId2"/>
          <a:stretch>
            <a:fillRect/>
          </a:stretch>
        </p:blipFill>
        <p:spPr>
          <a:xfrm>
            <a:off x="1705840" y="457200"/>
            <a:ext cx="8780318" cy="59435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E1A8-624A-201C-7B77-2ACA62051C83}"/>
              </a:ext>
            </a:extLst>
          </p:cNvPr>
          <p:cNvSpPr>
            <a:spLocks noGrp="1"/>
          </p:cNvSpPr>
          <p:nvPr>
            <p:ph type="title"/>
          </p:nvPr>
        </p:nvSpPr>
        <p:spPr/>
        <p:txBody>
          <a:bodyPr/>
          <a:lstStyle/>
          <a:p>
            <a:r>
              <a:rPr lang="en-GB" dirty="0"/>
              <a:t>What Would This Look Like?</a:t>
            </a:r>
          </a:p>
        </p:txBody>
      </p:sp>
      <p:sp>
        <p:nvSpPr>
          <p:cNvPr id="3" name="Content Placeholder 2">
            <a:extLst>
              <a:ext uri="{FF2B5EF4-FFF2-40B4-BE49-F238E27FC236}">
                <a16:creationId xmlns:a16="http://schemas.microsoft.com/office/drawing/2014/main" id="{E7652786-E9AE-56EB-AE90-95A87636056F}"/>
              </a:ext>
            </a:extLst>
          </p:cNvPr>
          <p:cNvSpPr>
            <a:spLocks noGrp="1"/>
          </p:cNvSpPr>
          <p:nvPr>
            <p:ph idx="1"/>
          </p:nvPr>
        </p:nvSpPr>
        <p:spPr/>
        <p:txBody>
          <a:bodyPr>
            <a:normAutofit/>
          </a:bodyPr>
          <a:lstStyle/>
          <a:p>
            <a:r>
              <a:rPr lang="en-GB"/>
              <a:t>Take any </a:t>
            </a:r>
            <a:r>
              <a:rPr lang="en-GB" dirty="0"/>
              <a:t>Step from the Paper Model and think of it in FBP</a:t>
            </a:r>
          </a:p>
          <a:p>
            <a:pPr lvl="1"/>
            <a:r>
              <a:rPr lang="en-GB" dirty="0"/>
              <a:t>What are the Information Packets, Nodes and Ports</a:t>
            </a:r>
          </a:p>
          <a:p>
            <a:pPr lvl="1"/>
            <a:r>
              <a:rPr lang="en-GB" dirty="0"/>
              <a:t>Where do we have lookups?</a:t>
            </a:r>
          </a:p>
          <a:p>
            <a:pPr lvl="1"/>
            <a:r>
              <a:rPr lang="en-GB" dirty="0"/>
              <a:t>Where do we need to store state?</a:t>
            </a:r>
          </a:p>
          <a:p>
            <a:r>
              <a:rPr lang="en-GB" dirty="0"/>
              <a:t>Think about what patterns of messaging we might have?</a:t>
            </a:r>
          </a:p>
          <a:p>
            <a:pPr lvl="1"/>
            <a:r>
              <a:rPr lang="en-GB" dirty="0"/>
              <a:t>In-Out?</a:t>
            </a:r>
          </a:p>
          <a:p>
            <a:pPr lvl="1"/>
            <a:r>
              <a:rPr lang="en-GB" dirty="0"/>
              <a:t>Out-Only?</a:t>
            </a:r>
          </a:p>
          <a:p>
            <a:endParaRPr lang="en-GB" dirty="0"/>
          </a:p>
        </p:txBody>
      </p:sp>
    </p:spTree>
    <p:extLst>
      <p:ext uri="{BB962C8B-B14F-4D97-AF65-F5344CB8AC3E}">
        <p14:creationId xmlns:p14="http://schemas.microsoft.com/office/powerpoint/2010/main" val="39058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90</TotalTime>
  <Words>238</Words>
  <Application>Microsoft Macintosh PowerPoint</Application>
  <PresentationFormat>Widescreen</PresentationFormat>
  <Paragraphs>31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Paper Flow</vt:lpstr>
      <vt:lpstr>Create a Paper Flow</vt:lpstr>
      <vt:lpstr>PowerPoint Presentation</vt:lpstr>
      <vt:lpstr>Pick One Step and Model As A Paper Flow</vt:lpstr>
      <vt:lpstr>PowerPoint Presentation</vt:lpstr>
      <vt:lpstr>PowerPoint Presentation</vt:lpstr>
      <vt:lpstr>PowerPoint Presentation</vt:lpstr>
      <vt:lpstr>PowerPoint Presentation</vt:lpstr>
      <vt:lpstr>What Would This Look Like?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Ian Cooper</dc:creator>
  <cp:lastModifiedBy>Ian Cooper</cp:lastModifiedBy>
  <cp:revision>7</cp:revision>
  <dcterms:created xsi:type="dcterms:W3CDTF">2024-06-10T13:37:07Z</dcterms:created>
  <dcterms:modified xsi:type="dcterms:W3CDTF">2024-06-11T12:13:21Z</dcterms:modified>
</cp:coreProperties>
</file>